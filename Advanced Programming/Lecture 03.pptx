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67" d="100"/>
          <a:sy n="67" d="100"/>
        </p:scale>
        <p:origin x="846" y="6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24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30086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53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334457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44520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833923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43590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274348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331749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67527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</p:spTree>
    <p:extLst>
      <p:ext uri="{BB962C8B-B14F-4D97-AF65-F5344CB8AC3E}">
        <p14:creationId xmlns:p14="http://schemas.microsoft.com/office/powerpoint/2010/main" val="358947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pc="-25" smtClean="0"/>
              <a:t>‹#›</a:t>
            </a:fld>
            <a:endParaRPr lang="en-AU" spc="-25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88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GB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03- Variables and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1170538"/>
            <a:ext cx="1005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3600" spc="-7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600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-6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3600" spc="-6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981200"/>
            <a:ext cx="10299700" cy="3298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reserved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locations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20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marR="24765" indent="-22796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variable,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reserved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4" marR="2476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tabLst>
                <a:tab pos="241300" algn="l"/>
              </a:tabLst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4" marR="2476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tabLst>
                <a:tab pos="241300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= 500</a:t>
            </a:r>
          </a:p>
          <a:p>
            <a:pPr marL="12064" marR="2476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tabLst>
                <a:tab pos="241300" algn="l"/>
              </a:tabLst>
            </a:pPr>
            <a:r>
              <a:rPr lang="en-US"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name = “Peter”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1170538"/>
            <a:ext cx="1005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Assigning</a:t>
            </a:r>
            <a:r>
              <a:rPr sz="3600" spc="-10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3600" spc="-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600" spc="-10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11698" y="1778311"/>
            <a:ext cx="99961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marks,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4135" y="2400757"/>
            <a:ext cx="1794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marks</a:t>
            </a:r>
            <a:r>
              <a:rPr sz="2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Arial MT"/>
                <a:cs typeface="Arial MT"/>
              </a:rPr>
              <a:t>78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7590" y="2501645"/>
            <a:ext cx="32651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Answer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for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print(marks)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is </a:t>
            </a:r>
            <a:r>
              <a:rPr sz="2000" i="1" spc="-35" dirty="0">
                <a:latin typeface="Arial"/>
                <a:cs typeface="Arial"/>
              </a:rPr>
              <a:t>78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9431" y="2954273"/>
            <a:ext cx="8522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127" y="3528021"/>
            <a:ext cx="6939153" cy="21337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083" y="1019421"/>
            <a:ext cx="1005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</a:t>
            </a:r>
            <a:r>
              <a:rPr sz="36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286000"/>
            <a:ext cx="11070836" cy="3190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letter(A-Z/a-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z)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underscore(_).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115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614045">
              <a:lnSpc>
                <a:spcPct val="249700"/>
              </a:lnSpc>
              <a:spcBef>
                <a:spcPts val="284"/>
              </a:spcBef>
              <a:buClr>
                <a:srgbClr val="00B050"/>
              </a:buClr>
              <a:tabLst>
                <a:tab pos="2560320" algn="l"/>
                <a:tab pos="2812415" algn="l"/>
                <a:tab pos="3597275" algn="l"/>
                <a:tab pos="5280025" algn="l"/>
                <a:tab pos="5444490" algn="l"/>
                <a:tab pos="6342380" algn="l"/>
                <a:tab pos="7366634" algn="l"/>
                <a:tab pos="7458075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000" b="1" spc="-4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</a:t>
            </a:r>
            <a:r>
              <a:rPr sz="2000" b="1" spc="-3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sz="2000" b="1" spc="-3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sz="2000" b="1" spc="-3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_marks</a:t>
            </a:r>
            <a:r>
              <a:rPr sz="2000" b="1" spc="-3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50.8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2000" b="1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sz="2000" b="1" spc="-3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endParaRPr lang="en-US" sz="2000" b="1" spc="-10" dirty="0">
              <a:solidFill>
                <a:srgbClr val="00AF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614045">
              <a:lnSpc>
                <a:spcPct val="249700"/>
              </a:lnSpc>
              <a:spcBef>
                <a:spcPts val="284"/>
              </a:spcBef>
              <a:buClr>
                <a:srgbClr val="00B050"/>
              </a:buClr>
              <a:tabLst>
                <a:tab pos="2560320" algn="l"/>
                <a:tab pos="2812415" algn="l"/>
                <a:tab pos="3597275" algn="l"/>
                <a:tab pos="5280025" algn="l"/>
                <a:tab pos="5444490" algn="l"/>
                <a:tab pos="6342380" algn="l"/>
                <a:tab pos="7366634" algn="l"/>
                <a:tab pos="745807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7abc</a:t>
            </a:r>
            <a:r>
              <a:rPr sz="2000" b="1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=25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spc="-5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$name</a:t>
            </a:r>
            <a:r>
              <a:rPr sz="2000" b="1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sz="2000" b="1" spc="-3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2000" b="1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</a:t>
            </a:r>
            <a:r>
              <a:rPr sz="2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2000" b="1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sz="20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925" y="1028796"/>
            <a:ext cx="1005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</a:t>
            </a:r>
            <a:r>
              <a:rPr sz="36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36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77544" y="1849755"/>
            <a:ext cx="10198100" cy="29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sz="2400" spc="-6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7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</a:t>
            </a:r>
            <a:r>
              <a:rPr sz="2400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400" spc="-5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sz="2400" spc="-4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letters(A-Z/a-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z),</a:t>
            </a:r>
            <a:r>
              <a:rPr sz="2400" spc="-9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underscores(_),</a:t>
            </a:r>
            <a:r>
              <a:rPr sz="2400" spc="-3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	</a:t>
            </a:r>
            <a:r>
              <a:rPr sz="2400" spc="-2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numbers(0-</a:t>
            </a:r>
            <a:r>
              <a:rPr sz="2400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B050"/>
              </a:buClr>
              <a:buFont typeface="Wingdings"/>
              <a:buChar char="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5064760">
              <a:lnSpc>
                <a:spcPct val="121000"/>
              </a:lnSpc>
              <a:spcBef>
                <a:spcPts val="5"/>
              </a:spcBef>
              <a:buClr>
                <a:srgbClr val="00B050"/>
              </a:buClr>
            </a:pP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Name1</a:t>
            </a:r>
            <a:r>
              <a:rPr sz="2000" b="1" spc="-5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3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  <a:r>
              <a:rPr sz="2000" b="1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2000" b="1" spc="-2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sz="2000" b="1" spc="-1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Name@</a:t>
            </a:r>
            <a:r>
              <a:rPr sz="2000" b="1" spc="-6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-2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Peter</a:t>
            </a:r>
            <a:r>
              <a:rPr sz="2000" b="1" spc="-2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sz="20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B050"/>
              </a:buCl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00B050"/>
              </a:buCl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400" spc="-5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case-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sensitive,</a:t>
            </a:r>
            <a:r>
              <a:rPr sz="2400" spc="-3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z="2400" spc="-4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400" spc="-35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6002" y="4791836"/>
            <a:ext cx="2429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abc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Abc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two</a:t>
            </a:r>
            <a:endParaRPr sz="18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99152" y="4896230"/>
            <a:ext cx="831850" cy="360680"/>
            <a:chOff x="4899152" y="4896230"/>
            <a:chExt cx="831850" cy="360680"/>
          </a:xfrm>
        </p:grpSpPr>
        <p:sp>
          <p:nvSpPr>
            <p:cNvPr id="6" name="object 6"/>
            <p:cNvSpPr/>
            <p:nvPr/>
          </p:nvSpPr>
          <p:spPr>
            <a:xfrm>
              <a:off x="4905502" y="4902580"/>
              <a:ext cx="819150" cy="347980"/>
            </a:xfrm>
            <a:custGeom>
              <a:avLst/>
              <a:gdLst/>
              <a:ahLst/>
              <a:cxnLst/>
              <a:rect l="l" t="t" r="r" b="b"/>
              <a:pathLst>
                <a:path w="819150" h="347979">
                  <a:moveTo>
                    <a:pt x="644906" y="0"/>
                  </a:moveTo>
                  <a:lnTo>
                    <a:pt x="644906" y="86868"/>
                  </a:lnTo>
                  <a:lnTo>
                    <a:pt x="0" y="86868"/>
                  </a:lnTo>
                  <a:lnTo>
                    <a:pt x="0" y="260604"/>
                  </a:lnTo>
                  <a:lnTo>
                    <a:pt x="644906" y="260604"/>
                  </a:lnTo>
                  <a:lnTo>
                    <a:pt x="644906" y="347472"/>
                  </a:lnTo>
                  <a:lnTo>
                    <a:pt x="818642" y="173736"/>
                  </a:lnTo>
                  <a:lnTo>
                    <a:pt x="6449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502" y="4902580"/>
              <a:ext cx="819150" cy="347980"/>
            </a:xfrm>
            <a:custGeom>
              <a:avLst/>
              <a:gdLst/>
              <a:ahLst/>
              <a:cxnLst/>
              <a:rect l="l" t="t" r="r" b="b"/>
              <a:pathLst>
                <a:path w="819150" h="347979">
                  <a:moveTo>
                    <a:pt x="0" y="86868"/>
                  </a:moveTo>
                  <a:lnTo>
                    <a:pt x="644906" y="86868"/>
                  </a:lnTo>
                  <a:lnTo>
                    <a:pt x="644906" y="0"/>
                  </a:lnTo>
                  <a:lnTo>
                    <a:pt x="818642" y="173736"/>
                  </a:lnTo>
                  <a:lnTo>
                    <a:pt x="644906" y="347472"/>
                  </a:lnTo>
                  <a:lnTo>
                    <a:pt x="644906" y="260604"/>
                  </a:lnTo>
                  <a:lnTo>
                    <a:pt x="0" y="260604"/>
                  </a:lnTo>
                  <a:lnTo>
                    <a:pt x="0" y="8686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76594" y="4695825"/>
            <a:ext cx="93853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444444"/>
                </a:solidFill>
                <a:latin typeface="Georgia"/>
                <a:cs typeface="Georgia"/>
              </a:rPr>
              <a:t>abc</a:t>
            </a:r>
            <a:r>
              <a:rPr sz="1800" spc="-3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44444"/>
                </a:solidFill>
                <a:latin typeface="Georgia"/>
                <a:cs typeface="Georgia"/>
              </a:rPr>
              <a:t>=</a:t>
            </a:r>
            <a:r>
              <a:rPr sz="1800" spc="-25" dirty="0">
                <a:solidFill>
                  <a:srgbClr val="444444"/>
                </a:solidFill>
                <a:latin typeface="Georgia"/>
                <a:cs typeface="Georgia"/>
              </a:rPr>
              <a:t> 50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solidFill>
                  <a:srgbClr val="444444"/>
                </a:solidFill>
                <a:latin typeface="Georgia"/>
                <a:cs typeface="Georgia"/>
              </a:rPr>
              <a:t>Abc</a:t>
            </a:r>
            <a:r>
              <a:rPr sz="1800" spc="-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44444"/>
                </a:solidFill>
                <a:latin typeface="Georgia"/>
                <a:cs typeface="Georgia"/>
              </a:rPr>
              <a:t>=</a:t>
            </a:r>
            <a:r>
              <a:rPr sz="1800" spc="-25" dirty="0">
                <a:solidFill>
                  <a:srgbClr val="444444"/>
                </a:solidFill>
                <a:latin typeface="Georgia"/>
                <a:cs typeface="Georgia"/>
              </a:rPr>
              <a:t> 60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083" y="990600"/>
            <a:ext cx="10058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4000" spc="-2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–Exercises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1936611"/>
            <a:ext cx="7546975" cy="4051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0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sz="20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0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  <a:tab pos="1490980" algn="l"/>
              </a:tabLst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3.56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</a:t>
            </a:r>
            <a:r>
              <a:rPr sz="20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sz="20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sz="20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  <a:tab pos="2402205" algn="l"/>
              </a:tabLst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"Python"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sz="20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"Programming"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buClr>
                <a:srgbClr val="4471C4"/>
              </a:buClr>
              <a:buAutoNum type="arabicParenR"/>
              <a:tabLst>
                <a:tab pos="46926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Clr>
                <a:srgbClr val="4471C4"/>
              </a:buClr>
              <a:buAutoNum type="arabicParenR"/>
              <a:tabLst>
                <a:tab pos="46926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470"/>
              </a:spcBef>
              <a:buClr>
                <a:srgbClr val="4471C4"/>
              </a:buClr>
              <a:buAutoNum type="arabicParenR"/>
              <a:tabLst>
                <a:tab pos="469265" algn="l"/>
                <a:tab pos="153860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470"/>
              </a:spcBef>
              <a:buClr>
                <a:srgbClr val="4471C4"/>
              </a:buClr>
              <a:buAutoNum type="arabicParenR"/>
              <a:tabLst>
                <a:tab pos="46926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Clr>
                <a:srgbClr val="4471C4"/>
              </a:buClr>
              <a:buAutoNum type="arabicParenR"/>
              <a:tabLst>
                <a:tab pos="46926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1108983"/>
            <a:ext cx="10058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4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2057400"/>
            <a:ext cx="9230995" cy="223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32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	order,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called,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32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re-usability.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20" dirty="0"/>
              <a:t> </a:t>
            </a:r>
            <a:r>
              <a:rPr spc="-10" dirty="0"/>
              <a:t>Types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73756" y="1975981"/>
            <a:ext cx="9263380" cy="4236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9325" algn="l"/>
              </a:tabLst>
            </a:pPr>
            <a:r>
              <a:rPr sz="3400" dirty="0">
                <a:latin typeface="Arial MT"/>
                <a:cs typeface="Arial MT"/>
              </a:rPr>
              <a:t>There</a:t>
            </a:r>
            <a:r>
              <a:rPr sz="3400" spc="-9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are</a:t>
            </a:r>
            <a:r>
              <a:rPr sz="3400" spc="-85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mainly</a:t>
            </a:r>
            <a:r>
              <a:rPr sz="3400" dirty="0">
                <a:latin typeface="Arial MT"/>
                <a:cs typeface="Arial MT"/>
              </a:rPr>
              <a:t>	four</a:t>
            </a:r>
            <a:r>
              <a:rPr sz="3400" spc="-6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types</a:t>
            </a:r>
            <a:r>
              <a:rPr sz="3400" spc="-7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of</a:t>
            </a:r>
            <a:r>
              <a:rPr sz="3400" spc="-65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python</a:t>
            </a:r>
            <a:r>
              <a:rPr sz="3400" spc="-80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functions.</a:t>
            </a:r>
            <a:endParaRPr sz="3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3400" dirty="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buClr>
                <a:srgbClr val="4471C4"/>
              </a:buClr>
              <a:buAutoNum type="arabicPeriod"/>
              <a:tabLst>
                <a:tab pos="984885" algn="l"/>
              </a:tabLst>
            </a:pPr>
            <a:r>
              <a:rPr sz="2900" dirty="0">
                <a:solidFill>
                  <a:srgbClr val="006FC0"/>
                </a:solidFill>
                <a:latin typeface="Arial MT"/>
                <a:cs typeface="Arial MT"/>
              </a:rPr>
              <a:t>User</a:t>
            </a:r>
            <a:r>
              <a:rPr sz="29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006FC0"/>
                </a:solidFill>
                <a:latin typeface="Arial MT"/>
                <a:cs typeface="Arial MT"/>
              </a:rPr>
              <a:t>Defined</a:t>
            </a:r>
            <a:r>
              <a:rPr sz="29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06FC0"/>
                </a:solidFill>
                <a:latin typeface="Arial MT"/>
                <a:cs typeface="Arial MT"/>
              </a:rPr>
              <a:t>Functions</a:t>
            </a:r>
            <a:endParaRPr sz="2900" dirty="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spcBef>
                <a:spcPts val="155"/>
              </a:spcBef>
              <a:buClr>
                <a:srgbClr val="4471C4"/>
              </a:buClr>
              <a:buAutoNum type="arabicPeriod"/>
              <a:tabLst>
                <a:tab pos="984885" algn="l"/>
              </a:tabLst>
            </a:pPr>
            <a:r>
              <a:rPr sz="2900" dirty="0">
                <a:solidFill>
                  <a:srgbClr val="006FC0"/>
                </a:solidFill>
                <a:latin typeface="Arial MT"/>
                <a:cs typeface="Arial MT"/>
              </a:rPr>
              <a:t>Built</a:t>
            </a:r>
            <a:r>
              <a:rPr sz="2900" spc="-7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006FC0"/>
                </a:solidFill>
                <a:latin typeface="Arial MT"/>
                <a:cs typeface="Arial MT"/>
              </a:rPr>
              <a:t>–in</a:t>
            </a:r>
            <a:r>
              <a:rPr sz="29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06FC0"/>
                </a:solidFill>
                <a:latin typeface="Arial MT"/>
                <a:cs typeface="Arial MT"/>
              </a:rPr>
              <a:t>Functions</a:t>
            </a:r>
            <a:endParaRPr sz="2900" dirty="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spcBef>
                <a:spcPts val="145"/>
              </a:spcBef>
              <a:buClr>
                <a:srgbClr val="4471C4"/>
              </a:buClr>
              <a:buAutoNum type="arabicPeriod"/>
              <a:tabLst>
                <a:tab pos="984885" algn="l"/>
              </a:tabLst>
            </a:pPr>
            <a:r>
              <a:rPr sz="2900" dirty="0">
                <a:latin typeface="Arial MT"/>
                <a:cs typeface="Arial MT"/>
              </a:rPr>
              <a:t>Lamda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Functions</a:t>
            </a:r>
            <a:endParaRPr sz="2900" dirty="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spcBef>
                <a:spcPts val="160"/>
              </a:spcBef>
              <a:buClr>
                <a:srgbClr val="4471C4"/>
              </a:buClr>
              <a:buAutoNum type="arabicPeriod"/>
              <a:tabLst>
                <a:tab pos="984885" algn="l"/>
              </a:tabLst>
            </a:pPr>
            <a:r>
              <a:rPr sz="2900" dirty="0">
                <a:latin typeface="Arial MT"/>
                <a:cs typeface="Arial MT"/>
              </a:rPr>
              <a:t>Recursion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Functions</a:t>
            </a: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Let’s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talk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Built-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1788"/>
            <a:ext cx="4572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Built-</a:t>
            </a:r>
            <a:r>
              <a:rPr spc="-5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89431" y="781050"/>
            <a:ext cx="10105390" cy="8159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Python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interpreter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built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available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1717065"/>
            <a:ext cx="7642859" cy="43855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61423" y="3362325"/>
            <a:ext cx="17291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Let’s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talk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about </a:t>
            </a:r>
            <a:r>
              <a:rPr sz="1800" b="1" dirty="0">
                <a:latin typeface="Calibri"/>
                <a:cs typeface="Calibri"/>
              </a:rPr>
              <a:t>input()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print() </a:t>
            </a:r>
            <a:r>
              <a:rPr sz="1800" spc="-10" dirty="0"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Print()</a:t>
            </a:r>
            <a:r>
              <a:rPr spc="-16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89431" y="1605153"/>
            <a:ext cx="10104120" cy="149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print()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prints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specified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screen, 	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standard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device.</a:t>
            </a:r>
            <a:endParaRPr sz="2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994"/>
              </a:spcBef>
            </a:pPr>
            <a:r>
              <a:rPr sz="3200" dirty="0">
                <a:latin typeface="Arial MT"/>
                <a:cs typeface="Arial MT"/>
              </a:rPr>
              <a:t>print("hello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!!!")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output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hello</a:t>
            </a:r>
            <a:r>
              <a:rPr sz="32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!!!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096" y="3380701"/>
            <a:ext cx="4224655" cy="25857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 marR="3021965">
              <a:lnSpc>
                <a:spcPct val="150100"/>
              </a:lnSpc>
            </a:pPr>
            <a:r>
              <a:rPr sz="1800" spc="-10" dirty="0">
                <a:latin typeface="Arial MT"/>
                <a:cs typeface="Arial MT"/>
              </a:rPr>
              <a:t>print(1500) print(3.5)</a:t>
            </a:r>
            <a:endParaRPr sz="1800">
              <a:latin typeface="Arial MT"/>
              <a:cs typeface="Arial MT"/>
            </a:endParaRPr>
          </a:p>
          <a:p>
            <a:pPr marL="91440" marR="1176020">
              <a:lnSpc>
                <a:spcPct val="150000"/>
              </a:lnSpc>
            </a:pPr>
            <a:r>
              <a:rPr sz="1800" dirty="0">
                <a:latin typeface="Arial MT"/>
                <a:cs typeface="Arial MT"/>
              </a:rPr>
              <a:t>print("python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programming") </a:t>
            </a:r>
            <a:r>
              <a:rPr sz="1800" dirty="0">
                <a:latin typeface="Arial MT"/>
                <a:cs typeface="Arial MT"/>
              </a:rPr>
              <a:t>print("Next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please!")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75884" y="4153789"/>
            <a:ext cx="755650" cy="565150"/>
            <a:chOff x="5675884" y="4153789"/>
            <a:chExt cx="755650" cy="565150"/>
          </a:xfrm>
        </p:grpSpPr>
        <p:sp>
          <p:nvSpPr>
            <p:cNvPr id="6" name="object 6"/>
            <p:cNvSpPr/>
            <p:nvPr/>
          </p:nvSpPr>
          <p:spPr>
            <a:xfrm>
              <a:off x="5682234" y="4160139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466725" y="0"/>
                  </a:moveTo>
                  <a:lnTo>
                    <a:pt x="466725" y="138175"/>
                  </a:lnTo>
                  <a:lnTo>
                    <a:pt x="0" y="138175"/>
                  </a:lnTo>
                  <a:lnTo>
                    <a:pt x="0" y="414400"/>
                  </a:lnTo>
                  <a:lnTo>
                    <a:pt x="466725" y="414400"/>
                  </a:lnTo>
                  <a:lnTo>
                    <a:pt x="466725" y="552450"/>
                  </a:lnTo>
                  <a:lnTo>
                    <a:pt x="742950" y="276225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82234" y="4160139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0" y="138175"/>
                  </a:moveTo>
                  <a:lnTo>
                    <a:pt x="466725" y="138175"/>
                  </a:lnTo>
                  <a:lnTo>
                    <a:pt x="466725" y="0"/>
                  </a:lnTo>
                  <a:lnTo>
                    <a:pt x="742950" y="276225"/>
                  </a:lnTo>
                  <a:lnTo>
                    <a:pt x="466725" y="552450"/>
                  </a:lnTo>
                  <a:lnTo>
                    <a:pt x="466725" y="414400"/>
                  </a:lnTo>
                  <a:lnTo>
                    <a:pt x="0" y="414400"/>
                  </a:lnTo>
                  <a:lnTo>
                    <a:pt x="0" y="1381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07047" y="3380701"/>
            <a:ext cx="4893945" cy="25857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b="1" spc="-10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spc="-20" dirty="0">
                <a:latin typeface="Arial MT"/>
                <a:cs typeface="Arial MT"/>
              </a:rPr>
              <a:t>1500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1085"/>
              </a:spcBef>
            </a:pPr>
            <a:r>
              <a:rPr sz="1800" spc="-25" dirty="0">
                <a:latin typeface="Arial MT"/>
                <a:cs typeface="Arial MT"/>
              </a:rPr>
              <a:t>3.5</a:t>
            </a:r>
            <a:endParaRPr sz="1800">
              <a:latin typeface="Arial MT"/>
              <a:cs typeface="Arial MT"/>
            </a:endParaRPr>
          </a:p>
          <a:p>
            <a:pPr marL="92075" marR="2600325">
              <a:lnSpc>
                <a:spcPct val="150000"/>
              </a:lnSpc>
            </a:pPr>
            <a:r>
              <a:rPr sz="1800" dirty="0">
                <a:latin typeface="Arial MT"/>
                <a:cs typeface="Arial MT"/>
              </a:rPr>
              <a:t>python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programming </a:t>
            </a:r>
            <a:r>
              <a:rPr sz="1800" dirty="0">
                <a:latin typeface="Arial MT"/>
                <a:cs typeface="Arial MT"/>
              </a:rPr>
              <a:t>Next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please!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Input()</a:t>
            </a:r>
            <a:r>
              <a:rPr spc="-5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89431" y="1606677"/>
            <a:ext cx="9878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  <a:tab pos="598614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input()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reads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standard 	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string.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9431" y="3451097"/>
            <a:ext cx="10252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prompt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display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string 	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screen.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3774" y="2500718"/>
            <a:ext cx="4328795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 marR="121793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input("Enter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") </a:t>
            </a:r>
            <a:r>
              <a:rPr sz="1800" spc="-10" dirty="0">
                <a:latin typeface="Arial MT"/>
                <a:cs typeface="Arial MT"/>
              </a:rPr>
              <a:t>print(“Your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4488" y="4537354"/>
            <a:ext cx="4396740" cy="1200785"/>
          </a:xfrm>
          <a:custGeom>
            <a:avLst/>
            <a:gdLst/>
            <a:ahLst/>
            <a:cxnLst/>
            <a:rect l="l" t="t" r="r" b="b"/>
            <a:pathLst>
              <a:path w="4396740" h="1200785">
                <a:moveTo>
                  <a:pt x="0" y="1200327"/>
                </a:moveTo>
                <a:lnTo>
                  <a:pt x="4396613" y="1200327"/>
                </a:lnTo>
                <a:lnTo>
                  <a:pt x="4396613" y="0"/>
                </a:lnTo>
                <a:lnTo>
                  <a:pt x="0" y="0"/>
                </a:lnTo>
                <a:lnTo>
                  <a:pt x="0" y="120032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3355" y="4565091"/>
            <a:ext cx="248793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10"/>
              </a:lnSpc>
              <a:spcBef>
                <a:spcPts val="115"/>
              </a:spcBef>
            </a:pP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Kamal </a:t>
            </a:r>
            <a:r>
              <a:rPr sz="1800" spc="-25" dirty="0">
                <a:latin typeface="Arial MT"/>
                <a:cs typeface="Arial MT"/>
              </a:rPr>
              <a:t>Your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Kamal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26204" y="4959222"/>
            <a:ext cx="2715260" cy="114300"/>
          </a:xfrm>
          <a:custGeom>
            <a:avLst/>
            <a:gdLst/>
            <a:ahLst/>
            <a:cxnLst/>
            <a:rect l="l" t="t" r="r" b="b"/>
            <a:pathLst>
              <a:path w="271525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71525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715259" h="114300">
                <a:moveTo>
                  <a:pt x="27152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715260" y="76200"/>
                </a:lnTo>
                <a:lnTo>
                  <a:pt x="2715260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53072" y="4814417"/>
            <a:ext cx="2945765" cy="6464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Arial"/>
                <a:cs typeface="Arial"/>
              </a:rPr>
              <a:t>Can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any</a:t>
            </a:r>
            <a:r>
              <a:rPr sz="1800" b="1" spc="-10" dirty="0">
                <a:latin typeface="Arial"/>
                <a:cs typeface="Arial"/>
              </a:rPr>
              <a:t> string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55" dirty="0"/>
              <a:t> </a:t>
            </a:r>
            <a:r>
              <a:rPr dirty="0"/>
              <a:t>Defined</a:t>
            </a:r>
            <a:r>
              <a:rPr spc="-5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89431" y="1394960"/>
            <a:ext cx="8453755" cy="108521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764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spc="-55" dirty="0">
                <a:latin typeface="Arial MT"/>
                <a:cs typeface="Arial MT"/>
              </a:rPr>
              <a:t>You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functionality.</a:t>
            </a:r>
            <a:endParaRPr sz="24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latin typeface="Arial MT"/>
                <a:cs typeface="Arial MT"/>
              </a:rPr>
              <a:t>def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abc</a:t>
            </a:r>
            <a:r>
              <a:rPr sz="2000" spc="-10" dirty="0">
                <a:latin typeface="Arial MT"/>
                <a:cs typeface="Arial MT"/>
              </a:rPr>
              <a:t>():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1607" y="2423653"/>
            <a:ext cx="4653915" cy="1736089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"This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prints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hello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world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values"</a:t>
            </a:r>
            <a:endParaRPr sz="2000">
              <a:latin typeface="Arial MT"/>
              <a:cs typeface="Arial MT"/>
            </a:endParaRPr>
          </a:p>
          <a:p>
            <a:pPr marL="44450" marR="3186430" indent="-32384">
              <a:lnSpc>
                <a:spcPct val="147500"/>
              </a:lnSpc>
              <a:spcBef>
                <a:spcPts val="170"/>
              </a:spcBef>
            </a:pPr>
            <a:r>
              <a:rPr sz="1800" b="1" spc="-10" dirty="0">
                <a:latin typeface="Arial"/>
                <a:cs typeface="Arial"/>
              </a:rPr>
              <a:t>print</a:t>
            </a:r>
            <a:r>
              <a:rPr sz="1800" spc="-10" dirty="0">
                <a:latin typeface="Arial MT"/>
                <a:cs typeface="Arial MT"/>
              </a:rPr>
              <a:t>("Hello") </a:t>
            </a:r>
            <a:r>
              <a:rPr sz="1800" b="1" spc="-10" dirty="0">
                <a:latin typeface="Arial"/>
                <a:cs typeface="Arial"/>
              </a:rPr>
              <a:t>print</a:t>
            </a:r>
            <a:r>
              <a:rPr sz="1800" spc="-10" dirty="0">
                <a:latin typeface="Arial MT"/>
                <a:cs typeface="Arial MT"/>
              </a:rPr>
              <a:t>("World") return;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5561" y="5303266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abc()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84170" y="5380482"/>
            <a:ext cx="2619375" cy="114300"/>
          </a:xfrm>
          <a:custGeom>
            <a:avLst/>
            <a:gdLst/>
            <a:ahLst/>
            <a:cxnLst/>
            <a:rect l="l" t="t" r="r" b="b"/>
            <a:pathLst>
              <a:path w="2619375" h="114300">
                <a:moveTo>
                  <a:pt x="2505075" y="0"/>
                </a:moveTo>
                <a:lnTo>
                  <a:pt x="2505075" y="114300"/>
                </a:lnTo>
                <a:lnTo>
                  <a:pt x="2581275" y="76200"/>
                </a:lnTo>
                <a:lnTo>
                  <a:pt x="2524125" y="76200"/>
                </a:lnTo>
                <a:lnTo>
                  <a:pt x="2524125" y="38100"/>
                </a:lnTo>
                <a:lnTo>
                  <a:pt x="2581275" y="38100"/>
                </a:lnTo>
                <a:lnTo>
                  <a:pt x="2505075" y="0"/>
                </a:lnTo>
                <a:close/>
              </a:path>
              <a:path w="2619375" h="114300">
                <a:moveTo>
                  <a:pt x="250507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05075" y="76200"/>
                </a:lnTo>
                <a:lnTo>
                  <a:pt x="2505075" y="38100"/>
                </a:lnTo>
                <a:close/>
              </a:path>
              <a:path w="2619375" h="114300">
                <a:moveTo>
                  <a:pt x="2581275" y="38100"/>
                </a:moveTo>
                <a:lnTo>
                  <a:pt x="2524125" y="38100"/>
                </a:lnTo>
                <a:lnTo>
                  <a:pt x="2524125" y="76200"/>
                </a:lnTo>
                <a:lnTo>
                  <a:pt x="2581275" y="76200"/>
                </a:lnTo>
                <a:lnTo>
                  <a:pt x="2619375" y="57150"/>
                </a:lnTo>
                <a:lnTo>
                  <a:pt x="2581275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9431" y="4637193"/>
            <a:ext cx="7350759" cy="86550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Arial MT"/>
                <a:cs typeface="Arial MT"/>
              </a:rPr>
              <a:t>Once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  <a:p>
            <a:pPr marL="980440" algn="ctr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Arial MT"/>
                <a:cs typeface="Arial MT"/>
              </a:rPr>
              <a:t>Hello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921" y="5477052"/>
            <a:ext cx="618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World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37550" y="2532964"/>
            <a:ext cx="27539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first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statement of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a </a:t>
            </a:r>
            <a:r>
              <a:rPr sz="1800" i="1" dirty="0">
                <a:latin typeface="Arial"/>
                <a:cs typeface="Arial"/>
              </a:rPr>
              <a:t>function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can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be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optional statement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94804" y="2737611"/>
            <a:ext cx="962025" cy="76200"/>
          </a:xfrm>
          <a:custGeom>
            <a:avLst/>
            <a:gdLst/>
            <a:ahLst/>
            <a:cxnLst/>
            <a:rect l="l" t="t" r="r" b="b"/>
            <a:pathLst>
              <a:path w="962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962025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962025" h="76200">
                <a:moveTo>
                  <a:pt x="961644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961644" y="47625"/>
                </a:lnTo>
                <a:lnTo>
                  <a:pt x="961644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851" y="4037329"/>
            <a:ext cx="4777105" cy="76200"/>
          </a:xfrm>
          <a:custGeom>
            <a:avLst/>
            <a:gdLst/>
            <a:ahLst/>
            <a:cxnLst/>
            <a:rect l="l" t="t" r="r" b="b"/>
            <a:pathLst>
              <a:path w="4777105" h="76200">
                <a:moveTo>
                  <a:pt x="76326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47" y="47636"/>
                </a:lnTo>
                <a:lnTo>
                  <a:pt x="63500" y="47625"/>
                </a:lnTo>
                <a:lnTo>
                  <a:pt x="63500" y="28575"/>
                </a:lnTo>
                <a:lnTo>
                  <a:pt x="76279" y="28575"/>
                </a:lnTo>
                <a:lnTo>
                  <a:pt x="76326" y="0"/>
                </a:lnTo>
                <a:close/>
              </a:path>
              <a:path w="4777105" h="76200">
                <a:moveTo>
                  <a:pt x="76279" y="28586"/>
                </a:moveTo>
                <a:lnTo>
                  <a:pt x="76247" y="47636"/>
                </a:lnTo>
                <a:lnTo>
                  <a:pt x="4776597" y="51943"/>
                </a:lnTo>
                <a:lnTo>
                  <a:pt x="4776597" y="32893"/>
                </a:lnTo>
                <a:lnTo>
                  <a:pt x="76279" y="28586"/>
                </a:lnTo>
                <a:close/>
              </a:path>
              <a:path w="4777105" h="76200">
                <a:moveTo>
                  <a:pt x="63500" y="28575"/>
                </a:moveTo>
                <a:lnTo>
                  <a:pt x="63500" y="47625"/>
                </a:lnTo>
                <a:lnTo>
                  <a:pt x="76247" y="47636"/>
                </a:lnTo>
                <a:lnTo>
                  <a:pt x="76279" y="28586"/>
                </a:lnTo>
                <a:lnTo>
                  <a:pt x="63500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33358" y="3784219"/>
            <a:ext cx="2448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9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Python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function </a:t>
            </a:r>
            <a:r>
              <a:rPr sz="1800" i="1" spc="-25" dirty="0">
                <a:latin typeface="Arial"/>
                <a:cs typeface="Arial"/>
              </a:rPr>
              <a:t>may </a:t>
            </a:r>
            <a:r>
              <a:rPr sz="1800" i="1" dirty="0">
                <a:latin typeface="Arial"/>
                <a:cs typeface="Arial"/>
              </a:rPr>
              <a:t>optionally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return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1108983"/>
            <a:ext cx="10058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4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4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85212" y="1689247"/>
            <a:ext cx="100044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9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Parameters(Arguments)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parentheses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“(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5127" y="2604541"/>
            <a:ext cx="4467860" cy="3139440"/>
          </a:xfrm>
          <a:custGeom>
            <a:avLst/>
            <a:gdLst/>
            <a:ahLst/>
            <a:cxnLst/>
            <a:rect l="l" t="t" r="r" b="b"/>
            <a:pathLst>
              <a:path w="4467860" h="3139440">
                <a:moveTo>
                  <a:pt x="0" y="3139313"/>
                </a:moveTo>
                <a:lnTo>
                  <a:pt x="4467860" y="3139313"/>
                </a:lnTo>
                <a:lnTo>
                  <a:pt x="4467860" y="0"/>
                </a:lnTo>
                <a:lnTo>
                  <a:pt x="0" y="0"/>
                </a:lnTo>
                <a:lnTo>
                  <a:pt x="0" y="313931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52600" y="2926803"/>
            <a:ext cx="3935729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#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definition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here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printme(abc):</a:t>
            </a:r>
            <a:endParaRPr sz="1800" dirty="0">
              <a:latin typeface="Arial MT"/>
              <a:cs typeface="Arial MT"/>
            </a:endParaRPr>
          </a:p>
          <a:p>
            <a:pPr marL="70866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"This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value"</a:t>
            </a:r>
            <a:endParaRPr sz="1800" dirty="0">
              <a:latin typeface="Arial MT"/>
              <a:cs typeface="Arial MT"/>
            </a:endParaRPr>
          </a:p>
          <a:p>
            <a:pPr marL="772795" marR="219075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print(abc) return;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#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Now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you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call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printme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function</a:t>
            </a:r>
            <a:endParaRPr sz="1800" dirty="0">
              <a:latin typeface="Arial"/>
              <a:cs typeface="Arial"/>
            </a:endParaRPr>
          </a:p>
          <a:p>
            <a:pPr marL="12700" marR="59817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printme("hello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world") </a:t>
            </a:r>
            <a:r>
              <a:rPr sz="1800" dirty="0">
                <a:latin typeface="Arial MT"/>
                <a:cs typeface="Arial MT"/>
              </a:rPr>
              <a:t>printme("second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same </a:t>
            </a:r>
            <a:r>
              <a:rPr sz="1800" spc="-10" dirty="0">
                <a:latin typeface="Arial MT"/>
                <a:cs typeface="Arial MT"/>
              </a:rPr>
              <a:t>function")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9406" y="3392627"/>
            <a:ext cx="4224655" cy="120078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b="1" spc="-10" dirty="0">
                <a:latin typeface="Arial"/>
                <a:cs typeface="Arial"/>
              </a:rPr>
              <a:t>Output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hello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world</a:t>
            </a:r>
            <a:endParaRPr sz="1800" dirty="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second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0" dirty="0">
                <a:latin typeface="Arial MT"/>
                <a:cs typeface="Arial MT"/>
              </a:rPr>
              <a:t> function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75807" y="3710178"/>
            <a:ext cx="755650" cy="565150"/>
            <a:chOff x="6075807" y="3548888"/>
            <a:chExt cx="755650" cy="565150"/>
          </a:xfrm>
        </p:grpSpPr>
        <p:sp>
          <p:nvSpPr>
            <p:cNvPr id="8" name="object 8"/>
            <p:cNvSpPr/>
            <p:nvPr/>
          </p:nvSpPr>
          <p:spPr>
            <a:xfrm>
              <a:off x="6082157" y="3555238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466724" y="0"/>
                  </a:moveTo>
                  <a:lnTo>
                    <a:pt x="466724" y="138175"/>
                  </a:lnTo>
                  <a:lnTo>
                    <a:pt x="0" y="138175"/>
                  </a:lnTo>
                  <a:lnTo>
                    <a:pt x="0" y="414400"/>
                  </a:lnTo>
                  <a:lnTo>
                    <a:pt x="466724" y="414400"/>
                  </a:lnTo>
                  <a:lnTo>
                    <a:pt x="466724" y="552450"/>
                  </a:lnTo>
                  <a:lnTo>
                    <a:pt x="742949" y="276225"/>
                  </a:lnTo>
                  <a:lnTo>
                    <a:pt x="4667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82157" y="3555238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0" y="138175"/>
                  </a:moveTo>
                  <a:lnTo>
                    <a:pt x="466724" y="138175"/>
                  </a:lnTo>
                  <a:lnTo>
                    <a:pt x="466724" y="0"/>
                  </a:lnTo>
                  <a:lnTo>
                    <a:pt x="742949" y="276225"/>
                  </a:lnTo>
                  <a:lnTo>
                    <a:pt x="466724" y="552450"/>
                  </a:lnTo>
                  <a:lnTo>
                    <a:pt x="466724" y="414400"/>
                  </a:lnTo>
                  <a:lnTo>
                    <a:pt x="0" y="414400"/>
                  </a:lnTo>
                  <a:lnTo>
                    <a:pt x="0" y="1381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270884" y="2786126"/>
            <a:ext cx="3466465" cy="616585"/>
          </a:xfrm>
          <a:custGeom>
            <a:avLst/>
            <a:gdLst/>
            <a:ahLst/>
            <a:cxnLst/>
            <a:rect l="l" t="t" r="r" b="b"/>
            <a:pathLst>
              <a:path w="3466465" h="616585">
                <a:moveTo>
                  <a:pt x="68834" y="541020"/>
                </a:moveTo>
                <a:lnTo>
                  <a:pt x="0" y="591185"/>
                </a:lnTo>
                <a:lnTo>
                  <a:pt x="81534" y="616076"/>
                </a:lnTo>
                <a:lnTo>
                  <a:pt x="77128" y="590041"/>
                </a:lnTo>
                <a:lnTo>
                  <a:pt x="64262" y="590041"/>
                </a:lnTo>
                <a:lnTo>
                  <a:pt x="61087" y="571246"/>
                </a:lnTo>
                <a:lnTo>
                  <a:pt x="73593" y="569146"/>
                </a:lnTo>
                <a:lnTo>
                  <a:pt x="68834" y="541020"/>
                </a:lnTo>
                <a:close/>
              </a:path>
              <a:path w="3466465" h="616585">
                <a:moveTo>
                  <a:pt x="73593" y="569146"/>
                </a:moveTo>
                <a:lnTo>
                  <a:pt x="61087" y="571246"/>
                </a:lnTo>
                <a:lnTo>
                  <a:pt x="64262" y="590041"/>
                </a:lnTo>
                <a:lnTo>
                  <a:pt x="76773" y="587941"/>
                </a:lnTo>
                <a:lnTo>
                  <a:pt x="73593" y="569146"/>
                </a:lnTo>
                <a:close/>
              </a:path>
              <a:path w="3466465" h="616585">
                <a:moveTo>
                  <a:pt x="76773" y="587941"/>
                </a:moveTo>
                <a:lnTo>
                  <a:pt x="64262" y="590041"/>
                </a:lnTo>
                <a:lnTo>
                  <a:pt x="77128" y="590041"/>
                </a:lnTo>
                <a:lnTo>
                  <a:pt x="76773" y="587941"/>
                </a:lnTo>
                <a:close/>
              </a:path>
              <a:path w="3466465" h="616585">
                <a:moveTo>
                  <a:pt x="3463036" y="0"/>
                </a:moveTo>
                <a:lnTo>
                  <a:pt x="73593" y="569146"/>
                </a:lnTo>
                <a:lnTo>
                  <a:pt x="76773" y="587941"/>
                </a:lnTo>
                <a:lnTo>
                  <a:pt x="3466211" y="18796"/>
                </a:lnTo>
                <a:lnTo>
                  <a:pt x="34630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15073" y="2638425"/>
            <a:ext cx="3427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Function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with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one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argument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(abc)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1047428"/>
            <a:ext cx="10058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4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4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15694" y="1869719"/>
            <a:ext cx="10330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parameters 	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calculations.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7835" y="2832100"/>
            <a:ext cx="3971925" cy="34163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addition(num1,num2):</a:t>
            </a:r>
            <a:endParaRPr sz="1800" dirty="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print("answer is: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,num1+num2)</a:t>
            </a:r>
            <a:endParaRPr sz="1800" dirty="0">
              <a:latin typeface="Arial MT"/>
              <a:cs typeface="Arial MT"/>
            </a:endParaRPr>
          </a:p>
          <a:p>
            <a:pPr marL="471170" marR="297815" indent="-37973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subtraction(num1,num2): </a:t>
            </a:r>
            <a:r>
              <a:rPr sz="1800" dirty="0">
                <a:latin typeface="Arial MT"/>
                <a:cs typeface="Arial MT"/>
              </a:rPr>
              <a:t>print("answer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,num1-</a:t>
            </a:r>
            <a:r>
              <a:rPr sz="1800" spc="-20" dirty="0">
                <a:latin typeface="Arial MT"/>
                <a:cs typeface="Arial MT"/>
              </a:rPr>
              <a:t>num2)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91440" marR="1780539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addition(50,20) addition(40,50) addition(100,20) subtraction(50,20) subtraction(100,20) subtraction(200,100)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02959" y="4266488"/>
            <a:ext cx="755650" cy="525145"/>
            <a:chOff x="5902959" y="3950334"/>
            <a:chExt cx="755650" cy="525145"/>
          </a:xfrm>
        </p:grpSpPr>
        <p:sp>
          <p:nvSpPr>
            <p:cNvPr id="6" name="object 6"/>
            <p:cNvSpPr/>
            <p:nvPr/>
          </p:nvSpPr>
          <p:spPr>
            <a:xfrm>
              <a:off x="5909309" y="3956684"/>
              <a:ext cx="742950" cy="512445"/>
            </a:xfrm>
            <a:custGeom>
              <a:avLst/>
              <a:gdLst/>
              <a:ahLst/>
              <a:cxnLst/>
              <a:rect l="l" t="t" r="r" b="b"/>
              <a:pathLst>
                <a:path w="742950" h="512445">
                  <a:moveTo>
                    <a:pt x="486917" y="0"/>
                  </a:moveTo>
                  <a:lnTo>
                    <a:pt x="486917" y="128142"/>
                  </a:lnTo>
                  <a:lnTo>
                    <a:pt x="0" y="128142"/>
                  </a:lnTo>
                  <a:lnTo>
                    <a:pt x="0" y="384175"/>
                  </a:lnTo>
                  <a:lnTo>
                    <a:pt x="486917" y="384175"/>
                  </a:lnTo>
                  <a:lnTo>
                    <a:pt x="486917" y="512317"/>
                  </a:lnTo>
                  <a:lnTo>
                    <a:pt x="742949" y="256158"/>
                  </a:lnTo>
                  <a:lnTo>
                    <a:pt x="48691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09309" y="3956684"/>
              <a:ext cx="742950" cy="512445"/>
            </a:xfrm>
            <a:custGeom>
              <a:avLst/>
              <a:gdLst/>
              <a:ahLst/>
              <a:cxnLst/>
              <a:rect l="l" t="t" r="r" b="b"/>
              <a:pathLst>
                <a:path w="742950" h="512445">
                  <a:moveTo>
                    <a:pt x="0" y="128142"/>
                  </a:moveTo>
                  <a:lnTo>
                    <a:pt x="486917" y="128142"/>
                  </a:lnTo>
                  <a:lnTo>
                    <a:pt x="486917" y="0"/>
                  </a:lnTo>
                  <a:lnTo>
                    <a:pt x="742949" y="256158"/>
                  </a:lnTo>
                  <a:lnTo>
                    <a:pt x="486917" y="512317"/>
                  </a:lnTo>
                  <a:lnTo>
                    <a:pt x="486917" y="384175"/>
                  </a:lnTo>
                  <a:lnTo>
                    <a:pt x="0" y="384175"/>
                  </a:lnTo>
                  <a:lnTo>
                    <a:pt x="0" y="12814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09459" y="3146349"/>
            <a:ext cx="3971925" cy="25857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b="1" spc="-10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70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90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120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80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answer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100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985872"/>
            <a:ext cx="10058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097280" y="1845734"/>
            <a:ext cx="10058400" cy="260391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5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00B05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C95D-1BDC-4294-A3D6-7FD0AEB4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7F96B-48E3-4001-81EB-528D95C3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solidFill>
                  <a:schemeClr val="tx1"/>
                </a:solidFill>
                <a:latin typeface="Book Antiqua" panose="02040602050305030304" pitchFamily="18" charset="0"/>
              </a:rPr>
              <a:t>Create a user-defined function called square().The function should, Accept one number and Return its square.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32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solidFill>
                  <a:schemeClr val="tx1"/>
                </a:solidFill>
                <a:latin typeface="Book Antiqua" panose="02040602050305030304" pitchFamily="18" charset="0"/>
              </a:rPr>
              <a:t>Write a function named largest() that accepts two numbers and prints the larger number.</a:t>
            </a:r>
          </a:p>
        </p:txBody>
      </p:sp>
    </p:spTree>
    <p:extLst>
      <p:ext uri="{BB962C8B-B14F-4D97-AF65-F5344CB8AC3E}">
        <p14:creationId xmlns:p14="http://schemas.microsoft.com/office/powerpoint/2010/main" val="391401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2286000"/>
            <a:ext cx="443928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SzPct val="98148"/>
              <a:tabLst>
                <a:tab pos="326390" algn="l"/>
              </a:tabLst>
            </a:pPr>
            <a:r>
              <a:rPr sz="5400" dirty="0">
                <a:solidFill>
                  <a:srgbClr val="00B050"/>
                </a:solidFill>
                <a:latin typeface="Impact"/>
                <a:cs typeface="Impact"/>
              </a:rPr>
              <a:t>Thank</a:t>
            </a:r>
            <a:r>
              <a:rPr sz="5400" spc="-160" dirty="0">
                <a:solidFill>
                  <a:srgbClr val="00B050"/>
                </a:solidFill>
                <a:latin typeface="Impact"/>
                <a:cs typeface="Impact"/>
              </a:rPr>
              <a:t> </a:t>
            </a:r>
            <a:r>
              <a:rPr sz="5400" spc="-20" dirty="0">
                <a:solidFill>
                  <a:srgbClr val="00B050"/>
                </a:solidFill>
                <a:latin typeface="Impact"/>
                <a:cs typeface="Impact"/>
              </a:rPr>
              <a:t>You.</a:t>
            </a:r>
            <a:endParaRPr sz="5400" dirty="0">
              <a:solidFill>
                <a:srgbClr val="00B050"/>
              </a:solidFill>
              <a:latin typeface="Impact"/>
              <a:cs typeface="Impac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406</TotalTime>
  <Words>930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MT</vt:lpstr>
      <vt:lpstr>Book Antiqua</vt:lpstr>
      <vt:lpstr>Calibri</vt:lpstr>
      <vt:lpstr>Calibri Light</vt:lpstr>
      <vt:lpstr>Georgia</vt:lpstr>
      <vt:lpstr>Impact</vt:lpstr>
      <vt:lpstr>Times New Roman</vt:lpstr>
      <vt:lpstr>Wingdings</vt:lpstr>
      <vt:lpstr>Retrospect</vt:lpstr>
      <vt:lpstr>ADVANCED PROGRAMMING-ITIC 2223</vt:lpstr>
      <vt:lpstr>What is a Variable ?</vt:lpstr>
      <vt:lpstr>Assigning Values to Variables</vt:lpstr>
      <vt:lpstr>Naming Rules in Python Variables</vt:lpstr>
      <vt:lpstr>Naming Rules in Python Variables</vt:lpstr>
      <vt:lpstr>Variables –Exercises</vt:lpstr>
      <vt:lpstr>What is a function?</vt:lpstr>
      <vt:lpstr>Function Types</vt:lpstr>
      <vt:lpstr>Built- in Functions</vt:lpstr>
      <vt:lpstr>Print() Function</vt:lpstr>
      <vt:lpstr>Input() Function</vt:lpstr>
      <vt:lpstr>User Defined Functions</vt:lpstr>
      <vt:lpstr>Python Function with Parameters</vt:lpstr>
      <vt:lpstr>Functions - Exercise</vt:lpstr>
      <vt:lpstr>Lesson Summary</vt:lpstr>
      <vt:lpstr>Activity 02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9</cp:revision>
  <dcterms:created xsi:type="dcterms:W3CDTF">2024-06-14T08:13:50Z</dcterms:created>
  <dcterms:modified xsi:type="dcterms:W3CDTF">2026-08-03T04:36:07Z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2024-06-14T00:00:00Z</vt:filetime>
  </property>
  <property fmtid="{D5CDD505-2E9C-101B-9397-08002B2CF9AE}" pid="5" name="Producer">
    <vt:lpwstr>Microsoft® Office PowerPoint® 2007</vt:lpwstr>
  </property>
</Properties>
</file>