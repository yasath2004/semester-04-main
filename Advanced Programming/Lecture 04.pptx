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02" r:id="rId1"/>
  </p:sldMasterIdLst>
  <p:sldIdLst>
    <p:sldId id="256" r:id="rId2"/>
    <p:sldId id="27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1" r:id="rId18"/>
    <p:sldId id="272" r:id="rId19"/>
    <p:sldId id="273" r:id="rId20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834" y="6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0628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83581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47960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5438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278242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41266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46772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948966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8678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62318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6569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7/13/2025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lang="en-AU" smtClean="0"/>
              <a:t>‹#›</a:t>
            </a:fld>
            <a:endParaRPr lang="en-AU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1950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</a:t>
            </a:fld>
            <a:endParaRPr dirty="0"/>
          </a:p>
        </p:txBody>
      </p:sp>
      <p:sp>
        <p:nvSpPr>
          <p:cNvPr id="2" name="object 2"/>
          <p:cNvSpPr txBox="1">
            <a:spLocks noGrp="1"/>
          </p:cNvSpPr>
          <p:nvPr>
            <p:ph type="ctrTitle" idx="4294967295"/>
          </p:nvPr>
        </p:nvSpPr>
        <p:spPr>
          <a:xfrm>
            <a:off x="1028382" y="1890355"/>
            <a:ext cx="10134600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en-AU" sz="4400" spc="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</a:t>
            </a:r>
            <a:r>
              <a:rPr lang="en-AU" sz="4400" spc="-3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4400" spc="-15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PROGRAMMING-ITIC 2223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00800" y="4648200"/>
            <a:ext cx="5590395" cy="14484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Ramesh Madhuranga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MPhil.(Reading) (USJP), BICT (Hons) (RUSL), AMCSSL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 of Biosystems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Faculty of Technology</a:t>
            </a:r>
          </a:p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Kotelawala Defence University</a:t>
            </a:r>
          </a:p>
        </p:txBody>
      </p:sp>
      <p:sp>
        <p:nvSpPr>
          <p:cNvPr id="6" name="object 3"/>
          <p:cNvSpPr txBox="1"/>
          <p:nvPr/>
        </p:nvSpPr>
        <p:spPr>
          <a:xfrm>
            <a:off x="2204258" y="2774238"/>
            <a:ext cx="76962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US" sz="2800" b="1" spc="-5" dirty="0">
                <a:solidFill>
                  <a:schemeClr val="accent3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04- Python Operators</a:t>
            </a:r>
            <a:endParaRPr lang="en-US" sz="2800" dirty="0">
              <a:solidFill>
                <a:schemeClr val="accent3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ject 10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07628" y="633166"/>
            <a:ext cx="4398963" cy="5127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sz="3200" b="1" spc="23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3200" b="1" spc="-5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Operand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9431" y="1716151"/>
            <a:ext cx="9859569" cy="19781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9235" algn="just">
              <a:lnSpc>
                <a:spcPct val="100000"/>
              </a:lnSpc>
              <a:spcBef>
                <a:spcPts val="105"/>
              </a:spcBef>
              <a:buClr>
                <a:srgbClr val="00B050"/>
              </a:buClr>
              <a:buSzPct val="94000"/>
              <a:buFont typeface="Wingdings"/>
              <a:buChar char=""/>
              <a:tabLst>
                <a:tab pos="2419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variables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values.</a:t>
            </a:r>
          </a:p>
          <a:p>
            <a:pPr marL="241300" indent="-229235" algn="just">
              <a:lnSpc>
                <a:spcPct val="100000"/>
              </a:lnSpc>
              <a:spcBef>
                <a:spcPts val="1870"/>
              </a:spcBef>
              <a:buClr>
                <a:srgbClr val="00B050"/>
              </a:buClr>
              <a:buSzPct val="94000"/>
              <a:buFont typeface="Wingdings"/>
              <a:buChar char=""/>
              <a:tabLst>
                <a:tab pos="2419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words,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constructs</a:t>
            </a:r>
            <a:r>
              <a:rPr sz="24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operands.</a:t>
            </a:r>
          </a:p>
          <a:p>
            <a:pPr marL="241300" indent="-229235" algn="just">
              <a:lnSpc>
                <a:spcPct val="100000"/>
              </a:lnSpc>
              <a:spcBef>
                <a:spcPts val="1880"/>
              </a:spcBef>
              <a:buClr>
                <a:srgbClr val="00B050"/>
              </a:buClr>
              <a:buSzPct val="94000"/>
              <a:buFont typeface="Wingdings"/>
              <a:buChar char=""/>
              <a:tabLst>
                <a:tab pos="2419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Operands</a:t>
            </a:r>
            <a:r>
              <a:rPr sz="2400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4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items.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89431" y="4906259"/>
            <a:ext cx="9587865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above,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r>
              <a:rPr sz="2400" b="1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considered</a:t>
            </a:r>
            <a:r>
              <a:rPr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operands</a:t>
            </a:r>
            <a:r>
              <a:rPr sz="2400" spc="-2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sz="2400" b="1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sz="2400" b="1" spc="-1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solidFill>
                  <a:srgbClr val="1F4E7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55310" y="4041902"/>
            <a:ext cx="433603" cy="52331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4038600"/>
            <a:ext cx="355117" cy="523316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5480559" y="4101542"/>
            <a:ext cx="273685" cy="397510"/>
            <a:chOff x="5842000" y="4466082"/>
            <a:chExt cx="273685" cy="397510"/>
          </a:xfrm>
        </p:grpSpPr>
        <p:sp>
          <p:nvSpPr>
            <p:cNvPr id="8" name="object 8"/>
            <p:cNvSpPr/>
            <p:nvPr/>
          </p:nvSpPr>
          <p:spPr>
            <a:xfrm>
              <a:off x="5848350" y="4472939"/>
              <a:ext cx="260985" cy="384810"/>
            </a:xfrm>
            <a:custGeom>
              <a:avLst/>
              <a:gdLst/>
              <a:ahLst/>
              <a:cxnLst/>
              <a:rect l="l" t="t" r="r" b="b"/>
              <a:pathLst>
                <a:path w="260985" h="384810">
                  <a:moveTo>
                    <a:pt x="260985" y="149860"/>
                  </a:moveTo>
                  <a:lnTo>
                    <a:pt x="172339" y="149860"/>
                  </a:lnTo>
                  <a:lnTo>
                    <a:pt x="172339" y="0"/>
                  </a:lnTo>
                  <a:lnTo>
                    <a:pt x="88773" y="0"/>
                  </a:lnTo>
                  <a:lnTo>
                    <a:pt x="88773" y="149860"/>
                  </a:lnTo>
                  <a:lnTo>
                    <a:pt x="0" y="149860"/>
                  </a:lnTo>
                  <a:lnTo>
                    <a:pt x="0" y="233680"/>
                  </a:lnTo>
                  <a:lnTo>
                    <a:pt x="88773" y="233680"/>
                  </a:lnTo>
                  <a:lnTo>
                    <a:pt x="88773" y="384810"/>
                  </a:lnTo>
                  <a:lnTo>
                    <a:pt x="172339" y="384810"/>
                  </a:lnTo>
                  <a:lnTo>
                    <a:pt x="172339" y="233680"/>
                  </a:lnTo>
                  <a:lnTo>
                    <a:pt x="260985" y="233680"/>
                  </a:lnTo>
                  <a:lnTo>
                    <a:pt x="260985" y="14986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848350" y="4472432"/>
              <a:ext cx="260985" cy="384810"/>
            </a:xfrm>
            <a:custGeom>
              <a:avLst/>
              <a:gdLst/>
              <a:ahLst/>
              <a:cxnLst/>
              <a:rect l="l" t="t" r="r" b="b"/>
              <a:pathLst>
                <a:path w="260985" h="384810">
                  <a:moveTo>
                    <a:pt x="0" y="150622"/>
                  </a:moveTo>
                  <a:lnTo>
                    <a:pt x="88773" y="150622"/>
                  </a:lnTo>
                  <a:lnTo>
                    <a:pt x="88773" y="0"/>
                  </a:lnTo>
                  <a:lnTo>
                    <a:pt x="172338" y="0"/>
                  </a:lnTo>
                  <a:lnTo>
                    <a:pt x="172338" y="150622"/>
                  </a:lnTo>
                  <a:lnTo>
                    <a:pt x="260985" y="150622"/>
                  </a:lnTo>
                  <a:lnTo>
                    <a:pt x="260985" y="234061"/>
                  </a:lnTo>
                  <a:lnTo>
                    <a:pt x="172338" y="234061"/>
                  </a:lnTo>
                  <a:lnTo>
                    <a:pt x="172338" y="384683"/>
                  </a:lnTo>
                  <a:lnTo>
                    <a:pt x="88773" y="384683"/>
                  </a:lnTo>
                  <a:lnTo>
                    <a:pt x="88773" y="234061"/>
                  </a:lnTo>
                  <a:lnTo>
                    <a:pt x="0" y="234061"/>
                  </a:lnTo>
                  <a:lnTo>
                    <a:pt x="0" y="15062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41672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66800" y="533400"/>
            <a:ext cx="3759200" cy="5127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</a:t>
            </a:r>
            <a:r>
              <a:rPr sz="3200" b="1" spc="23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3200" b="1" spc="-4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400" y="1447800"/>
            <a:ext cx="5774690" cy="3902075"/>
          </a:xfrm>
          <a:prstGeom prst="rect">
            <a:avLst/>
          </a:prstGeom>
        </p:spPr>
        <p:txBody>
          <a:bodyPr vert="horz" wrap="square" lIns="0" tIns="139065" rIns="0" bIns="0" rtlCol="0">
            <a:spAutoFit/>
          </a:bodyPr>
          <a:lstStyle/>
          <a:p>
            <a:pPr marL="241300" indent="-229235">
              <a:lnSpc>
                <a:spcPct val="100000"/>
              </a:lnSpc>
              <a:spcBef>
                <a:spcPts val="1095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spcBef>
                <a:spcPts val="1005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(Relational)</a:t>
            </a:r>
            <a:r>
              <a:rPr sz="28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spcBef>
                <a:spcPts val="100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sz="28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Bitwise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spcBef>
                <a:spcPts val="101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Membership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spcBef>
                <a:spcPts val="994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  <a:r>
              <a:rPr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9431" y="762000"/>
            <a:ext cx="409003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r>
              <a:rPr sz="3200" b="1" spc="-10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9431" y="1769491"/>
            <a:ext cx="10572115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perform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28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addition,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subtraction,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multiplication</a:t>
            </a:r>
            <a:r>
              <a:rPr sz="28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927041"/>
              </p:ext>
            </p:extLst>
          </p:nvPr>
        </p:nvGraphicFramePr>
        <p:xfrm>
          <a:off x="1488670" y="1447800"/>
          <a:ext cx="9067800" cy="4704168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659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8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61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937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95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20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27329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27329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27329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789"/>
                        </a:spcBef>
                      </a:pPr>
                      <a:r>
                        <a:rPr sz="20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227329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72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806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Addition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779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Adds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operands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779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77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X+Y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77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1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5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938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Subtraction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7165" marB="0"/>
                </a:tc>
                <a:tc>
                  <a:txBody>
                    <a:bodyPr/>
                    <a:lstStyle/>
                    <a:p>
                      <a:pPr marL="1657350" marR="196850" indent="-1454150"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Subtracts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r>
                        <a:rPr sz="160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</a:t>
                      </a:r>
                      <a:r>
                        <a:rPr sz="16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sz="1600" spc="-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461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95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X-Y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716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01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3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933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Multiplication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Multiplies</a:t>
                      </a:r>
                      <a:r>
                        <a:rPr sz="1600" spc="-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two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1125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87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X*Y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111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2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51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Division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Divides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operand</a:t>
                      </a:r>
                      <a:r>
                        <a:rPr sz="160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X/Y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05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//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Floor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Division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6839" marR="110489" indent="1905" algn="ctr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Divides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first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r>
                        <a:rPr sz="16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by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second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rounds answer</a:t>
                      </a:r>
                      <a:r>
                        <a:rPr sz="1600" spc="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nearest</a:t>
                      </a:r>
                      <a:r>
                        <a:rPr sz="160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whole</a:t>
                      </a:r>
                      <a:r>
                        <a:rPr sz="16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 </a:t>
                      </a:r>
                      <a:r>
                        <a:rPr sz="1600" spc="-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the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number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line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65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X//Y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5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6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Modulus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35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remainder</a:t>
                      </a:r>
                      <a:r>
                        <a:rPr sz="16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 the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division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operation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40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endParaRPr sz="17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X%Y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35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96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6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Exponential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 marL="1473200" marR="130810" indent="-1337310">
                        <a:lnSpc>
                          <a:spcPct val="100000"/>
                        </a:lnSpc>
                        <a:spcBef>
                          <a:spcPts val="110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r>
                        <a:rPr sz="16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raised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power</a:t>
                      </a:r>
                      <a:r>
                        <a:rPr sz="16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 </a:t>
                      </a:r>
                      <a:r>
                        <a:rPr sz="1600" spc="-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403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X**Y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5</a:t>
            </a:fld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1371600" y="609600"/>
            <a:ext cx="377956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en-AU" sz="28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Arithmetic</a:t>
            </a:r>
            <a:r>
              <a:rPr lang="en-AU" sz="2800" b="1" spc="-105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lang="en-AU" sz="28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Operators</a:t>
            </a:r>
            <a:endParaRPr lang="en-AU" sz="2800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89431" y="528320"/>
            <a:ext cx="444436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Assignment</a:t>
            </a:r>
            <a:r>
              <a:rPr sz="3200" b="1" spc="240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Operators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6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1298194" y="2031618"/>
            <a:ext cx="6117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Arial MT"/>
                <a:cs typeface="Arial MT"/>
              </a:rPr>
              <a:t>Are</a:t>
            </a:r>
            <a:r>
              <a:rPr sz="2800" spc="-20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used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to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assign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values</a:t>
            </a:r>
            <a:r>
              <a:rPr sz="2800" spc="-10" dirty="0">
                <a:latin typeface="Arial MT"/>
                <a:cs typeface="Arial MT"/>
              </a:rPr>
              <a:t> </a:t>
            </a:r>
            <a:r>
              <a:rPr sz="2800" spc="-5" dirty="0">
                <a:latin typeface="Arial MT"/>
                <a:cs typeface="Arial MT"/>
              </a:rPr>
              <a:t>to</a:t>
            </a:r>
            <a:r>
              <a:rPr sz="2800" spc="-15" dirty="0">
                <a:latin typeface="Arial MT"/>
                <a:cs typeface="Arial MT"/>
              </a:rPr>
              <a:t> </a:t>
            </a:r>
            <a:r>
              <a:rPr sz="2800" dirty="0">
                <a:latin typeface="Arial MT"/>
                <a:cs typeface="Arial MT"/>
              </a:rPr>
              <a:t>variables.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711464"/>
              </p:ext>
            </p:extLst>
          </p:nvPr>
        </p:nvGraphicFramePr>
        <p:xfrm>
          <a:off x="1865629" y="381000"/>
          <a:ext cx="8448675" cy="5761452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20802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4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4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0520"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0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4620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60"/>
                        </a:spcBef>
                      </a:pPr>
                      <a:r>
                        <a:rPr sz="20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462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9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7160" marB="0"/>
                </a:tc>
                <a:tc>
                  <a:txBody>
                    <a:bodyPr/>
                    <a:lstStyle/>
                    <a:p>
                      <a:pPr marL="1302385" marR="131445" indent="-116586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</a:t>
                      </a:r>
                      <a:r>
                        <a:rPr sz="16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side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6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expression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</a:t>
                      </a:r>
                      <a:r>
                        <a:rPr sz="1600" spc="-3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side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Z=X+Y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494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145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3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684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Add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side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r>
                        <a:rPr sz="16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side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6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then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operand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270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37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Z+=X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46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3918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08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7160" marB="0"/>
                </a:tc>
                <a:tc>
                  <a:txBody>
                    <a:bodyPr/>
                    <a:lstStyle/>
                    <a:p>
                      <a:pPr marL="892175" marR="130175" indent="-75755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Subtract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r>
                        <a:rPr sz="16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from</a:t>
                      </a:r>
                      <a:r>
                        <a:rPr sz="16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operand</a:t>
                      </a:r>
                      <a:r>
                        <a:rPr sz="1600" spc="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sz="1600" spc="-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then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3020" marB="0"/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Z-=X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5494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27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28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3195" marB="0"/>
                </a:tc>
                <a:tc>
                  <a:txBody>
                    <a:bodyPr/>
                    <a:lstStyle/>
                    <a:p>
                      <a:pPr marL="892175" marR="151765" indent="-737870"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Multiply</a:t>
                      </a:r>
                      <a:r>
                        <a:rPr sz="1600" spc="-5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r>
                        <a:rPr sz="1600" spc="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operand</a:t>
                      </a:r>
                      <a:r>
                        <a:rPr sz="16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sz="1600" spc="-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then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8419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420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Z*=X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8034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84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6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7272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540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r>
                        <a:rPr sz="16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r>
                        <a:rPr sz="16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then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 left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85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3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Z/=X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3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5264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669925" marR="186690" indent="-47752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6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Takes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modulus using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right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operands </a:t>
                      </a:r>
                      <a:r>
                        <a:rPr sz="1600" spc="-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result</a:t>
                      </a:r>
                      <a:r>
                        <a:rPr sz="16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7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Z%=X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7527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**==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863600" marR="134620" indent="-725805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Calculate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exponent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using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operands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sz="1600" spc="-35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</a:t>
                      </a:r>
                      <a:r>
                        <a:rPr sz="16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operand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7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Z**=X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7526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6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//==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 marL="227965" marR="224790" indent="10160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Divide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r>
                        <a:rPr sz="16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</a:t>
                      </a:r>
                      <a:r>
                        <a:rPr sz="16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r>
                        <a:rPr sz="1600" spc="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sz="1600" spc="-3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then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assign the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value(floor)</a:t>
                      </a:r>
                      <a:r>
                        <a:rPr sz="1600" spc="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779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17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Z//==X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7</a:t>
            </a:fld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90600" y="609600"/>
            <a:ext cx="4491038" cy="5127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Comparison</a:t>
            </a:r>
            <a:r>
              <a:rPr sz="3200" b="1" spc="19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71600" y="1600200"/>
            <a:ext cx="9582785" cy="11047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95"/>
              </a:spcBef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8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values.</a:t>
            </a:r>
            <a:endParaRPr sz="3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8600">
              <a:lnSpc>
                <a:spcPct val="100000"/>
              </a:lnSpc>
              <a:spcBef>
                <a:spcPts val="1805"/>
              </a:spcBef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either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800" spc="1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800" spc="-3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condition.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9030538"/>
              </p:ext>
            </p:extLst>
          </p:nvPr>
        </p:nvGraphicFramePr>
        <p:xfrm>
          <a:off x="609600" y="762000"/>
          <a:ext cx="10787377" cy="5206184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74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2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718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98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20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985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7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2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676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</a:t>
                      </a:r>
                      <a:r>
                        <a:rPr sz="16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" marB="0"/>
                </a:tc>
                <a:tc>
                  <a:txBody>
                    <a:bodyPr/>
                    <a:lstStyle/>
                    <a:p>
                      <a:pPr marL="1678939" marR="115570" indent="-155448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operand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</a:t>
                      </a:r>
                      <a:r>
                        <a:rPr sz="1800" spc="-3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11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1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X&gt;Y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17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910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1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24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</a:t>
                      </a:r>
                      <a:r>
                        <a:rPr sz="16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71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 operand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smaller than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X&lt;Y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7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330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001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</a:t>
                      </a:r>
                      <a:r>
                        <a:rPr sz="1600" spc="-6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7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7795" marB="0"/>
                </a:tc>
                <a:tc>
                  <a:txBody>
                    <a:bodyPr/>
                    <a:lstStyle/>
                    <a:p>
                      <a:pPr marL="635" algn="ctr">
                        <a:lnSpc>
                          <a:spcPct val="100000"/>
                        </a:lnSpc>
                        <a:spcBef>
                          <a:spcPts val="945"/>
                        </a:spcBef>
                      </a:pP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operands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0015" marB="0"/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108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X==Y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3779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2309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!=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93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</a:t>
                      </a:r>
                      <a:r>
                        <a:rPr sz="16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70"/>
                        </a:spcBef>
                      </a:pP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sz="18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operands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93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90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X/Y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7706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9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&gt;=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Than</a:t>
                      </a:r>
                      <a:r>
                        <a:rPr sz="16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1089025" marR="171450" indent="-909955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operand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greater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 </a:t>
                      </a:r>
                      <a:r>
                        <a:rPr sz="1800" spc="-3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498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X&gt;=Y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7713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endParaRPr sz="19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&lt;=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0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Less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</a:t>
                      </a:r>
                      <a:r>
                        <a:rPr sz="1600" spc="-2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sz="1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080" marB="0"/>
                </a:tc>
                <a:tc>
                  <a:txBody>
                    <a:bodyPr/>
                    <a:lstStyle/>
                    <a:p>
                      <a:pPr marL="1089025" marR="168910" indent="-913130">
                        <a:lnSpc>
                          <a:spcPct val="100000"/>
                        </a:lnSpc>
                        <a:spcBef>
                          <a:spcPts val="1180"/>
                        </a:spcBef>
                      </a:pP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operand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smaller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than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 </a:t>
                      </a:r>
                      <a:r>
                        <a:rPr sz="1800" spc="-39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equal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4986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20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X&lt;=Y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08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9</a:t>
            </a:fld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371600" y="685800"/>
            <a:ext cx="3541713" cy="5127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sz="3200" b="1" spc="22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4294967295"/>
          </p:nvPr>
        </p:nvSpPr>
        <p:spPr>
          <a:xfrm>
            <a:off x="1371600" y="1752600"/>
            <a:ext cx="10007600" cy="16331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7820" indent="-229235">
              <a:lnSpc>
                <a:spcPct val="100000"/>
              </a:lnSpc>
              <a:spcBef>
                <a:spcPts val="95"/>
              </a:spcBef>
              <a:buClr>
                <a:srgbClr val="00B050"/>
              </a:buClr>
              <a:buFont typeface="Wingdings"/>
              <a:buChar char=""/>
              <a:tabLst>
                <a:tab pos="33845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used to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</a:t>
            </a:r>
            <a:r>
              <a:rPr sz="24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conditional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statements.</a:t>
            </a:r>
          </a:p>
          <a:p>
            <a:pPr marL="337820" indent="-229235">
              <a:lnSpc>
                <a:spcPct val="100000"/>
              </a:lnSpc>
              <a:spcBef>
                <a:spcPts val="1800"/>
              </a:spcBef>
              <a:buClr>
                <a:srgbClr val="00B050"/>
              </a:buClr>
              <a:buFont typeface="Wingdings"/>
              <a:buChar char=""/>
              <a:tabLst>
                <a:tab pos="338455" algn="l"/>
              </a:tabLst>
            </a:pP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operators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400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AND,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NOT.</a:t>
            </a:r>
          </a:p>
          <a:p>
            <a:pPr marL="337820" indent="-229235">
              <a:lnSpc>
                <a:spcPct val="100000"/>
              </a:lnSpc>
              <a:spcBef>
                <a:spcPts val="1805"/>
              </a:spcBef>
              <a:buClr>
                <a:srgbClr val="00B050"/>
              </a:buClr>
              <a:buFont typeface="Wingdings"/>
              <a:buChar char=""/>
              <a:tabLst>
                <a:tab pos="338455" algn="l"/>
              </a:tabLst>
            </a:pP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sz="24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4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150537"/>
              </p:ext>
            </p:extLst>
          </p:nvPr>
        </p:nvGraphicFramePr>
        <p:xfrm>
          <a:off x="762000" y="1752600"/>
          <a:ext cx="10787377" cy="413461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974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98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90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529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1876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Operator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Name</a:t>
                      </a:r>
                      <a:endParaRPr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  <a:spcBef>
                          <a:spcPts val="1565"/>
                        </a:spcBef>
                      </a:pPr>
                      <a:r>
                        <a:rPr sz="20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Syntax</a:t>
                      </a:r>
                      <a:endParaRPr sz="20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253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22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63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</a:t>
                      </a:r>
                      <a:r>
                        <a:rPr sz="16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1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510"/>
                        </a:spcBef>
                      </a:pP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Returns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both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the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operands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917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23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2540" algn="ctr">
                        <a:lnSpc>
                          <a:spcPct val="100000"/>
                        </a:lnSpc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sz="16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</a:t>
                      </a:r>
                      <a:r>
                        <a:rPr sz="1600" spc="-4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81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6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</a:t>
                      </a:r>
                      <a:r>
                        <a:rPr sz="16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25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sz="18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either</a:t>
                      </a:r>
                      <a:r>
                        <a:rPr sz="1800" spc="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of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operands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is true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270" algn="ctr">
                        <a:lnSpc>
                          <a:spcPct val="100000"/>
                        </a:lnSpc>
                        <a:spcBef>
                          <a:spcPts val="1185"/>
                        </a:spcBef>
                      </a:pP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X</a:t>
                      </a:r>
                      <a:r>
                        <a:rPr sz="16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  <a:r>
                        <a:rPr sz="1600" spc="-1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69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Logical</a:t>
                      </a:r>
                      <a:r>
                        <a:rPr sz="1600" spc="-4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endParaRPr sz="16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44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75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635" algn="ctr">
                        <a:lnSpc>
                          <a:spcPct val="100000"/>
                        </a:lnSpc>
                      </a:pPr>
                      <a:r>
                        <a:rPr sz="1800" spc="-3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True</a:t>
                      </a:r>
                      <a:r>
                        <a:rPr sz="1800" spc="-2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if</a:t>
                      </a:r>
                      <a:r>
                        <a:rPr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operand</a:t>
                      </a:r>
                      <a:r>
                        <a:rPr sz="1800" spc="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8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</a:t>
                      </a:r>
                      <a:r>
                        <a:rPr sz="18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false</a:t>
                      </a:r>
                      <a:endParaRPr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127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5"/>
                        </a:spcBef>
                      </a:pPr>
                      <a:endParaRPr sz="185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175" algn="ctr">
                        <a:lnSpc>
                          <a:spcPct val="100000"/>
                        </a:lnSpc>
                      </a:pPr>
                      <a:r>
                        <a:rPr sz="1600" spc="-1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</a:t>
                      </a:r>
                      <a:r>
                        <a:rPr sz="1600" spc="-3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sz="1600" spc="-5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</a:t>
                      </a:r>
                      <a:endParaRPr sz="16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444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11</a:t>
            </a:fld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990600" y="762000"/>
            <a:ext cx="30072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800" b="1" spc="-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lang="en-AU" sz="2800" b="1" spc="22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AU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lang="en-AU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219200" y="590874"/>
            <a:ext cx="2638425" cy="5127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  <a:r>
              <a:rPr sz="3200" b="1" spc="229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295400" y="1600200"/>
            <a:ext cx="9026525" cy="343722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Assuming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6, y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, and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1,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sz="2800" spc="-7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2925">
              <a:lnSpc>
                <a:spcPct val="100000"/>
              </a:lnSpc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&lt;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z)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(y &gt;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z)</a:t>
            </a:r>
          </a:p>
          <a:p>
            <a:pPr marL="542925" marR="3491865">
              <a:lnSpc>
                <a:spcPct val="114700"/>
              </a:lnSpc>
              <a:spcBef>
                <a:spcPts val="10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 !=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</a:t>
            </a:r>
            <a:r>
              <a:rPr sz="2800" spc="-7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</a:t>
            </a:r>
          </a:p>
          <a:p>
            <a:pPr marL="542925">
              <a:lnSpc>
                <a:spcPct val="100000"/>
              </a:lnSpc>
              <a:spcBef>
                <a:spcPts val="505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(x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((y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&gt;= 2)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(z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 2))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89431" y="534985"/>
            <a:ext cx="3541713" cy="5127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Bitwise</a:t>
            </a:r>
            <a:r>
              <a:rPr sz="3200" b="1" spc="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89431" y="1363217"/>
            <a:ext cx="10513695" cy="42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78815" algn="ctr">
              <a:lnSpc>
                <a:spcPct val="100000"/>
              </a:lnSpc>
              <a:spcBef>
                <a:spcPts val="95"/>
              </a:spcBef>
              <a:buClr>
                <a:srgbClr val="00B050"/>
              </a:buClr>
              <a:tabLst>
                <a:tab pos="1160780" algn="l"/>
                <a:tab pos="1547495" algn="l"/>
                <a:tab pos="1977389" algn="l"/>
                <a:tab pos="2578100" algn="l"/>
                <a:tab pos="3387090" algn="l"/>
              </a:tabLst>
            </a:pPr>
            <a:r>
              <a:rPr sz="2800" spc="-5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&amp;	|	^	~	&lt;&lt;	&gt;&gt;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spcBef>
                <a:spcPts val="228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integers.</a:t>
            </a:r>
          </a:p>
          <a:p>
            <a:pPr marL="241300" marR="5080" indent="-229235">
              <a:lnSpc>
                <a:spcPct val="100000"/>
              </a:lnSpc>
              <a:spcBef>
                <a:spcPts val="179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integers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binary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then</a:t>
            </a:r>
            <a:r>
              <a:rPr sz="2800" spc="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</a:t>
            </a:r>
            <a:r>
              <a:rPr sz="2800" spc="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sz="2800" spc="-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bit by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spcBef>
                <a:spcPts val="180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is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decimal</a:t>
            </a:r>
            <a:r>
              <a:rPr sz="2800" spc="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format.</a:t>
            </a: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41300" indent="-229235">
              <a:lnSpc>
                <a:spcPct val="100000"/>
              </a:lnSpc>
              <a:spcBef>
                <a:spcPts val="1800"/>
              </a:spcBef>
              <a:buClr>
                <a:srgbClr val="00B050"/>
              </a:buClr>
              <a:buFont typeface="Wingdings"/>
              <a:buChar char=""/>
              <a:tabLst>
                <a:tab pos="241935" algn="l"/>
              </a:tabLst>
            </a:pP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065">
              <a:lnSpc>
                <a:spcPct val="100000"/>
              </a:lnSpc>
              <a:spcBef>
                <a:spcPts val="1800"/>
              </a:spcBef>
              <a:buClr>
                <a:srgbClr val="00B050"/>
              </a:buClr>
              <a:tabLst>
                <a:tab pos="241935" algn="l"/>
              </a:tabLst>
            </a:pPr>
            <a:r>
              <a:rPr lang="en-AU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print(5 &amp; 3)</a:t>
            </a:r>
            <a:endParaRPr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838200" y="371747"/>
            <a:ext cx="4513263" cy="5127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Membership</a:t>
            </a:r>
            <a:r>
              <a:rPr sz="3200" b="1" spc="24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3000" y="1295400"/>
            <a:ext cx="10294620" cy="533671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marR="57150" indent="-228600" algn="just">
              <a:lnSpc>
                <a:spcPct val="100000"/>
              </a:lnSpc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value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</a:t>
            </a:r>
            <a:r>
              <a:rPr sz="2800" spc="-7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</a:t>
            </a:r>
            <a:r>
              <a:rPr sz="28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lists,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tuples.</a:t>
            </a:r>
          </a:p>
          <a:p>
            <a:pPr algn="just">
              <a:lnSpc>
                <a:spcPct val="100000"/>
              </a:lnSpc>
              <a:spcBef>
                <a:spcPts val="20"/>
              </a:spcBef>
            </a:pPr>
            <a:endParaRPr sz="3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417320" marR="657225" indent="-490855" algn="just">
              <a:lnSpc>
                <a:spcPct val="100000"/>
              </a:lnSpc>
            </a:pPr>
            <a:r>
              <a:rPr sz="2800" b="1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in:</a:t>
            </a:r>
            <a:r>
              <a:rPr sz="2800" b="1" spc="-1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sz="28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7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object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39289" marR="5080" indent="-1012825" algn="just">
              <a:lnSpc>
                <a:spcPct val="100000"/>
              </a:lnSpc>
              <a:spcBef>
                <a:spcPts val="1789"/>
              </a:spcBef>
            </a:pPr>
            <a:r>
              <a:rPr sz="2800" b="1" spc="-1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800" b="1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in:</a:t>
            </a:r>
            <a:r>
              <a:rPr sz="2800" b="1" spc="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specified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</a:t>
            </a:r>
            <a:r>
              <a:rPr sz="28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sz="2800" spc="-7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</a:t>
            </a:r>
            <a:r>
              <a:rPr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 in the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endParaRPr lang="en-US" sz="28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939289" marR="5080" indent="-1012825" algn="just">
              <a:lnSpc>
                <a:spcPct val="100000"/>
              </a:lnSpc>
              <a:spcBef>
                <a:spcPts val="1789"/>
              </a:spcBef>
            </a:pPr>
            <a:r>
              <a:rPr lang="it-IT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= ["apple", "banana"]</a:t>
            </a:r>
          </a:p>
          <a:p>
            <a:pPr marL="1939289" marR="5080" indent="-1012825" algn="just">
              <a:lnSpc>
                <a:spcPct val="100000"/>
              </a:lnSpc>
              <a:spcBef>
                <a:spcPts val="1789"/>
              </a:spcBef>
            </a:pPr>
            <a:r>
              <a:rPr lang="it-IT" sz="2800" b="1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print("banana" in x)</a:t>
            </a:r>
          </a:p>
          <a:p>
            <a:pPr marL="1939289" marR="5080" indent="-1012825" algn="just">
              <a:lnSpc>
                <a:spcPct val="100000"/>
              </a:lnSpc>
              <a:spcBef>
                <a:spcPts val="1789"/>
              </a:spcBef>
            </a:pP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43000" y="498875"/>
            <a:ext cx="3563938" cy="5127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  <a:r>
              <a:rPr sz="3200" b="1" spc="19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3000" y="1447800"/>
            <a:ext cx="9828530" cy="311046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300" indent="-228600" algn="just">
              <a:lnSpc>
                <a:spcPct val="100000"/>
              </a:lnSpc>
              <a:buClr>
                <a:srgbClr val="00B050"/>
              </a:buClr>
              <a:buFont typeface="Wingdings"/>
              <a:buChar char=""/>
              <a:tabLst>
                <a:tab pos="241300" algn="l"/>
              </a:tabLst>
            </a:pP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r>
              <a:rPr sz="3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memory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location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two objects.</a:t>
            </a:r>
          </a:p>
          <a:p>
            <a:pPr algn="just">
              <a:lnSpc>
                <a:spcPct val="100000"/>
              </a:lnSpc>
              <a:spcBef>
                <a:spcPts val="45"/>
              </a:spcBef>
            </a:pPr>
            <a:endParaRPr sz="4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algn="just">
              <a:lnSpc>
                <a:spcPct val="100000"/>
              </a:lnSpc>
            </a:pPr>
            <a:r>
              <a:rPr sz="3000"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is:</a:t>
            </a:r>
            <a:r>
              <a:rPr sz="3000" b="1" spc="-2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true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 two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3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</a:p>
          <a:p>
            <a:pPr algn="just">
              <a:lnSpc>
                <a:spcPct val="100000"/>
              </a:lnSpc>
            </a:pPr>
            <a:endParaRPr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58365" marR="5080" indent="-1231900" algn="just">
              <a:lnSpc>
                <a:spcPts val="3240"/>
              </a:lnSpc>
            </a:pPr>
            <a:r>
              <a:rPr sz="3000" b="1" spc="-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sz="3000" b="1" spc="-15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b="1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not:</a:t>
            </a:r>
            <a:r>
              <a:rPr sz="3000" b="1" spc="20" dirty="0">
                <a:solidFill>
                  <a:srgbClr val="006F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false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</a:t>
            </a:r>
            <a:r>
              <a:rPr sz="3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point</a:t>
            </a:r>
            <a:r>
              <a:rPr sz="3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3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sz="3000" spc="-819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endParaRPr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143000" y="498875"/>
            <a:ext cx="3563938" cy="51276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Identity</a:t>
            </a:r>
            <a:r>
              <a:rPr sz="3200" b="1" spc="19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Operators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295400" y="1600200"/>
            <a:ext cx="6858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["apple", "banana"]</a:t>
            </a:r>
          </a:p>
          <a:p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["apple", "banana"]</a:t>
            </a:r>
          </a:p>
          <a:p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= x</a:t>
            </a:r>
          </a:p>
          <a:p>
            <a:endParaRPr lang="en-A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print(x is z)</a:t>
            </a:r>
          </a:p>
        </p:txBody>
      </p:sp>
    </p:spTree>
    <p:extLst>
      <p:ext uri="{BB962C8B-B14F-4D97-AF65-F5344CB8AC3E}">
        <p14:creationId xmlns:p14="http://schemas.microsoft.com/office/powerpoint/2010/main" val="42828210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9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666717" y="228600"/>
            <a:ext cx="4173538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Operator</a:t>
            </a:r>
            <a:r>
              <a:rPr sz="3200" b="1" spc="22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3200" b="1" spc="-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Precedence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05200" y="929575"/>
            <a:ext cx="5639054" cy="5238115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2556636" y="1256283"/>
            <a:ext cx="393700" cy="4584700"/>
            <a:chOff x="2556636" y="1256283"/>
            <a:chExt cx="393700" cy="4584700"/>
          </a:xfrm>
        </p:grpSpPr>
        <p:sp>
          <p:nvSpPr>
            <p:cNvPr id="5" name="object 5"/>
            <p:cNvSpPr/>
            <p:nvPr/>
          </p:nvSpPr>
          <p:spPr>
            <a:xfrm>
              <a:off x="2562986" y="1262633"/>
              <a:ext cx="381000" cy="4572000"/>
            </a:xfrm>
            <a:custGeom>
              <a:avLst/>
              <a:gdLst/>
              <a:ahLst/>
              <a:cxnLst/>
              <a:rect l="l" t="t" r="r" b="b"/>
              <a:pathLst>
                <a:path w="381000" h="4572000">
                  <a:moveTo>
                    <a:pt x="285750" y="0"/>
                  </a:moveTo>
                  <a:lnTo>
                    <a:pt x="95250" y="0"/>
                  </a:lnTo>
                  <a:lnTo>
                    <a:pt x="95250" y="3429000"/>
                  </a:lnTo>
                  <a:lnTo>
                    <a:pt x="0" y="3429000"/>
                  </a:lnTo>
                  <a:lnTo>
                    <a:pt x="190500" y="4572000"/>
                  </a:lnTo>
                  <a:lnTo>
                    <a:pt x="381000" y="3429000"/>
                  </a:lnTo>
                  <a:lnTo>
                    <a:pt x="285750" y="3429000"/>
                  </a:lnTo>
                  <a:lnTo>
                    <a:pt x="285750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2562986" y="1262633"/>
              <a:ext cx="381000" cy="4572000"/>
            </a:xfrm>
            <a:custGeom>
              <a:avLst/>
              <a:gdLst/>
              <a:ahLst/>
              <a:cxnLst/>
              <a:rect l="l" t="t" r="r" b="b"/>
              <a:pathLst>
                <a:path w="381000" h="4572000">
                  <a:moveTo>
                    <a:pt x="285750" y="0"/>
                  </a:moveTo>
                  <a:lnTo>
                    <a:pt x="285750" y="3429000"/>
                  </a:lnTo>
                  <a:lnTo>
                    <a:pt x="381000" y="3429000"/>
                  </a:lnTo>
                  <a:lnTo>
                    <a:pt x="190500" y="4572000"/>
                  </a:lnTo>
                  <a:lnTo>
                    <a:pt x="0" y="3429000"/>
                  </a:lnTo>
                  <a:lnTo>
                    <a:pt x="95250" y="3429000"/>
                  </a:lnTo>
                  <a:lnTo>
                    <a:pt x="95250" y="0"/>
                  </a:lnTo>
                  <a:lnTo>
                    <a:pt x="285750" y="0"/>
                  </a:lnTo>
                  <a:close/>
                </a:path>
              </a:pathLst>
            </a:custGeom>
            <a:ln w="12700">
              <a:solidFill>
                <a:srgbClr val="AD5A20"/>
              </a:solidFill>
            </a:ln>
          </p:spPr>
          <p:txBody>
            <a:bodyPr wrap="square" lIns="0" tIns="0" rIns="0" bIns="0" rtlCol="0"/>
            <a:lstStyle/>
            <a:p>
              <a:endParaRPr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219200" y="1091260"/>
            <a:ext cx="1155699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17359" y="5452477"/>
            <a:ext cx="1251583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400" b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sz="2400" b="1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sz="2400" b="1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xfrm>
            <a:off x="9900458" y="6545846"/>
            <a:ext cx="1312025" cy="193002"/>
          </a:xfrm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1066800" y="449137"/>
            <a:ext cx="7467600" cy="5052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Exercise</a:t>
            </a:r>
            <a:r>
              <a:rPr sz="3200" spc="85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spc="-8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3200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90684" y="1219200"/>
            <a:ext cx="6474206" cy="4787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</a:t>
            </a:r>
            <a:r>
              <a:rPr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following.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</a:t>
            </a:r>
            <a:r>
              <a:rPr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16*20+4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102-41//6</a:t>
            </a: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20.0*12.0-4</a:t>
            </a: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</a:t>
            </a:r>
            <a:r>
              <a:rPr sz="28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9.2*54**4</a:t>
            </a: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9%5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1000"/>
              </a:spcBef>
              <a:tabLst>
                <a:tab pos="405130" algn="l"/>
              </a:tabLst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f.	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2**12+4+23-7%8</a:t>
            </a:r>
          </a:p>
          <a:p>
            <a:pPr marL="12700">
              <a:lnSpc>
                <a:spcPct val="100000"/>
              </a:lnSpc>
              <a:spcBef>
                <a:spcPts val="1010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</a:t>
            </a:r>
            <a:r>
              <a:rPr sz="28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124//8*6+234</a:t>
            </a:r>
            <a:endParaRPr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28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h.</a:t>
            </a:r>
            <a:r>
              <a:rPr sz="28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5**6+9-12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3111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45"/>
              </a:spcBef>
            </a:pPr>
            <a:fld id="{81D60167-4931-47E6-BA6A-407CBD079E47}" type="slidenum">
              <a:rPr dirty="0"/>
              <a:t>19</a:t>
            </a:fld>
            <a:endParaRPr dirty="0"/>
          </a:p>
        </p:txBody>
      </p:sp>
      <p:sp>
        <p:nvSpPr>
          <p:cNvPr id="3" name="object 3"/>
          <p:cNvSpPr txBox="1"/>
          <p:nvPr/>
        </p:nvSpPr>
        <p:spPr>
          <a:xfrm>
            <a:off x="3962400" y="2895600"/>
            <a:ext cx="4337050" cy="695703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HAVE A NICE DAY!</a:t>
            </a:r>
            <a:endParaRPr sz="3600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bject 3"/>
          <p:cNvSpPr txBox="1"/>
          <p:nvPr/>
        </p:nvSpPr>
        <p:spPr>
          <a:xfrm>
            <a:off x="381000" y="762000"/>
            <a:ext cx="4337050" cy="634148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12065" algn="ctr">
              <a:lnSpc>
                <a:spcPct val="100000"/>
              </a:lnSpc>
              <a:spcBef>
                <a:spcPts val="1105"/>
              </a:spcBef>
              <a:buClr>
                <a:srgbClr val="4471C4"/>
              </a:buClr>
              <a:tabLst>
                <a:tab pos="241935" algn="l"/>
              </a:tabLst>
            </a:pPr>
            <a:r>
              <a:rPr lang="en-US" sz="32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Any Questions?</a:t>
            </a:r>
            <a:endParaRPr sz="32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145</TotalTime>
  <Words>905</Words>
  <Application>Microsoft Office PowerPoint</Application>
  <PresentationFormat>Widescreen</PresentationFormat>
  <Paragraphs>257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Arial MT</vt:lpstr>
      <vt:lpstr>Calibri</vt:lpstr>
      <vt:lpstr>Calibri Light</vt:lpstr>
      <vt:lpstr>Times New Roman</vt:lpstr>
      <vt:lpstr>Wingdings</vt:lpstr>
      <vt:lpstr>Retrospect</vt:lpstr>
      <vt:lpstr>ADVANCED PROGRAMMING-ITIC 2223</vt:lpstr>
      <vt:lpstr>Operator and Operand</vt:lpstr>
      <vt:lpstr>Types of Operators</vt:lpstr>
      <vt:lpstr>PowerPoint Presentation</vt:lpstr>
      <vt:lpstr>PowerPoint Presentation</vt:lpstr>
      <vt:lpstr>PowerPoint Presentation</vt:lpstr>
      <vt:lpstr>PowerPoint Presentation</vt:lpstr>
      <vt:lpstr>Comparison Operators</vt:lpstr>
      <vt:lpstr>PowerPoint Presentation</vt:lpstr>
      <vt:lpstr>Logical Operators</vt:lpstr>
      <vt:lpstr>PowerPoint Presentation</vt:lpstr>
      <vt:lpstr>Exercise 1</vt:lpstr>
      <vt:lpstr>Bitwise Operators</vt:lpstr>
      <vt:lpstr>Membership Operators</vt:lpstr>
      <vt:lpstr>Identity Operators</vt:lpstr>
      <vt:lpstr>Identity Operators</vt:lpstr>
      <vt:lpstr>Operator Precedence</vt:lpstr>
      <vt:lpstr>Exercise 2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Dayan Rajapakse</dc:creator>
  <cp:lastModifiedBy>Ramesh Madhuranga</cp:lastModifiedBy>
  <cp:revision>8</cp:revision>
  <dcterms:created xsi:type="dcterms:W3CDTF">2024-07-10T09:55:19Z</dcterms:created>
  <dcterms:modified xsi:type="dcterms:W3CDTF">2025-07-13T03:45:50Z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2020-04-08T00:00:00Z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2024-07-10T00:00:00Z</vt:filetime>
  </property>
</Properties>
</file>