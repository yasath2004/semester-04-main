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9" r:id="rId1"/>
  </p:sldMasterIdLst>
  <p:sldIdLst>
    <p:sldId id="256" r:id="rId2"/>
    <p:sldId id="257" r:id="rId3"/>
    <p:sldId id="276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7" r:id="rId12"/>
    <p:sldId id="306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275" r:id="rId2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40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0816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88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424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699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814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5460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895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39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068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33551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98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1028382" y="1890355"/>
            <a:ext cx="10134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AU" sz="44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en-AU" sz="44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44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PROGRAMMING-ITIC 2223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0800" y="4648200"/>
            <a:ext cx="5590395" cy="14484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 Madhuranga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MPhil.(Reading) (USJP), BICT (Hons) (RUSL), AMCSSL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Biosystems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Kotelawala Defence University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204258" y="2774238"/>
            <a:ext cx="76962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10- Python Libraries</a:t>
            </a:r>
            <a:endParaRPr lang="en-US" sz="28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12316" y="762000"/>
            <a:ext cx="399415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AU" sz="40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Modules</a:t>
            </a:r>
            <a:endParaRPr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1600" y="1752600"/>
            <a:ext cx="10357485" cy="2020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sz="32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 algn="just"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A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 </a:t>
            </a:r>
          </a:p>
          <a:p>
            <a:pPr marL="241300" indent="-229235" algn="just"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AU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AU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685800"/>
            <a:ext cx="87936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1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32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33746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low level graph plotting library in python that serves as a visualization utility.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created by John D. Hunter.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open source and we can use it freely.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mostly written in python, a few segments are written in C, Objective-C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Platform compatibility.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59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755948"/>
            <a:ext cx="8793684" cy="43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endParaRPr lang="en-AU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33082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 panose="05000000000000000000" pitchFamily="2" charset="2"/>
              <a:buChar char="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utilities lies under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are usually imported under the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alias:</a:t>
            </a:r>
          </a:p>
          <a:p>
            <a:pPr marL="354965" indent="-342900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 panose="05000000000000000000" pitchFamily="2" charset="2"/>
              <a:buChar char="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to visualize the diagram on the screen.</a:t>
            </a:r>
          </a:p>
          <a:p>
            <a:pPr marL="354965" indent="-342900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 panose="05000000000000000000" pitchFamily="2" charset="2"/>
              <a:buChar char="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11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755948"/>
            <a:ext cx="8793684" cy="43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endParaRPr lang="en-AU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45339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line in a diagram from position (0,0) to position (10,500):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xpoints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([0, 10])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ypoints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([0, 500])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xpoints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ypoints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920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528065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45211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the keyword argument marker to emphasize each point with a specified marker: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 each point with a circle: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ypoints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([3, 8, 1, 10])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ypoints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marker = 'o')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51616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528065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Linestyle</a:t>
            </a:r>
            <a:endParaRPr lang="en-US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6158" y="1371600"/>
            <a:ext cx="7091126" cy="50879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the keyword argument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linestyle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shorter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change the style of the plotted line: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ypoints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([3, 8, 1, 10])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ypoints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linestyle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8051042" y="1181131"/>
            <a:ext cx="3657600" cy="4998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9067800" y="1449236"/>
            <a:ext cx="2819400" cy="27949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fontAlgn="base"/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Linestyle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Argument: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Dashed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Dotted</a:t>
            </a:r>
          </a:p>
          <a:p>
            <a:pPr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Dashdot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837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528065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AU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Labels and Title</a:t>
            </a:r>
            <a:endParaRPr lang="en-US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49160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can use the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to set a label for the x- and y-axis.</a:t>
            </a: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0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0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0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0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0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0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([80, 85, 90, 95, 100, 105, 110, 115, 120, 125])</a:t>
            </a: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([240, 250, 260, 270, 280, 290, 300, 310, 320, 330])</a:t>
            </a: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y)</a:t>
            </a: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plt.xlabel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("Average Pulse")</a:t>
            </a: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plt.ylabel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("Calorie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Burnage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3669665" lvl="8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76435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2286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Grid Lines to a 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3883" y="896151"/>
            <a:ext cx="935551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the grid() function to add grid lines to the plot.</a:t>
            </a:r>
          </a:p>
          <a:p>
            <a:endParaRPr lang="en-AU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20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AU" sz="20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AU" sz="20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r>
              <a:rPr lang="en-AU" sz="20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AU" sz="20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AU" sz="20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AU" sz="20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AU" sz="20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A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([80, 85, 90, 95, 100, 105, 110, 115, 120, 125])</a:t>
            </a:r>
          </a:p>
          <a:p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A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([240, 250, 260, 270, 280, 290, 300, 310, 320, 330])</a:t>
            </a:r>
          </a:p>
          <a:p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("Sports Watch Data")</a:t>
            </a:r>
          </a:p>
          <a:p>
            <a:r>
              <a:rPr lang="en-A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plt.xlabel</a:t>
            </a: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("Average Pulse")</a:t>
            </a:r>
          </a:p>
          <a:p>
            <a:r>
              <a:rPr lang="en-A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plt.ylabel</a:t>
            </a: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("Calorie </a:t>
            </a:r>
            <a:r>
              <a:rPr lang="en-A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Burnage</a:t>
            </a: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y)</a:t>
            </a:r>
          </a:p>
          <a:p>
            <a:r>
              <a:rPr lang="en-A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plt.grid</a:t>
            </a: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A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28848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2286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Scatter 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3883" y="896151"/>
            <a:ext cx="10803317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can use the scatter() function to draw a scatter plot.</a:t>
            </a:r>
          </a:p>
          <a:p>
            <a:pPr marL="342900" indent="-342900" algn="just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scatter() function plots one dot for each observation. It needs two arrays of the same length, one for the values of the x-axis, and one for values on the y-axis: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AU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AU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AU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AU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AU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AU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AU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AU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algn="just">
              <a:buClr>
                <a:srgbClr val="0070C0"/>
              </a:buClr>
            </a:pP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A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([5,7,8,7,2,17,2,9,4,11,12,9,6])</a:t>
            </a:r>
          </a:p>
          <a:p>
            <a:pPr algn="just">
              <a:buClr>
                <a:srgbClr val="0070C0"/>
              </a:buClr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A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([99,86,87,88,111,86,103,87,94,78,77,85,86])</a:t>
            </a:r>
          </a:p>
          <a:p>
            <a:pPr algn="just">
              <a:buClr>
                <a:srgbClr val="0070C0"/>
              </a:buClr>
            </a:pP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A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y)</a:t>
            </a:r>
          </a:p>
          <a:p>
            <a:pPr algn="just">
              <a:buClr>
                <a:srgbClr val="0070C0"/>
              </a:buClr>
            </a:pPr>
            <a:r>
              <a:rPr lang="en-A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46674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2286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Bars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7295" y="1143000"/>
            <a:ext cx="1080331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bar()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to draw bar graphs:</a:t>
            </a:r>
          </a:p>
          <a:p>
            <a:pPr marL="342900" indent="-342900" algn="just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342900" indent="-342900" algn="just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(["A", "B", "C", "D"])</a:t>
            </a: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([3, 8, 1, 10])</a:t>
            </a:r>
          </a:p>
          <a:p>
            <a:pPr marL="342900" indent="-342900" algn="just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plt.bar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90996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2286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Histogram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7295" y="1143000"/>
            <a:ext cx="10803317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will use an array of numbers to create a histogram, the array is sent into the function as an argument.</a:t>
            </a:r>
          </a:p>
          <a:p>
            <a:pPr marL="342900" indent="-342900" algn="just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algn="just">
              <a:buClr>
                <a:srgbClr val="0070C0"/>
              </a:buClr>
            </a:pP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np.random.normal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(170, 10, 250)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170-Around </a:t>
            </a: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250-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398428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4572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Histogram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7295" y="1524000"/>
            <a:ext cx="1080331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np.random.normal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(170, 10, 250)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plt.hist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34562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71373" y="5334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Pie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7295" y="1600200"/>
            <a:ext cx="1080331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([35, 25, 25, 15])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449428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71373" y="5334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Pie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7295" y="1600200"/>
            <a:ext cx="1080331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algn="just">
              <a:buClr>
                <a:srgbClr val="0070C0"/>
              </a:buClr>
            </a:pP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([35, 25, 25, 15])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mylabels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["Apples", "Bananas", "Cherries", "Dates"]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(y, labels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mylabels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2082572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95400" y="6858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1" y="1752600"/>
            <a:ext cx="10363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Maybe you want one of the wedges to stand out? The explode parameter allows you to do that.</a:t>
            </a:r>
          </a:p>
          <a:p>
            <a:pPr marL="342900" indent="-342900" algn="just">
              <a:buClr>
                <a:srgbClr val="0070C0"/>
              </a:buCl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explode parameter, if specified, and not None, must be an array with one value for each wedge.</a:t>
            </a:r>
          </a:p>
        </p:txBody>
      </p:sp>
    </p:spTree>
    <p:extLst>
      <p:ext uri="{BB962C8B-B14F-4D97-AF65-F5344CB8AC3E}">
        <p14:creationId xmlns:p14="http://schemas.microsoft.com/office/powerpoint/2010/main" val="2763180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44" y="1219200"/>
            <a:ext cx="1080331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([35, 25, 25, 15])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mylabels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["Apples", "Bananas", "Cherries", "Dates"]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myexplode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[0.2, 0, 0, 0]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(y, labels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mylabels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explode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myexplode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3390505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45" y="1219200"/>
            <a:ext cx="645195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algn="just">
              <a:buClr>
                <a:srgbClr val="0070C0"/>
              </a:buClr>
            </a:pP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([35, 25, 25, 15])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mylabels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["Apples", "Bananas", "Cherries", "Dates"]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mycolors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["black", 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hotpink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"b", "#4CAF50"]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(y, labels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mylabels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colors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mycolors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</p:txBody>
      </p:sp>
      <p:sp>
        <p:nvSpPr>
          <p:cNvPr id="5" name="Rectangle 4"/>
          <p:cNvSpPr/>
          <p:nvPr/>
        </p:nvSpPr>
        <p:spPr>
          <a:xfrm>
            <a:off x="8014079" y="1676400"/>
            <a:ext cx="3733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0070C0"/>
              </a:buClr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'r' - Red</a:t>
            </a:r>
          </a:p>
          <a:p>
            <a:pPr algn="just">
              <a:buClr>
                <a:srgbClr val="0070C0"/>
              </a:buClr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'g' - Green</a:t>
            </a:r>
          </a:p>
          <a:p>
            <a:pPr algn="just">
              <a:buClr>
                <a:srgbClr val="0070C0"/>
              </a:buClr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'b' - Blue</a:t>
            </a:r>
          </a:p>
          <a:p>
            <a:pPr algn="just">
              <a:buClr>
                <a:srgbClr val="0070C0"/>
              </a:buClr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'c' - Cyan</a:t>
            </a:r>
          </a:p>
          <a:p>
            <a:pPr algn="just">
              <a:buClr>
                <a:srgbClr val="0070C0"/>
              </a:buClr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'm' - Magenta</a:t>
            </a:r>
          </a:p>
          <a:p>
            <a:pPr algn="just">
              <a:buClr>
                <a:srgbClr val="0070C0"/>
              </a:buClr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'y' - Yellow</a:t>
            </a:r>
          </a:p>
          <a:p>
            <a:pPr algn="just">
              <a:buClr>
                <a:srgbClr val="0070C0"/>
              </a:buClr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'k' - Black</a:t>
            </a:r>
          </a:p>
          <a:p>
            <a:pPr algn="just">
              <a:buClr>
                <a:srgbClr val="0070C0"/>
              </a:buClr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'w' - White</a:t>
            </a:r>
          </a:p>
        </p:txBody>
      </p:sp>
    </p:spTree>
    <p:extLst>
      <p:ext uri="{BB962C8B-B14F-4D97-AF65-F5344CB8AC3E}">
        <p14:creationId xmlns:p14="http://schemas.microsoft.com/office/powerpoint/2010/main" val="2065732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44" y="1219200"/>
            <a:ext cx="83569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algn="just">
              <a:buClr>
                <a:srgbClr val="0070C0"/>
              </a:buClr>
            </a:pP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([35, 25, 25, 15])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mylabels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["Apples", "Bananas", "Cherries", "Dates"]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(y, labels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mylabels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plt.legend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2062202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Legend with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44" y="1219200"/>
            <a:ext cx="83569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algn="just">
              <a:buClr>
                <a:srgbClr val="0070C0"/>
              </a:buClr>
            </a:pP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([35, 25, 25, 15])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mylabels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["Apples", "Bananas", "Cherries", "Dates"]</a:t>
            </a:r>
          </a:p>
          <a:p>
            <a:pPr algn="just"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(y, labels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mylabels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plt.legend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(title = "Four Fruits:")</a:t>
            </a:r>
          </a:p>
          <a:p>
            <a:pPr algn="just"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3635856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2400" y="2895600"/>
            <a:ext cx="4337050" cy="695703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NICE DAY!</a:t>
            </a:r>
            <a:endParaRPr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277460" y="787782"/>
            <a:ext cx="4337050" cy="634148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  <a:endParaRPr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2169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717</TotalTime>
  <Words>1260</Words>
  <Application>Microsoft Office PowerPoint</Application>
  <PresentationFormat>Widescreen</PresentationFormat>
  <Paragraphs>196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Retrospect</vt:lpstr>
      <vt:lpstr>ADVANCED PROGRAMMING-ITIC 2223</vt:lpstr>
      <vt:lpstr>Python Modules</vt:lpstr>
      <vt:lpstr>Matplotlib -Introduction</vt:lpstr>
      <vt:lpstr>Pyplot</vt:lpstr>
      <vt:lpstr>Pyplot</vt:lpstr>
      <vt:lpstr>Markers</vt:lpstr>
      <vt:lpstr>Linestyle</vt:lpstr>
      <vt:lpstr>Labels and Title</vt:lpstr>
      <vt:lpstr>Add Grid Lines to a Plot</vt:lpstr>
      <vt:lpstr>Creating Scatter Plots</vt:lpstr>
      <vt:lpstr>Creating Bars</vt:lpstr>
      <vt:lpstr>Create Histogram</vt:lpstr>
      <vt:lpstr>Create Histogram</vt:lpstr>
      <vt:lpstr>Creating Pie Charts</vt:lpstr>
      <vt:lpstr>Creating Pie Charts</vt:lpstr>
      <vt:lpstr>Explode</vt:lpstr>
      <vt:lpstr>Explode</vt:lpstr>
      <vt:lpstr>Colors</vt:lpstr>
      <vt:lpstr>Legend</vt:lpstr>
      <vt:lpstr>Legend with 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Dayan Rajapakse</dc:creator>
  <cp:lastModifiedBy>Ramesh Madhuranga</cp:lastModifiedBy>
  <cp:revision>42</cp:revision>
  <dcterms:created xsi:type="dcterms:W3CDTF">2024-07-10T10:05:28Z</dcterms:created>
  <dcterms:modified xsi:type="dcterms:W3CDTF">2025-07-13T03:44:02Z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2024-07-10T00:00:00Z</vt:filetime>
  </property>
</Properties>
</file>