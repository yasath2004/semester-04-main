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9" r:id="rId1"/>
  </p:sldMasterIdLst>
  <p:sldIdLst>
    <p:sldId id="256" r:id="rId2"/>
    <p:sldId id="257" r:id="rId3"/>
    <p:sldId id="276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275" r:id="rId1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83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409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0816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88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34247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6998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814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25460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895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396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0685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33551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980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1028382" y="1890355"/>
            <a:ext cx="10134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AU" sz="4400" spc="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lang="en-AU" sz="4400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44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PROGRAMMING-ITIC 2223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00800" y="4648200"/>
            <a:ext cx="5590395" cy="14484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Ramesh Madhuranga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MPhil.(Reading) (USJP), BICT (Hons) (RUSL), AMCSSL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of Biosystems Technology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Technology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Kotelawala Defence University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2204258" y="2774238"/>
            <a:ext cx="76962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2800" b="1" spc="-5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09- Python Libraries</a:t>
            </a:r>
            <a:endParaRPr lang="en-US" sz="28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12316" y="762000"/>
            <a:ext cx="399415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AU" sz="4000" spc="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Modules</a:t>
            </a:r>
            <a:endParaRPr sz="4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1600" y="1752600"/>
            <a:ext cx="10357485" cy="2020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US" sz="32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 algn="just"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AU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 </a:t>
            </a:r>
          </a:p>
          <a:p>
            <a:pPr marL="241300" indent="-229235" algn="just"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A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en-A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685800"/>
            <a:ext cx="87936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Pandas-Introduction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74" y="1447800"/>
            <a:ext cx="10357485" cy="3282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are an important library for data scientists. It is an open-source machine learning library that provides flexible high-level data structures and a variety of analysis tools. </a:t>
            </a:r>
          </a:p>
          <a:p>
            <a:pPr marL="241300" indent="-22923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eases data analysis, data manipulation, and cleaning of data. </a:t>
            </a:r>
          </a:p>
          <a:p>
            <a:pPr marL="241300" indent="-22923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support operations like Sorting, Re-indexing, Iteration, Concatenation, Conversion of data, Visualizations, Aggregations, etc.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59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685800"/>
            <a:ext cx="87936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Pandas-Introduction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74" y="1447800"/>
            <a:ext cx="10357485" cy="4054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AU" sz="2400" i="1" dirty="0">
                <a:solidFill>
                  <a:srgbClr val="FFC000"/>
                </a:solidFill>
                <a:latin typeface="Book Antiqua" panose="02040602050305030304" pitchFamily="18" charset="0"/>
              </a:rPr>
              <a:t>import pandas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lang="en-US" sz="2400" dirty="0">
              <a:latin typeface="Book Antiqua" panose="02040602050305030304" pitchFamily="18" charset="0"/>
            </a:endParaRPr>
          </a:p>
          <a:p>
            <a:pPr marL="12065"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1600" b="1" dirty="0">
                <a:latin typeface="Book Antiqua" panose="02040602050305030304" pitchFamily="18" charset="0"/>
              </a:rPr>
              <a:t>EXAMPLE</a:t>
            </a:r>
            <a:br>
              <a:rPr lang="en-US" sz="2400" dirty="0">
                <a:latin typeface="Book Antiqua" panose="02040602050305030304" pitchFamily="18" charset="0"/>
              </a:rPr>
            </a:br>
            <a:r>
              <a:rPr lang="en-US" sz="2400" i="1" dirty="0">
                <a:solidFill>
                  <a:srgbClr val="FF0000"/>
                </a:solidFill>
                <a:latin typeface="Book Antiqua" panose="02040602050305030304" pitchFamily="18" charset="0"/>
              </a:rPr>
              <a:t>import pandas</a:t>
            </a:r>
          </a:p>
          <a:p>
            <a:pPr marL="12065"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i="1" dirty="0">
                <a:latin typeface="Book Antiqua" panose="02040602050305030304" pitchFamily="18" charset="0"/>
              </a:rPr>
              <a:t>dataset = {</a:t>
            </a:r>
          </a:p>
          <a:p>
            <a:pPr marL="12065"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i="1" dirty="0">
                <a:latin typeface="Book Antiqua" panose="02040602050305030304" pitchFamily="18" charset="0"/>
              </a:rPr>
              <a:t>  ‘letters': [“A", “B", “C"],</a:t>
            </a:r>
          </a:p>
          <a:p>
            <a:pPr marL="12065"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i="1" dirty="0">
                <a:latin typeface="Book Antiqua" panose="02040602050305030304" pitchFamily="18" charset="0"/>
              </a:rPr>
              <a:t>  '</a:t>
            </a:r>
            <a:r>
              <a:rPr lang="en-US" sz="2400" i="1" dirty="0" err="1">
                <a:latin typeface="Book Antiqua" panose="02040602050305030304" pitchFamily="18" charset="0"/>
              </a:rPr>
              <a:t>passings</a:t>
            </a:r>
            <a:r>
              <a:rPr lang="en-US" sz="2400" i="1" dirty="0">
                <a:latin typeface="Book Antiqua" panose="02040602050305030304" pitchFamily="18" charset="0"/>
              </a:rPr>
              <a:t>': [1, 2, 3]</a:t>
            </a:r>
          </a:p>
          <a:p>
            <a:pPr marL="12065"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i="1" dirty="0">
                <a:latin typeface="Book Antiqua" panose="02040602050305030304" pitchFamily="18" charset="0"/>
              </a:rPr>
              <a:t>}</a:t>
            </a:r>
          </a:p>
          <a:p>
            <a:pPr marL="12065"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i="1" dirty="0" err="1">
                <a:latin typeface="Book Antiqua" panose="02040602050305030304" pitchFamily="18" charset="0"/>
              </a:rPr>
              <a:t>var</a:t>
            </a:r>
            <a:r>
              <a:rPr lang="en-US" sz="2400" i="1" dirty="0">
                <a:latin typeface="Book Antiqua" panose="02040602050305030304" pitchFamily="18" charset="0"/>
              </a:rPr>
              <a:t> = </a:t>
            </a:r>
            <a:r>
              <a:rPr lang="en-US" sz="2400" i="1" dirty="0" err="1">
                <a:latin typeface="Book Antiqua" panose="02040602050305030304" pitchFamily="18" charset="0"/>
              </a:rPr>
              <a:t>pandas.DataFrame</a:t>
            </a:r>
            <a:r>
              <a:rPr lang="en-US" sz="2400" i="1" dirty="0">
                <a:latin typeface="Book Antiqua" panose="02040602050305030304" pitchFamily="18" charset="0"/>
              </a:rPr>
              <a:t>(dataset)</a:t>
            </a:r>
          </a:p>
          <a:p>
            <a:pPr marL="12065"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i="1" dirty="0">
                <a:latin typeface="Book Antiqua" panose="02040602050305030304" pitchFamily="18" charset="0"/>
              </a:rPr>
              <a:t>print(</a:t>
            </a:r>
            <a:r>
              <a:rPr lang="en-US" sz="2400" i="1" dirty="0" err="1">
                <a:latin typeface="Book Antiqua" panose="02040602050305030304" pitchFamily="18" charset="0"/>
              </a:rPr>
              <a:t>var</a:t>
            </a:r>
            <a:r>
              <a:rPr lang="en-US" sz="2400" i="1" dirty="0">
                <a:latin typeface="Book Antiqua" panose="02040602050305030304" pitchFamily="18" charset="0"/>
              </a:rPr>
              <a:t>)</a:t>
            </a:r>
            <a:endParaRPr sz="24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64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295400" y="949642"/>
            <a:ext cx="87936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Series?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5400" y="1676400"/>
            <a:ext cx="9448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Pandas Series is like a column in a table.</a:t>
            </a:r>
          </a:p>
          <a:p>
            <a:pPr marL="342900" indent="-342900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one-dimensional array holding data of any type.</a:t>
            </a:r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05636" y="3276600"/>
            <a:ext cx="9448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00B05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00B05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[1, 5, 10]</a:t>
            </a:r>
          </a:p>
          <a:p>
            <a:pPr>
              <a:lnSpc>
                <a:spcPct val="150000"/>
              </a:lnSpc>
              <a:buClr>
                <a:srgbClr val="00B05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pd.Series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  <a:p>
            <a:pPr>
              <a:lnSpc>
                <a:spcPct val="150000"/>
              </a:lnSpc>
              <a:buClr>
                <a:srgbClr val="00B05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062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5021" y="609600"/>
            <a:ext cx="8793684" cy="43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</a:t>
            </a:r>
            <a:r>
              <a:rPr 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AU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5021" y="1041000"/>
            <a:ext cx="10357485" cy="5311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Pandas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2 dimensional data structure, like a 2 dimensional array, or a table with rows and columns.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2298065" lvl="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</a:t>
            </a:r>
            <a:r>
              <a:rPr 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en-US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98065" lvl="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= {</a:t>
            </a:r>
          </a:p>
          <a:p>
            <a:pPr marL="2298065" lvl="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"calories": [420, 380, 390],</a:t>
            </a:r>
          </a:p>
          <a:p>
            <a:pPr marL="2298065" lvl="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"duration": [50, 40, 45]</a:t>
            </a:r>
          </a:p>
          <a:p>
            <a:pPr marL="2298065" lvl="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2298065" lvl="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#load data into a </a:t>
            </a:r>
            <a:r>
              <a:rPr 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object:</a:t>
            </a:r>
          </a:p>
          <a:p>
            <a:pPr marL="2298065" lvl="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pd.DataFrame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(data)</a:t>
            </a:r>
          </a:p>
          <a:p>
            <a:pPr marL="2298065" lvl="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304970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62274" y="381000"/>
            <a:ext cx="8793684" cy="43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Named Indexes</a:t>
            </a:r>
            <a:endParaRPr lang="en-AU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2274" y="990600"/>
            <a:ext cx="10357485" cy="5298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index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argument, you can name your own indexes.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= {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"calories": [420, 380, 390],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"duration": [50, 40, 45]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pd.DataFrame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(data, index = ["day1", "day2", "day3"])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469723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755948"/>
            <a:ext cx="8793684" cy="435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Files Into a </a:t>
            </a:r>
            <a:r>
              <a:rPr 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AU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2274" y="1447800"/>
            <a:ext cx="10357485" cy="3149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your data sets are stored in a file, Pandas can load them into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3212465" lvl="7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</a:t>
            </a:r>
            <a:r>
              <a:rPr lang="en-US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en-US" sz="2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12465" lvl="7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name.csv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3212465" lvl="7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15995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755948"/>
            <a:ext cx="8793684" cy="435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Analyzing </a:t>
            </a:r>
            <a:r>
              <a:rPr 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endParaRPr lang="en-AU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2274" y="1447800"/>
            <a:ext cx="10357485" cy="48904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Viewing the Data</a:t>
            </a:r>
          </a:p>
          <a:p>
            <a:pPr marL="354965" indent="-342900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 panose="05000000000000000000" pitchFamily="2" charset="2"/>
              <a:buChar char="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most used method for getting a quick overview of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the head() method.</a:t>
            </a:r>
          </a:p>
          <a:p>
            <a:pPr marL="354965" indent="-342900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 panose="05000000000000000000" pitchFamily="2" charset="2"/>
              <a:buChar char="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head() method returns the headers and a specified number of rows, starting from the top.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3212465" lvl="7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</a:t>
            </a:r>
            <a:r>
              <a:rPr lang="en-US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en-US" sz="2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12465" lvl="7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('data.csv')</a:t>
            </a:r>
          </a:p>
          <a:p>
            <a:pPr marL="3212465" lvl="7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(10))</a:t>
            </a:r>
          </a:p>
        </p:txBody>
      </p:sp>
    </p:spTree>
    <p:extLst>
      <p:ext uri="{BB962C8B-B14F-4D97-AF65-F5344CB8AC3E}">
        <p14:creationId xmlns:p14="http://schemas.microsoft.com/office/powerpoint/2010/main" val="2717615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755948"/>
            <a:ext cx="8793684" cy="435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Analyzing </a:t>
            </a:r>
            <a:r>
              <a:rPr 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endParaRPr lang="en-AU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2274" y="1447800"/>
            <a:ext cx="10357485" cy="2820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('data.csv')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if the number of rows is not specified, the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head()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will return the top 5 rows.</a:t>
            </a:r>
          </a:p>
        </p:txBody>
      </p:sp>
    </p:spTree>
    <p:extLst>
      <p:ext uri="{BB962C8B-B14F-4D97-AF65-F5344CB8AC3E}">
        <p14:creationId xmlns:p14="http://schemas.microsoft.com/office/powerpoint/2010/main" val="1990691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755948"/>
            <a:ext cx="8793684" cy="435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Analyzing </a:t>
            </a:r>
            <a:r>
              <a:rPr 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endParaRPr lang="en-AU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2274" y="1447800"/>
            <a:ext cx="10357485" cy="4508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900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 panose="05000000000000000000" pitchFamily="2" charset="2"/>
              <a:buChar char="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also a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tail()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for viewing the last rows of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4965" indent="-342900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 panose="05000000000000000000" pitchFamily="2" charset="2"/>
              <a:buChar char="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tail()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returns the headers and a specified number of rows, starting from the bottom.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df.tail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 has a method called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info(),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gives you more information about the data set.</a:t>
            </a:r>
          </a:p>
          <a:p>
            <a:pPr marL="2755265" lvl="6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print(df.info()) </a:t>
            </a:r>
          </a:p>
        </p:txBody>
      </p:sp>
    </p:spTree>
    <p:extLst>
      <p:ext uri="{BB962C8B-B14F-4D97-AF65-F5344CB8AC3E}">
        <p14:creationId xmlns:p14="http://schemas.microsoft.com/office/powerpoint/2010/main" val="2263251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755948"/>
            <a:ext cx="8793684" cy="435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Plotting</a:t>
            </a:r>
            <a:endParaRPr lang="en-AU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2274" y="1447800"/>
            <a:ext cx="10357485" cy="50879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900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 panose="05000000000000000000" pitchFamily="2" charset="2"/>
              <a:buChar char="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uses the plot() method to create diagrams.</a:t>
            </a:r>
          </a:p>
          <a:p>
            <a:pPr marL="354965" indent="-342900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 panose="05000000000000000000" pitchFamily="2" charset="2"/>
              <a:buChar char="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use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Pyplot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to visualize the diagram on the screen.</a:t>
            </a: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69665" lvl="8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as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69665" lvl="8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mport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69665" lvl="8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('data.csv')</a:t>
            </a:r>
          </a:p>
          <a:p>
            <a:pPr marL="3669665" lvl="8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df.plot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669665" lvl="8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611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62400" y="2895600"/>
            <a:ext cx="4337050" cy="695703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A NICE DAY!</a:t>
            </a:r>
            <a:endParaRPr sz="3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1277460" y="787782"/>
            <a:ext cx="4337050" cy="634148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  <a:endParaRPr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21695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480</TotalTime>
  <Words>647</Words>
  <Application>Microsoft Office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Book Antiqua</vt:lpstr>
      <vt:lpstr>Calibri</vt:lpstr>
      <vt:lpstr>Calibri Light</vt:lpstr>
      <vt:lpstr>Times New Roman</vt:lpstr>
      <vt:lpstr>Wingdings</vt:lpstr>
      <vt:lpstr>Retrospect</vt:lpstr>
      <vt:lpstr>ADVANCED PROGRAMMING-ITIC 2223</vt:lpstr>
      <vt:lpstr>Python Modules</vt:lpstr>
      <vt:lpstr>Pandas-Introduction</vt:lpstr>
      <vt:lpstr>Pandas-Introduction</vt:lpstr>
      <vt:lpstr>What is a Series?</vt:lpstr>
      <vt:lpstr>What is a DataFrame?</vt:lpstr>
      <vt:lpstr>Named Indexes</vt:lpstr>
      <vt:lpstr>Load Files Into a DataFrame</vt:lpstr>
      <vt:lpstr>Analyzing DataFrames</vt:lpstr>
      <vt:lpstr>Analyzing DataFrames</vt:lpstr>
      <vt:lpstr>Analyzing DataFrames</vt:lpstr>
      <vt:lpstr>Plotting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Dayan Rajapakse</dc:creator>
  <cp:lastModifiedBy>Ramesh Madhuranga</cp:lastModifiedBy>
  <cp:revision>30</cp:revision>
  <dcterms:created xsi:type="dcterms:W3CDTF">2024-07-10T10:05:28Z</dcterms:created>
  <dcterms:modified xsi:type="dcterms:W3CDTF">2025-07-13T03:44:38Z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2020-04-08T00:00:00Z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2024-07-10T00:00:00Z</vt:filetime>
  </property>
</Properties>
</file>