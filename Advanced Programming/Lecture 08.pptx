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9" r:id="rId1"/>
  </p:sldMasterIdLst>
  <p:sldIdLst>
    <p:sldId id="256" r:id="rId2"/>
    <p:sldId id="257" r:id="rId3"/>
    <p:sldId id="276" r:id="rId4"/>
    <p:sldId id="291" r:id="rId5"/>
    <p:sldId id="292" r:id="rId6"/>
    <p:sldId id="293" r:id="rId7"/>
    <p:sldId id="294" r:id="rId8"/>
    <p:sldId id="295" r:id="rId9"/>
    <p:sldId id="275" r:id="rId1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40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816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88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424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6998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814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25460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895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39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068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3551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80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8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08- Python Libraries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12316" y="762000"/>
            <a:ext cx="399415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sz="40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Modules</a:t>
            </a:r>
            <a:endParaRPr sz="4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600" y="1752600"/>
            <a:ext cx="10357485" cy="2020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3200" spc="-5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3200" spc="-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 algn="just"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 </a:t>
            </a:r>
          </a:p>
          <a:p>
            <a:pPr marL="241300" indent="-229235" algn="just"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A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685800"/>
            <a:ext cx="87936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1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32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6980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library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working with arrays.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has functions for working in domain of linear algebra,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fourier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transform, and matrices.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created in 2005 by Travis Oliphant. It is an open source project and you can use it freely.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Numerical Python.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</a:t>
            </a:r>
            <a:r>
              <a:rPr lang="en-US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 we have lists that serve the purpose of arrays, but they are slow to process.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provide an array object that is up to 50x faster than traditional Python lists.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object in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ndarray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provides a lot of supporting functions that make working with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ndarray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easy.</a:t>
            </a:r>
          </a:p>
          <a:p>
            <a:pPr marL="241300" indent="-22923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are very frequently used in data science, where speed and resources are very important.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59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685800"/>
            <a:ext cx="87936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1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32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32233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AU" sz="2400" i="1" dirty="0">
                <a:solidFill>
                  <a:srgbClr val="FFC000"/>
                </a:solidFill>
                <a:latin typeface="Book Antiqua" panose="02040602050305030304" pitchFamily="18" charset="0"/>
              </a:rPr>
              <a:t>import </a:t>
            </a:r>
            <a:r>
              <a:rPr lang="en-AU" sz="2400" i="1" dirty="0" err="1">
                <a:solidFill>
                  <a:srgbClr val="FFC000"/>
                </a:solidFill>
                <a:latin typeface="Book Antiqua" panose="02040602050305030304" pitchFamily="18" charset="0"/>
              </a:rPr>
              <a:t>numpy</a:t>
            </a:r>
            <a:endParaRPr lang="en-AU" sz="2400" i="1" dirty="0">
              <a:solidFill>
                <a:srgbClr val="FFC000"/>
              </a:solidFill>
              <a:latin typeface="Book Antiqua" panose="02040602050305030304" pitchFamily="18" charset="0"/>
            </a:endParaRPr>
          </a:p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Book Antiqua" panose="02040602050305030304" pitchFamily="18" charset="0"/>
            </a:endParaRPr>
          </a:p>
          <a:p>
            <a:pPr marL="12065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Book Antiqua" panose="02040602050305030304" pitchFamily="18" charset="0"/>
              </a:rPr>
              <a:t>EXAMPLE</a:t>
            </a:r>
            <a:br>
              <a:rPr lang="en-US" sz="2400" dirty="0">
                <a:latin typeface="Book Antiqua" panose="02040602050305030304" pitchFamily="18" charset="0"/>
              </a:rPr>
            </a:br>
            <a:r>
              <a:rPr lang="en-US" sz="2400" i="1" dirty="0">
                <a:solidFill>
                  <a:srgbClr val="FF0000"/>
                </a:solidFill>
                <a:latin typeface="Book Antiqua" panose="02040602050305030304" pitchFamily="18" charset="0"/>
              </a:rPr>
              <a:t>import </a:t>
            </a:r>
            <a:r>
              <a:rPr lang="en-US" sz="2400" i="1" dirty="0" err="1">
                <a:solidFill>
                  <a:srgbClr val="FF0000"/>
                </a:solidFill>
                <a:latin typeface="Book Antiqua" panose="02040602050305030304" pitchFamily="18" charset="0"/>
              </a:rPr>
              <a:t>numpy</a:t>
            </a:r>
            <a:br>
              <a:rPr lang="en-US" sz="2400" dirty="0">
                <a:latin typeface="Book Antiqua" panose="02040602050305030304" pitchFamily="18" charset="0"/>
              </a:rPr>
            </a:br>
            <a:r>
              <a:rPr lang="en-US" sz="2400" dirty="0">
                <a:latin typeface="Book Antiqua" panose="02040602050305030304" pitchFamily="18" charset="0"/>
              </a:rPr>
              <a:t>a = </a:t>
            </a:r>
            <a:r>
              <a:rPr lang="en-US" sz="2400" dirty="0" err="1">
                <a:latin typeface="Book Antiqua" panose="02040602050305030304" pitchFamily="18" charset="0"/>
              </a:rPr>
              <a:t>numpy.array</a:t>
            </a:r>
            <a:r>
              <a:rPr lang="en-US" sz="2400" dirty="0">
                <a:latin typeface="Book Antiqua" panose="02040602050305030304" pitchFamily="18" charset="0"/>
              </a:rPr>
              <a:t>([1, 2, 3, 4, 5])</a:t>
            </a:r>
            <a:br>
              <a:rPr lang="en-US" sz="2400" dirty="0">
                <a:latin typeface="Book Antiqua" panose="02040602050305030304" pitchFamily="18" charset="0"/>
              </a:rPr>
            </a:br>
            <a:r>
              <a:rPr lang="en-US" sz="2400" dirty="0">
                <a:latin typeface="Book Antiqua" panose="02040602050305030304" pitchFamily="18" charset="0"/>
              </a:rPr>
              <a:t>print(a)</a:t>
            </a:r>
            <a:endParaRPr sz="2400" dirty="0"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6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685800"/>
            <a:ext cx="87936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1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3200" spc="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35054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usually imported under the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alias.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([1, 2, 3, 4, 5])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06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AU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AU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Array Shape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37696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arrays have an attribute called shape that returns a tuple with each index having the number of corresponding elements.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 =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([[1, 2, 3, 4], [5, 6, 7, 8]])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print(a1.shape)</a:t>
            </a:r>
          </a:p>
        </p:txBody>
      </p:sp>
    </p:spTree>
    <p:extLst>
      <p:ext uri="{BB962C8B-B14F-4D97-AF65-F5344CB8AC3E}">
        <p14:creationId xmlns:p14="http://schemas.microsoft.com/office/powerpoint/2010/main" val="130497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AU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AU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Array Reshaping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5339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shape of an array is the number of elements in each dimension.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reshaping we can add or remove dimensions or change number of elements in each dimension.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Reshape From 1-D to 2-D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 = </a:t>
            </a:r>
            <a:r>
              <a:rPr lang="en-US" sz="2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([1, 2, 3, 4, 5, 6, 7, 8, 9, 10, 11, 12])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newa3 = a2.reshape(4, 3)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print(newa3)</a:t>
            </a:r>
          </a:p>
        </p:txBody>
      </p:sp>
    </p:spTree>
    <p:extLst>
      <p:ext uri="{BB962C8B-B14F-4D97-AF65-F5344CB8AC3E}">
        <p14:creationId xmlns:p14="http://schemas.microsoft.com/office/powerpoint/2010/main" val="346972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86158" y="755948"/>
            <a:ext cx="8793684" cy="43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AU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AU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Sorting 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274" y="1447800"/>
            <a:ext cx="10357485" cy="4323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sequence is any sequence that has an order corresponding to elements, like numeric or alphabetical, ascending or descending.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ndarray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has a function called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sort(),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sort a specified array.</a:t>
            </a:r>
          </a:p>
          <a:p>
            <a:pPr marL="12065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([3, 2, 0, 1])</a:t>
            </a:r>
          </a:p>
          <a:p>
            <a:pPr marL="3212465" lvl="7" algn="just">
              <a:lnSpc>
                <a:spcPct val="150000"/>
              </a:lnSpc>
              <a:spcBef>
                <a:spcPts val="95"/>
              </a:spcBef>
              <a:buClr>
                <a:srgbClr val="4471C4"/>
              </a:buClr>
              <a:tabLst>
                <a:tab pos="241935" algn="l"/>
                <a:tab pos="1430020" algn="l"/>
                <a:tab pos="1838325" algn="l"/>
                <a:tab pos="2383790" algn="l"/>
                <a:tab pos="4157979" algn="l"/>
                <a:tab pos="4902200" algn="l"/>
                <a:tab pos="6240145" algn="l"/>
                <a:tab pos="7618095" algn="l"/>
                <a:tab pos="8618220" algn="l"/>
                <a:tab pos="9144000" algn="l"/>
                <a:tab pos="9966960" algn="l"/>
              </a:tabLst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np.sort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41599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2400" y="2895600"/>
            <a:ext cx="4337050" cy="69570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NICE DAY!</a:t>
            </a:r>
            <a:endParaRPr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277460" y="787782"/>
            <a:ext cx="4337050" cy="63414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169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408</TotalTime>
  <Words>470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Book Antiqua</vt:lpstr>
      <vt:lpstr>Calibri</vt:lpstr>
      <vt:lpstr>Calibri Light</vt:lpstr>
      <vt:lpstr>Times New Roman</vt:lpstr>
      <vt:lpstr>Wingdings</vt:lpstr>
      <vt:lpstr>Retrospect</vt:lpstr>
      <vt:lpstr>ADVANCED PROGRAMMING-ITIC 2223</vt:lpstr>
      <vt:lpstr>Python Modules</vt:lpstr>
      <vt:lpstr>NumPy-Introduction</vt:lpstr>
      <vt:lpstr>NumPy-Introduction</vt:lpstr>
      <vt:lpstr>NumPy-Introduction</vt:lpstr>
      <vt:lpstr>NumPy Array Shape</vt:lpstr>
      <vt:lpstr>NumPy Array Reshaping</vt:lpstr>
      <vt:lpstr>NumPy Sorting Arrays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23</cp:revision>
  <dcterms:created xsi:type="dcterms:W3CDTF">2024-07-10T10:05:28Z</dcterms:created>
  <dcterms:modified xsi:type="dcterms:W3CDTF">2025-07-13T03:44:53Z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2024-07-10T00:00:00Z</vt:filetime>
  </property>
</Properties>
</file>