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1"/>
  </p:sldMasterIdLst>
  <p:sldIdLst>
    <p:sldId id="256" r:id="rId2"/>
    <p:sldId id="257" r:id="rId3"/>
    <p:sldId id="267" r:id="rId4"/>
    <p:sldId id="268" r:id="rId5"/>
    <p:sldId id="269" r:id="rId6"/>
    <p:sldId id="258" r:id="rId7"/>
    <p:sldId id="270" r:id="rId8"/>
    <p:sldId id="271" r:id="rId9"/>
    <p:sldId id="272" r:id="rId10"/>
    <p:sldId id="274" r:id="rId11"/>
    <p:sldId id="275" r:id="rId12"/>
    <p:sldId id="276" r:id="rId13"/>
    <p:sldId id="277" r:id="rId14"/>
    <p:sldId id="278" r:id="rId15"/>
    <p:sldId id="260" r:id="rId16"/>
    <p:sldId id="261" r:id="rId17"/>
    <p:sldId id="262" r:id="rId18"/>
    <p:sldId id="263" r:id="rId19"/>
    <p:sldId id="264" r:id="rId20"/>
    <p:sldId id="265" r:id="rId21"/>
    <p:sldId id="273" r:id="rId22"/>
    <p:sldId id="266" r:id="rId2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834"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418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spTree>
    <p:extLst>
      <p:ext uri="{BB962C8B-B14F-4D97-AF65-F5344CB8AC3E}">
        <p14:creationId xmlns:p14="http://schemas.microsoft.com/office/powerpoint/2010/main" val="1870937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8616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spTree>
    <p:extLst>
      <p:ext uri="{BB962C8B-B14F-4D97-AF65-F5344CB8AC3E}">
        <p14:creationId xmlns:p14="http://schemas.microsoft.com/office/powerpoint/2010/main" val="799513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7/6/2026</a:t>
            </a:fld>
            <a:endParaRPr lang="en-US"/>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spTree>
    <p:extLst>
      <p:ext uri="{BB962C8B-B14F-4D97-AF65-F5344CB8AC3E}">
        <p14:creationId xmlns:p14="http://schemas.microsoft.com/office/powerpoint/2010/main" val="3638094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7/6/2026</a:t>
            </a:fld>
            <a:endParaRPr lang="en-US"/>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spTree>
    <p:extLst>
      <p:ext uri="{BB962C8B-B14F-4D97-AF65-F5344CB8AC3E}">
        <p14:creationId xmlns:p14="http://schemas.microsoft.com/office/powerpoint/2010/main" val="3861680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7/6/2026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spTree>
    <p:extLst>
      <p:ext uri="{BB962C8B-B14F-4D97-AF65-F5344CB8AC3E}">
        <p14:creationId xmlns:p14="http://schemas.microsoft.com/office/powerpoint/2010/main" val="367654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D8BD707-D9CF-40AE-B4C6-C98DA3205C09}" type="datetimeFigureOut">
              <a:rPr lang="en-US" smtClean="0"/>
              <a:t>7/6/2026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38100">
              <a:lnSpc>
                <a:spcPct val="100000"/>
              </a:lnSpc>
              <a:spcBef>
                <a:spcPts val="245"/>
              </a:spcBef>
            </a:pPr>
            <a:fld id="{81D60167-4931-47E6-BA6A-407CBD079E47}" type="slidenum">
              <a:rPr lang="en-AU" smtClean="0"/>
              <a:t>‹#›</a:t>
            </a:fld>
            <a:endParaRPr lang="en-AU" dirty="0"/>
          </a:p>
        </p:txBody>
      </p:sp>
    </p:spTree>
    <p:extLst>
      <p:ext uri="{BB962C8B-B14F-4D97-AF65-F5344CB8AC3E}">
        <p14:creationId xmlns:p14="http://schemas.microsoft.com/office/powerpoint/2010/main" val="3675086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spTree>
    <p:extLst>
      <p:ext uri="{BB962C8B-B14F-4D97-AF65-F5344CB8AC3E}">
        <p14:creationId xmlns:p14="http://schemas.microsoft.com/office/powerpoint/2010/main" val="1987567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spTree>
    <p:extLst>
      <p:ext uri="{BB962C8B-B14F-4D97-AF65-F5344CB8AC3E}">
        <p14:creationId xmlns:p14="http://schemas.microsoft.com/office/powerpoint/2010/main" val="3799778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pPr marL="38100">
              <a:lnSpc>
                <a:spcPct val="100000"/>
              </a:lnSpc>
              <a:spcBef>
                <a:spcPts val="245"/>
              </a:spcBef>
            </a:pPr>
            <a:fld id="{81D60167-4931-47E6-BA6A-407CBD079E47}" type="slidenum">
              <a:rPr lang="en-AU" smtClean="0"/>
              <a:t>‹#›</a:t>
            </a:fld>
            <a:endParaRPr lang="en-AU" dirty="0"/>
          </a:p>
        </p:txBody>
      </p:sp>
    </p:spTree>
    <p:extLst>
      <p:ext uri="{BB962C8B-B14F-4D97-AF65-F5344CB8AC3E}">
        <p14:creationId xmlns:p14="http://schemas.microsoft.com/office/powerpoint/2010/main" val="571021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D8BD707-D9CF-40AE-B4C6-C98DA3205C09}" type="datetimeFigureOut">
              <a:rPr lang="en-US" smtClean="0"/>
              <a:t>7/6/2026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marL="38100">
              <a:lnSpc>
                <a:spcPct val="100000"/>
              </a:lnSpc>
              <a:spcBef>
                <a:spcPts val="245"/>
              </a:spcBef>
            </a:pPr>
            <a:fld id="{81D60167-4931-47E6-BA6A-407CBD079E47}" type="slidenum">
              <a:rPr lang="en-AU" smtClean="0"/>
              <a:t>‹#›</a:t>
            </a:fld>
            <a:endParaRPr lang="en-AU"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133186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1</a:t>
            </a:fld>
            <a:endParaRPr dirty="0"/>
          </a:p>
        </p:txBody>
      </p:sp>
      <p:sp>
        <p:nvSpPr>
          <p:cNvPr id="2" name="object 2"/>
          <p:cNvSpPr txBox="1">
            <a:spLocks noGrp="1"/>
          </p:cNvSpPr>
          <p:nvPr>
            <p:ph type="ctrTitle" idx="4294967295"/>
          </p:nvPr>
        </p:nvSpPr>
        <p:spPr>
          <a:xfrm>
            <a:off x="609600" y="2330647"/>
            <a:ext cx="10896600" cy="690574"/>
          </a:xfrm>
          <a:prstGeom prst="rect">
            <a:avLst/>
          </a:prstGeom>
        </p:spPr>
        <p:txBody>
          <a:bodyPr vert="horz" wrap="square" lIns="0" tIns="13335" rIns="0" bIns="0" rtlCol="0">
            <a:spAutoFit/>
          </a:bodyPr>
          <a:lstStyle/>
          <a:p>
            <a:pPr marL="12700" algn="ctr">
              <a:lnSpc>
                <a:spcPct val="100000"/>
              </a:lnSpc>
              <a:spcBef>
                <a:spcPts val="105"/>
              </a:spcBef>
            </a:pPr>
            <a:r>
              <a:rPr lang="en-AU" sz="4400" b="1" spc="5" dirty="0">
                <a:solidFill>
                  <a:srgbClr val="002060"/>
                </a:solidFill>
                <a:latin typeface="Times New Roman" panose="02020603050405020304" pitchFamily="18" charset="0"/>
                <a:cs typeface="Times New Roman" panose="02020603050405020304" pitchFamily="18" charset="0"/>
              </a:rPr>
              <a:t>ADVANCED</a:t>
            </a:r>
            <a:r>
              <a:rPr lang="en-AU" sz="4400" b="1" spc="-30" dirty="0">
                <a:solidFill>
                  <a:srgbClr val="002060"/>
                </a:solidFill>
                <a:latin typeface="Times New Roman" panose="02020603050405020304" pitchFamily="18" charset="0"/>
                <a:cs typeface="Times New Roman" panose="02020603050405020304" pitchFamily="18" charset="0"/>
              </a:rPr>
              <a:t> </a:t>
            </a:r>
            <a:r>
              <a:rPr lang="en-AU" sz="4400" b="1" spc="-15" dirty="0">
                <a:solidFill>
                  <a:srgbClr val="002060"/>
                </a:solidFill>
                <a:latin typeface="Times New Roman" panose="02020603050405020304" pitchFamily="18" charset="0"/>
                <a:cs typeface="Times New Roman" panose="02020603050405020304" pitchFamily="18" charset="0"/>
              </a:rPr>
              <a:t>PROGRAMMING-ITIC 2223</a:t>
            </a:r>
          </a:p>
        </p:txBody>
      </p:sp>
      <p:sp>
        <p:nvSpPr>
          <p:cNvPr id="3" name="object 3"/>
          <p:cNvSpPr txBox="1"/>
          <p:nvPr/>
        </p:nvSpPr>
        <p:spPr>
          <a:xfrm>
            <a:off x="6400800" y="4648200"/>
            <a:ext cx="5590395" cy="1448473"/>
          </a:xfrm>
          <a:prstGeom prst="rect">
            <a:avLst/>
          </a:prstGeom>
        </p:spPr>
        <p:txBody>
          <a:bodyPr vert="horz" wrap="square" lIns="0" tIns="12065" rIns="0" bIns="0" rtlCol="0">
            <a:spAutoFit/>
          </a:bodyPr>
          <a:lstStyle/>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Ramesh Madhuranga</a:t>
            </a:r>
          </a:p>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MPhil.(Reading) (USJP), BICT (Hons) (RUSL), AMCSSL</a:t>
            </a:r>
          </a:p>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Department  of Biosystems Technology</a:t>
            </a:r>
          </a:p>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Faculty of Technology</a:t>
            </a:r>
          </a:p>
          <a:p>
            <a:pPr marL="12700">
              <a:lnSpc>
                <a:spcPct val="100000"/>
              </a:lnSpc>
              <a:spcBef>
                <a:spcPts val="95"/>
              </a:spcBef>
            </a:pPr>
            <a:r>
              <a:rPr lang="en-GB" spc="-5" dirty="0">
                <a:latin typeface="Times New Roman" panose="02020603050405020304" pitchFamily="18" charset="0"/>
                <a:cs typeface="Times New Roman" panose="02020603050405020304" pitchFamily="18" charset="0"/>
              </a:rPr>
              <a:t>Kotelawala Defence University</a:t>
            </a:r>
          </a:p>
        </p:txBody>
      </p:sp>
      <p:sp>
        <p:nvSpPr>
          <p:cNvPr id="6" name="object 3"/>
          <p:cNvSpPr txBox="1"/>
          <p:nvPr/>
        </p:nvSpPr>
        <p:spPr>
          <a:xfrm>
            <a:off x="2204258" y="3214530"/>
            <a:ext cx="7696200" cy="443070"/>
          </a:xfrm>
          <a:prstGeom prst="rect">
            <a:avLst/>
          </a:prstGeom>
        </p:spPr>
        <p:txBody>
          <a:bodyPr vert="horz" wrap="square" lIns="0" tIns="12065" rIns="0" bIns="0" rtlCol="0">
            <a:spAutoFit/>
          </a:bodyPr>
          <a:lstStyle/>
          <a:p>
            <a:pPr marL="12700" algn="ctr">
              <a:lnSpc>
                <a:spcPct val="100000"/>
              </a:lnSpc>
              <a:spcBef>
                <a:spcPts val="95"/>
              </a:spcBef>
            </a:pPr>
            <a:r>
              <a:rPr lang="en-US" sz="2800" b="1" spc="-5" dirty="0">
                <a:solidFill>
                  <a:schemeClr val="accent3">
                    <a:lumMod val="50000"/>
                  </a:schemeClr>
                </a:solidFill>
                <a:latin typeface="Times New Roman" panose="02020603050405020304" pitchFamily="18" charset="0"/>
                <a:cs typeface="Times New Roman" panose="02020603050405020304" pitchFamily="18" charset="0"/>
              </a:rPr>
              <a:t>Lecture 01-</a:t>
            </a:r>
            <a:r>
              <a:rPr sz="2800" b="1" spc="-5" dirty="0">
                <a:solidFill>
                  <a:schemeClr val="accent3">
                    <a:lumMod val="50000"/>
                  </a:schemeClr>
                </a:solidFill>
                <a:latin typeface="Times New Roman" panose="02020603050405020304" pitchFamily="18" charset="0"/>
                <a:cs typeface="Times New Roman" panose="02020603050405020304" pitchFamily="18" charset="0"/>
              </a:rPr>
              <a:t>Introduction</a:t>
            </a:r>
            <a:r>
              <a:rPr sz="2800" b="1" spc="25" dirty="0">
                <a:solidFill>
                  <a:schemeClr val="accent3">
                    <a:lumMod val="50000"/>
                  </a:schemeClr>
                </a:solidFill>
                <a:latin typeface="Times New Roman" panose="02020603050405020304" pitchFamily="18" charset="0"/>
                <a:cs typeface="Times New Roman" panose="02020603050405020304" pitchFamily="18" charset="0"/>
              </a:rPr>
              <a:t> </a:t>
            </a:r>
            <a:r>
              <a:rPr sz="2800" b="1" spc="-5" dirty="0">
                <a:solidFill>
                  <a:schemeClr val="accent3">
                    <a:lumMod val="50000"/>
                  </a:schemeClr>
                </a:solidFill>
                <a:latin typeface="Times New Roman" panose="02020603050405020304" pitchFamily="18" charset="0"/>
                <a:cs typeface="Times New Roman" panose="02020603050405020304" pitchFamily="18" charset="0"/>
              </a:rPr>
              <a:t>to </a:t>
            </a:r>
            <a:r>
              <a:rPr sz="2800" b="1" spc="-10" dirty="0">
                <a:solidFill>
                  <a:schemeClr val="accent3">
                    <a:lumMod val="50000"/>
                  </a:schemeClr>
                </a:solidFill>
                <a:latin typeface="Times New Roman" panose="02020603050405020304" pitchFamily="18" charset="0"/>
                <a:cs typeface="Times New Roman" panose="02020603050405020304" pitchFamily="18" charset="0"/>
              </a:rPr>
              <a:t>Python</a:t>
            </a:r>
            <a:r>
              <a:rPr sz="2800" b="1" spc="30" dirty="0">
                <a:solidFill>
                  <a:schemeClr val="accent3">
                    <a:lumMod val="50000"/>
                  </a:schemeClr>
                </a:solidFill>
                <a:latin typeface="Times New Roman" panose="02020603050405020304" pitchFamily="18" charset="0"/>
                <a:cs typeface="Times New Roman" panose="02020603050405020304" pitchFamily="18" charset="0"/>
              </a:rPr>
              <a:t> </a:t>
            </a:r>
            <a:r>
              <a:rPr sz="2800" b="1" spc="-5" dirty="0">
                <a:solidFill>
                  <a:schemeClr val="accent3">
                    <a:lumMod val="50000"/>
                  </a:schemeClr>
                </a:solidFill>
                <a:latin typeface="Times New Roman" panose="02020603050405020304" pitchFamily="18" charset="0"/>
                <a:cs typeface="Times New Roman" panose="02020603050405020304" pitchFamily="18" charset="0"/>
              </a:rPr>
              <a:t>Programming</a:t>
            </a:r>
            <a:endParaRPr sz="2800" dirty="0">
              <a:solidFill>
                <a:schemeClr val="accent3">
                  <a:lumMod val="50000"/>
                </a:schemeClr>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70789D4-9AAA-4EC0-9685-FA2B9F5C5A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7386" y="536173"/>
            <a:ext cx="1837227" cy="14712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1914" y="914400"/>
            <a:ext cx="3764915" cy="574040"/>
          </a:xfrm>
          <a:prstGeom prst="rect">
            <a:avLst/>
          </a:prstGeom>
        </p:spPr>
        <p:txBody>
          <a:bodyPr vert="horz" wrap="square" lIns="0" tIns="12700" rIns="0" bIns="0" rtlCol="0">
            <a:spAutoFit/>
          </a:bodyPr>
          <a:lstStyle/>
          <a:p>
            <a:pPr marL="12700">
              <a:lnSpc>
                <a:spcPct val="100000"/>
              </a:lnSpc>
              <a:spcBef>
                <a:spcPts val="100"/>
              </a:spcBef>
            </a:pPr>
            <a:r>
              <a:rPr sz="3600" b="0" spc="10" dirty="0">
                <a:solidFill>
                  <a:srgbClr val="002060"/>
                </a:solidFill>
                <a:latin typeface="Times New Roman" panose="02020603050405020304" pitchFamily="18" charset="0"/>
                <a:cs typeface="Times New Roman" panose="02020603050405020304" pitchFamily="18" charset="0"/>
              </a:rPr>
              <a:t>What</a:t>
            </a:r>
            <a:r>
              <a:rPr sz="3600" b="0" spc="-60" dirty="0">
                <a:solidFill>
                  <a:srgbClr val="002060"/>
                </a:solidFill>
                <a:latin typeface="Times New Roman" panose="02020603050405020304" pitchFamily="18" charset="0"/>
                <a:cs typeface="Times New Roman" panose="02020603050405020304" pitchFamily="18" charset="0"/>
              </a:rPr>
              <a:t> </a:t>
            </a:r>
            <a:r>
              <a:rPr sz="3600" b="0" spc="-5" dirty="0">
                <a:solidFill>
                  <a:srgbClr val="002060"/>
                </a:solidFill>
                <a:latin typeface="Times New Roman" panose="02020603050405020304" pitchFamily="18" charset="0"/>
                <a:cs typeface="Times New Roman" panose="02020603050405020304" pitchFamily="18" charset="0"/>
              </a:rPr>
              <a:t>is</a:t>
            </a:r>
            <a:r>
              <a:rPr sz="3600" b="0" spc="-40" dirty="0">
                <a:solidFill>
                  <a:srgbClr val="002060"/>
                </a:solidFill>
                <a:latin typeface="Times New Roman" panose="02020603050405020304" pitchFamily="18" charset="0"/>
                <a:cs typeface="Times New Roman" panose="02020603050405020304" pitchFamily="18" charset="0"/>
              </a:rPr>
              <a:t> </a:t>
            </a:r>
            <a:r>
              <a:rPr sz="3600" b="0" spc="-5" dirty="0">
                <a:solidFill>
                  <a:srgbClr val="002060"/>
                </a:solidFill>
                <a:latin typeface="Times New Roman" panose="02020603050405020304" pitchFamily="18" charset="0"/>
                <a:cs typeface="Times New Roman" panose="02020603050405020304" pitchFamily="18" charset="0"/>
              </a:rPr>
              <a:t>Python</a:t>
            </a:r>
            <a:r>
              <a:rPr lang="en-US" sz="3600" b="0" spc="-5" dirty="0">
                <a:solidFill>
                  <a:srgbClr val="002060"/>
                </a:solidFill>
                <a:latin typeface="Times New Roman" panose="02020603050405020304" pitchFamily="18" charset="0"/>
                <a:cs typeface="Times New Roman" panose="02020603050405020304" pitchFamily="18" charset="0"/>
              </a:rPr>
              <a:t>?</a:t>
            </a:r>
            <a:endParaRPr sz="3600" dirty="0">
              <a:solidFill>
                <a:srgbClr val="002060"/>
              </a:solidFill>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2</a:t>
            </a:fld>
            <a:endParaRPr dirty="0"/>
          </a:p>
        </p:txBody>
      </p:sp>
      <p:sp>
        <p:nvSpPr>
          <p:cNvPr id="3" name="object 3"/>
          <p:cNvSpPr txBox="1"/>
          <p:nvPr/>
        </p:nvSpPr>
        <p:spPr>
          <a:xfrm>
            <a:off x="1191914" y="2068380"/>
            <a:ext cx="9683115" cy="3670877"/>
          </a:xfrm>
          <a:prstGeom prst="rect">
            <a:avLst/>
          </a:prstGeom>
        </p:spPr>
        <p:txBody>
          <a:bodyPr vert="horz" wrap="square" lIns="0" tIns="13335" rIns="0" bIns="0" rtlCol="0">
            <a:spAutoFit/>
          </a:bodyPr>
          <a:lstStyle/>
          <a:p>
            <a:pPr marL="241300" marR="5080" indent="-229235">
              <a:lnSpc>
                <a:spcPct val="100000"/>
              </a:lnSpc>
              <a:spcBef>
                <a:spcPts val="105"/>
              </a:spcBef>
              <a:buClr>
                <a:srgbClr val="00B050"/>
              </a:buClr>
              <a:buFont typeface="Wingdings"/>
              <a:buChar char=""/>
              <a:tabLst>
                <a:tab pos="241935" algn="l"/>
              </a:tabLst>
            </a:pPr>
            <a:r>
              <a:rPr sz="2800" dirty="0">
                <a:latin typeface="Times New Roman" panose="02020603050405020304" pitchFamily="18" charset="0"/>
                <a:cs typeface="Times New Roman" panose="02020603050405020304" pitchFamily="18" charset="0"/>
              </a:rPr>
              <a:t>Python</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an</a:t>
            </a:r>
            <a:r>
              <a:rPr sz="2800" spc="-5" dirty="0">
                <a:latin typeface="Times New Roman" panose="02020603050405020304" pitchFamily="18" charset="0"/>
                <a:cs typeface="Times New Roman" panose="02020603050405020304" pitchFamily="18" charset="0"/>
              </a:rPr>
              <a:t> interpreted,</a:t>
            </a:r>
            <a:r>
              <a:rPr sz="2800" spc="-3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high-level,</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general-purpose </a:t>
            </a:r>
            <a:r>
              <a:rPr sz="2800" spc="-87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programming</a:t>
            </a:r>
            <a:r>
              <a:rPr sz="2800" spc="-4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language.</a:t>
            </a:r>
            <a:endParaRPr sz="2800" dirty="0">
              <a:latin typeface="Times New Roman" panose="02020603050405020304" pitchFamily="18" charset="0"/>
              <a:cs typeface="Times New Roman" panose="02020603050405020304" pitchFamily="18" charset="0"/>
            </a:endParaRPr>
          </a:p>
          <a:p>
            <a:pPr marL="241300" indent="-229235">
              <a:lnSpc>
                <a:spcPct val="100000"/>
              </a:lnSpc>
              <a:spcBef>
                <a:spcPts val="1010"/>
              </a:spcBef>
              <a:buClr>
                <a:srgbClr val="00B050"/>
              </a:buClr>
              <a:buFont typeface="Wingdings"/>
              <a:buChar char=""/>
              <a:tabLst>
                <a:tab pos="241935" algn="l"/>
              </a:tabLst>
            </a:pPr>
            <a:r>
              <a:rPr sz="2800" spc="-5" dirty="0">
                <a:latin typeface="Times New Roman" panose="02020603050405020304" pitchFamily="18" charset="0"/>
                <a:cs typeface="Times New Roman" panose="02020603050405020304" pitchFamily="18" charset="0"/>
              </a:rPr>
              <a:t>Created</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by</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Guido</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van</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Rossum</a:t>
            </a:r>
            <a:r>
              <a:rPr lang="en-GB" sz="2800" dirty="0">
                <a:latin typeface="Times New Roman" panose="02020603050405020304" pitchFamily="18" charset="0"/>
                <a:cs typeface="Times New Roman" panose="02020603050405020304" pitchFamily="18" charset="0"/>
              </a:rPr>
              <a:t> – late 1980</a:t>
            </a:r>
          </a:p>
          <a:p>
            <a:pPr marL="241300" indent="-229235">
              <a:lnSpc>
                <a:spcPct val="100000"/>
              </a:lnSpc>
              <a:spcBef>
                <a:spcPts val="1010"/>
              </a:spcBef>
              <a:buClr>
                <a:srgbClr val="00B050"/>
              </a:buClr>
              <a:buFont typeface="Wingdings"/>
              <a:buChar char=""/>
              <a:tabLst>
                <a:tab pos="241935" algn="l"/>
              </a:tabLst>
            </a:pPr>
            <a:r>
              <a:rPr lang="en-GB" sz="2800" dirty="0">
                <a:solidFill>
                  <a:srgbClr val="000000"/>
                </a:solidFill>
                <a:latin typeface="Times New Roman" panose="02020603050405020304" pitchFamily="18" charset="0"/>
                <a:cs typeface="Times New Roman" panose="02020603050405020304" pitchFamily="18" charset="0"/>
              </a:rPr>
              <a:t>F</a:t>
            </a:r>
            <a:r>
              <a:rPr lang="en-GB" sz="2800" b="0" i="0" dirty="0">
                <a:solidFill>
                  <a:srgbClr val="000000"/>
                </a:solidFill>
                <a:effectLst/>
                <a:latin typeface="Times New Roman" panose="02020603050405020304" pitchFamily="18" charset="0"/>
                <a:cs typeface="Times New Roman" panose="02020603050405020304" pitchFamily="18" charset="0"/>
              </a:rPr>
              <a:t>irst released on February 20, 1991</a:t>
            </a:r>
            <a:endParaRPr sz="2800" dirty="0">
              <a:latin typeface="Times New Roman" panose="02020603050405020304" pitchFamily="18" charset="0"/>
              <a:cs typeface="Times New Roman" panose="02020603050405020304" pitchFamily="18" charset="0"/>
            </a:endParaRPr>
          </a:p>
          <a:p>
            <a:pPr marL="241300" indent="-229235">
              <a:lnSpc>
                <a:spcPct val="100000"/>
              </a:lnSpc>
              <a:spcBef>
                <a:spcPts val="994"/>
              </a:spcBef>
              <a:buClr>
                <a:srgbClr val="00B050"/>
              </a:buClr>
              <a:buFont typeface="Wingdings"/>
              <a:buChar char=""/>
              <a:tabLst>
                <a:tab pos="241935" algn="l"/>
              </a:tabLst>
            </a:pPr>
            <a:r>
              <a:rPr sz="2800" dirty="0">
                <a:latin typeface="Times New Roman" panose="02020603050405020304" pitchFamily="18" charset="0"/>
                <a:cs typeface="Times New Roman" panose="02020603050405020304" pitchFamily="18" charset="0"/>
              </a:rPr>
              <a:t>Python</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Object-Oriented</a:t>
            </a:r>
          </a:p>
          <a:p>
            <a:pPr marL="241300" indent="-229235">
              <a:lnSpc>
                <a:spcPct val="100000"/>
              </a:lnSpc>
              <a:spcBef>
                <a:spcPts val="994"/>
              </a:spcBef>
              <a:buClr>
                <a:srgbClr val="00B050"/>
              </a:buClr>
              <a:buFont typeface="Wingdings"/>
              <a:buChar char=""/>
              <a:tabLst>
                <a:tab pos="241935" algn="l"/>
              </a:tabLst>
            </a:pPr>
            <a:r>
              <a:rPr sz="2800" spc="-5" dirty="0">
                <a:latin typeface="Times New Roman" panose="02020603050405020304" pitchFamily="18" charset="0"/>
                <a:cs typeface="Times New Roman" panose="02020603050405020304" pitchFamily="18" charset="0"/>
              </a:rPr>
              <a:t>Python</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 a</a:t>
            </a:r>
            <a:r>
              <a:rPr sz="2800" spc="-2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Beginner's</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Language</a:t>
            </a:r>
            <a:endParaRPr sz="2800" dirty="0">
              <a:latin typeface="Times New Roman" panose="02020603050405020304" pitchFamily="18" charset="0"/>
              <a:cs typeface="Times New Roman" panose="02020603050405020304" pitchFamily="18" charset="0"/>
            </a:endParaRPr>
          </a:p>
          <a:p>
            <a:pPr marL="241300" indent="-229235">
              <a:lnSpc>
                <a:spcPct val="100000"/>
              </a:lnSpc>
              <a:spcBef>
                <a:spcPts val="1010"/>
              </a:spcBef>
              <a:buClr>
                <a:srgbClr val="00B050"/>
              </a:buClr>
              <a:buFont typeface="Wingdings"/>
              <a:buChar char=""/>
              <a:tabLst>
                <a:tab pos="241935" algn="l"/>
              </a:tabLst>
            </a:pPr>
            <a:r>
              <a:rPr sz="2800" dirty="0">
                <a:latin typeface="Times New Roman" panose="02020603050405020304" pitchFamily="18" charset="0"/>
                <a:cs typeface="Times New Roman" panose="02020603050405020304" pitchFamily="18" charset="0"/>
              </a:rPr>
              <a:t>Open</a:t>
            </a:r>
            <a:r>
              <a:rPr sz="2800" spc="-4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Source</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Programming</a:t>
            </a:r>
            <a:r>
              <a:rPr sz="2800" spc="-2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Language</a:t>
            </a:r>
            <a:endParaRPr sz="28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9025523" y="2667000"/>
            <a:ext cx="2186960" cy="22348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346A6F1-801E-4198-BE66-3F7B497D4A5C}"/>
              </a:ext>
            </a:extLst>
          </p:cNvPr>
          <p:cNvPicPr>
            <a:picLocks noGrp="1" noChangeAspect="1"/>
          </p:cNvPicPr>
          <p:nvPr>
            <p:ph idx="4294967295"/>
          </p:nvPr>
        </p:nvPicPr>
        <p:blipFill rotWithShape="1">
          <a:blip r:embed="rId2" cstate="print">
            <a:extLst>
              <a:ext uri="{28A0092B-C50C-407E-A947-70E740481C1C}">
                <a14:useLocalDpi xmlns:a14="http://schemas.microsoft.com/office/drawing/2010/main" val="0"/>
              </a:ext>
            </a:extLst>
          </a:blip>
          <a:srcRect l="6676" t="1893" r="6537" b="5289"/>
          <a:stretch/>
        </p:blipFill>
        <p:spPr>
          <a:xfrm>
            <a:off x="5257800" y="152400"/>
            <a:ext cx="6400800" cy="6031521"/>
          </a:xfrm>
        </p:spPr>
      </p:pic>
      <p:sp>
        <p:nvSpPr>
          <p:cNvPr id="6" name="object 2">
            <a:extLst>
              <a:ext uri="{FF2B5EF4-FFF2-40B4-BE49-F238E27FC236}">
                <a16:creationId xmlns:a16="http://schemas.microsoft.com/office/drawing/2014/main" id="{64F987A3-3789-4262-A567-FF5FADB9AAE7}"/>
              </a:ext>
            </a:extLst>
          </p:cNvPr>
          <p:cNvSpPr txBox="1">
            <a:spLocks/>
          </p:cNvSpPr>
          <p:nvPr/>
        </p:nvSpPr>
        <p:spPr>
          <a:xfrm>
            <a:off x="1219200" y="2438400"/>
            <a:ext cx="3764915" cy="574040"/>
          </a:xfrm>
          <a:prstGeom prst="rect">
            <a:avLst/>
          </a:prstGeom>
        </p:spPr>
        <p:txBody>
          <a:bodyPr vert="horz" wrap="square" lIns="0" tIns="12700" rIns="0" bIns="0" rtlCol="0">
            <a:sp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2700">
              <a:lnSpc>
                <a:spcPct val="100000"/>
              </a:lnSpc>
              <a:spcBef>
                <a:spcPts val="100"/>
              </a:spcBef>
            </a:pPr>
            <a:r>
              <a:rPr lang="en-GB" sz="3600" spc="10" dirty="0">
                <a:solidFill>
                  <a:srgbClr val="002060"/>
                </a:solidFill>
                <a:latin typeface="Times New Roman" panose="02020603050405020304" pitchFamily="18" charset="0"/>
                <a:cs typeface="Times New Roman" panose="02020603050405020304" pitchFamily="18" charset="0"/>
              </a:rPr>
              <a:t>Why </a:t>
            </a:r>
            <a:r>
              <a:rPr lang="en-GB" sz="3600" spc="-5" dirty="0">
                <a:solidFill>
                  <a:srgbClr val="002060"/>
                </a:solidFill>
                <a:latin typeface="Times New Roman" panose="02020603050405020304" pitchFamily="18" charset="0"/>
                <a:cs typeface="Times New Roman" panose="02020603050405020304" pitchFamily="18" charset="0"/>
              </a:rPr>
              <a:t>Python?</a:t>
            </a:r>
            <a:endParaRPr lang="en-GB"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7657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304800" y="533400"/>
            <a:ext cx="11506200" cy="5093702"/>
          </a:xfrm>
          <a:prstGeom prst="rect">
            <a:avLst/>
          </a:prstGeom>
          <a:noFill/>
        </p:spPr>
        <p:txBody>
          <a:bodyPr wrap="square">
            <a:spAutoFit/>
          </a:bodyPr>
          <a:lstStyle/>
          <a:p>
            <a:pPr algn="just"/>
            <a:r>
              <a:rPr lang="en-GB" sz="2500" b="1" i="0" u="none" strike="noStrike" dirty="0">
                <a:solidFill>
                  <a:srgbClr val="000000"/>
                </a:solidFill>
                <a:effectLst/>
                <a:latin typeface="Times New Roman" panose="02020603050405020304" pitchFamily="18" charset="0"/>
                <a:cs typeface="Times New Roman" panose="02020603050405020304" pitchFamily="18" charset="0"/>
              </a:rPr>
              <a:t>Easy to learn: </a:t>
            </a:r>
            <a:r>
              <a:rPr lang="en-GB" sz="2500" b="0" i="0" u="none" strike="noStrike" dirty="0">
                <a:solidFill>
                  <a:srgbClr val="000000"/>
                </a:solidFill>
                <a:effectLst/>
                <a:latin typeface="Times New Roman" panose="02020603050405020304" pitchFamily="18" charset="0"/>
                <a:cs typeface="Times New Roman" panose="02020603050405020304" pitchFamily="18" charset="0"/>
              </a:rPr>
              <a:t>Python is meant for its simplicity and readability, making it easy for beginners who are very interested in learning Python. The language has a simple syntax similar to writing English, and its code is often referred to as "</a:t>
            </a:r>
            <a:r>
              <a:rPr lang="en-GB" sz="2500" b="1" i="0" u="none" strike="noStrike" dirty="0">
                <a:solidFill>
                  <a:srgbClr val="000000"/>
                </a:solidFill>
                <a:effectLst/>
                <a:latin typeface="Times New Roman" panose="02020603050405020304" pitchFamily="18" charset="0"/>
                <a:cs typeface="Times New Roman" panose="02020603050405020304" pitchFamily="18" charset="0"/>
              </a:rPr>
              <a:t>executable pseudocode</a:t>
            </a:r>
            <a:r>
              <a:rPr lang="en-GB" sz="2500" b="0" i="0" u="none" strike="noStrike" dirty="0">
                <a:solidFill>
                  <a:srgbClr val="000000"/>
                </a:solidFill>
                <a:effectLst/>
                <a:latin typeface="Times New Roman" panose="02020603050405020304" pitchFamily="18" charset="0"/>
                <a:cs typeface="Times New Roman" panose="02020603050405020304" pitchFamily="18" charset="0"/>
              </a:rPr>
              <a:t>," which is easy to read and understand.</a:t>
            </a:r>
          </a:p>
          <a:p>
            <a:pPr algn="just"/>
            <a:endParaRPr lang="en-GB" sz="25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500" b="1" i="0" u="none" strike="noStrike" dirty="0">
                <a:solidFill>
                  <a:srgbClr val="000000"/>
                </a:solidFill>
                <a:effectLst/>
                <a:latin typeface="Times New Roman" panose="02020603050405020304" pitchFamily="18" charset="0"/>
                <a:cs typeface="Times New Roman" panose="02020603050405020304" pitchFamily="18" charset="0"/>
              </a:rPr>
              <a:t>Versatile: </a:t>
            </a:r>
            <a:r>
              <a:rPr lang="en-GB" sz="2500" b="0" i="0" u="none" strike="noStrike" dirty="0">
                <a:solidFill>
                  <a:srgbClr val="000000"/>
                </a:solidFill>
                <a:effectLst/>
                <a:latin typeface="Times New Roman" panose="02020603050405020304" pitchFamily="18" charset="0"/>
                <a:cs typeface="Times New Roman" panose="02020603050405020304" pitchFamily="18" charset="0"/>
              </a:rPr>
              <a:t>Python is a programming language that can be used for many applications such as web development, data science, and machine learning. A library that is standard, along with built-in functions and modules, makes it possible to write complex programs with minimal code. Also, programmers can publish their own modules.</a:t>
            </a:r>
          </a:p>
          <a:p>
            <a:pPr algn="just"/>
            <a:endParaRPr lang="en-GB" sz="25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500" b="1" i="0" u="none" strike="noStrike" dirty="0">
                <a:solidFill>
                  <a:srgbClr val="000000"/>
                </a:solidFill>
                <a:effectLst/>
                <a:latin typeface="Times New Roman" panose="02020603050405020304" pitchFamily="18" charset="0"/>
                <a:cs typeface="Times New Roman" panose="02020603050405020304" pitchFamily="18" charset="0"/>
              </a:rPr>
              <a:t>Large community</a:t>
            </a:r>
            <a:r>
              <a:rPr lang="en-GB" sz="2500" b="0" i="0" u="none" strike="noStrike" dirty="0">
                <a:solidFill>
                  <a:srgbClr val="000000"/>
                </a:solidFill>
                <a:effectLst/>
                <a:latin typeface="Times New Roman" panose="02020603050405020304" pitchFamily="18" charset="0"/>
                <a:cs typeface="Times New Roman" panose="02020603050405020304" pitchFamily="18" charset="0"/>
              </a:rPr>
              <a:t>: Python has a large and active developer community, with many resources available for learning and using the language. There are many libraries and frameworks for understanding advanced concepts.</a:t>
            </a:r>
          </a:p>
        </p:txBody>
      </p:sp>
    </p:spTree>
    <p:extLst>
      <p:ext uri="{BB962C8B-B14F-4D97-AF65-F5344CB8AC3E}">
        <p14:creationId xmlns:p14="http://schemas.microsoft.com/office/powerpoint/2010/main" val="3626641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304800" y="152400"/>
            <a:ext cx="11582400" cy="6001643"/>
          </a:xfrm>
          <a:prstGeom prst="rect">
            <a:avLst/>
          </a:prstGeom>
          <a:noFill/>
        </p:spPr>
        <p:txBody>
          <a:bodyPr wrap="square">
            <a:spAutoFit/>
          </a:bodyPr>
          <a:lstStyle/>
          <a:p>
            <a:pPr algn="just"/>
            <a:r>
              <a:rPr lang="en-GB" sz="2400" b="1" i="0" u="none" strike="noStrike" dirty="0">
                <a:solidFill>
                  <a:srgbClr val="000000"/>
                </a:solidFill>
                <a:effectLst/>
                <a:latin typeface="Times New Roman" panose="02020603050405020304" pitchFamily="18" charset="0"/>
                <a:cs typeface="Times New Roman" panose="02020603050405020304" pitchFamily="18" charset="0"/>
              </a:rPr>
              <a:t>High-Level Language: </a:t>
            </a:r>
            <a:r>
              <a:rPr lang="en-GB" sz="2400" b="0" i="0" u="none" strike="noStrike" dirty="0">
                <a:solidFill>
                  <a:srgbClr val="000000"/>
                </a:solidFill>
                <a:effectLst/>
                <a:latin typeface="Times New Roman" panose="02020603050405020304" pitchFamily="18" charset="0"/>
                <a:cs typeface="Times New Roman" panose="02020603050405020304" pitchFamily="18" charset="0"/>
              </a:rPr>
              <a:t>Python is considered a high-level language, which simplifies many low-level details of computer programming, like memory management and pointer arithmetic. Python makes writing and reading code easier as it has its own garbage collector and can reduce the time needed to develop and maintain software.</a:t>
            </a:r>
          </a:p>
          <a:p>
            <a:pPr algn="just"/>
            <a:endParaRPr lang="en-GB" sz="2400" b="1"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400" b="1" i="0" u="none" strike="noStrike" dirty="0">
                <a:solidFill>
                  <a:srgbClr val="000000"/>
                </a:solidFill>
                <a:effectLst/>
                <a:latin typeface="Times New Roman" panose="02020603050405020304" pitchFamily="18" charset="0"/>
                <a:cs typeface="Times New Roman" panose="02020603050405020304" pitchFamily="18" charset="0"/>
              </a:rPr>
              <a:t>Open Source:</a:t>
            </a:r>
            <a:r>
              <a:rPr lang="en-GB" sz="2400" b="0" i="0" u="none" strike="noStrike" dirty="0">
                <a:solidFill>
                  <a:srgbClr val="000000"/>
                </a:solidFill>
                <a:effectLst/>
                <a:latin typeface="Times New Roman" panose="02020603050405020304" pitchFamily="18" charset="0"/>
                <a:cs typeface="Times New Roman" panose="02020603050405020304" pitchFamily="18" charset="0"/>
              </a:rPr>
              <a:t> Python is a language anyone can use, change, and give away for free. Many developers like to use it because they can make it work just how they want it to.</a:t>
            </a:r>
          </a:p>
          <a:p>
            <a:pPr algn="just"/>
            <a:endParaRPr lang="en-GB" sz="24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400" b="1" i="0" u="none" strike="noStrike" dirty="0">
                <a:solidFill>
                  <a:srgbClr val="000000"/>
                </a:solidFill>
                <a:effectLst/>
                <a:latin typeface="Times New Roman" panose="02020603050405020304" pitchFamily="18" charset="0"/>
                <a:cs typeface="Times New Roman" panose="02020603050405020304" pitchFamily="18" charset="0"/>
              </a:rPr>
              <a:t>Interpreted Language: </a:t>
            </a:r>
            <a:r>
              <a:rPr lang="en-GB" sz="2400" b="0" i="0" u="none" strike="noStrike" dirty="0">
                <a:solidFill>
                  <a:srgbClr val="000000"/>
                </a:solidFill>
                <a:effectLst/>
                <a:latin typeface="Times New Roman" panose="02020603050405020304" pitchFamily="18" charset="0"/>
                <a:cs typeface="Times New Roman" panose="02020603050405020304" pitchFamily="18" charset="0"/>
              </a:rPr>
              <a:t>Python is an interpreted language that can run directly from the source code without compiling. This makes writing, testing, and debugging code easy and can speed up the development process.</a:t>
            </a:r>
          </a:p>
          <a:p>
            <a:pPr algn="just">
              <a:buFont typeface="+mj-lt"/>
              <a:buAutoNum type="arabicPeriod"/>
            </a:pPr>
            <a:endParaRPr lang="en-GB" sz="24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400" b="1" i="0" u="none" strike="noStrike" dirty="0">
                <a:solidFill>
                  <a:srgbClr val="000000"/>
                </a:solidFill>
                <a:effectLst/>
                <a:latin typeface="Times New Roman" panose="02020603050405020304" pitchFamily="18" charset="0"/>
                <a:cs typeface="Times New Roman" panose="02020603050405020304" pitchFamily="18" charset="0"/>
              </a:rPr>
              <a:t>Python has multiple libraries, frameworks, and packages: </a:t>
            </a:r>
            <a:r>
              <a:rPr lang="en-GB" sz="2400" b="0" i="0" u="none" strike="noStrike" dirty="0">
                <a:solidFill>
                  <a:srgbClr val="000000"/>
                </a:solidFill>
                <a:effectLst/>
                <a:latin typeface="Times New Roman" panose="02020603050405020304" pitchFamily="18" charset="0"/>
                <a:cs typeface="Times New Roman" panose="02020603050405020304" pitchFamily="18" charset="0"/>
              </a:rPr>
              <a:t>Python includes numerous amount of libraries that can be used just by importing. A number of popular and powerful Python libraries are available, including NumPy and Pandas for Data Science, Matplotlib and Seaborn for Data Visualization, and </a:t>
            </a:r>
            <a:r>
              <a:rPr lang="en-GB" sz="2400" b="0" i="0" u="none" strike="noStrike" dirty="0" err="1">
                <a:solidFill>
                  <a:srgbClr val="000000"/>
                </a:solidFill>
                <a:effectLst/>
                <a:latin typeface="Times New Roman" panose="02020603050405020304" pitchFamily="18" charset="0"/>
                <a:cs typeface="Times New Roman" panose="02020603050405020304" pitchFamily="18" charset="0"/>
              </a:rPr>
              <a:t>sklearn</a:t>
            </a:r>
            <a:r>
              <a:rPr lang="en-GB" sz="2400" b="0" i="0" u="none" strike="noStrike" dirty="0">
                <a:solidFill>
                  <a:srgbClr val="000000"/>
                </a:solidFill>
                <a:effectLst/>
                <a:latin typeface="Times New Roman" panose="02020603050405020304" pitchFamily="18" charset="0"/>
                <a:cs typeface="Times New Roman" panose="02020603050405020304" pitchFamily="18" charset="0"/>
              </a:rPr>
              <a:t>, </a:t>
            </a:r>
            <a:r>
              <a:rPr lang="en-GB" sz="2400" b="0" i="0" u="none" strike="noStrike" dirty="0" err="1">
                <a:solidFill>
                  <a:srgbClr val="000000"/>
                </a:solidFill>
                <a:effectLst/>
                <a:latin typeface="Times New Roman" panose="02020603050405020304" pitchFamily="18" charset="0"/>
                <a:cs typeface="Times New Roman" panose="02020603050405020304" pitchFamily="18" charset="0"/>
              </a:rPr>
              <a:t>Keras</a:t>
            </a:r>
            <a:r>
              <a:rPr lang="en-GB" sz="2400" b="0" i="0" u="none" strike="noStrike" dirty="0">
                <a:solidFill>
                  <a:srgbClr val="000000"/>
                </a:solidFill>
                <a:effectLst/>
                <a:latin typeface="Times New Roman" panose="02020603050405020304" pitchFamily="18" charset="0"/>
                <a:cs typeface="Times New Roman" panose="02020603050405020304" pitchFamily="18" charset="0"/>
              </a:rPr>
              <a:t>, </a:t>
            </a:r>
            <a:r>
              <a:rPr lang="en-GB" sz="2400" b="0" i="0" u="none" strike="noStrike" dirty="0" err="1">
                <a:solidFill>
                  <a:srgbClr val="000000"/>
                </a:solidFill>
                <a:effectLst/>
                <a:latin typeface="Times New Roman" panose="02020603050405020304" pitchFamily="18" charset="0"/>
                <a:cs typeface="Times New Roman" panose="02020603050405020304" pitchFamily="18" charset="0"/>
              </a:rPr>
              <a:t>PyTorch</a:t>
            </a:r>
            <a:r>
              <a:rPr lang="en-GB" sz="2400" b="0" i="0" u="none" strike="noStrike" dirty="0">
                <a:solidFill>
                  <a:srgbClr val="000000"/>
                </a:solidFill>
                <a:effectLst/>
                <a:latin typeface="Times New Roman" panose="02020603050405020304" pitchFamily="18" charset="0"/>
                <a:cs typeface="Times New Roman" panose="02020603050405020304" pitchFamily="18" charset="0"/>
              </a:rPr>
              <a:t>, etc., for Machine Learning.</a:t>
            </a:r>
          </a:p>
        </p:txBody>
      </p:sp>
    </p:spTree>
    <p:extLst>
      <p:ext uri="{BB962C8B-B14F-4D97-AF65-F5344CB8AC3E}">
        <p14:creationId xmlns:p14="http://schemas.microsoft.com/office/powerpoint/2010/main" val="2795171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6</a:t>
            </a:fld>
            <a:endParaRPr dirty="0"/>
          </a:p>
        </p:txBody>
      </p:sp>
      <p:pic>
        <p:nvPicPr>
          <p:cNvPr id="6" name="Picture 5">
            <a:extLst>
              <a:ext uri="{FF2B5EF4-FFF2-40B4-BE49-F238E27FC236}">
                <a16:creationId xmlns:a16="http://schemas.microsoft.com/office/drawing/2014/main" id="{C7A65C4B-2A20-4633-BCCA-56B589478307}"/>
              </a:ext>
            </a:extLst>
          </p:cNvPr>
          <p:cNvPicPr>
            <a:picLocks noChangeAspect="1"/>
          </p:cNvPicPr>
          <p:nvPr/>
        </p:nvPicPr>
        <p:blipFill rotWithShape="1">
          <a:blip r:embed="rId2">
            <a:extLst>
              <a:ext uri="{28A0092B-C50C-407E-A947-70E740481C1C}">
                <a14:useLocalDpi xmlns:a14="http://schemas.microsoft.com/office/drawing/2010/main" val="0"/>
              </a:ext>
            </a:extLst>
          </a:blip>
          <a:srcRect l="2941" t="15556" b="8889"/>
          <a:stretch/>
        </p:blipFill>
        <p:spPr>
          <a:xfrm>
            <a:off x="2125227" y="533400"/>
            <a:ext cx="9958427" cy="5724773"/>
          </a:xfrm>
          <a:prstGeom prst="rect">
            <a:avLst/>
          </a:prstGeom>
        </p:spPr>
      </p:pic>
      <p:sp>
        <p:nvSpPr>
          <p:cNvPr id="9" name="object 2">
            <a:extLst>
              <a:ext uri="{FF2B5EF4-FFF2-40B4-BE49-F238E27FC236}">
                <a16:creationId xmlns:a16="http://schemas.microsoft.com/office/drawing/2014/main" id="{FAACC315-B938-407D-8F53-0D05E901DCF1}"/>
              </a:ext>
            </a:extLst>
          </p:cNvPr>
          <p:cNvSpPr txBox="1">
            <a:spLocks/>
          </p:cNvSpPr>
          <p:nvPr/>
        </p:nvSpPr>
        <p:spPr>
          <a:xfrm rot="16200000">
            <a:off x="-775491" y="2725576"/>
            <a:ext cx="3764915" cy="689932"/>
          </a:xfrm>
          <a:prstGeom prst="rect">
            <a:avLst/>
          </a:prstGeom>
        </p:spPr>
        <p:txBody>
          <a:bodyPr vert="horz" wrap="square" lIns="0" tIns="12700" rIns="0" bIns="0" rtlCol="0">
            <a:sp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2700">
              <a:lnSpc>
                <a:spcPct val="100000"/>
              </a:lnSpc>
              <a:spcBef>
                <a:spcPts val="100"/>
              </a:spcBef>
            </a:pPr>
            <a:r>
              <a:rPr lang="en-GB" sz="4400" dirty="0">
                <a:solidFill>
                  <a:srgbClr val="FFC000"/>
                </a:solidFill>
                <a:latin typeface="Times New Roman" panose="02020603050405020304" pitchFamily="18" charset="0"/>
                <a:cs typeface="Times New Roman" panose="02020603050405020304" pitchFamily="18" charset="0"/>
              </a:rPr>
              <a:t>Applications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304800" y="152400"/>
            <a:ext cx="11582400" cy="6894195"/>
          </a:xfrm>
          <a:prstGeom prst="rect">
            <a:avLst/>
          </a:prstGeom>
          <a:noFill/>
        </p:spPr>
        <p:txBody>
          <a:bodyPr wrap="square">
            <a:spAutoFit/>
          </a:bodyPr>
          <a:lstStyle/>
          <a:p>
            <a:pPr algn="just"/>
            <a:r>
              <a:rPr lang="en-GB" sz="2500" b="1" i="0" u="none" strike="noStrike" dirty="0">
                <a:solidFill>
                  <a:srgbClr val="000000"/>
                </a:solidFill>
                <a:effectLst/>
                <a:latin typeface="Times New Roman" panose="02020603050405020304" pitchFamily="18" charset="0"/>
                <a:cs typeface="Times New Roman" panose="02020603050405020304" pitchFamily="18" charset="0"/>
              </a:rPr>
              <a:t>Web development:</a:t>
            </a:r>
            <a:r>
              <a:rPr lang="en-GB" sz="2500" b="0" i="0" u="none" strike="noStrike" dirty="0">
                <a:solidFill>
                  <a:srgbClr val="000000"/>
                </a:solidFill>
                <a:effectLst/>
                <a:latin typeface="Times New Roman" panose="02020603050405020304" pitchFamily="18" charset="0"/>
                <a:cs typeface="Times New Roman" panose="02020603050405020304" pitchFamily="18" charset="0"/>
              </a:rPr>
              <a:t> Django, Flask, and Pyramid are popular web frameworks in Python, used for building applications ranging from small websites to large enterprise applications. </a:t>
            </a:r>
          </a:p>
          <a:p>
            <a:pPr algn="just"/>
            <a:endParaRPr lang="en-GB" sz="25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500" b="1" i="0" u="none" strike="noStrike" dirty="0">
                <a:solidFill>
                  <a:srgbClr val="000000"/>
                </a:solidFill>
                <a:effectLst/>
                <a:latin typeface="Times New Roman" panose="02020603050405020304" pitchFamily="18" charset="0"/>
                <a:cs typeface="Times New Roman" panose="02020603050405020304" pitchFamily="18" charset="0"/>
              </a:rPr>
              <a:t>Data science and analytics:</a:t>
            </a:r>
            <a:r>
              <a:rPr lang="en-GB" sz="2500" dirty="0">
                <a:solidFill>
                  <a:srgbClr val="000000"/>
                </a:solidFill>
                <a:latin typeface="Times New Roman" panose="02020603050405020304" pitchFamily="18" charset="0"/>
                <a:cs typeface="Times New Roman" panose="02020603050405020304" pitchFamily="18" charset="0"/>
              </a:rPr>
              <a:t> </a:t>
            </a:r>
            <a:r>
              <a:rPr lang="en-GB" sz="2500" b="0" i="0" u="none" strike="noStrike" dirty="0">
                <a:solidFill>
                  <a:srgbClr val="000000"/>
                </a:solidFill>
                <a:effectLst/>
                <a:latin typeface="Times New Roman" panose="02020603050405020304" pitchFamily="18" charset="0"/>
                <a:cs typeface="Times New Roman" panose="02020603050405020304" pitchFamily="18" charset="0"/>
              </a:rPr>
              <a:t>Python is a highly demanded language in data science and machine learning, with popular libraries like NumPy, Pandas, Matplotlib, and Scikit-learn for data analysis, visualization, and ML. </a:t>
            </a:r>
          </a:p>
          <a:p>
            <a:pPr algn="just"/>
            <a:endParaRPr lang="en-GB" sz="25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500" b="1" i="0" u="none" strike="noStrike" dirty="0">
                <a:solidFill>
                  <a:srgbClr val="000000"/>
                </a:solidFill>
                <a:effectLst/>
                <a:latin typeface="Times New Roman" panose="02020603050405020304" pitchFamily="18" charset="0"/>
                <a:cs typeface="Times New Roman" panose="02020603050405020304" pitchFamily="18" charset="0"/>
              </a:rPr>
              <a:t>Scientific computing:</a:t>
            </a:r>
            <a:r>
              <a:rPr lang="en-GB" sz="2500" dirty="0">
                <a:solidFill>
                  <a:srgbClr val="000000"/>
                </a:solidFill>
                <a:latin typeface="Times New Roman" panose="02020603050405020304" pitchFamily="18" charset="0"/>
                <a:cs typeface="Times New Roman" panose="02020603050405020304" pitchFamily="18" charset="0"/>
              </a:rPr>
              <a:t> </a:t>
            </a:r>
            <a:r>
              <a:rPr lang="en-GB" sz="2500" b="0" i="0" u="none" strike="noStrike" dirty="0">
                <a:solidFill>
                  <a:srgbClr val="000000"/>
                </a:solidFill>
                <a:effectLst/>
                <a:latin typeface="Times New Roman" panose="02020603050405020304" pitchFamily="18" charset="0"/>
                <a:cs typeface="Times New Roman" panose="02020603050405020304" pitchFamily="18" charset="0"/>
              </a:rPr>
              <a:t>Python is widely used in scientific computing, with modules for numerical calculations, optimization, linear algebra, interpolation, and special functions. Libraries like SciPy and NumPy provide a powerful way to perform scientific computations.</a:t>
            </a:r>
          </a:p>
          <a:p>
            <a:pPr algn="just"/>
            <a:endParaRPr lang="en-GB" sz="25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500" b="1" i="0" u="none" strike="noStrike" dirty="0">
                <a:solidFill>
                  <a:srgbClr val="000000"/>
                </a:solidFill>
                <a:effectLst/>
                <a:latin typeface="Times New Roman" panose="02020603050405020304" pitchFamily="18" charset="0"/>
                <a:cs typeface="Times New Roman" panose="02020603050405020304" pitchFamily="18" charset="0"/>
              </a:rPr>
              <a:t>Automation and scripting:</a:t>
            </a:r>
            <a:r>
              <a:rPr lang="en-GB" sz="2500" b="0" i="0" u="none" strike="noStrike" dirty="0">
                <a:solidFill>
                  <a:srgbClr val="000000"/>
                </a:solidFill>
                <a:effectLst/>
                <a:latin typeface="Times New Roman" panose="02020603050405020304" pitchFamily="18" charset="0"/>
                <a:cs typeface="Times New Roman" panose="02020603050405020304" pitchFamily="18" charset="0"/>
              </a:rPr>
              <a:t> Python is extensively used for automation tasks, such as scripting, testing, and deployment, providing an efficient way to automate repetitive tasks and integrate systems and services. </a:t>
            </a:r>
          </a:p>
          <a:p>
            <a:pPr algn="just"/>
            <a:endParaRPr lang="en-GB" sz="2500" b="0" i="0" u="none" strike="noStrike"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9815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304800" y="152400"/>
            <a:ext cx="11582400" cy="6093976"/>
          </a:xfrm>
          <a:prstGeom prst="rect">
            <a:avLst/>
          </a:prstGeom>
          <a:noFill/>
        </p:spPr>
        <p:txBody>
          <a:bodyPr wrap="square">
            <a:spAutoFit/>
          </a:bodyPr>
          <a:lstStyle/>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Desktop GUI applications:</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 provides several GUI toolkits like </a:t>
            </a:r>
            <a:r>
              <a:rPr lang="en-GB" sz="2600" b="0" i="0" u="none" strike="noStrike" dirty="0" err="1">
                <a:solidFill>
                  <a:srgbClr val="000000"/>
                </a:solidFill>
                <a:effectLst/>
                <a:latin typeface="Times New Roman" panose="02020603050405020304" pitchFamily="18" charset="0"/>
                <a:cs typeface="Times New Roman" panose="02020603050405020304" pitchFamily="18" charset="0"/>
              </a:rPr>
              <a:t>Tkinter</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a:t>
            </a:r>
            <a:r>
              <a:rPr lang="en-GB" sz="2600" b="0" i="0" u="none" strike="noStrike" dirty="0" err="1">
                <a:solidFill>
                  <a:srgbClr val="000000"/>
                </a:solidFill>
                <a:effectLst/>
                <a:latin typeface="Times New Roman" panose="02020603050405020304" pitchFamily="18" charset="0"/>
                <a:cs typeface="Times New Roman" panose="02020603050405020304" pitchFamily="18" charset="0"/>
              </a:rPr>
              <a:t>PyQt</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and </a:t>
            </a:r>
            <a:r>
              <a:rPr lang="en-GB" sz="2600" b="0" i="0" u="none" strike="noStrike" dirty="0" err="1">
                <a:solidFill>
                  <a:srgbClr val="000000"/>
                </a:solidFill>
                <a:effectLst/>
                <a:latin typeface="Times New Roman" panose="02020603050405020304" pitchFamily="18" charset="0"/>
                <a:cs typeface="Times New Roman" panose="02020603050405020304" pitchFamily="18" charset="0"/>
              </a:rPr>
              <a:t>wxPython</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allowing developers to create desktop applications with a native look and feel. </a:t>
            </a:r>
          </a:p>
          <a:p>
            <a:pPr algn="just"/>
            <a:endParaRPr lang="en-GB" sz="2600" dirty="0">
              <a:solidFill>
                <a:srgbClr val="000000"/>
              </a:solidFill>
              <a:latin typeface="Times New Roman" panose="02020603050405020304" pitchFamily="18" charset="0"/>
              <a:cs typeface="Times New Roman" panose="02020603050405020304" pitchFamily="18" charset="0"/>
            </a:endParaRPr>
          </a:p>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Game development:</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 can be used to develop games with libraries like </a:t>
            </a:r>
            <a:r>
              <a:rPr lang="en-GB" sz="2600" b="0" i="0" u="none" strike="noStrike" dirty="0" err="1">
                <a:solidFill>
                  <a:srgbClr val="000000"/>
                </a:solidFill>
                <a:effectLst/>
                <a:latin typeface="Times New Roman" panose="02020603050405020304" pitchFamily="18" charset="0"/>
                <a:cs typeface="Times New Roman" panose="02020603050405020304" pitchFamily="18" charset="0"/>
              </a:rPr>
              <a:t>Pygame</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which provides graphics, sound, and input handling tools for game development. </a:t>
            </a:r>
          </a:p>
          <a:p>
            <a:pPr algn="just"/>
            <a:endParaRPr lang="en-GB" sz="2600" dirty="0">
              <a:solidFill>
                <a:srgbClr val="000000"/>
              </a:solidFill>
              <a:latin typeface="Times New Roman" panose="02020603050405020304" pitchFamily="18" charset="0"/>
              <a:cs typeface="Times New Roman" panose="02020603050405020304" pitchFamily="18" charset="0"/>
            </a:endParaRPr>
          </a:p>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Networking:</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 has robust networking libraries, such as sockets and Requests, which make it easy to create network-based applications, such as web scrapers and web crawlers.</a:t>
            </a:r>
          </a:p>
          <a:p>
            <a:pPr algn="just"/>
            <a:endParaRPr lang="en-GB" sz="26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Education:</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Python's simplicity and ease of use make it a popular choice for introductory programming courses in academia and online. </a:t>
            </a:r>
          </a:p>
          <a:p>
            <a:pPr algn="just"/>
            <a:endParaRPr lang="en-GB" sz="2600" b="0" i="0" u="none" strike="noStrike"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8098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419100" y="762000"/>
            <a:ext cx="11353800" cy="4832092"/>
          </a:xfrm>
          <a:prstGeom prst="rect">
            <a:avLst/>
          </a:prstGeom>
          <a:noFill/>
        </p:spPr>
        <p:txBody>
          <a:bodyPr wrap="square">
            <a:spAutoFit/>
          </a:bodyPr>
          <a:lstStyle/>
          <a:p>
            <a:pPr algn="just"/>
            <a:r>
              <a:rPr lang="en-GB" sz="2800" b="1" i="0" u="none" strike="noStrike" dirty="0">
                <a:solidFill>
                  <a:srgbClr val="000000"/>
                </a:solidFill>
                <a:effectLst/>
                <a:latin typeface="Times New Roman" panose="02020603050405020304" pitchFamily="18" charset="0"/>
                <a:cs typeface="Times New Roman" panose="02020603050405020304" pitchFamily="18" charset="0"/>
              </a:rPr>
              <a:t>DevOps:</a:t>
            </a:r>
            <a:r>
              <a:rPr lang="en-GB" sz="2800" b="0" i="0" u="none" strike="noStrike" dirty="0">
                <a:solidFill>
                  <a:srgbClr val="000000"/>
                </a:solidFill>
                <a:effectLst/>
                <a:latin typeface="Times New Roman" panose="02020603050405020304" pitchFamily="18" charset="0"/>
                <a:cs typeface="Times New Roman" panose="02020603050405020304" pitchFamily="18" charset="0"/>
              </a:rPr>
              <a:t> Python is used extensively in the DevOps community for tasks such as automation, infrastructure management, and deployment. Tools such as Ansible and </a:t>
            </a:r>
            <a:r>
              <a:rPr lang="en-GB" sz="2800" b="0" i="0" u="none" strike="noStrike" dirty="0" err="1">
                <a:solidFill>
                  <a:srgbClr val="000000"/>
                </a:solidFill>
                <a:effectLst/>
                <a:latin typeface="Times New Roman" panose="02020603050405020304" pitchFamily="18" charset="0"/>
                <a:cs typeface="Times New Roman" panose="02020603050405020304" pitchFamily="18" charset="0"/>
              </a:rPr>
              <a:t>SaltStack</a:t>
            </a:r>
            <a:r>
              <a:rPr lang="en-GB" sz="2800" b="0" i="0" u="none" strike="noStrike" dirty="0">
                <a:solidFill>
                  <a:srgbClr val="000000"/>
                </a:solidFill>
                <a:effectLst/>
                <a:latin typeface="Times New Roman" panose="02020603050405020304" pitchFamily="18" charset="0"/>
                <a:cs typeface="Times New Roman" panose="02020603050405020304" pitchFamily="18" charset="0"/>
              </a:rPr>
              <a:t> are written in Python. </a:t>
            </a:r>
          </a:p>
          <a:p>
            <a:pPr algn="just"/>
            <a:endParaRPr lang="en-GB" sz="28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800" b="1" i="0" u="none" strike="noStrike" dirty="0">
                <a:solidFill>
                  <a:srgbClr val="000000"/>
                </a:solidFill>
                <a:effectLst/>
                <a:latin typeface="Times New Roman" panose="02020603050405020304" pitchFamily="18" charset="0"/>
                <a:cs typeface="Times New Roman" panose="02020603050405020304" pitchFamily="18" charset="0"/>
              </a:rPr>
              <a:t>Finance:</a:t>
            </a:r>
            <a:r>
              <a:rPr lang="en-GB" sz="2800" b="0" i="0" u="none" strike="noStrike" dirty="0">
                <a:solidFill>
                  <a:srgbClr val="000000"/>
                </a:solidFill>
                <a:effectLst/>
                <a:latin typeface="Times New Roman" panose="02020603050405020304" pitchFamily="18" charset="0"/>
                <a:cs typeface="Times New Roman" panose="02020603050405020304" pitchFamily="18" charset="0"/>
              </a:rPr>
              <a:t> Python is widely used for quantitative analysis, algorithmic trading, and risk management. Banks such as JPMorgan and Goldman Sachs use Python for financial </a:t>
            </a:r>
            <a:r>
              <a:rPr lang="en-GB" sz="2800" b="0" i="0" u="none" strike="noStrike" dirty="0" err="1">
                <a:solidFill>
                  <a:srgbClr val="000000"/>
                </a:solidFill>
                <a:effectLst/>
                <a:latin typeface="Times New Roman" panose="02020603050405020304" pitchFamily="18" charset="0"/>
                <a:cs typeface="Times New Roman" panose="02020603050405020304" pitchFamily="18" charset="0"/>
              </a:rPr>
              <a:t>modeling</a:t>
            </a:r>
            <a:r>
              <a:rPr lang="en-GB" sz="2800" b="0" i="0" u="none" strike="noStrike" dirty="0">
                <a:solidFill>
                  <a:srgbClr val="000000"/>
                </a:solidFill>
                <a:effectLst/>
                <a:latin typeface="Times New Roman" panose="02020603050405020304" pitchFamily="18" charset="0"/>
                <a:cs typeface="Times New Roman" panose="02020603050405020304" pitchFamily="18" charset="0"/>
              </a:rPr>
              <a:t> and analysis.</a:t>
            </a:r>
          </a:p>
          <a:p>
            <a:pPr algn="just"/>
            <a:endParaRPr lang="en-GB" sz="28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800" b="1" i="0" u="none" strike="noStrike" dirty="0">
                <a:solidFill>
                  <a:srgbClr val="000000"/>
                </a:solidFill>
                <a:effectLst/>
                <a:latin typeface="Times New Roman" panose="02020603050405020304" pitchFamily="18" charset="0"/>
                <a:cs typeface="Times New Roman" panose="02020603050405020304" pitchFamily="18" charset="0"/>
              </a:rPr>
              <a:t>Healthcare:</a:t>
            </a:r>
            <a:r>
              <a:rPr lang="en-GB" sz="2800" b="0" i="0" u="none" strike="noStrike" dirty="0">
                <a:solidFill>
                  <a:srgbClr val="000000"/>
                </a:solidFill>
                <a:effectLst/>
                <a:latin typeface="Times New Roman" panose="02020603050405020304" pitchFamily="18" charset="0"/>
                <a:cs typeface="Times New Roman" panose="02020603050405020304" pitchFamily="18" charset="0"/>
              </a:rPr>
              <a:t> Python is used for medical imaging, data analysis, and research. The National Institutes of Health (NIH) uses Python for genomic data analysis.</a:t>
            </a:r>
          </a:p>
        </p:txBody>
      </p:sp>
    </p:spTree>
    <p:extLst>
      <p:ext uri="{BB962C8B-B14F-4D97-AF65-F5344CB8AC3E}">
        <p14:creationId xmlns:p14="http://schemas.microsoft.com/office/powerpoint/2010/main" val="2534401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419100" y="1447800"/>
            <a:ext cx="11353800" cy="4493538"/>
          </a:xfrm>
          <a:prstGeom prst="rect">
            <a:avLst/>
          </a:prstGeom>
          <a:noFill/>
        </p:spPr>
        <p:txBody>
          <a:bodyPr wrap="square">
            <a:spAutoFit/>
          </a:bodyPr>
          <a:lstStyle/>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For learning it is easy and to use:</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 is easy to learn and use, even for beginners. The syntax is plain and straightforward, almost like writing in English.</a:t>
            </a:r>
          </a:p>
          <a:p>
            <a:pPr algn="just"/>
            <a:endParaRPr lang="en-GB" sz="2600" dirty="0">
              <a:solidFill>
                <a:srgbClr val="000000"/>
              </a:solidFill>
              <a:latin typeface="Times New Roman" panose="02020603050405020304" pitchFamily="18" charset="0"/>
              <a:cs typeface="Times New Roman" panose="02020603050405020304" pitchFamily="18" charset="0"/>
            </a:endParaRPr>
          </a:p>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Object-oriented:</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 is an object-oriented programming language that has highlights such as code reusability and measured quality. It supports highlights such as abstraction, encapsulation,  inheritance and polymorphism.</a:t>
            </a:r>
          </a:p>
          <a:p>
            <a:pPr algn="just"/>
            <a:endParaRPr lang="en-GB" sz="26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Interpreted:</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 is an interpreted language, which implies line by line the code is executed. This makes the process faster and more efficient as it eliminates the need for a compilation step, and if some error occurs, it will not wait for the whole code to compile. It will throw an error at that particular line itself.</a:t>
            </a:r>
          </a:p>
        </p:txBody>
      </p:sp>
      <p:sp>
        <p:nvSpPr>
          <p:cNvPr id="4" name="object 2">
            <a:extLst>
              <a:ext uri="{FF2B5EF4-FFF2-40B4-BE49-F238E27FC236}">
                <a16:creationId xmlns:a16="http://schemas.microsoft.com/office/drawing/2014/main" id="{1FB879BF-98B3-4EAF-9B0C-764D55C4075E}"/>
              </a:ext>
            </a:extLst>
          </p:cNvPr>
          <p:cNvSpPr txBox="1">
            <a:spLocks/>
          </p:cNvSpPr>
          <p:nvPr/>
        </p:nvSpPr>
        <p:spPr>
          <a:xfrm>
            <a:off x="419100" y="629642"/>
            <a:ext cx="8258175" cy="574040"/>
          </a:xfrm>
          <a:prstGeom prst="rect">
            <a:avLst/>
          </a:prstGeom>
        </p:spPr>
        <p:txBody>
          <a:bodyPr vert="horz" wrap="square" lIns="0" tIns="12700" rIns="0" bIns="0" rtlCol="0">
            <a:sp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2700">
              <a:lnSpc>
                <a:spcPct val="100000"/>
              </a:lnSpc>
              <a:spcBef>
                <a:spcPts val="100"/>
              </a:spcBef>
            </a:pPr>
            <a:r>
              <a:rPr lang="en-GB" sz="3600" spc="-20">
                <a:solidFill>
                  <a:srgbClr val="002060"/>
                </a:solidFill>
                <a:latin typeface="Times New Roman" panose="02020603050405020304" pitchFamily="18" charset="0"/>
                <a:cs typeface="Times New Roman" panose="02020603050405020304" pitchFamily="18" charset="0"/>
              </a:rPr>
              <a:t>Features</a:t>
            </a:r>
            <a:r>
              <a:rPr lang="en-GB" sz="3600" spc="-35">
                <a:solidFill>
                  <a:srgbClr val="002060"/>
                </a:solidFill>
                <a:latin typeface="Times New Roman" panose="02020603050405020304" pitchFamily="18" charset="0"/>
                <a:cs typeface="Times New Roman" panose="02020603050405020304" pitchFamily="18" charset="0"/>
              </a:rPr>
              <a:t> </a:t>
            </a:r>
            <a:r>
              <a:rPr lang="en-GB" sz="3600">
                <a:solidFill>
                  <a:srgbClr val="002060"/>
                </a:solidFill>
                <a:latin typeface="Times New Roman" panose="02020603050405020304" pitchFamily="18" charset="0"/>
                <a:cs typeface="Times New Roman" panose="02020603050405020304" pitchFamily="18" charset="0"/>
              </a:rPr>
              <a:t>of</a:t>
            </a:r>
            <a:r>
              <a:rPr lang="en-GB" sz="3600" spc="195">
                <a:solidFill>
                  <a:srgbClr val="002060"/>
                </a:solidFill>
                <a:latin typeface="Times New Roman" panose="02020603050405020304" pitchFamily="18" charset="0"/>
                <a:cs typeface="Times New Roman" panose="02020603050405020304" pitchFamily="18" charset="0"/>
              </a:rPr>
              <a:t> </a:t>
            </a:r>
            <a:r>
              <a:rPr lang="en-GB" sz="3600" spc="-5">
                <a:solidFill>
                  <a:srgbClr val="002060"/>
                </a:solidFill>
                <a:latin typeface="Times New Roman" panose="02020603050405020304" pitchFamily="18" charset="0"/>
                <a:cs typeface="Times New Roman" panose="02020603050405020304" pitchFamily="18" charset="0"/>
              </a:rPr>
              <a:t>Python</a:t>
            </a:r>
            <a:r>
              <a:rPr lang="en-GB" sz="3600" spc="-15">
                <a:solidFill>
                  <a:srgbClr val="002060"/>
                </a:solidFill>
                <a:latin typeface="Times New Roman" panose="02020603050405020304" pitchFamily="18" charset="0"/>
                <a:cs typeface="Times New Roman" panose="02020603050405020304" pitchFamily="18" charset="0"/>
              </a:rPr>
              <a:t> </a:t>
            </a:r>
            <a:r>
              <a:rPr lang="en-GB" sz="3600" spc="10">
                <a:solidFill>
                  <a:srgbClr val="002060"/>
                </a:solidFill>
                <a:latin typeface="Times New Roman" panose="02020603050405020304" pitchFamily="18" charset="0"/>
                <a:cs typeface="Times New Roman" panose="02020603050405020304" pitchFamily="18" charset="0"/>
              </a:rPr>
              <a:t>Programming</a:t>
            </a:r>
            <a:endParaRPr lang="en-GB"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5521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419100" y="457200"/>
            <a:ext cx="11353800" cy="5693866"/>
          </a:xfrm>
          <a:prstGeom prst="rect">
            <a:avLst/>
          </a:prstGeom>
          <a:noFill/>
        </p:spPr>
        <p:txBody>
          <a:bodyPr wrap="square">
            <a:spAutoFit/>
          </a:bodyPr>
          <a:lstStyle/>
          <a:p>
            <a:pPr algn="just"/>
            <a:r>
              <a:rPr lang="en-GB" sz="2800" b="1" i="0" u="none" strike="noStrike" dirty="0">
                <a:solidFill>
                  <a:srgbClr val="000000"/>
                </a:solidFill>
                <a:effectLst/>
                <a:latin typeface="Times New Roman" panose="02020603050405020304" pitchFamily="18" charset="0"/>
                <a:cs typeface="Times New Roman" panose="02020603050405020304" pitchFamily="18" charset="0"/>
              </a:rPr>
              <a:t>Cross-platform:</a:t>
            </a:r>
            <a:r>
              <a:rPr lang="en-GB" sz="2800" b="0" i="0" u="none" strike="noStrike" dirty="0">
                <a:solidFill>
                  <a:srgbClr val="000000"/>
                </a:solidFill>
                <a:effectLst/>
                <a:latin typeface="Times New Roman" panose="02020603050405020304" pitchFamily="18" charset="0"/>
                <a:cs typeface="Times New Roman" panose="02020603050405020304" pitchFamily="18" charset="0"/>
              </a:rPr>
              <a:t> Python has the capability to run on multiple platforms, including Windows, Mac, Linux, and Unix. This makes it highly portable, allowing developers to write code on one platform and run it on another.</a:t>
            </a:r>
          </a:p>
          <a:p>
            <a:pPr algn="just"/>
            <a:endParaRPr lang="en-GB" sz="28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800" b="1" i="0" u="none" strike="noStrike" dirty="0">
                <a:solidFill>
                  <a:srgbClr val="000000"/>
                </a:solidFill>
                <a:effectLst/>
                <a:latin typeface="Times New Roman" panose="02020603050405020304" pitchFamily="18" charset="0"/>
                <a:cs typeface="Times New Roman" panose="02020603050405020304" pitchFamily="18" charset="0"/>
              </a:rPr>
              <a:t>Extensive standard library:</a:t>
            </a:r>
            <a:r>
              <a:rPr lang="en-GB" sz="2800" b="0" i="0" u="none" strike="noStrike" dirty="0">
                <a:solidFill>
                  <a:srgbClr val="000000"/>
                </a:solidFill>
                <a:effectLst/>
                <a:latin typeface="Times New Roman" panose="02020603050405020304" pitchFamily="18" charset="0"/>
                <a:cs typeface="Times New Roman" panose="02020603050405020304" pitchFamily="18" charset="0"/>
              </a:rPr>
              <a:t> Python has an extensive standard library that contains modules for many everyday tasks, e.g. file input/output, regular expressions and networks. This reduces the code developers have to write and saves time and effort.</a:t>
            </a:r>
          </a:p>
          <a:p>
            <a:pPr algn="just"/>
            <a:endParaRPr lang="en-GB" sz="2800" dirty="0">
              <a:solidFill>
                <a:srgbClr val="000000"/>
              </a:solidFill>
              <a:latin typeface="Times New Roman" panose="02020603050405020304" pitchFamily="18" charset="0"/>
              <a:cs typeface="Times New Roman" panose="02020603050405020304" pitchFamily="18" charset="0"/>
            </a:endParaRPr>
          </a:p>
          <a:p>
            <a:pPr algn="just"/>
            <a:r>
              <a:rPr lang="en-GB" sz="2800" b="1" i="0" u="none" strike="noStrike" dirty="0">
                <a:solidFill>
                  <a:srgbClr val="000000"/>
                </a:solidFill>
                <a:effectLst/>
                <a:latin typeface="Times New Roman" panose="02020603050405020304" pitchFamily="18" charset="0"/>
                <a:cs typeface="Times New Roman" panose="02020603050405020304" pitchFamily="18" charset="0"/>
              </a:rPr>
              <a:t>Dynamically typed:</a:t>
            </a:r>
            <a:r>
              <a:rPr lang="en-GB" sz="2800" b="0" i="0" u="none" strike="noStrike" dirty="0">
                <a:solidFill>
                  <a:srgbClr val="000000"/>
                </a:solidFill>
                <a:effectLst/>
                <a:latin typeface="Times New Roman" panose="02020603050405020304" pitchFamily="18" charset="0"/>
                <a:cs typeface="Times New Roman" panose="02020603050405020304" pitchFamily="18" charset="0"/>
              </a:rPr>
              <a:t> Python is dynamically typed, meaning variable types are determined at runtime. We don't have to tell the data type of the variable explicitly. This makes the language more flexible and adaptable to changing requirements.</a:t>
            </a:r>
          </a:p>
        </p:txBody>
      </p:sp>
    </p:spTree>
    <p:extLst>
      <p:ext uri="{BB962C8B-B14F-4D97-AF65-F5344CB8AC3E}">
        <p14:creationId xmlns:p14="http://schemas.microsoft.com/office/powerpoint/2010/main" val="963510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419100" y="152400"/>
            <a:ext cx="11353800" cy="6093976"/>
          </a:xfrm>
          <a:prstGeom prst="rect">
            <a:avLst/>
          </a:prstGeom>
          <a:noFill/>
        </p:spPr>
        <p:txBody>
          <a:bodyPr wrap="square">
            <a:spAutoFit/>
          </a:bodyPr>
          <a:lstStyle/>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High-level language:</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 may be a high-level language, meaning that it abstracts absent numerous of the low-level points of interest of computer hardware. This permits designers to focus on the problem they are attempting to unravel, instead of the usage points of interest.</a:t>
            </a:r>
          </a:p>
          <a:p>
            <a:pPr algn="just"/>
            <a:endParaRPr lang="en-GB" sz="26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Support for numerous programming ideal models:</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 supports numerous programming standards, counting procedural, functional and object-oriented programming. This makes it exceedingly versatile to distinctive coding styles and extend necessities.</a:t>
            </a:r>
          </a:p>
          <a:p>
            <a:pPr algn="just"/>
            <a:endParaRPr lang="en-GB" sz="26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Free and open source:</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The Python programming language is free and open source, which suggests it can be utilized on any working framework for complimentary. You'll be able download Python and the related libraries and documentation from the official Python site. In expansion to downloading, you'll too make and convey your possess modules or libraries.</a:t>
            </a:r>
          </a:p>
        </p:txBody>
      </p:sp>
    </p:spTree>
    <p:extLst>
      <p:ext uri="{BB962C8B-B14F-4D97-AF65-F5344CB8AC3E}">
        <p14:creationId xmlns:p14="http://schemas.microsoft.com/office/powerpoint/2010/main" val="2102947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419100" y="533400"/>
            <a:ext cx="11353800" cy="5293757"/>
          </a:xfrm>
          <a:prstGeom prst="rect">
            <a:avLst/>
          </a:prstGeom>
          <a:noFill/>
        </p:spPr>
        <p:txBody>
          <a:bodyPr wrap="square">
            <a:spAutoFit/>
          </a:bodyPr>
          <a:lstStyle/>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Extensive feature:</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The Python programming language can be extended and is more versatile than many other programming languages. Its adaptability to various functionalities makes Python a universal programming language in the software development industry. Code written in different programming languages can be executed. Python gains new capabilities and functionality by integrating code from other programming languages.</a:t>
            </a:r>
          </a:p>
          <a:p>
            <a:pPr algn="just"/>
            <a:endParaRPr lang="en-GB" sz="2600" dirty="0">
              <a:solidFill>
                <a:srgbClr val="000000"/>
              </a:solidFill>
              <a:latin typeface="Times New Roman" panose="02020603050405020304" pitchFamily="18" charset="0"/>
              <a:cs typeface="Times New Roman" panose="02020603050405020304" pitchFamily="18" charset="0"/>
            </a:endParaRPr>
          </a:p>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Database support:</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Python provides robust support for working with databases through its standard library and third-party packages such as SQLite3, MySQL Connector, PostgreSQL, </a:t>
            </a:r>
            <a:r>
              <a:rPr lang="en-GB" sz="2600" b="0" i="0" u="none" strike="noStrike" dirty="0" err="1">
                <a:solidFill>
                  <a:srgbClr val="000000"/>
                </a:solidFill>
                <a:effectLst/>
                <a:latin typeface="Times New Roman" panose="02020603050405020304" pitchFamily="18" charset="0"/>
                <a:cs typeface="Times New Roman" panose="02020603050405020304" pitchFamily="18" charset="0"/>
              </a:rPr>
              <a:t>SQLAlchemy</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and MongoDB. Python also supports Object-Relational Mapping (ORM) frameworks such as Django ORM and </a:t>
            </a:r>
            <a:r>
              <a:rPr lang="en-GB" sz="2600" b="0" i="0" u="none" strike="noStrike" dirty="0" err="1">
                <a:solidFill>
                  <a:srgbClr val="000000"/>
                </a:solidFill>
                <a:effectLst/>
                <a:latin typeface="Times New Roman" panose="02020603050405020304" pitchFamily="18" charset="0"/>
                <a:cs typeface="Times New Roman" panose="02020603050405020304" pitchFamily="18" charset="0"/>
              </a:rPr>
              <a:t>SQLAlchemy</a:t>
            </a:r>
            <a:r>
              <a:rPr lang="en-GB" sz="2600" b="0" i="0" u="none" strike="noStrike" dirty="0">
                <a:solidFill>
                  <a:srgbClr val="000000"/>
                </a:solidFill>
                <a:effectLst/>
                <a:latin typeface="Times New Roman" panose="02020603050405020304" pitchFamily="18" charset="0"/>
                <a:cs typeface="Times New Roman" panose="02020603050405020304" pitchFamily="18" charset="0"/>
              </a:rPr>
              <a:t>, which provide an abstraction layer on top of databases, making it easier to work with data in object-oriented Python code.</a:t>
            </a:r>
          </a:p>
        </p:txBody>
      </p:sp>
    </p:spTree>
    <p:extLst>
      <p:ext uri="{BB962C8B-B14F-4D97-AF65-F5344CB8AC3E}">
        <p14:creationId xmlns:p14="http://schemas.microsoft.com/office/powerpoint/2010/main" val="487268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BE0F51-F8BB-4EC3-9706-60B93DAEC8D8}"/>
              </a:ext>
            </a:extLst>
          </p:cNvPr>
          <p:cNvSpPr txBox="1"/>
          <p:nvPr/>
        </p:nvSpPr>
        <p:spPr>
          <a:xfrm>
            <a:off x="476250" y="762000"/>
            <a:ext cx="11239500" cy="2492990"/>
          </a:xfrm>
          <a:prstGeom prst="rect">
            <a:avLst/>
          </a:prstGeom>
          <a:noFill/>
        </p:spPr>
        <p:txBody>
          <a:bodyPr wrap="square">
            <a:spAutoFit/>
          </a:bodyPr>
          <a:lstStyle/>
          <a:p>
            <a:pPr algn="just"/>
            <a:r>
              <a:rPr lang="en-GB" sz="2600" b="1" i="0" u="none" strike="noStrike" dirty="0">
                <a:solidFill>
                  <a:srgbClr val="000000"/>
                </a:solidFill>
                <a:effectLst/>
                <a:latin typeface="Times New Roman" panose="02020603050405020304" pitchFamily="18" charset="0"/>
                <a:cs typeface="Times New Roman" panose="02020603050405020304" pitchFamily="18" charset="0"/>
              </a:rPr>
              <a:t>GUI Programming Support: </a:t>
            </a:r>
            <a:r>
              <a:rPr lang="en-GB" sz="2600" i="0" u="none" strike="noStrike" dirty="0">
                <a:solidFill>
                  <a:srgbClr val="000000"/>
                </a:solidFill>
                <a:effectLst/>
                <a:latin typeface="Times New Roman" panose="02020603050405020304" pitchFamily="18" charset="0"/>
                <a:cs typeface="Times New Roman" panose="02020603050405020304" pitchFamily="18" charset="0"/>
              </a:rPr>
              <a:t>Python provides several GUI programming frameworks and libraries, including </a:t>
            </a:r>
            <a:r>
              <a:rPr lang="en-GB" sz="2600" i="0" u="none" strike="noStrike" dirty="0" err="1">
                <a:solidFill>
                  <a:srgbClr val="000000"/>
                </a:solidFill>
                <a:effectLst/>
                <a:latin typeface="Times New Roman" panose="02020603050405020304" pitchFamily="18" charset="0"/>
                <a:cs typeface="Times New Roman" panose="02020603050405020304" pitchFamily="18" charset="0"/>
              </a:rPr>
              <a:t>Tkinter</a:t>
            </a:r>
            <a:r>
              <a:rPr lang="en-GB" sz="2600" i="0" u="none" strike="noStrike" dirty="0">
                <a:solidFill>
                  <a:srgbClr val="000000"/>
                </a:solidFill>
                <a:effectLst/>
                <a:latin typeface="Times New Roman" panose="02020603050405020304" pitchFamily="18" charset="0"/>
                <a:cs typeface="Times New Roman" panose="02020603050405020304" pitchFamily="18" charset="0"/>
              </a:rPr>
              <a:t>, </a:t>
            </a:r>
            <a:r>
              <a:rPr lang="en-GB" sz="2600" i="0" u="none" strike="noStrike" dirty="0" err="1">
                <a:solidFill>
                  <a:srgbClr val="000000"/>
                </a:solidFill>
                <a:effectLst/>
                <a:latin typeface="Times New Roman" panose="02020603050405020304" pitchFamily="18" charset="0"/>
                <a:cs typeface="Times New Roman" panose="02020603050405020304" pitchFamily="18" charset="0"/>
              </a:rPr>
              <a:t>PyQt</a:t>
            </a:r>
            <a:r>
              <a:rPr lang="en-GB" sz="2600" i="0" u="none" strike="noStrike" dirty="0">
                <a:solidFill>
                  <a:srgbClr val="000000"/>
                </a:solidFill>
                <a:effectLst/>
                <a:latin typeface="Times New Roman" panose="02020603050405020304" pitchFamily="18" charset="0"/>
                <a:cs typeface="Times New Roman" panose="02020603050405020304" pitchFamily="18" charset="0"/>
              </a:rPr>
              <a:t>, and </a:t>
            </a:r>
            <a:r>
              <a:rPr lang="en-GB" sz="2600" i="0" u="none" strike="noStrike" dirty="0" err="1">
                <a:solidFill>
                  <a:srgbClr val="000000"/>
                </a:solidFill>
                <a:effectLst/>
                <a:latin typeface="Times New Roman" panose="02020603050405020304" pitchFamily="18" charset="0"/>
                <a:cs typeface="Times New Roman" panose="02020603050405020304" pitchFamily="18" charset="0"/>
              </a:rPr>
              <a:t>wxPython</a:t>
            </a:r>
            <a:r>
              <a:rPr lang="en-GB" sz="2600" i="0" u="none" strike="noStrike" dirty="0">
                <a:solidFill>
                  <a:srgbClr val="000000"/>
                </a:solidFill>
                <a:effectLst/>
                <a:latin typeface="Times New Roman" panose="02020603050405020304" pitchFamily="18" charset="0"/>
                <a:cs typeface="Times New Roman" panose="02020603050405020304" pitchFamily="18" charset="0"/>
              </a:rPr>
              <a:t> where. </a:t>
            </a:r>
            <a:r>
              <a:rPr lang="en-GB" sz="2600" i="0" u="none" strike="noStrike" dirty="0" err="1">
                <a:solidFill>
                  <a:srgbClr val="000000"/>
                </a:solidFill>
                <a:effectLst/>
                <a:latin typeface="Times New Roman" panose="02020603050405020304" pitchFamily="18" charset="0"/>
                <a:cs typeface="Times New Roman" panose="02020603050405020304" pitchFamily="18" charset="0"/>
              </a:rPr>
              <a:t>Tkinter</a:t>
            </a:r>
            <a:r>
              <a:rPr lang="en-GB" sz="2600" i="0" u="none" strike="noStrike" dirty="0">
                <a:solidFill>
                  <a:srgbClr val="000000"/>
                </a:solidFill>
                <a:effectLst/>
                <a:latin typeface="Times New Roman" panose="02020603050405020304" pitchFamily="18" charset="0"/>
                <a:cs typeface="Times New Roman" panose="02020603050405020304" pitchFamily="18" charset="0"/>
              </a:rPr>
              <a:t> is a standard GUI toolkit included in Python. </a:t>
            </a:r>
            <a:r>
              <a:rPr lang="en-GB" sz="2600" i="0" u="none" strike="noStrike" dirty="0" err="1">
                <a:solidFill>
                  <a:srgbClr val="000000"/>
                </a:solidFill>
                <a:effectLst/>
                <a:latin typeface="Times New Roman" panose="02020603050405020304" pitchFamily="18" charset="0"/>
                <a:cs typeface="Times New Roman" panose="02020603050405020304" pitchFamily="18" charset="0"/>
              </a:rPr>
              <a:t>PyQt</a:t>
            </a:r>
            <a:r>
              <a:rPr lang="en-GB" sz="2600" i="0" u="none" strike="noStrike" dirty="0">
                <a:solidFill>
                  <a:srgbClr val="000000"/>
                </a:solidFill>
                <a:effectLst/>
                <a:latin typeface="Times New Roman" panose="02020603050405020304" pitchFamily="18" charset="0"/>
                <a:cs typeface="Times New Roman" panose="02020603050405020304" pitchFamily="18" charset="0"/>
              </a:rPr>
              <a:t> delivers a powerful and flexible toolkit for creating cross-platform desktop GUI applications, and </a:t>
            </a:r>
            <a:r>
              <a:rPr lang="en-GB" sz="2600" i="0" u="none" strike="noStrike" dirty="0" err="1">
                <a:solidFill>
                  <a:srgbClr val="000000"/>
                </a:solidFill>
                <a:effectLst/>
                <a:latin typeface="Times New Roman" panose="02020603050405020304" pitchFamily="18" charset="0"/>
                <a:cs typeface="Times New Roman" panose="02020603050405020304" pitchFamily="18" charset="0"/>
              </a:rPr>
              <a:t>wxPython</a:t>
            </a:r>
            <a:r>
              <a:rPr lang="en-GB" sz="2600" i="0" u="none" strike="noStrike" dirty="0">
                <a:solidFill>
                  <a:srgbClr val="000000"/>
                </a:solidFill>
                <a:effectLst/>
                <a:latin typeface="Times New Roman" panose="02020603050405020304" pitchFamily="18" charset="0"/>
                <a:cs typeface="Times New Roman" panose="02020603050405020304" pitchFamily="18" charset="0"/>
              </a:rPr>
              <a:t> provides a native look and feels for desktop GUI applications on Windows, macOS, and Linux.</a:t>
            </a:r>
          </a:p>
        </p:txBody>
      </p:sp>
    </p:spTree>
    <p:extLst>
      <p:ext uri="{BB962C8B-B14F-4D97-AF65-F5344CB8AC3E}">
        <p14:creationId xmlns:p14="http://schemas.microsoft.com/office/powerpoint/2010/main" val="3070747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838200"/>
            <a:ext cx="369189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02060"/>
                </a:solidFill>
                <a:latin typeface="Times New Roman" panose="02020603050405020304" pitchFamily="18" charset="0"/>
                <a:cs typeface="Times New Roman" panose="02020603050405020304" pitchFamily="18" charset="0"/>
              </a:rPr>
              <a:t>Python</a:t>
            </a:r>
            <a:r>
              <a:rPr sz="3600" spc="-85" dirty="0">
                <a:solidFill>
                  <a:srgbClr val="002060"/>
                </a:solidFill>
                <a:latin typeface="Times New Roman" panose="02020603050405020304" pitchFamily="18" charset="0"/>
                <a:cs typeface="Times New Roman" panose="02020603050405020304" pitchFamily="18" charset="0"/>
              </a:rPr>
              <a:t> </a:t>
            </a:r>
            <a:r>
              <a:rPr sz="3600" spc="-20" dirty="0">
                <a:solidFill>
                  <a:srgbClr val="002060"/>
                </a:solidFill>
                <a:latin typeface="Times New Roman" panose="02020603050405020304" pitchFamily="18" charset="0"/>
                <a:cs typeface="Times New Roman" panose="02020603050405020304" pitchFamily="18" charset="0"/>
              </a:rPr>
              <a:t>Basic’s</a:t>
            </a:r>
            <a:endParaRPr sz="3600" dirty="0">
              <a:solidFill>
                <a:srgbClr val="002060"/>
              </a:solidFill>
              <a:latin typeface="Times New Roman" panose="02020603050405020304" pitchFamily="18" charset="0"/>
              <a:cs typeface="Times New Roman" panose="02020603050405020304" pitchFamily="18" charset="0"/>
            </a:endParaRPr>
          </a:p>
        </p:txBody>
      </p:sp>
      <p:sp>
        <p:nvSpPr>
          <p:cNvPr id="3" name="object 3"/>
          <p:cNvSpPr txBox="1">
            <a:spLocks noGrp="1"/>
          </p:cNvSpPr>
          <p:nvPr>
            <p:ph idx="1"/>
          </p:nvPr>
        </p:nvSpPr>
        <p:spPr>
          <a:xfrm>
            <a:off x="1097280" y="1845734"/>
            <a:ext cx="10058400" cy="2591094"/>
          </a:xfrm>
          <a:prstGeom prst="rect">
            <a:avLst/>
          </a:prstGeom>
        </p:spPr>
        <p:txBody>
          <a:bodyPr vert="horz" wrap="square" lIns="0" tIns="13335" rIns="0" bIns="0" rtlCol="0">
            <a:spAutoFit/>
          </a:bodyPr>
          <a:lstStyle/>
          <a:p>
            <a:pPr marL="355600" marR="5080" indent="-229235">
              <a:lnSpc>
                <a:spcPct val="100000"/>
              </a:lnSpc>
              <a:spcBef>
                <a:spcPts val="105"/>
              </a:spcBef>
              <a:buClr>
                <a:srgbClr val="00B050"/>
              </a:buClr>
              <a:buFont typeface="Wingdings"/>
              <a:buChar char=""/>
              <a:tabLst>
                <a:tab pos="356235" algn="l"/>
              </a:tabLst>
            </a:pPr>
            <a:r>
              <a:rPr sz="2800" dirty="0">
                <a:latin typeface="Times New Roman" panose="02020603050405020304" pitchFamily="18" charset="0"/>
                <a:cs typeface="Times New Roman" panose="02020603050405020304" pitchFamily="18" charset="0"/>
              </a:rPr>
              <a:t>Python</a:t>
            </a:r>
            <a:r>
              <a:rPr sz="2800" spc="-4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programs</a:t>
            </a:r>
            <a:r>
              <a:rPr sz="2800" spc="-2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and</a:t>
            </a:r>
            <a:r>
              <a:rPr sz="280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modules</a:t>
            </a:r>
            <a:r>
              <a:rPr sz="280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are</a:t>
            </a:r>
            <a:r>
              <a:rPr sz="2800" spc="-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written </a:t>
            </a:r>
            <a:r>
              <a:rPr sz="2800" spc="-10" dirty="0">
                <a:latin typeface="Times New Roman" panose="02020603050405020304" pitchFamily="18" charset="0"/>
                <a:cs typeface="Times New Roman" panose="02020603050405020304" pitchFamily="18" charset="0"/>
              </a:rPr>
              <a:t>as</a:t>
            </a:r>
            <a:r>
              <a:rPr sz="280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text</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files </a:t>
            </a:r>
            <a:r>
              <a:rPr sz="2800" spc="-87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with</a:t>
            </a:r>
            <a:r>
              <a:rPr sz="2800" spc="-3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traditionally</a:t>
            </a:r>
            <a:r>
              <a:rPr sz="2800" dirty="0">
                <a:latin typeface="Times New Roman" panose="02020603050405020304" pitchFamily="18" charset="0"/>
                <a:cs typeface="Times New Roman" panose="02020603050405020304" pitchFamily="18" charset="0"/>
              </a:rPr>
              <a:t> a</a:t>
            </a:r>
            <a:r>
              <a:rPr sz="2800" spc="-10" dirty="0">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.py</a:t>
            </a:r>
            <a:r>
              <a:rPr sz="2800" b="1" spc="-30" dirty="0">
                <a:solidFill>
                  <a:srgbClr val="FF000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extension</a:t>
            </a:r>
          </a:p>
          <a:p>
            <a:pPr marL="355600" indent="-229235">
              <a:lnSpc>
                <a:spcPct val="100000"/>
              </a:lnSpc>
              <a:spcBef>
                <a:spcPts val="1010"/>
              </a:spcBef>
              <a:buClr>
                <a:srgbClr val="00B050"/>
              </a:buClr>
              <a:buFont typeface="Wingdings"/>
              <a:buChar char=""/>
              <a:tabLst>
                <a:tab pos="356235" algn="l"/>
              </a:tabLst>
            </a:pPr>
            <a:r>
              <a:rPr sz="2800" spc="-35" dirty="0">
                <a:latin typeface="Times New Roman" panose="02020603050405020304" pitchFamily="18" charset="0"/>
                <a:cs typeface="Times New Roman" panose="02020603050405020304" pitchFamily="18" charset="0"/>
              </a:rPr>
              <a:t>Variable</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Python</a:t>
            </a:r>
            <a:r>
              <a:rPr sz="2800" spc="-3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need</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no</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declaration</a:t>
            </a:r>
          </a:p>
          <a:p>
            <a:pPr marL="812800" lvl="1" indent="-229235">
              <a:lnSpc>
                <a:spcPct val="100000"/>
              </a:lnSpc>
              <a:spcBef>
                <a:spcPts val="505"/>
              </a:spcBef>
              <a:buClr>
                <a:srgbClr val="00B050"/>
              </a:buClr>
              <a:buFont typeface="Wingdings"/>
              <a:buChar char=""/>
              <a:tabLst>
                <a:tab pos="813435" algn="l"/>
              </a:tabLst>
            </a:pPr>
            <a:r>
              <a:rPr sz="2800" spc="-5" dirty="0">
                <a:latin typeface="Times New Roman" panose="02020603050405020304" pitchFamily="18" charset="0"/>
                <a:cs typeface="Times New Roman" panose="02020603050405020304" pitchFamily="18" charset="0"/>
              </a:rPr>
              <a:t>&gt;&gt;&gt;</a:t>
            </a:r>
            <a:r>
              <a:rPr sz="2800" spc="-4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c=1</a:t>
            </a:r>
            <a:endParaRPr sz="2800" dirty="0">
              <a:latin typeface="Times New Roman" panose="02020603050405020304" pitchFamily="18" charset="0"/>
              <a:cs typeface="Times New Roman" panose="02020603050405020304" pitchFamily="18" charset="0"/>
            </a:endParaRPr>
          </a:p>
          <a:p>
            <a:pPr marL="355600" indent="-229235">
              <a:lnSpc>
                <a:spcPct val="100000"/>
              </a:lnSpc>
              <a:spcBef>
                <a:spcPts val="994"/>
              </a:spcBef>
              <a:buClr>
                <a:srgbClr val="00B050"/>
              </a:buClr>
              <a:buFont typeface="Wingdings"/>
              <a:buChar char=""/>
              <a:tabLst>
                <a:tab pos="356235" algn="l"/>
              </a:tabLst>
            </a:pPr>
            <a:r>
              <a:rPr sz="2800" dirty="0">
                <a:latin typeface="Times New Roman" panose="02020603050405020304" pitchFamily="18" charset="0"/>
                <a:cs typeface="Times New Roman" panose="02020603050405020304" pitchFamily="18" charset="0"/>
              </a:rPr>
              <a:t>Objects</a:t>
            </a:r>
            <a:r>
              <a:rPr sz="2800" spc="-4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always</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have</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a:t>
            </a:r>
            <a:r>
              <a:rPr sz="2800" spc="-5" dirty="0">
                <a:latin typeface="Times New Roman" panose="02020603050405020304" pitchFamily="18" charset="0"/>
                <a:cs typeface="Times New Roman" panose="02020603050405020304" pitchFamily="18" charset="0"/>
              </a:rPr>
              <a:t> type</a:t>
            </a:r>
          </a:p>
        </p:txBody>
      </p:sp>
      <p:sp>
        <p:nvSpPr>
          <p:cNvPr id="4" name="object 4"/>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1011491"/>
            <a:ext cx="3070860" cy="574040"/>
          </a:xfrm>
          <a:prstGeom prst="rect">
            <a:avLst/>
          </a:prstGeom>
        </p:spPr>
        <p:txBody>
          <a:bodyPr vert="horz" wrap="square" lIns="0" tIns="12700" rIns="0" bIns="0" rtlCol="0">
            <a:spAutoFit/>
          </a:bodyPr>
          <a:lstStyle/>
          <a:p>
            <a:pPr marL="12700">
              <a:lnSpc>
                <a:spcPct val="100000"/>
              </a:lnSpc>
              <a:spcBef>
                <a:spcPts val="100"/>
              </a:spcBef>
            </a:pPr>
            <a:r>
              <a:rPr sz="3600" b="0" spc="-5" dirty="0">
                <a:solidFill>
                  <a:srgbClr val="002060"/>
                </a:solidFill>
                <a:latin typeface="Times New Roman" panose="02020603050405020304" pitchFamily="18" charset="0"/>
                <a:cs typeface="Times New Roman" panose="02020603050405020304" pitchFamily="18" charset="0"/>
              </a:rPr>
              <a:t>Python</a:t>
            </a:r>
            <a:r>
              <a:rPr sz="3600" b="0" spc="-105" dirty="0">
                <a:solidFill>
                  <a:srgbClr val="002060"/>
                </a:solidFill>
                <a:latin typeface="Times New Roman" panose="02020603050405020304" pitchFamily="18" charset="0"/>
                <a:cs typeface="Times New Roman" panose="02020603050405020304" pitchFamily="18" charset="0"/>
              </a:rPr>
              <a:t> </a:t>
            </a:r>
            <a:r>
              <a:rPr sz="3600" b="0" spc="-5" dirty="0">
                <a:solidFill>
                  <a:srgbClr val="002060"/>
                </a:solidFill>
                <a:latin typeface="Times New Roman" panose="02020603050405020304" pitchFamily="18" charset="0"/>
                <a:cs typeface="Times New Roman" panose="02020603050405020304" pitchFamily="18" charset="0"/>
              </a:rPr>
              <a:t>IDLE</a:t>
            </a:r>
            <a:endParaRPr sz="3600" dirty="0">
              <a:solidFill>
                <a:srgbClr val="002060"/>
              </a:solidFill>
              <a:latin typeface="Times New Roman" panose="02020603050405020304" pitchFamily="18" charset="0"/>
              <a:cs typeface="Times New Roman" panose="02020603050405020304" pitchFamily="18" charset="0"/>
            </a:endParaRPr>
          </a:p>
        </p:txBody>
      </p:sp>
      <p:sp>
        <p:nvSpPr>
          <p:cNvPr id="7" name="object 7"/>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16</a:t>
            </a:fld>
            <a:endParaRPr dirty="0"/>
          </a:p>
        </p:txBody>
      </p:sp>
      <p:grpSp>
        <p:nvGrpSpPr>
          <p:cNvPr id="3" name="object 3"/>
          <p:cNvGrpSpPr/>
          <p:nvPr/>
        </p:nvGrpSpPr>
        <p:grpSpPr>
          <a:xfrm>
            <a:off x="6585045" y="1982584"/>
            <a:ext cx="4659283" cy="3863264"/>
            <a:chOff x="6067361" y="1284224"/>
            <a:chExt cx="4838700" cy="4459605"/>
          </a:xfrm>
        </p:grpSpPr>
        <p:pic>
          <p:nvPicPr>
            <p:cNvPr id="4" name="object 4"/>
            <p:cNvPicPr/>
            <p:nvPr/>
          </p:nvPicPr>
          <p:blipFill>
            <a:blip r:embed="rId2" cstate="print"/>
            <a:stretch>
              <a:fillRect/>
            </a:stretch>
          </p:blipFill>
          <p:spPr>
            <a:xfrm>
              <a:off x="6095999" y="1312799"/>
              <a:ext cx="4781169" cy="4402455"/>
            </a:xfrm>
            <a:prstGeom prst="rect">
              <a:avLst/>
            </a:prstGeom>
          </p:spPr>
        </p:pic>
        <p:sp>
          <p:nvSpPr>
            <p:cNvPr id="5" name="object 5"/>
            <p:cNvSpPr/>
            <p:nvPr/>
          </p:nvSpPr>
          <p:spPr>
            <a:xfrm>
              <a:off x="6081648" y="1298511"/>
              <a:ext cx="4810125" cy="4431030"/>
            </a:xfrm>
            <a:custGeom>
              <a:avLst/>
              <a:gdLst/>
              <a:ahLst/>
              <a:cxnLst/>
              <a:rect l="l" t="t" r="r" b="b"/>
              <a:pathLst>
                <a:path w="4810125" h="4431030">
                  <a:moveTo>
                    <a:pt x="0" y="4431030"/>
                  </a:moveTo>
                  <a:lnTo>
                    <a:pt x="4809744" y="4431030"/>
                  </a:lnTo>
                  <a:lnTo>
                    <a:pt x="4809744" y="0"/>
                  </a:lnTo>
                  <a:lnTo>
                    <a:pt x="0" y="0"/>
                  </a:lnTo>
                  <a:lnTo>
                    <a:pt x="0" y="4431030"/>
                  </a:lnTo>
                  <a:close/>
                </a:path>
              </a:pathLst>
            </a:custGeom>
            <a:ln w="28575">
              <a:solidFill>
                <a:srgbClr val="000000"/>
              </a:solidFill>
            </a:ln>
          </p:spPr>
          <p:txBody>
            <a:bodyPr wrap="square" lIns="0" tIns="0" rIns="0" bIns="0" rtlCol="0"/>
            <a:lstStyle/>
            <a:p>
              <a:endParaRPr/>
            </a:p>
          </p:txBody>
        </p:sp>
      </p:grpSp>
      <p:sp>
        <p:nvSpPr>
          <p:cNvPr id="6" name="object 6"/>
          <p:cNvSpPr txBox="1"/>
          <p:nvPr/>
        </p:nvSpPr>
        <p:spPr>
          <a:xfrm>
            <a:off x="1219200" y="3276600"/>
            <a:ext cx="4812030" cy="751488"/>
          </a:xfrm>
          <a:prstGeom prst="rect">
            <a:avLst/>
          </a:prstGeom>
        </p:spPr>
        <p:txBody>
          <a:bodyPr vert="horz" wrap="square" lIns="0" tIns="12700" rIns="0" bIns="0" rtlCol="0">
            <a:spAutoFit/>
          </a:bodyPr>
          <a:lstStyle/>
          <a:p>
            <a:pPr marL="12700" marR="5080" algn="just">
              <a:lnSpc>
                <a:spcPct val="100000"/>
              </a:lnSpc>
              <a:spcBef>
                <a:spcPts val="100"/>
              </a:spcBef>
            </a:pPr>
            <a:r>
              <a:rPr sz="2400" dirty="0">
                <a:latin typeface="Times New Roman" panose="02020603050405020304" pitchFamily="18" charset="0"/>
                <a:cs typeface="Times New Roman" panose="02020603050405020304" pitchFamily="18" charset="0"/>
              </a:rPr>
              <a:t>IDLE is an Integrated </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Development</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 </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Learning</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Environment </a:t>
            </a:r>
            <a:r>
              <a:rPr sz="2400" spc="-6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Python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914400"/>
            <a:ext cx="6005830" cy="574040"/>
          </a:xfrm>
          <a:prstGeom prst="rect">
            <a:avLst/>
          </a:prstGeom>
        </p:spPr>
        <p:txBody>
          <a:bodyPr vert="horz" wrap="square" lIns="0" tIns="12700" rIns="0" bIns="0" rtlCol="0">
            <a:spAutoFit/>
          </a:bodyPr>
          <a:lstStyle/>
          <a:p>
            <a:pPr marL="12700">
              <a:lnSpc>
                <a:spcPct val="100000"/>
              </a:lnSpc>
              <a:spcBef>
                <a:spcPts val="100"/>
              </a:spcBef>
            </a:pPr>
            <a:r>
              <a:rPr sz="3600" b="0" spc="-25" dirty="0">
                <a:solidFill>
                  <a:srgbClr val="002060"/>
                </a:solidFill>
                <a:latin typeface="Times New Roman" panose="02020603050405020304" pitchFamily="18" charset="0"/>
                <a:cs typeface="Times New Roman" panose="02020603050405020304" pitchFamily="18" charset="0"/>
              </a:rPr>
              <a:t>How</a:t>
            </a:r>
            <a:r>
              <a:rPr sz="3600" b="0" spc="-40" dirty="0">
                <a:solidFill>
                  <a:srgbClr val="002060"/>
                </a:solidFill>
                <a:latin typeface="Times New Roman" panose="02020603050405020304" pitchFamily="18" charset="0"/>
                <a:cs typeface="Times New Roman" panose="02020603050405020304" pitchFamily="18" charset="0"/>
              </a:rPr>
              <a:t> </a:t>
            </a:r>
            <a:r>
              <a:rPr sz="3600" b="0" dirty="0">
                <a:solidFill>
                  <a:srgbClr val="002060"/>
                </a:solidFill>
                <a:latin typeface="Times New Roman" panose="02020603050405020304" pitchFamily="18" charset="0"/>
                <a:cs typeface="Times New Roman" panose="02020603050405020304" pitchFamily="18" charset="0"/>
              </a:rPr>
              <a:t>to</a:t>
            </a:r>
            <a:r>
              <a:rPr sz="3600" b="0" spc="-25" dirty="0">
                <a:solidFill>
                  <a:srgbClr val="002060"/>
                </a:solidFill>
                <a:latin typeface="Times New Roman" panose="02020603050405020304" pitchFamily="18" charset="0"/>
                <a:cs typeface="Times New Roman" panose="02020603050405020304" pitchFamily="18" charset="0"/>
              </a:rPr>
              <a:t> </a:t>
            </a:r>
            <a:r>
              <a:rPr sz="3600" b="0" dirty="0">
                <a:solidFill>
                  <a:srgbClr val="002060"/>
                </a:solidFill>
                <a:latin typeface="Times New Roman" panose="02020603050405020304" pitchFamily="18" charset="0"/>
                <a:cs typeface="Times New Roman" panose="02020603050405020304" pitchFamily="18" charset="0"/>
              </a:rPr>
              <a:t>Write</a:t>
            </a:r>
            <a:r>
              <a:rPr sz="3600" b="0" spc="-20" dirty="0">
                <a:solidFill>
                  <a:srgbClr val="002060"/>
                </a:solidFill>
                <a:latin typeface="Times New Roman" panose="02020603050405020304" pitchFamily="18" charset="0"/>
                <a:cs typeface="Times New Roman" panose="02020603050405020304" pitchFamily="18" charset="0"/>
              </a:rPr>
              <a:t> </a:t>
            </a:r>
            <a:r>
              <a:rPr sz="3600" b="0" dirty="0">
                <a:solidFill>
                  <a:srgbClr val="002060"/>
                </a:solidFill>
                <a:latin typeface="Times New Roman" panose="02020603050405020304" pitchFamily="18" charset="0"/>
                <a:cs typeface="Times New Roman" panose="02020603050405020304" pitchFamily="18" charset="0"/>
              </a:rPr>
              <a:t>a</a:t>
            </a:r>
            <a:r>
              <a:rPr sz="3600" b="0" spc="-25" dirty="0">
                <a:solidFill>
                  <a:srgbClr val="002060"/>
                </a:solidFill>
                <a:latin typeface="Times New Roman" panose="02020603050405020304" pitchFamily="18" charset="0"/>
                <a:cs typeface="Times New Roman" panose="02020603050405020304" pitchFamily="18" charset="0"/>
              </a:rPr>
              <a:t> </a:t>
            </a:r>
            <a:r>
              <a:rPr sz="3600" b="0" spc="20" dirty="0">
                <a:solidFill>
                  <a:srgbClr val="002060"/>
                </a:solidFill>
                <a:latin typeface="Times New Roman" panose="02020603050405020304" pitchFamily="18" charset="0"/>
                <a:cs typeface="Times New Roman" panose="02020603050405020304" pitchFamily="18" charset="0"/>
              </a:rPr>
              <a:t>Program</a:t>
            </a:r>
            <a:endParaRPr sz="3600" dirty="0">
              <a:solidFill>
                <a:srgbClr val="002060"/>
              </a:solidFill>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17</a:t>
            </a:fld>
            <a:endParaRPr dirty="0"/>
          </a:p>
        </p:txBody>
      </p:sp>
      <p:pic>
        <p:nvPicPr>
          <p:cNvPr id="3" name="object 3"/>
          <p:cNvPicPr/>
          <p:nvPr/>
        </p:nvPicPr>
        <p:blipFill rotWithShape="1">
          <a:blip r:embed="rId2" cstate="print"/>
          <a:srcRect b="63896"/>
          <a:stretch/>
        </p:blipFill>
        <p:spPr>
          <a:xfrm>
            <a:off x="1295400" y="1954879"/>
            <a:ext cx="9073250" cy="559721"/>
          </a:xfrm>
          <a:prstGeom prst="rect">
            <a:avLst/>
          </a:prstGeom>
          <a:ln w="3175">
            <a:solidFill>
              <a:schemeClr val="tx1"/>
            </a:solidFill>
          </a:ln>
        </p:spPr>
      </p:pic>
      <p:sp>
        <p:nvSpPr>
          <p:cNvPr id="4" name="object 4"/>
          <p:cNvSpPr txBox="1"/>
          <p:nvPr/>
        </p:nvSpPr>
        <p:spPr>
          <a:xfrm>
            <a:off x="1295400" y="3052825"/>
            <a:ext cx="9070975" cy="1434367"/>
          </a:xfrm>
          <a:prstGeom prst="rect">
            <a:avLst/>
          </a:prstGeom>
        </p:spPr>
        <p:txBody>
          <a:bodyPr vert="horz" wrap="square" lIns="0" tIns="13335" rIns="0" bIns="0" rtlCol="0">
            <a:spAutoFit/>
          </a:bodyPr>
          <a:lstStyle/>
          <a:p>
            <a:pPr marL="240665" marR="5080" indent="-228600">
              <a:lnSpc>
                <a:spcPct val="100000"/>
              </a:lnSpc>
              <a:spcBef>
                <a:spcPts val="105"/>
              </a:spcBef>
              <a:buClr>
                <a:srgbClr val="00B050"/>
              </a:buClr>
              <a:buFont typeface="Wingdings"/>
              <a:buChar char=""/>
              <a:tabLst>
                <a:tab pos="241300" algn="l"/>
              </a:tabLst>
            </a:pP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python</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code</a:t>
            </a:r>
            <a:r>
              <a:rPr sz="2800" spc="-3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has</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be</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saved</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with</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filename </a:t>
            </a:r>
            <a:r>
              <a:rPr sz="2800" spc="-87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and</a:t>
            </a:r>
            <a:r>
              <a:rPr sz="2800" spc="-2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.py</a:t>
            </a:r>
            <a:r>
              <a:rPr sz="2800" b="1"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extension.</a:t>
            </a:r>
          </a:p>
          <a:p>
            <a:pPr marL="241300" indent="-228600">
              <a:lnSpc>
                <a:spcPct val="100000"/>
              </a:lnSpc>
              <a:spcBef>
                <a:spcPts val="1010"/>
              </a:spcBef>
              <a:buClr>
                <a:srgbClr val="00B050"/>
              </a:buClr>
              <a:buFont typeface="Wingdings"/>
              <a:buChar char=""/>
              <a:tabLst>
                <a:tab pos="241300" algn="l"/>
              </a:tabLst>
            </a:pPr>
            <a:r>
              <a:rPr sz="2800" dirty="0">
                <a:latin typeface="Times New Roman" panose="02020603050405020304" pitchFamily="18" charset="0"/>
                <a:cs typeface="Times New Roman" panose="02020603050405020304" pitchFamily="18" charset="0"/>
              </a:rPr>
              <a:t>For</a:t>
            </a:r>
            <a:r>
              <a:rPr sz="2800" spc="-3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Example,</a:t>
            </a:r>
            <a:r>
              <a:rPr sz="2800" spc="-25" dirty="0">
                <a:latin typeface="Times New Roman" panose="02020603050405020304" pitchFamily="18" charset="0"/>
                <a:cs typeface="Times New Roman" panose="02020603050405020304" pitchFamily="18" charset="0"/>
              </a:rPr>
              <a:t> </a:t>
            </a:r>
            <a:r>
              <a:rPr sz="2800" spc="-20" dirty="0">
                <a:latin typeface="Times New Roman" panose="02020603050405020304" pitchFamily="18" charset="0"/>
                <a:cs typeface="Times New Roman" panose="02020603050405020304" pitchFamily="18" charset="0"/>
              </a:rPr>
              <a:t>Let’s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save</a:t>
            </a:r>
            <a:r>
              <a:rPr sz="2800" spc="-3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this</a:t>
            </a:r>
            <a:r>
              <a:rPr sz="2800" dirty="0">
                <a:latin typeface="Times New Roman" panose="02020603050405020304" pitchFamily="18" charset="0"/>
                <a:cs typeface="Times New Roman" panose="02020603050405020304" pitchFamily="18" charset="0"/>
              </a:rPr>
              <a:t> file</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as test.py</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89431" y="827533"/>
            <a:ext cx="6734809" cy="574040"/>
          </a:xfrm>
          <a:prstGeom prst="rect">
            <a:avLst/>
          </a:prstGeom>
        </p:spPr>
        <p:txBody>
          <a:bodyPr vert="horz" wrap="square" lIns="0" tIns="12700" rIns="0" bIns="0" rtlCol="0">
            <a:spAutoFit/>
          </a:bodyPr>
          <a:lstStyle/>
          <a:p>
            <a:pPr marL="12700">
              <a:lnSpc>
                <a:spcPct val="100000"/>
              </a:lnSpc>
              <a:spcBef>
                <a:spcPts val="100"/>
              </a:spcBef>
            </a:pPr>
            <a:r>
              <a:rPr sz="3600" b="0" spc="-25" dirty="0">
                <a:solidFill>
                  <a:srgbClr val="002060"/>
                </a:solidFill>
                <a:latin typeface="Times New Roman" panose="02020603050405020304" pitchFamily="18" charset="0"/>
                <a:cs typeface="Times New Roman" panose="02020603050405020304" pitchFamily="18" charset="0"/>
              </a:rPr>
              <a:t>How</a:t>
            </a:r>
            <a:r>
              <a:rPr sz="3600" b="0" spc="-40" dirty="0">
                <a:solidFill>
                  <a:srgbClr val="002060"/>
                </a:solidFill>
                <a:latin typeface="Times New Roman" panose="02020603050405020304" pitchFamily="18" charset="0"/>
                <a:cs typeface="Times New Roman" panose="02020603050405020304" pitchFamily="18" charset="0"/>
              </a:rPr>
              <a:t> </a:t>
            </a:r>
            <a:r>
              <a:rPr sz="3600" b="0" dirty="0">
                <a:solidFill>
                  <a:srgbClr val="002060"/>
                </a:solidFill>
                <a:latin typeface="Times New Roman" panose="02020603050405020304" pitchFamily="18" charset="0"/>
                <a:cs typeface="Times New Roman" panose="02020603050405020304" pitchFamily="18" charset="0"/>
              </a:rPr>
              <a:t>to</a:t>
            </a:r>
            <a:r>
              <a:rPr sz="3600" b="0" spc="-25" dirty="0">
                <a:solidFill>
                  <a:srgbClr val="002060"/>
                </a:solidFill>
                <a:latin typeface="Times New Roman" panose="02020603050405020304" pitchFamily="18" charset="0"/>
                <a:cs typeface="Times New Roman" panose="02020603050405020304" pitchFamily="18" charset="0"/>
              </a:rPr>
              <a:t> </a:t>
            </a:r>
            <a:r>
              <a:rPr sz="3600" b="0" spc="-10" dirty="0">
                <a:solidFill>
                  <a:srgbClr val="002060"/>
                </a:solidFill>
                <a:latin typeface="Times New Roman" panose="02020603050405020304" pitchFamily="18" charset="0"/>
                <a:cs typeface="Times New Roman" panose="02020603050405020304" pitchFamily="18" charset="0"/>
              </a:rPr>
              <a:t>Execute</a:t>
            </a:r>
            <a:r>
              <a:rPr sz="3600" b="0" spc="-25" dirty="0">
                <a:solidFill>
                  <a:srgbClr val="002060"/>
                </a:solidFill>
                <a:latin typeface="Times New Roman" panose="02020603050405020304" pitchFamily="18" charset="0"/>
                <a:cs typeface="Times New Roman" panose="02020603050405020304" pitchFamily="18" charset="0"/>
              </a:rPr>
              <a:t> </a:t>
            </a:r>
            <a:r>
              <a:rPr sz="3600" b="0" dirty="0">
                <a:solidFill>
                  <a:srgbClr val="002060"/>
                </a:solidFill>
                <a:latin typeface="Times New Roman" panose="02020603050405020304" pitchFamily="18" charset="0"/>
                <a:cs typeface="Times New Roman" panose="02020603050405020304" pitchFamily="18" charset="0"/>
              </a:rPr>
              <a:t>a</a:t>
            </a:r>
            <a:r>
              <a:rPr sz="3600" b="0" spc="-25" dirty="0">
                <a:solidFill>
                  <a:srgbClr val="002060"/>
                </a:solidFill>
                <a:latin typeface="Times New Roman" panose="02020603050405020304" pitchFamily="18" charset="0"/>
                <a:cs typeface="Times New Roman" panose="02020603050405020304" pitchFamily="18" charset="0"/>
              </a:rPr>
              <a:t> </a:t>
            </a:r>
            <a:r>
              <a:rPr sz="3600" b="0" spc="20" dirty="0">
                <a:solidFill>
                  <a:srgbClr val="002060"/>
                </a:solidFill>
                <a:latin typeface="Times New Roman" panose="02020603050405020304" pitchFamily="18" charset="0"/>
                <a:cs typeface="Times New Roman" panose="02020603050405020304" pitchFamily="18" charset="0"/>
              </a:rPr>
              <a:t>Program</a:t>
            </a:r>
            <a:endParaRPr sz="3600" dirty="0">
              <a:solidFill>
                <a:srgbClr val="002060"/>
              </a:solidFill>
              <a:latin typeface="Times New Roman" panose="02020603050405020304" pitchFamily="18" charset="0"/>
              <a:cs typeface="Times New Roman" panose="02020603050405020304" pitchFamily="18" charset="0"/>
            </a:endParaRPr>
          </a:p>
        </p:txBody>
      </p:sp>
      <p:sp>
        <p:nvSpPr>
          <p:cNvPr id="5" name="object 5"/>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18</a:t>
            </a:fld>
            <a:endParaRPr dirty="0"/>
          </a:p>
        </p:txBody>
      </p:sp>
      <p:sp>
        <p:nvSpPr>
          <p:cNvPr id="3" name="object 3"/>
          <p:cNvSpPr txBox="1"/>
          <p:nvPr/>
        </p:nvSpPr>
        <p:spPr>
          <a:xfrm>
            <a:off x="1189431" y="1905000"/>
            <a:ext cx="10088169" cy="1494790"/>
          </a:xfrm>
          <a:prstGeom prst="rect">
            <a:avLst/>
          </a:prstGeom>
        </p:spPr>
        <p:txBody>
          <a:bodyPr vert="horz" wrap="square" lIns="0" tIns="13335" rIns="0" bIns="0" rtlCol="0">
            <a:spAutoFit/>
          </a:bodyPr>
          <a:lstStyle/>
          <a:p>
            <a:pPr marL="241300" marR="5080" indent="-229235" algn="just">
              <a:lnSpc>
                <a:spcPct val="100000"/>
              </a:lnSpc>
              <a:spcBef>
                <a:spcPts val="105"/>
              </a:spcBef>
              <a:buClr>
                <a:srgbClr val="00B050"/>
              </a:buClr>
              <a:buFont typeface="Wingdings"/>
              <a:buChar char=""/>
              <a:tabLst>
                <a:tab pos="241935" algn="l"/>
              </a:tabLst>
            </a:pPr>
            <a:r>
              <a:rPr sz="3200" spc="-5" dirty="0">
                <a:latin typeface="Times New Roman" panose="02020603050405020304" pitchFamily="18" charset="0"/>
                <a:cs typeface="Times New Roman" panose="02020603050405020304" pitchFamily="18" charset="0"/>
              </a:rPr>
              <a:t>test.py</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file</a:t>
            </a:r>
            <a:r>
              <a:rPr sz="3200" spc="-15" dirty="0">
                <a:latin typeface="Times New Roman" panose="02020603050405020304" pitchFamily="18" charset="0"/>
                <a:cs typeface="Times New Roman" panose="02020603050405020304" pitchFamily="18" charset="0"/>
              </a:rPr>
              <a:t> </a:t>
            </a:r>
            <a:r>
              <a:rPr sz="3200" spc="5" dirty="0">
                <a:latin typeface="Times New Roman" panose="02020603050405020304" pitchFamily="18" charset="0"/>
                <a:cs typeface="Times New Roman" panose="02020603050405020304" pitchFamily="18" charset="0"/>
              </a:rPr>
              <a:t>can</a:t>
            </a:r>
            <a:r>
              <a:rPr sz="3200" spc="-2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be</a:t>
            </a:r>
            <a:r>
              <a:rPr sz="3200" spc="-1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executed</a:t>
            </a:r>
            <a:r>
              <a:rPr sz="3200" spc="-3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at</a:t>
            </a:r>
            <a:r>
              <a:rPr sz="3200" spc="-10" dirty="0">
                <a:latin typeface="Times New Roman" panose="02020603050405020304" pitchFamily="18" charset="0"/>
                <a:cs typeface="Times New Roman" panose="02020603050405020304" pitchFamily="18" charset="0"/>
              </a:rPr>
              <a:t> </a:t>
            </a:r>
            <a:r>
              <a:rPr sz="3200" spc="-5" dirty="0">
                <a:latin typeface="Times New Roman" panose="02020603050405020304" pitchFamily="18" charset="0"/>
                <a:cs typeface="Times New Roman" panose="02020603050405020304" pitchFamily="18" charset="0"/>
              </a:rPr>
              <a:t>command</a:t>
            </a:r>
            <a:r>
              <a:rPr sz="3200" spc="-25" dirty="0">
                <a:latin typeface="Times New Roman" panose="02020603050405020304" pitchFamily="18" charset="0"/>
                <a:cs typeface="Times New Roman" panose="02020603050405020304" pitchFamily="18" charset="0"/>
              </a:rPr>
              <a:t> </a:t>
            </a:r>
            <a:r>
              <a:rPr sz="3200" spc="-5" dirty="0">
                <a:latin typeface="Times New Roman" panose="02020603050405020304" pitchFamily="18" charset="0"/>
                <a:cs typeface="Times New Roman" panose="02020603050405020304" pitchFamily="18" charset="0"/>
              </a:rPr>
              <a:t>line</a:t>
            </a:r>
            <a:r>
              <a:rPr sz="3200"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by </a:t>
            </a:r>
            <a:r>
              <a:rPr sz="3200" spc="-87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invoking</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15" dirty="0">
                <a:latin typeface="Times New Roman" panose="02020603050405020304" pitchFamily="18" charset="0"/>
                <a:cs typeface="Times New Roman" panose="02020603050405020304" pitchFamily="18" charset="0"/>
              </a:rPr>
              <a:t> </a:t>
            </a:r>
            <a:r>
              <a:rPr sz="3200" spc="-5" dirty="0">
                <a:latin typeface="Times New Roman" panose="02020603050405020304" pitchFamily="18" charset="0"/>
                <a:cs typeface="Times New Roman" panose="02020603050405020304" pitchFamily="18" charset="0"/>
              </a:rPr>
              <a:t>interpreter</a:t>
            </a:r>
            <a:r>
              <a:rPr sz="3200" spc="-2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on</a:t>
            </a:r>
            <a:r>
              <a:rPr sz="3200" spc="-1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your</a:t>
            </a:r>
            <a:r>
              <a:rPr sz="3200" spc="-30" dirty="0">
                <a:latin typeface="Times New Roman" panose="02020603050405020304" pitchFamily="18" charset="0"/>
                <a:cs typeface="Times New Roman" panose="02020603050405020304" pitchFamily="18" charset="0"/>
              </a:rPr>
              <a:t> </a:t>
            </a:r>
            <a:r>
              <a:rPr sz="3200" spc="-5" dirty="0">
                <a:latin typeface="Times New Roman" panose="02020603050405020304" pitchFamily="18" charset="0"/>
                <a:cs typeface="Times New Roman" panose="02020603050405020304" pitchFamily="18" charset="0"/>
              </a:rPr>
              <a:t>application.</a:t>
            </a:r>
            <a:endParaRPr sz="3200" dirty="0">
              <a:latin typeface="Times New Roman" panose="02020603050405020304" pitchFamily="18" charset="0"/>
              <a:cs typeface="Times New Roman" panose="02020603050405020304" pitchFamily="18" charset="0"/>
            </a:endParaRPr>
          </a:p>
          <a:p>
            <a:pPr marL="927100" algn="just">
              <a:lnSpc>
                <a:spcPct val="100000"/>
              </a:lnSpc>
              <a:spcBef>
                <a:spcPts val="520"/>
              </a:spcBef>
              <a:buClr>
                <a:srgbClr val="00B050"/>
              </a:buClr>
            </a:pPr>
            <a:r>
              <a:rPr sz="2800" b="1" spc="-5" dirty="0">
                <a:latin typeface="Times New Roman" panose="02020603050405020304" pitchFamily="18" charset="0"/>
                <a:cs typeface="Times New Roman" panose="02020603050405020304" pitchFamily="18" charset="0"/>
              </a:rPr>
              <a:t>C:</a:t>
            </a:r>
            <a:r>
              <a:rPr sz="2800" b="1" spc="-30"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&gt;</a:t>
            </a:r>
            <a:r>
              <a:rPr sz="2800" b="1" spc="-10"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python</a:t>
            </a:r>
            <a:r>
              <a:rPr sz="2800" b="1" spc="20"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test.py</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89431" y="825879"/>
            <a:ext cx="8091805" cy="574040"/>
          </a:xfrm>
          <a:prstGeom prst="rect">
            <a:avLst/>
          </a:prstGeom>
        </p:spPr>
        <p:txBody>
          <a:bodyPr vert="horz" wrap="square" lIns="0" tIns="12700" rIns="0" bIns="0" rtlCol="0">
            <a:spAutoFit/>
          </a:bodyPr>
          <a:lstStyle/>
          <a:p>
            <a:pPr marL="12700">
              <a:lnSpc>
                <a:spcPct val="100000"/>
              </a:lnSpc>
              <a:spcBef>
                <a:spcPts val="100"/>
              </a:spcBef>
            </a:pPr>
            <a:r>
              <a:rPr sz="3600" b="0" spc="-25" dirty="0">
                <a:solidFill>
                  <a:srgbClr val="002060"/>
                </a:solidFill>
                <a:latin typeface="Times New Roman" panose="02020603050405020304" pitchFamily="18" charset="0"/>
                <a:cs typeface="Times New Roman" panose="02020603050405020304" pitchFamily="18" charset="0"/>
              </a:rPr>
              <a:t>Run</a:t>
            </a:r>
            <a:r>
              <a:rPr sz="3600" b="0" spc="-35" dirty="0">
                <a:solidFill>
                  <a:srgbClr val="002060"/>
                </a:solidFill>
                <a:latin typeface="Times New Roman" panose="02020603050405020304" pitchFamily="18" charset="0"/>
                <a:cs typeface="Times New Roman" panose="02020603050405020304" pitchFamily="18" charset="0"/>
              </a:rPr>
              <a:t> </a:t>
            </a:r>
            <a:r>
              <a:rPr sz="3600" b="0" spc="-5" dirty="0">
                <a:solidFill>
                  <a:srgbClr val="002060"/>
                </a:solidFill>
                <a:latin typeface="Times New Roman" panose="02020603050405020304" pitchFamily="18" charset="0"/>
                <a:cs typeface="Times New Roman" panose="02020603050405020304" pitchFamily="18" charset="0"/>
              </a:rPr>
              <a:t>Python</a:t>
            </a:r>
            <a:r>
              <a:rPr sz="3600" b="0" spc="-20" dirty="0">
                <a:solidFill>
                  <a:srgbClr val="002060"/>
                </a:solidFill>
                <a:latin typeface="Times New Roman" panose="02020603050405020304" pitchFamily="18" charset="0"/>
                <a:cs typeface="Times New Roman" panose="02020603050405020304" pitchFamily="18" charset="0"/>
              </a:rPr>
              <a:t> </a:t>
            </a:r>
            <a:r>
              <a:rPr sz="3600" b="0" dirty="0">
                <a:solidFill>
                  <a:srgbClr val="002060"/>
                </a:solidFill>
                <a:latin typeface="Times New Roman" panose="02020603050405020304" pitchFamily="18" charset="0"/>
                <a:cs typeface="Times New Roman" panose="02020603050405020304" pitchFamily="18" charset="0"/>
              </a:rPr>
              <a:t>Script</a:t>
            </a:r>
            <a:r>
              <a:rPr sz="3600" b="0" spc="-20" dirty="0">
                <a:solidFill>
                  <a:srgbClr val="002060"/>
                </a:solidFill>
                <a:latin typeface="Times New Roman" panose="02020603050405020304" pitchFamily="18" charset="0"/>
                <a:cs typeface="Times New Roman" panose="02020603050405020304" pitchFamily="18" charset="0"/>
              </a:rPr>
              <a:t> </a:t>
            </a:r>
            <a:r>
              <a:rPr sz="3600" b="0" dirty="0">
                <a:solidFill>
                  <a:srgbClr val="002060"/>
                </a:solidFill>
                <a:latin typeface="Times New Roman" panose="02020603050405020304" pitchFamily="18" charset="0"/>
                <a:cs typeface="Times New Roman" panose="02020603050405020304" pitchFamily="18" charset="0"/>
              </a:rPr>
              <a:t>using</a:t>
            </a:r>
            <a:r>
              <a:rPr sz="3600" b="0" spc="-20" dirty="0">
                <a:solidFill>
                  <a:srgbClr val="002060"/>
                </a:solidFill>
                <a:latin typeface="Times New Roman" panose="02020603050405020304" pitchFamily="18" charset="0"/>
                <a:cs typeface="Times New Roman" panose="02020603050405020304" pitchFamily="18" charset="0"/>
              </a:rPr>
              <a:t> </a:t>
            </a:r>
            <a:r>
              <a:rPr sz="3600" b="0" dirty="0">
                <a:solidFill>
                  <a:srgbClr val="002060"/>
                </a:solidFill>
                <a:latin typeface="Times New Roman" panose="02020603050405020304" pitchFamily="18" charset="0"/>
                <a:cs typeface="Times New Roman" panose="02020603050405020304" pitchFamily="18" charset="0"/>
              </a:rPr>
              <a:t>an</a:t>
            </a:r>
            <a:r>
              <a:rPr sz="3600" b="0" spc="-30" dirty="0">
                <a:solidFill>
                  <a:srgbClr val="002060"/>
                </a:solidFill>
                <a:latin typeface="Times New Roman" panose="02020603050405020304" pitchFamily="18" charset="0"/>
                <a:cs typeface="Times New Roman" panose="02020603050405020304" pitchFamily="18" charset="0"/>
              </a:rPr>
              <a:t> </a:t>
            </a:r>
            <a:r>
              <a:rPr sz="3600" b="0" spc="-5" dirty="0">
                <a:solidFill>
                  <a:srgbClr val="002060"/>
                </a:solidFill>
                <a:latin typeface="Times New Roman" panose="02020603050405020304" pitchFamily="18" charset="0"/>
                <a:cs typeface="Times New Roman" panose="02020603050405020304" pitchFamily="18" charset="0"/>
              </a:rPr>
              <a:t>IDLE</a:t>
            </a:r>
            <a:endParaRPr sz="3600" dirty="0">
              <a:solidFill>
                <a:srgbClr val="002060"/>
              </a:solidFill>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19</a:t>
            </a:fld>
            <a:endParaRPr dirty="0"/>
          </a:p>
        </p:txBody>
      </p:sp>
      <p:sp>
        <p:nvSpPr>
          <p:cNvPr id="3" name="object 3"/>
          <p:cNvSpPr txBox="1"/>
          <p:nvPr/>
        </p:nvSpPr>
        <p:spPr>
          <a:xfrm>
            <a:off x="1196255" y="2037483"/>
            <a:ext cx="9195435" cy="874598"/>
          </a:xfrm>
          <a:prstGeom prst="rect">
            <a:avLst/>
          </a:prstGeom>
        </p:spPr>
        <p:txBody>
          <a:bodyPr vert="horz" wrap="square" lIns="0" tIns="12700" rIns="0" bIns="0" rtlCol="0">
            <a:spAutoFit/>
          </a:bodyPr>
          <a:lstStyle/>
          <a:p>
            <a:pPr marL="241300" marR="5080" indent="-229235">
              <a:lnSpc>
                <a:spcPct val="100000"/>
              </a:lnSpc>
              <a:spcBef>
                <a:spcPts val="100"/>
              </a:spcBef>
              <a:buClr>
                <a:srgbClr val="00B050"/>
              </a:buClr>
              <a:buFont typeface="Wingdings"/>
              <a:buChar char=""/>
              <a:tabLst>
                <a:tab pos="241935" algn="l"/>
              </a:tabLst>
            </a:pPr>
            <a:r>
              <a:rPr sz="2800" spc="-80" dirty="0">
                <a:latin typeface="Times New Roman" panose="02020603050405020304" pitchFamily="18" charset="0"/>
                <a:cs typeface="Times New Roman" panose="02020603050405020304" pitchFamily="18" charset="0"/>
              </a:rPr>
              <a:t>You</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can</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run</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script</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by</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going</a:t>
            </a:r>
            <a:r>
              <a:rPr sz="2800" spc="2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"Run</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--&gt;</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Run</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Module"</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or</a:t>
            </a:r>
            <a:r>
              <a:rPr sz="280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simply</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by </a:t>
            </a:r>
            <a:r>
              <a:rPr sz="2800" spc="-65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hitting </a:t>
            </a:r>
            <a:r>
              <a:rPr sz="2800" b="1" spc="-10" dirty="0">
                <a:latin typeface="Times New Roman" panose="02020603050405020304" pitchFamily="18" charset="0"/>
                <a:cs typeface="Times New Roman" panose="02020603050405020304" pitchFamily="18" charset="0"/>
              </a:rPr>
              <a:t>F5</a:t>
            </a:r>
            <a:endParaRPr sz="2800" dirty="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1210542" y="4436710"/>
            <a:ext cx="8263255" cy="1778000"/>
            <a:chOff x="1662683" y="4265485"/>
            <a:chExt cx="8263255" cy="1778000"/>
          </a:xfrm>
        </p:grpSpPr>
        <p:pic>
          <p:nvPicPr>
            <p:cNvPr id="5" name="object 5"/>
            <p:cNvPicPr/>
            <p:nvPr/>
          </p:nvPicPr>
          <p:blipFill rotWithShape="1">
            <a:blip r:embed="rId2" cstate="print"/>
            <a:srcRect b="32103"/>
            <a:stretch/>
          </p:blipFill>
          <p:spPr>
            <a:xfrm>
              <a:off x="1677034" y="4279772"/>
              <a:ext cx="8234553" cy="1187803"/>
            </a:xfrm>
            <a:prstGeom prst="rect">
              <a:avLst/>
            </a:prstGeom>
          </p:spPr>
        </p:pic>
        <p:sp>
          <p:nvSpPr>
            <p:cNvPr id="6" name="object 6"/>
            <p:cNvSpPr/>
            <p:nvPr/>
          </p:nvSpPr>
          <p:spPr>
            <a:xfrm>
              <a:off x="1662683" y="4265485"/>
              <a:ext cx="8263255" cy="1778000"/>
            </a:xfrm>
            <a:custGeom>
              <a:avLst/>
              <a:gdLst/>
              <a:ahLst/>
              <a:cxnLst/>
              <a:rect l="l" t="t" r="r" b="b"/>
              <a:pathLst>
                <a:path w="8263255" h="1778000">
                  <a:moveTo>
                    <a:pt x="0" y="1778000"/>
                  </a:moveTo>
                  <a:lnTo>
                    <a:pt x="8263128" y="1778000"/>
                  </a:lnTo>
                  <a:lnTo>
                    <a:pt x="8263128" y="0"/>
                  </a:lnTo>
                  <a:lnTo>
                    <a:pt x="0" y="0"/>
                  </a:lnTo>
                  <a:lnTo>
                    <a:pt x="0" y="1778000"/>
                  </a:lnTo>
                  <a:close/>
                </a:path>
              </a:pathLst>
            </a:custGeom>
            <a:ln w="28575">
              <a:solidFill>
                <a:srgbClr val="000000"/>
              </a:solidFill>
            </a:ln>
          </p:spPr>
          <p:txBody>
            <a:bodyPr wrap="square" lIns="0" tIns="0" rIns="0" bIns="0" rtlCol="0"/>
            <a:lstStyle/>
            <a:p>
              <a:endParaRPr/>
            </a:p>
          </p:txBody>
        </p:sp>
      </p:grpSp>
      <p:grpSp>
        <p:nvGrpSpPr>
          <p:cNvPr id="7" name="object 7"/>
          <p:cNvGrpSpPr/>
          <p:nvPr/>
        </p:nvGrpSpPr>
        <p:grpSpPr>
          <a:xfrm>
            <a:off x="7195036" y="2590800"/>
            <a:ext cx="4528820" cy="1572260"/>
            <a:chOff x="2189479" y="1626489"/>
            <a:chExt cx="4528820" cy="1572260"/>
          </a:xfrm>
        </p:grpSpPr>
        <p:pic>
          <p:nvPicPr>
            <p:cNvPr id="8" name="object 8"/>
            <p:cNvPicPr/>
            <p:nvPr/>
          </p:nvPicPr>
          <p:blipFill rotWithShape="1">
            <a:blip r:embed="rId3" cstate="print"/>
            <a:srcRect b="67085"/>
            <a:stretch/>
          </p:blipFill>
          <p:spPr>
            <a:xfrm>
              <a:off x="2199004" y="1636014"/>
              <a:ext cx="4509643" cy="511111"/>
            </a:xfrm>
            <a:prstGeom prst="rect">
              <a:avLst/>
            </a:prstGeom>
          </p:spPr>
        </p:pic>
        <p:sp>
          <p:nvSpPr>
            <p:cNvPr id="9" name="object 9"/>
            <p:cNvSpPr/>
            <p:nvPr/>
          </p:nvSpPr>
          <p:spPr>
            <a:xfrm>
              <a:off x="2189479" y="1626489"/>
              <a:ext cx="4528820" cy="1572260"/>
            </a:xfrm>
            <a:custGeom>
              <a:avLst/>
              <a:gdLst/>
              <a:ahLst/>
              <a:cxnLst/>
              <a:rect l="l" t="t" r="r" b="b"/>
              <a:pathLst>
                <a:path w="4528820" h="1572260">
                  <a:moveTo>
                    <a:pt x="0" y="1571878"/>
                  </a:moveTo>
                  <a:lnTo>
                    <a:pt x="4528693" y="1571878"/>
                  </a:lnTo>
                  <a:lnTo>
                    <a:pt x="4528693" y="0"/>
                  </a:lnTo>
                  <a:lnTo>
                    <a:pt x="0" y="0"/>
                  </a:lnTo>
                  <a:lnTo>
                    <a:pt x="0" y="1571878"/>
                  </a:lnTo>
                  <a:close/>
                </a:path>
              </a:pathLst>
            </a:custGeom>
            <a:ln w="19050">
              <a:solidFill>
                <a:srgbClr val="000000"/>
              </a:solidFill>
            </a:ln>
          </p:spPr>
          <p:txBody>
            <a:bodyPr wrap="square" lIns="0" tIns="0" rIns="0" bIns="0" rtlCol="0"/>
            <a:lstStyle/>
            <a:p>
              <a:endParaRPr/>
            </a:p>
          </p:txBody>
        </p:sp>
        <p:sp>
          <p:nvSpPr>
            <p:cNvPr id="10" name="object 10"/>
            <p:cNvSpPr/>
            <p:nvPr/>
          </p:nvSpPr>
          <p:spPr>
            <a:xfrm>
              <a:off x="3593591" y="1628013"/>
              <a:ext cx="539750" cy="292735"/>
            </a:xfrm>
            <a:custGeom>
              <a:avLst/>
              <a:gdLst/>
              <a:ahLst/>
              <a:cxnLst/>
              <a:rect l="l" t="t" r="r" b="b"/>
              <a:pathLst>
                <a:path w="539750" h="292735">
                  <a:moveTo>
                    <a:pt x="0" y="146050"/>
                  </a:moveTo>
                  <a:lnTo>
                    <a:pt x="27418" y="81827"/>
                  </a:lnTo>
                  <a:lnTo>
                    <a:pt x="59262" y="54709"/>
                  </a:lnTo>
                  <a:lnTo>
                    <a:pt x="101037" y="32090"/>
                  </a:lnTo>
                  <a:lnTo>
                    <a:pt x="151122" y="14847"/>
                  </a:lnTo>
                  <a:lnTo>
                    <a:pt x="207899" y="3858"/>
                  </a:lnTo>
                  <a:lnTo>
                    <a:pt x="269748" y="0"/>
                  </a:lnTo>
                  <a:lnTo>
                    <a:pt x="331596" y="3858"/>
                  </a:lnTo>
                  <a:lnTo>
                    <a:pt x="388373" y="14847"/>
                  </a:lnTo>
                  <a:lnTo>
                    <a:pt x="438458" y="32090"/>
                  </a:lnTo>
                  <a:lnTo>
                    <a:pt x="480233" y="54709"/>
                  </a:lnTo>
                  <a:lnTo>
                    <a:pt x="512077" y="81827"/>
                  </a:lnTo>
                  <a:lnTo>
                    <a:pt x="539496" y="146050"/>
                  </a:lnTo>
                  <a:lnTo>
                    <a:pt x="532371" y="179579"/>
                  </a:lnTo>
                  <a:lnTo>
                    <a:pt x="512077" y="210352"/>
                  </a:lnTo>
                  <a:lnTo>
                    <a:pt x="480233" y="237493"/>
                  </a:lnTo>
                  <a:lnTo>
                    <a:pt x="438458" y="260126"/>
                  </a:lnTo>
                  <a:lnTo>
                    <a:pt x="388373" y="277376"/>
                  </a:lnTo>
                  <a:lnTo>
                    <a:pt x="331596" y="288368"/>
                  </a:lnTo>
                  <a:lnTo>
                    <a:pt x="269748" y="292226"/>
                  </a:lnTo>
                  <a:lnTo>
                    <a:pt x="207899" y="288368"/>
                  </a:lnTo>
                  <a:lnTo>
                    <a:pt x="151122" y="277376"/>
                  </a:lnTo>
                  <a:lnTo>
                    <a:pt x="101037" y="260126"/>
                  </a:lnTo>
                  <a:lnTo>
                    <a:pt x="59262" y="237493"/>
                  </a:lnTo>
                  <a:lnTo>
                    <a:pt x="27418" y="210352"/>
                  </a:lnTo>
                  <a:lnTo>
                    <a:pt x="0" y="146050"/>
                  </a:lnTo>
                  <a:close/>
                </a:path>
              </a:pathLst>
            </a:custGeom>
            <a:ln w="28574">
              <a:solidFill>
                <a:srgbClr val="FF0000"/>
              </a:solidFill>
            </a:ln>
          </p:spPr>
          <p:txBody>
            <a:bodyPr wrap="square" lIns="0" tIns="0" rIns="0" bIns="0" rtlCol="0"/>
            <a:lstStyle/>
            <a:p>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5589" y="914400"/>
            <a:ext cx="4316730" cy="574040"/>
          </a:xfrm>
          <a:prstGeom prst="rect">
            <a:avLst/>
          </a:prstGeom>
        </p:spPr>
        <p:txBody>
          <a:bodyPr vert="horz" wrap="square" lIns="0" tIns="12700" rIns="0" bIns="0" rtlCol="0">
            <a:spAutoFit/>
          </a:bodyPr>
          <a:lstStyle/>
          <a:p>
            <a:pPr marL="12700">
              <a:lnSpc>
                <a:spcPct val="100000"/>
              </a:lnSpc>
              <a:spcBef>
                <a:spcPts val="100"/>
              </a:spcBef>
            </a:pPr>
            <a:r>
              <a:rPr sz="3600" b="0" spc="-5" dirty="0">
                <a:solidFill>
                  <a:srgbClr val="002060"/>
                </a:solidFill>
                <a:latin typeface="Times New Roman" panose="02020603050405020304" pitchFamily="18" charset="0"/>
                <a:cs typeface="Times New Roman" panose="02020603050405020304" pitchFamily="18" charset="0"/>
              </a:rPr>
              <a:t>Lesson</a:t>
            </a:r>
            <a:r>
              <a:rPr sz="3600" b="0" spc="-85" dirty="0">
                <a:solidFill>
                  <a:srgbClr val="002060"/>
                </a:solidFill>
                <a:latin typeface="Times New Roman" panose="02020603050405020304" pitchFamily="18" charset="0"/>
                <a:cs typeface="Times New Roman" panose="02020603050405020304" pitchFamily="18" charset="0"/>
              </a:rPr>
              <a:t> </a:t>
            </a:r>
            <a:r>
              <a:rPr sz="3600" b="0" spc="25" dirty="0">
                <a:solidFill>
                  <a:srgbClr val="002060"/>
                </a:solidFill>
                <a:latin typeface="Times New Roman" panose="02020603050405020304" pitchFamily="18" charset="0"/>
                <a:cs typeface="Times New Roman" panose="02020603050405020304" pitchFamily="18" charset="0"/>
              </a:rPr>
              <a:t>Summary</a:t>
            </a:r>
            <a:endParaRPr sz="3600" dirty="0">
              <a:solidFill>
                <a:srgbClr val="002060"/>
              </a:solidFill>
              <a:latin typeface="Times New Roman" panose="02020603050405020304" pitchFamily="18" charset="0"/>
              <a:cs typeface="Times New Roman" panose="02020603050405020304" pitchFamily="18" charset="0"/>
            </a:endParaRPr>
          </a:p>
        </p:txBody>
      </p:sp>
      <p:sp>
        <p:nvSpPr>
          <p:cNvPr id="4" name="object 4"/>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20</a:t>
            </a:fld>
            <a:endParaRPr dirty="0"/>
          </a:p>
        </p:txBody>
      </p:sp>
      <p:sp>
        <p:nvSpPr>
          <p:cNvPr id="3" name="object 3"/>
          <p:cNvSpPr txBox="1"/>
          <p:nvPr/>
        </p:nvSpPr>
        <p:spPr>
          <a:xfrm>
            <a:off x="1208765" y="1981200"/>
            <a:ext cx="7158355" cy="2809102"/>
          </a:xfrm>
          <a:prstGeom prst="rect">
            <a:avLst/>
          </a:prstGeom>
        </p:spPr>
        <p:txBody>
          <a:bodyPr vert="horz" wrap="square" lIns="0" tIns="140335" rIns="0" bIns="0" rtlCol="0">
            <a:spAutoFit/>
          </a:bodyPr>
          <a:lstStyle/>
          <a:p>
            <a:pPr marL="241300" indent="-229235">
              <a:lnSpc>
                <a:spcPct val="100000"/>
              </a:lnSpc>
              <a:spcBef>
                <a:spcPts val="1105"/>
              </a:spcBef>
              <a:buClr>
                <a:srgbClr val="00B050"/>
              </a:buClr>
              <a:buFont typeface="Wingdings"/>
              <a:buChar char=""/>
              <a:tabLst>
                <a:tab pos="241935" algn="l"/>
              </a:tabLst>
            </a:pPr>
            <a:r>
              <a:rPr sz="2800" spc="-5" dirty="0">
                <a:latin typeface="Times New Roman" panose="02020603050405020304" pitchFamily="18" charset="0"/>
                <a:cs typeface="Times New Roman" panose="02020603050405020304" pitchFamily="18" charset="0"/>
              </a:rPr>
              <a:t>What</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Python</a:t>
            </a:r>
            <a:r>
              <a:rPr sz="2800" spc="-2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and</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Python</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Used</a:t>
            </a:r>
            <a:r>
              <a:rPr sz="2800" spc="-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For?</a:t>
            </a:r>
          </a:p>
          <a:p>
            <a:pPr marL="241300" indent="-229235">
              <a:lnSpc>
                <a:spcPct val="100000"/>
              </a:lnSpc>
              <a:spcBef>
                <a:spcPts val="1010"/>
              </a:spcBef>
              <a:buClr>
                <a:srgbClr val="00B050"/>
              </a:buClr>
              <a:buFont typeface="Wingdings"/>
              <a:buChar char=""/>
              <a:tabLst>
                <a:tab pos="241935" algn="l"/>
              </a:tabLst>
            </a:pPr>
            <a:r>
              <a:rPr sz="2800" spc="-5" dirty="0">
                <a:latin typeface="Times New Roman" panose="02020603050405020304" pitchFamily="18" charset="0"/>
                <a:cs typeface="Times New Roman" panose="02020603050405020304" pitchFamily="18" charset="0"/>
              </a:rPr>
              <a:t>Features</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Python</a:t>
            </a:r>
          </a:p>
          <a:p>
            <a:pPr marL="241300" indent="-229235">
              <a:lnSpc>
                <a:spcPct val="100000"/>
              </a:lnSpc>
              <a:spcBef>
                <a:spcPts val="1000"/>
              </a:spcBef>
              <a:buClr>
                <a:srgbClr val="00B050"/>
              </a:buClr>
              <a:buFont typeface="Wingdings"/>
              <a:buChar char=""/>
              <a:tabLst>
                <a:tab pos="241935" algn="l"/>
              </a:tabLst>
            </a:pPr>
            <a:r>
              <a:rPr sz="2800" dirty="0">
                <a:latin typeface="Times New Roman" panose="02020603050405020304" pitchFamily="18" charset="0"/>
                <a:cs typeface="Times New Roman" panose="02020603050405020304" pitchFamily="18" charset="0"/>
              </a:rPr>
              <a:t>Python</a:t>
            </a:r>
            <a:r>
              <a:rPr sz="2800" spc="-8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IDLE</a:t>
            </a:r>
          </a:p>
          <a:p>
            <a:pPr marL="241300" indent="-229235">
              <a:lnSpc>
                <a:spcPct val="100000"/>
              </a:lnSpc>
              <a:spcBef>
                <a:spcPts val="994"/>
              </a:spcBef>
              <a:buClr>
                <a:srgbClr val="00B050"/>
              </a:buClr>
              <a:buFont typeface="Wingdings"/>
              <a:buChar char=""/>
              <a:tabLst>
                <a:tab pos="241935" algn="l"/>
              </a:tabLst>
            </a:pPr>
            <a:r>
              <a:rPr sz="2800" dirty="0">
                <a:latin typeface="Times New Roman" panose="02020603050405020304" pitchFamily="18" charset="0"/>
                <a:cs typeface="Times New Roman" panose="02020603050405020304" pitchFamily="18" charset="0"/>
              </a:rPr>
              <a:t>How</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20" dirty="0">
                <a:latin typeface="Times New Roman" panose="02020603050405020304" pitchFamily="18" charset="0"/>
                <a:cs typeface="Times New Roman" panose="02020603050405020304" pitchFamily="18" charset="0"/>
              </a:rPr>
              <a:t> </a:t>
            </a:r>
            <a:r>
              <a:rPr sz="2800" spc="-15" dirty="0">
                <a:latin typeface="Times New Roman" panose="02020603050405020304" pitchFamily="18" charset="0"/>
                <a:cs typeface="Times New Roman" panose="02020603050405020304" pitchFamily="18" charset="0"/>
              </a:rPr>
              <a:t>Write</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Program</a:t>
            </a:r>
          </a:p>
          <a:p>
            <a:pPr marL="241300" indent="-229235">
              <a:lnSpc>
                <a:spcPct val="100000"/>
              </a:lnSpc>
              <a:spcBef>
                <a:spcPts val="1010"/>
              </a:spcBef>
              <a:buClr>
                <a:srgbClr val="00B050"/>
              </a:buClr>
              <a:buFont typeface="Wingdings"/>
              <a:buChar char=""/>
              <a:tabLst>
                <a:tab pos="241935" algn="l"/>
              </a:tabLst>
            </a:pPr>
            <a:r>
              <a:rPr sz="2800" dirty="0">
                <a:latin typeface="Times New Roman" panose="02020603050405020304" pitchFamily="18" charset="0"/>
                <a:cs typeface="Times New Roman" panose="02020603050405020304" pitchFamily="18" charset="0"/>
              </a:rPr>
              <a:t>How</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Execute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Program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5589" y="914400"/>
            <a:ext cx="4316730" cy="574040"/>
          </a:xfrm>
          <a:prstGeom prst="rect">
            <a:avLst/>
          </a:prstGeom>
        </p:spPr>
        <p:txBody>
          <a:bodyPr vert="horz" wrap="square" lIns="0" tIns="12700" rIns="0" bIns="0" rtlCol="0">
            <a:spAutoFit/>
          </a:bodyPr>
          <a:lstStyle/>
          <a:p>
            <a:pPr marL="12700">
              <a:lnSpc>
                <a:spcPct val="100000"/>
              </a:lnSpc>
              <a:spcBef>
                <a:spcPts val="100"/>
              </a:spcBef>
            </a:pPr>
            <a:r>
              <a:rPr lang="en-GB" sz="3600" b="0" spc="-5" dirty="0">
                <a:solidFill>
                  <a:srgbClr val="002060"/>
                </a:solidFill>
                <a:latin typeface="Times New Roman" panose="02020603050405020304" pitchFamily="18" charset="0"/>
                <a:cs typeface="Times New Roman" panose="02020603050405020304" pitchFamily="18" charset="0"/>
              </a:rPr>
              <a:t>Conclusion</a:t>
            </a:r>
          </a:p>
        </p:txBody>
      </p:sp>
      <p:sp>
        <p:nvSpPr>
          <p:cNvPr id="4" name="object 4"/>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21</a:t>
            </a:fld>
            <a:endParaRPr dirty="0"/>
          </a:p>
        </p:txBody>
      </p:sp>
      <p:sp>
        <p:nvSpPr>
          <p:cNvPr id="3" name="object 3"/>
          <p:cNvSpPr txBox="1"/>
          <p:nvPr/>
        </p:nvSpPr>
        <p:spPr>
          <a:xfrm>
            <a:off x="1208765" y="1981200"/>
            <a:ext cx="10297435" cy="3953326"/>
          </a:xfrm>
          <a:prstGeom prst="rect">
            <a:avLst/>
          </a:prstGeom>
        </p:spPr>
        <p:txBody>
          <a:bodyPr vert="horz" wrap="square" lIns="0" tIns="140335" rIns="0" bIns="0" rtlCol="0">
            <a:spAutoFit/>
          </a:bodyPr>
          <a:lstStyle/>
          <a:p>
            <a:pPr algn="just">
              <a:lnSpc>
                <a:spcPct val="150000"/>
              </a:lnSpc>
            </a:pPr>
            <a:r>
              <a:rPr lang="en-GB" sz="2400" b="0" i="0" dirty="0">
                <a:solidFill>
                  <a:srgbClr val="000000"/>
                </a:solidFill>
                <a:effectLst/>
                <a:latin typeface="Times New Roman" panose="02020603050405020304" pitchFamily="18" charset="0"/>
                <a:cs typeface="Times New Roman" panose="02020603050405020304" pitchFamily="18" charset="0"/>
              </a:rPr>
              <a:t>Python is easy to learn and use, object-oriented, interpreted, cross-platform, has an extensive standard library, is dynamically typed, supports multiple programming paradigms, is free and open source, and supports databases and GUI programming. Python has a number of applications, including web development, data science and analytics, scientific computing, machine learning, artificial intelligence, game development, and more. Python's popularity, powerful libraries, and active community of developers make it a go-to choice for many programming tasks.</a:t>
            </a:r>
          </a:p>
        </p:txBody>
      </p:sp>
    </p:spTree>
    <p:extLst>
      <p:ext uri="{BB962C8B-B14F-4D97-AF65-F5344CB8AC3E}">
        <p14:creationId xmlns:p14="http://schemas.microsoft.com/office/powerpoint/2010/main" val="2245871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12"/>
          </p:nvPr>
        </p:nvSpPr>
        <p:spPr>
          <a:prstGeom prst="rect">
            <a:avLst/>
          </a:prstGeom>
        </p:spPr>
        <p:txBody>
          <a:bodyPr vert="horz" wrap="square" lIns="0" tIns="31115" rIns="0" bIns="0" rtlCol="0">
            <a:spAutoFit/>
          </a:bodyPr>
          <a:lstStyle/>
          <a:p>
            <a:pPr marL="38100">
              <a:lnSpc>
                <a:spcPct val="100000"/>
              </a:lnSpc>
              <a:spcBef>
                <a:spcPts val="245"/>
              </a:spcBef>
            </a:pPr>
            <a:fld id="{81D60167-4931-47E6-BA6A-407CBD079E47}" type="slidenum">
              <a:rPr dirty="0"/>
              <a:t>22</a:t>
            </a:fld>
            <a:endParaRPr dirty="0"/>
          </a:p>
        </p:txBody>
      </p:sp>
      <p:sp>
        <p:nvSpPr>
          <p:cNvPr id="2" name="object 2"/>
          <p:cNvSpPr txBox="1">
            <a:spLocks noGrp="1"/>
          </p:cNvSpPr>
          <p:nvPr>
            <p:ph type="title" idx="4294967295"/>
          </p:nvPr>
        </p:nvSpPr>
        <p:spPr>
          <a:xfrm>
            <a:off x="2895600" y="2499955"/>
            <a:ext cx="6019800" cy="690574"/>
          </a:xfrm>
          <a:prstGeom prst="rect">
            <a:avLst/>
          </a:prstGeom>
        </p:spPr>
        <p:txBody>
          <a:bodyPr vert="horz" wrap="square" lIns="0" tIns="13335" rIns="0" bIns="0" rtlCol="0">
            <a:spAutoFit/>
          </a:bodyPr>
          <a:lstStyle/>
          <a:p>
            <a:pPr marL="12700" algn="ctr">
              <a:lnSpc>
                <a:spcPct val="100000"/>
              </a:lnSpc>
              <a:spcBef>
                <a:spcPts val="105"/>
              </a:spcBef>
            </a:pPr>
            <a:r>
              <a:rPr lang="en-US" sz="4400" b="1" spc="-5" dirty="0">
                <a:solidFill>
                  <a:srgbClr val="002060"/>
                </a:solidFill>
                <a:latin typeface="Times New Roman" panose="02020603050405020304" pitchFamily="18" charset="0"/>
                <a:cs typeface="Times New Roman" panose="02020603050405020304" pitchFamily="18" charset="0"/>
              </a:rPr>
              <a:t>HAVE A NICE DAY!</a:t>
            </a:r>
            <a:endParaRPr sz="4400" b="1" spc="-12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Retrospec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503</TotalTime>
  <Words>1642</Words>
  <Application>Microsoft Office PowerPoint</Application>
  <PresentationFormat>Widescreen</PresentationFormat>
  <Paragraphs>102</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Calibri</vt:lpstr>
      <vt:lpstr>Calibri Light</vt:lpstr>
      <vt:lpstr>Times New Roman</vt:lpstr>
      <vt:lpstr>Wingdings</vt:lpstr>
      <vt:lpstr>Retrospect</vt:lpstr>
      <vt:lpstr>ADVANCED PROGRAMMING-ITIC 2223</vt:lpstr>
      <vt:lpstr>What is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Python Basic’s</vt:lpstr>
      <vt:lpstr>Python IDLE</vt:lpstr>
      <vt:lpstr>How to Write a Program</vt:lpstr>
      <vt:lpstr>How to Execute a Program</vt:lpstr>
      <vt:lpstr>Run Python Script using an IDLE</vt:lpstr>
      <vt:lpstr>Lesson Summary</vt:lpstr>
      <vt:lpstr>Conclusion</vt:lpstr>
      <vt:lpstr>HAVE A NICE 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Dayan Rajapakse</dc:creator>
  <cp:lastModifiedBy>Ramesh Madhuranga</cp:lastModifiedBy>
  <cp:revision>11</cp:revision>
  <dcterms:created xsi:type="dcterms:W3CDTF">2024-06-14T07:57:04Z</dcterms:created>
  <dcterms:modified xsi:type="dcterms:W3CDTF">2026-07-06T04:27:04Z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2020-04-08T00:00:00Z</vt:filetime>
  </property>
  <property fmtid="{D5CDD505-2E9C-101B-9397-08002B2CF9AE}" pid="3" name="Creator">
    <vt:lpwstr>Microsoft® Office PowerPoint® 2007</vt:lpwstr>
  </property>
  <property fmtid="{D5CDD505-2E9C-101B-9397-08002B2CF9AE}" pid="4" name="LastSaved">
    <vt:filetime>2024-06-14T00:00:00Z</vt:filetime>
  </property>
</Properties>
</file>