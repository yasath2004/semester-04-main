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9" r:id="rId1"/>
  </p:sldMasterIdLst>
  <p:sldIdLst>
    <p:sldId id="256" r:id="rId2"/>
    <p:sldId id="257" r:id="rId3"/>
    <p:sldId id="276" r:id="rId4"/>
    <p:sldId id="277" r:id="rId5"/>
    <p:sldId id="278" r:id="rId6"/>
    <p:sldId id="279" r:id="rId7"/>
    <p:sldId id="280" r:id="rId8"/>
    <p:sldId id="282" r:id="rId9"/>
    <p:sldId id="281" r:id="rId10"/>
    <p:sldId id="283" r:id="rId11"/>
    <p:sldId id="284" r:id="rId12"/>
    <p:sldId id="285" r:id="rId13"/>
    <p:sldId id="286" r:id="rId14"/>
    <p:sldId id="287" r:id="rId15"/>
    <p:sldId id="288" r:id="rId16"/>
    <p:sldId id="289" r:id="rId17"/>
    <p:sldId id="290" r:id="rId18"/>
    <p:sldId id="275" r:id="rId19"/>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83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7409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spTree>
    <p:extLst>
      <p:ext uri="{BB962C8B-B14F-4D97-AF65-F5344CB8AC3E}">
        <p14:creationId xmlns:p14="http://schemas.microsoft.com/office/powerpoint/2010/main" val="3808164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887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spTree>
    <p:extLst>
      <p:ext uri="{BB962C8B-B14F-4D97-AF65-F5344CB8AC3E}">
        <p14:creationId xmlns:p14="http://schemas.microsoft.com/office/powerpoint/2010/main" val="1334247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7/13/2025</a:t>
            </a:fld>
            <a:endParaRPr lang="en-US"/>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spTree>
    <p:extLst>
      <p:ext uri="{BB962C8B-B14F-4D97-AF65-F5344CB8AC3E}">
        <p14:creationId xmlns:p14="http://schemas.microsoft.com/office/powerpoint/2010/main" val="2776998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7/13/2025</a:t>
            </a:fld>
            <a:endParaRPr lang="en-US"/>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spTree>
    <p:extLst>
      <p:ext uri="{BB962C8B-B14F-4D97-AF65-F5344CB8AC3E}">
        <p14:creationId xmlns:p14="http://schemas.microsoft.com/office/powerpoint/2010/main" val="4198143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7/13/2025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spTree>
    <p:extLst>
      <p:ext uri="{BB962C8B-B14F-4D97-AF65-F5344CB8AC3E}">
        <p14:creationId xmlns:p14="http://schemas.microsoft.com/office/powerpoint/2010/main" val="925460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D8BD707-D9CF-40AE-B4C6-C98DA3205C09}" type="datetimeFigureOut">
              <a:rPr lang="en-US" smtClean="0"/>
              <a:t>7/13/2025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38100">
              <a:lnSpc>
                <a:spcPct val="100000"/>
              </a:lnSpc>
              <a:spcBef>
                <a:spcPts val="280"/>
              </a:spcBef>
            </a:pPr>
            <a:fld id="{81D60167-4931-47E6-BA6A-407CBD079E47}" type="slidenum">
              <a:rPr lang="en-AU" smtClean="0"/>
              <a:t>‹#›</a:t>
            </a:fld>
            <a:endParaRPr lang="en-AU" dirty="0"/>
          </a:p>
        </p:txBody>
      </p:sp>
    </p:spTree>
    <p:extLst>
      <p:ext uri="{BB962C8B-B14F-4D97-AF65-F5344CB8AC3E}">
        <p14:creationId xmlns:p14="http://schemas.microsoft.com/office/powerpoint/2010/main" val="2788956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spTree>
    <p:extLst>
      <p:ext uri="{BB962C8B-B14F-4D97-AF65-F5344CB8AC3E}">
        <p14:creationId xmlns:p14="http://schemas.microsoft.com/office/powerpoint/2010/main" val="407396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spTree>
    <p:extLst>
      <p:ext uri="{BB962C8B-B14F-4D97-AF65-F5344CB8AC3E}">
        <p14:creationId xmlns:p14="http://schemas.microsoft.com/office/powerpoint/2010/main" val="2810685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80"/>
              </a:spcBef>
            </a:pPr>
            <a:fld id="{81D60167-4931-47E6-BA6A-407CBD079E47}" type="slidenum">
              <a:rPr lang="en-AU" smtClean="0"/>
              <a:t>‹#›</a:t>
            </a:fld>
            <a:endParaRPr lang="en-AU" dirty="0"/>
          </a:p>
        </p:txBody>
      </p:sp>
    </p:spTree>
    <p:extLst>
      <p:ext uri="{BB962C8B-B14F-4D97-AF65-F5344CB8AC3E}">
        <p14:creationId xmlns:p14="http://schemas.microsoft.com/office/powerpoint/2010/main" val="3333551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D8BD707-D9CF-40AE-B4C6-C98DA3205C09}" type="datetimeFigureOut">
              <a:rPr lang="en-US" smtClean="0"/>
              <a:t>7/13/2025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marL="38100">
              <a:lnSpc>
                <a:spcPct val="100000"/>
              </a:lnSpc>
              <a:spcBef>
                <a:spcPts val="280"/>
              </a:spcBef>
            </a:pPr>
            <a:fld id="{81D60167-4931-47E6-BA6A-407CBD079E47}" type="slidenum">
              <a:rPr lang="en-AU" smtClean="0"/>
              <a:t>‹#›</a:t>
            </a:fld>
            <a:endParaRPr lang="en-AU"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3980727"/>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1</a:t>
            </a:fld>
            <a:endParaRPr dirty="0"/>
          </a:p>
        </p:txBody>
      </p:sp>
      <p:sp>
        <p:nvSpPr>
          <p:cNvPr id="2" name="object 2"/>
          <p:cNvSpPr txBox="1">
            <a:spLocks noGrp="1"/>
          </p:cNvSpPr>
          <p:nvPr>
            <p:ph type="ctrTitle" idx="4294967295"/>
          </p:nvPr>
        </p:nvSpPr>
        <p:spPr>
          <a:xfrm>
            <a:off x="1028382" y="1890355"/>
            <a:ext cx="10134600" cy="690574"/>
          </a:xfrm>
          <a:prstGeom prst="rect">
            <a:avLst/>
          </a:prstGeom>
        </p:spPr>
        <p:txBody>
          <a:bodyPr vert="horz" wrap="square" lIns="0" tIns="13335" rIns="0" bIns="0" rtlCol="0">
            <a:spAutoFit/>
          </a:bodyPr>
          <a:lstStyle/>
          <a:p>
            <a:pPr marL="12700" algn="ctr">
              <a:lnSpc>
                <a:spcPct val="100000"/>
              </a:lnSpc>
              <a:spcBef>
                <a:spcPts val="105"/>
              </a:spcBef>
            </a:pPr>
            <a:r>
              <a:rPr lang="en-AU" sz="4400" spc="5" dirty="0">
                <a:solidFill>
                  <a:srgbClr val="00B050"/>
                </a:solidFill>
                <a:latin typeface="Times New Roman" panose="02020603050405020304" pitchFamily="18" charset="0"/>
                <a:cs typeface="Times New Roman" panose="02020603050405020304" pitchFamily="18" charset="0"/>
              </a:rPr>
              <a:t>ADVANCED</a:t>
            </a:r>
            <a:r>
              <a:rPr lang="en-AU" sz="4400" spc="-30" dirty="0">
                <a:solidFill>
                  <a:srgbClr val="00B050"/>
                </a:solidFill>
                <a:latin typeface="Times New Roman" panose="02020603050405020304" pitchFamily="18" charset="0"/>
                <a:cs typeface="Times New Roman" panose="02020603050405020304" pitchFamily="18" charset="0"/>
              </a:rPr>
              <a:t> </a:t>
            </a:r>
            <a:r>
              <a:rPr lang="en-AU" sz="4400" spc="-15" dirty="0">
                <a:solidFill>
                  <a:srgbClr val="00B050"/>
                </a:solidFill>
                <a:latin typeface="Times New Roman" panose="02020603050405020304" pitchFamily="18" charset="0"/>
                <a:cs typeface="Times New Roman" panose="02020603050405020304" pitchFamily="18" charset="0"/>
              </a:rPr>
              <a:t>PROGRAMMING-ITIC 2223</a:t>
            </a:r>
          </a:p>
        </p:txBody>
      </p:sp>
      <p:sp>
        <p:nvSpPr>
          <p:cNvPr id="3" name="object 3"/>
          <p:cNvSpPr txBox="1"/>
          <p:nvPr/>
        </p:nvSpPr>
        <p:spPr>
          <a:xfrm>
            <a:off x="6400800" y="4648200"/>
            <a:ext cx="5590395" cy="1448473"/>
          </a:xfrm>
          <a:prstGeom prst="rect">
            <a:avLst/>
          </a:prstGeom>
        </p:spPr>
        <p:txBody>
          <a:bodyPr vert="horz" wrap="square" lIns="0" tIns="12065" rIns="0" bIns="0" rtlCol="0">
            <a:spAutoFit/>
          </a:bodyPr>
          <a:lstStyle/>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Ramesh Madhuranga</a:t>
            </a:r>
          </a:p>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MPhil.(Reading) (USJP), BICT (Hons) (RUSL), AMCSSL</a:t>
            </a:r>
          </a:p>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Department  of Biosystems Technology</a:t>
            </a:r>
          </a:p>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Faculty of Technology</a:t>
            </a:r>
          </a:p>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Kotelawala Defence University</a:t>
            </a:r>
          </a:p>
        </p:txBody>
      </p:sp>
      <p:sp>
        <p:nvSpPr>
          <p:cNvPr id="6" name="object 3"/>
          <p:cNvSpPr txBox="1"/>
          <p:nvPr/>
        </p:nvSpPr>
        <p:spPr>
          <a:xfrm>
            <a:off x="2204258" y="2774238"/>
            <a:ext cx="7696200" cy="443070"/>
          </a:xfrm>
          <a:prstGeom prst="rect">
            <a:avLst/>
          </a:prstGeom>
        </p:spPr>
        <p:txBody>
          <a:bodyPr vert="horz" wrap="square" lIns="0" tIns="12065" rIns="0" bIns="0" rtlCol="0">
            <a:spAutoFit/>
          </a:bodyPr>
          <a:lstStyle/>
          <a:p>
            <a:pPr marL="12700" algn="ctr">
              <a:lnSpc>
                <a:spcPct val="100000"/>
              </a:lnSpc>
              <a:spcBef>
                <a:spcPts val="95"/>
              </a:spcBef>
            </a:pPr>
            <a:r>
              <a:rPr lang="en-US" sz="2800" b="1" spc="-5" dirty="0">
                <a:solidFill>
                  <a:schemeClr val="accent3">
                    <a:lumMod val="50000"/>
                  </a:schemeClr>
                </a:solidFill>
                <a:latin typeface="Times New Roman" panose="02020603050405020304" pitchFamily="18" charset="0"/>
                <a:cs typeface="Times New Roman" panose="02020603050405020304" pitchFamily="18" charset="0"/>
              </a:rPr>
              <a:t>Lecture 07- File Handling</a:t>
            </a:r>
            <a:endParaRPr lang="en-US" sz="2800" dirty="0">
              <a:solidFill>
                <a:schemeClr val="accent3">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112316" y="671155"/>
            <a:ext cx="3994150" cy="628377"/>
          </a:xfrm>
          <a:prstGeom prst="rect">
            <a:avLst/>
          </a:prstGeom>
        </p:spPr>
        <p:txBody>
          <a:bodyPr vert="horz" wrap="square" lIns="0" tIns="12700" rIns="0" bIns="0" rtlCol="0">
            <a:spAutoFit/>
          </a:bodyPr>
          <a:lstStyle/>
          <a:p>
            <a:pPr marL="12700">
              <a:lnSpc>
                <a:spcPct val="100000"/>
              </a:lnSpc>
              <a:spcBef>
                <a:spcPts val="100"/>
              </a:spcBef>
            </a:pPr>
            <a:r>
              <a:rPr lang="en-AU" sz="4000" spc="10" dirty="0">
                <a:solidFill>
                  <a:srgbClr val="00B050"/>
                </a:solidFill>
                <a:latin typeface="Times New Roman" panose="02020603050405020304" pitchFamily="18" charset="0"/>
                <a:cs typeface="Times New Roman" panose="02020603050405020304" pitchFamily="18" charset="0"/>
              </a:rPr>
              <a:t>File handling </a:t>
            </a:r>
            <a:endParaRPr sz="4000" dirty="0">
              <a:solidFill>
                <a:srgbClr val="00B05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112316" y="1711579"/>
            <a:ext cx="10357485" cy="1761380"/>
          </a:xfrm>
          <a:prstGeom prst="rect">
            <a:avLst/>
          </a:prstGeom>
        </p:spPr>
        <p:txBody>
          <a:bodyPr vert="horz" wrap="square" lIns="0" tIns="12065" rIns="0" bIns="0" rtlCol="0">
            <a:spAutoFit/>
          </a:bodyPr>
          <a:lstStyle/>
          <a:p>
            <a:pPr marL="241300" indent="-229235" algn="just">
              <a:lnSpc>
                <a:spcPct val="10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800" spc="-5" dirty="0">
                <a:latin typeface="Times New Roman" panose="02020603050405020304" pitchFamily="18" charset="0"/>
                <a:cs typeface="Times New Roman" panose="02020603050405020304" pitchFamily="18" charset="0"/>
              </a:rPr>
              <a:t>File handling is an important part of any web application.</a:t>
            </a:r>
          </a:p>
          <a:p>
            <a:pPr marL="241300" indent="-229235" algn="just">
              <a:lnSpc>
                <a:spcPct val="10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endParaRPr lang="en-US" sz="2800" spc="-5" dirty="0">
              <a:latin typeface="Times New Roman" panose="02020603050405020304" pitchFamily="18" charset="0"/>
              <a:cs typeface="Times New Roman" panose="02020603050405020304" pitchFamily="18" charset="0"/>
            </a:endParaRPr>
          </a:p>
          <a:p>
            <a:pPr marL="241300" indent="-229235" algn="just">
              <a:lnSpc>
                <a:spcPct val="10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800" spc="-5" dirty="0">
                <a:latin typeface="Times New Roman" panose="02020603050405020304" pitchFamily="18" charset="0"/>
                <a:cs typeface="Times New Roman" panose="02020603050405020304" pitchFamily="18" charset="0"/>
              </a:rPr>
              <a:t>Python has several functions for </a:t>
            </a:r>
            <a:r>
              <a:rPr lang="en-US" sz="2800" b="1" spc="-5" dirty="0">
                <a:latin typeface="Times New Roman" panose="02020603050405020304" pitchFamily="18" charset="0"/>
                <a:cs typeface="Times New Roman" panose="02020603050405020304" pitchFamily="18" charset="0"/>
              </a:rPr>
              <a:t>creating</a:t>
            </a:r>
            <a:r>
              <a:rPr lang="en-US" sz="2800" spc="-5" dirty="0">
                <a:latin typeface="Times New Roman" panose="02020603050405020304" pitchFamily="18" charset="0"/>
                <a:cs typeface="Times New Roman" panose="02020603050405020304" pitchFamily="18" charset="0"/>
              </a:rPr>
              <a:t>, </a:t>
            </a:r>
            <a:r>
              <a:rPr lang="en-US" sz="2800" b="1" spc="-5" dirty="0">
                <a:latin typeface="Times New Roman" panose="02020603050405020304" pitchFamily="18" charset="0"/>
                <a:cs typeface="Times New Roman" panose="02020603050405020304" pitchFamily="18" charset="0"/>
              </a:rPr>
              <a:t>reading</a:t>
            </a:r>
            <a:r>
              <a:rPr lang="en-US" sz="2800" spc="-5" dirty="0">
                <a:latin typeface="Times New Roman" panose="02020603050405020304" pitchFamily="18" charset="0"/>
                <a:cs typeface="Times New Roman" panose="02020603050405020304" pitchFamily="18" charset="0"/>
              </a:rPr>
              <a:t>, </a:t>
            </a:r>
            <a:r>
              <a:rPr lang="en-US" sz="2800" b="1" spc="-5" dirty="0">
                <a:latin typeface="Times New Roman" panose="02020603050405020304" pitchFamily="18" charset="0"/>
                <a:cs typeface="Times New Roman" panose="02020603050405020304" pitchFamily="18" charset="0"/>
              </a:rPr>
              <a:t>updating</a:t>
            </a:r>
            <a:r>
              <a:rPr lang="en-US" sz="2800" spc="-5" dirty="0">
                <a:latin typeface="Times New Roman" panose="02020603050405020304" pitchFamily="18" charset="0"/>
                <a:cs typeface="Times New Roman" panose="02020603050405020304" pitchFamily="18" charset="0"/>
              </a:rPr>
              <a:t>, and </a:t>
            </a:r>
            <a:r>
              <a:rPr lang="en-US" sz="2800" b="1" spc="-5" dirty="0">
                <a:latin typeface="Times New Roman" panose="02020603050405020304" pitchFamily="18" charset="0"/>
                <a:cs typeface="Times New Roman" panose="02020603050405020304" pitchFamily="18" charset="0"/>
              </a:rPr>
              <a:t>deleting</a:t>
            </a:r>
            <a:r>
              <a:rPr lang="en-US" sz="2800" spc="-5" dirty="0">
                <a:latin typeface="Times New Roman" panose="02020603050405020304" pitchFamily="18" charset="0"/>
                <a:cs typeface="Times New Roman" panose="02020603050405020304" pitchFamily="18" charset="0"/>
              </a:rPr>
              <a:t> files.</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086158" y="685800"/>
            <a:ext cx="8793684" cy="505267"/>
          </a:xfrm>
          <a:prstGeom prst="rect">
            <a:avLst/>
          </a:prstGeom>
        </p:spPr>
        <p:txBody>
          <a:bodyPr vert="horz" wrap="square" lIns="0" tIns="12700" rIns="0" bIns="0" rtlCol="0">
            <a:spAutoFit/>
          </a:bodyPr>
          <a:lstStyle/>
          <a:p>
            <a:pPr marL="12700">
              <a:lnSpc>
                <a:spcPct val="100000"/>
              </a:lnSpc>
              <a:spcBef>
                <a:spcPts val="100"/>
              </a:spcBef>
            </a:pPr>
            <a:r>
              <a:rPr lang="en-US" sz="3200" spc="10" dirty="0">
                <a:solidFill>
                  <a:srgbClr val="00B050"/>
                </a:solidFill>
                <a:latin typeface="Times New Roman" panose="02020603050405020304" pitchFamily="18" charset="0"/>
                <a:cs typeface="Times New Roman" panose="02020603050405020304" pitchFamily="18" charset="0"/>
              </a:rPr>
              <a:t>Advantages of File Handling in Python</a:t>
            </a:r>
          </a:p>
        </p:txBody>
      </p:sp>
      <p:sp>
        <p:nvSpPr>
          <p:cNvPr id="3" name="object 3"/>
          <p:cNvSpPr txBox="1"/>
          <p:nvPr/>
        </p:nvSpPr>
        <p:spPr>
          <a:xfrm>
            <a:off x="1062274" y="1447800"/>
            <a:ext cx="10357485" cy="4560351"/>
          </a:xfrm>
          <a:prstGeom prst="rect">
            <a:avLst/>
          </a:prstGeom>
        </p:spPr>
        <p:txBody>
          <a:bodyPr vert="horz" wrap="square" lIns="0" tIns="12065" rIns="0" bIns="0" rtlCol="0">
            <a:spAutoFit/>
          </a:bodyPr>
          <a:lstStyle/>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200" b="1" spc="-5" dirty="0">
                <a:latin typeface="Times New Roman" panose="02020603050405020304" pitchFamily="18" charset="0"/>
                <a:cs typeface="Times New Roman" panose="02020603050405020304" pitchFamily="18" charset="0"/>
              </a:rPr>
              <a:t>Versatility: </a:t>
            </a:r>
            <a:r>
              <a:rPr lang="en-US" sz="2200" spc="-5" dirty="0">
                <a:latin typeface="Times New Roman" panose="02020603050405020304" pitchFamily="18" charset="0"/>
                <a:cs typeface="Times New Roman" panose="02020603050405020304" pitchFamily="18" charset="0"/>
              </a:rPr>
              <a:t>File handling in Python allows you to perform a wide range of operations, such as creating, reading, writing, appending, renaming, and deleting files.</a:t>
            </a:r>
          </a:p>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200" b="1" spc="-5" dirty="0">
                <a:latin typeface="Times New Roman" panose="02020603050405020304" pitchFamily="18" charset="0"/>
                <a:cs typeface="Times New Roman" panose="02020603050405020304" pitchFamily="18" charset="0"/>
              </a:rPr>
              <a:t>Flexibility: </a:t>
            </a:r>
            <a:r>
              <a:rPr lang="en-US" sz="2200" spc="-5" dirty="0">
                <a:latin typeface="Times New Roman" panose="02020603050405020304" pitchFamily="18" charset="0"/>
                <a:cs typeface="Times New Roman" panose="02020603050405020304" pitchFamily="18" charset="0"/>
              </a:rPr>
              <a:t>File handling in Python is highly flexible, as it allows you to work with different file types (e.g. text files, binary files, CSV files, etc.), and to perform different operations on files (e.g. read, write, append, etc.).</a:t>
            </a:r>
          </a:p>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200" b="1" spc="-5" dirty="0">
                <a:latin typeface="Times New Roman" panose="02020603050405020304" pitchFamily="18" charset="0"/>
                <a:cs typeface="Times New Roman" panose="02020603050405020304" pitchFamily="18" charset="0"/>
              </a:rPr>
              <a:t>User–friendly: </a:t>
            </a:r>
            <a:r>
              <a:rPr lang="en-US" sz="2200" spc="-5" dirty="0">
                <a:latin typeface="Times New Roman" panose="02020603050405020304" pitchFamily="18" charset="0"/>
                <a:cs typeface="Times New Roman" panose="02020603050405020304" pitchFamily="18" charset="0"/>
              </a:rPr>
              <a:t>Python provides a user-friendly interface for file handling, making it easy to create, read, and manipulate files.</a:t>
            </a:r>
          </a:p>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200" b="1" spc="-5" dirty="0">
                <a:latin typeface="Times New Roman" panose="02020603050405020304" pitchFamily="18" charset="0"/>
                <a:cs typeface="Times New Roman" panose="02020603050405020304" pitchFamily="18" charset="0"/>
              </a:rPr>
              <a:t>Cross-platform: </a:t>
            </a:r>
            <a:r>
              <a:rPr lang="en-US" sz="2200" spc="-5" dirty="0">
                <a:latin typeface="Times New Roman" panose="02020603050405020304" pitchFamily="18" charset="0"/>
                <a:cs typeface="Times New Roman" panose="02020603050405020304" pitchFamily="18" charset="0"/>
              </a:rPr>
              <a:t>Python file-handling functions work across different platforms (e.g. Windows, Mac, Linux), allowing for seamless integration and compatibility.</a:t>
            </a:r>
            <a:endParaRP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59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062274" y="499281"/>
            <a:ext cx="8793684" cy="505267"/>
          </a:xfrm>
          <a:prstGeom prst="rect">
            <a:avLst/>
          </a:prstGeom>
        </p:spPr>
        <p:txBody>
          <a:bodyPr vert="horz" wrap="square" lIns="0" tIns="12700" rIns="0" bIns="0" rtlCol="0">
            <a:spAutoFit/>
          </a:bodyPr>
          <a:lstStyle/>
          <a:p>
            <a:pPr marL="12700">
              <a:lnSpc>
                <a:spcPct val="100000"/>
              </a:lnSpc>
              <a:spcBef>
                <a:spcPts val="100"/>
              </a:spcBef>
            </a:pPr>
            <a:r>
              <a:rPr lang="en-US" sz="3200" spc="10" dirty="0">
                <a:solidFill>
                  <a:srgbClr val="00B050"/>
                </a:solidFill>
                <a:latin typeface="Times New Roman" panose="02020603050405020304" pitchFamily="18" charset="0"/>
                <a:cs typeface="Times New Roman" panose="02020603050405020304" pitchFamily="18" charset="0"/>
              </a:rPr>
              <a:t>Disadvantages of File Handling in Python</a:t>
            </a:r>
          </a:p>
        </p:txBody>
      </p:sp>
      <p:sp>
        <p:nvSpPr>
          <p:cNvPr id="3" name="object 3"/>
          <p:cNvSpPr txBox="1"/>
          <p:nvPr/>
        </p:nvSpPr>
        <p:spPr>
          <a:xfrm>
            <a:off x="1042940" y="1143000"/>
            <a:ext cx="10357485" cy="4840043"/>
          </a:xfrm>
          <a:prstGeom prst="rect">
            <a:avLst/>
          </a:prstGeom>
        </p:spPr>
        <p:txBody>
          <a:bodyPr vert="horz" wrap="square" lIns="0" tIns="12065" rIns="0" bIns="0" rtlCol="0">
            <a:spAutoFit/>
          </a:bodyPr>
          <a:lstStyle/>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100" b="1" spc="-5" dirty="0">
                <a:latin typeface="Times New Roman" panose="02020603050405020304" pitchFamily="18" charset="0"/>
                <a:cs typeface="Times New Roman" panose="02020603050405020304" pitchFamily="18" charset="0"/>
              </a:rPr>
              <a:t>Error-prone: </a:t>
            </a:r>
            <a:r>
              <a:rPr lang="en-US" sz="2100" spc="-5" dirty="0">
                <a:latin typeface="Times New Roman" panose="02020603050405020304" pitchFamily="18" charset="0"/>
                <a:cs typeface="Times New Roman" panose="02020603050405020304" pitchFamily="18" charset="0"/>
              </a:rPr>
              <a:t>File handling operations in Python can be prone to errors, especially if the code is not carefully written or if there are issues with the file system (e.g. file permissions, file locks, etc.).</a:t>
            </a:r>
          </a:p>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100" b="1" spc="-5" dirty="0">
                <a:latin typeface="Times New Roman" panose="02020603050405020304" pitchFamily="18" charset="0"/>
                <a:cs typeface="Times New Roman" panose="02020603050405020304" pitchFamily="18" charset="0"/>
              </a:rPr>
              <a:t>Security risks: </a:t>
            </a:r>
            <a:r>
              <a:rPr lang="en-US" sz="2100" spc="-5" dirty="0">
                <a:latin typeface="Times New Roman" panose="02020603050405020304" pitchFamily="18" charset="0"/>
                <a:cs typeface="Times New Roman" panose="02020603050405020304" pitchFamily="18" charset="0"/>
              </a:rPr>
              <a:t>File handling in Python can also pose security risks, especially if the program accepts user input that can be used to access or modify sensitive files on the system.</a:t>
            </a:r>
          </a:p>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100" b="1" spc="-5" dirty="0">
                <a:latin typeface="Times New Roman" panose="02020603050405020304" pitchFamily="18" charset="0"/>
                <a:cs typeface="Times New Roman" panose="02020603050405020304" pitchFamily="18" charset="0"/>
              </a:rPr>
              <a:t>Complexity: </a:t>
            </a:r>
            <a:r>
              <a:rPr lang="en-US" sz="2100" spc="-5" dirty="0">
                <a:latin typeface="Times New Roman" panose="02020603050405020304" pitchFamily="18" charset="0"/>
                <a:cs typeface="Times New Roman" panose="02020603050405020304" pitchFamily="18" charset="0"/>
              </a:rPr>
              <a:t>File handling in Python can be complex, especially when working with more advanced file formats or operations. Careful attention must be paid to the code to ensure that files are handled properly and securely.</a:t>
            </a:r>
          </a:p>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100" b="1" spc="-5" dirty="0">
                <a:latin typeface="Times New Roman" panose="02020603050405020304" pitchFamily="18" charset="0"/>
                <a:cs typeface="Times New Roman" panose="02020603050405020304" pitchFamily="18" charset="0"/>
              </a:rPr>
              <a:t>Performance: </a:t>
            </a:r>
            <a:r>
              <a:rPr lang="en-US" sz="2100" spc="-5" dirty="0">
                <a:latin typeface="Times New Roman" panose="02020603050405020304" pitchFamily="18" charset="0"/>
                <a:cs typeface="Times New Roman" panose="02020603050405020304" pitchFamily="18" charset="0"/>
              </a:rPr>
              <a:t>File handling operations in Python can be slower than other programming languages, especially when dealing with large files or performing complex operations.</a:t>
            </a:r>
            <a:endParaRPr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316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062274" y="499281"/>
            <a:ext cx="8793684" cy="505267"/>
          </a:xfrm>
          <a:prstGeom prst="rect">
            <a:avLst/>
          </a:prstGeom>
        </p:spPr>
        <p:txBody>
          <a:bodyPr vert="horz" wrap="square" lIns="0" tIns="12700" rIns="0" bIns="0" rtlCol="0">
            <a:spAutoFit/>
          </a:bodyPr>
          <a:lstStyle/>
          <a:p>
            <a:pPr marL="12700">
              <a:lnSpc>
                <a:spcPct val="100000"/>
              </a:lnSpc>
              <a:spcBef>
                <a:spcPts val="100"/>
              </a:spcBef>
            </a:pPr>
            <a:r>
              <a:rPr lang="en-US" sz="3200" spc="10" dirty="0">
                <a:solidFill>
                  <a:srgbClr val="00B050"/>
                </a:solidFill>
                <a:latin typeface="Times New Roman" panose="02020603050405020304" pitchFamily="18" charset="0"/>
                <a:cs typeface="Times New Roman" panose="02020603050405020304" pitchFamily="18" charset="0"/>
              </a:rPr>
              <a:t>Reading and Writing to text files in Python</a:t>
            </a:r>
          </a:p>
        </p:txBody>
      </p:sp>
      <p:sp>
        <p:nvSpPr>
          <p:cNvPr id="3" name="object 3"/>
          <p:cNvSpPr txBox="1"/>
          <p:nvPr/>
        </p:nvSpPr>
        <p:spPr>
          <a:xfrm>
            <a:off x="1042940" y="1143000"/>
            <a:ext cx="10357485" cy="4841710"/>
          </a:xfrm>
          <a:prstGeom prst="rect">
            <a:avLst/>
          </a:prstGeom>
        </p:spPr>
        <p:txBody>
          <a:bodyPr vert="horz" wrap="square" lIns="0" tIns="12065" rIns="0" bIns="0" rtlCol="0">
            <a:spAutoFit/>
          </a:bodyPr>
          <a:lstStyle/>
          <a:p>
            <a:pPr marL="12065" algn="just">
              <a:lnSpc>
                <a:spcPct val="15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100" spc="-5" dirty="0">
                <a:latin typeface="Times New Roman" panose="02020603050405020304" pitchFamily="18" charset="0"/>
                <a:cs typeface="Times New Roman" panose="02020603050405020304" pitchFamily="18" charset="0"/>
              </a:rPr>
              <a:t>Python provides built-in functions for creating, writing, and reading files. Two types of files can be handled in Python, normal text files and binary files (written in binary language, 0s, and 1s).</a:t>
            </a:r>
          </a:p>
          <a:p>
            <a:pPr marL="12065" algn="just">
              <a:lnSpc>
                <a:spcPct val="15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endParaRPr lang="en-US" sz="2100" spc="-5" dirty="0">
              <a:latin typeface="Times New Roman" panose="02020603050405020304" pitchFamily="18" charset="0"/>
              <a:cs typeface="Times New Roman" panose="02020603050405020304" pitchFamily="18" charset="0"/>
            </a:endParaRPr>
          </a:p>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solidFill>
                  <a:srgbClr val="FF0000"/>
                </a:solidFill>
                <a:latin typeface="Times New Roman" panose="02020603050405020304" pitchFamily="18" charset="0"/>
                <a:cs typeface="Times New Roman" panose="02020603050405020304" pitchFamily="18" charset="0"/>
              </a:rPr>
              <a:t>Text files: </a:t>
            </a:r>
            <a:r>
              <a:rPr lang="en-US" sz="2400" spc="-5" dirty="0">
                <a:latin typeface="Times New Roman" panose="02020603050405020304" pitchFamily="18" charset="0"/>
                <a:cs typeface="Times New Roman" panose="02020603050405020304" pitchFamily="18" charset="0"/>
              </a:rPr>
              <a:t>In this type of file, Each line of text is terminated with a special character called EOL (End of Line), which is the new line character (‘\n’) in Python by default.</a:t>
            </a:r>
          </a:p>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endParaRPr lang="en-US" sz="2400" spc="-5" dirty="0">
              <a:latin typeface="Times New Roman" panose="02020603050405020304" pitchFamily="18" charset="0"/>
              <a:cs typeface="Times New Roman" panose="02020603050405020304" pitchFamily="18" charset="0"/>
            </a:endParaRPr>
          </a:p>
          <a:p>
            <a:pPr marL="241300" indent="-229235" algn="just">
              <a:lnSpc>
                <a:spcPct val="150000"/>
              </a:lnSpc>
              <a:spcBef>
                <a:spcPts val="95"/>
              </a:spcBef>
              <a:buClr>
                <a:srgbClr val="4471C4"/>
              </a:buClr>
              <a:buFont typeface="Wingdings"/>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solidFill>
                  <a:srgbClr val="FF0000"/>
                </a:solidFill>
                <a:latin typeface="Times New Roman" panose="02020603050405020304" pitchFamily="18" charset="0"/>
                <a:cs typeface="Times New Roman" panose="02020603050405020304" pitchFamily="18" charset="0"/>
              </a:rPr>
              <a:t>Binary files: </a:t>
            </a:r>
            <a:r>
              <a:rPr lang="en-US" sz="2400" spc="-5" dirty="0">
                <a:latin typeface="Times New Roman" panose="02020603050405020304" pitchFamily="18" charset="0"/>
                <a:cs typeface="Times New Roman" panose="02020603050405020304" pitchFamily="18" charset="0"/>
              </a:rPr>
              <a:t>In this type of file, there is no terminator for a line, and the data is stored after converting it into machine-understandable binary language.</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5217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079334" y="576178"/>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File Access Modes</a:t>
            </a:r>
          </a:p>
        </p:txBody>
      </p:sp>
      <p:sp>
        <p:nvSpPr>
          <p:cNvPr id="3" name="object 3"/>
          <p:cNvSpPr txBox="1"/>
          <p:nvPr/>
        </p:nvSpPr>
        <p:spPr>
          <a:xfrm>
            <a:off x="914400" y="1295400"/>
            <a:ext cx="10357485" cy="4739118"/>
          </a:xfrm>
          <a:prstGeom prst="rect">
            <a:avLst/>
          </a:prstGeom>
        </p:spPr>
        <p:txBody>
          <a:bodyPr vert="horz" wrap="square" lIns="0" tIns="12065" rIns="0" bIns="0" rtlCol="0">
            <a:spAutoFit/>
          </a:bodyPr>
          <a:lstStyle/>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Access modes govern the type of operations possible in the opened file. </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It refers to how the file will be used once its opened. </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These modes also define the location of the File Handle in the file. </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The file handle is like a cursor, which defines from where the data has to be read or written in the file and we can get Python output in text file.</a:t>
            </a:r>
          </a:p>
          <a:p>
            <a:pPr marL="12065" algn="just">
              <a:lnSpc>
                <a:spcPct val="15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endParaRPr lang="en-US" sz="2100" spc="-5" dirty="0">
              <a:latin typeface="Times New Roman" panose="02020603050405020304" pitchFamily="18" charset="0"/>
              <a:cs typeface="Times New Roman" panose="02020603050405020304" pitchFamily="18" charset="0"/>
            </a:endParaRPr>
          </a:p>
          <a:p>
            <a:pPr marL="12065" algn="just">
              <a:lnSpc>
                <a:spcPct val="15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endParaRPr lang="en-US" sz="2100" spc="-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2706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There are 6 access modes in Python:</a:t>
            </a:r>
          </a:p>
        </p:txBody>
      </p:sp>
      <p:sp>
        <p:nvSpPr>
          <p:cNvPr id="3" name="object 3"/>
          <p:cNvSpPr txBox="1"/>
          <p:nvPr/>
        </p:nvSpPr>
        <p:spPr>
          <a:xfrm>
            <a:off x="914400" y="1295400"/>
            <a:ext cx="10357485" cy="4395755"/>
          </a:xfrm>
          <a:prstGeom prst="rect">
            <a:avLst/>
          </a:prstGeom>
        </p:spPr>
        <p:txBody>
          <a:bodyPr vert="horz" wrap="square" lIns="0" tIns="12065" rIns="0" bIns="0" rtlCol="0">
            <a:spAutoFit/>
          </a:bodyPr>
          <a:lstStyle/>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Read Only (‘r’)</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Read and Write (‘r+’)</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Write Only (‘w’)</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Write and Read (‘w+’)</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Append Only (‘a’)</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spc="-5" dirty="0">
                <a:latin typeface="Times New Roman" panose="02020603050405020304" pitchFamily="18" charset="0"/>
                <a:cs typeface="Times New Roman" panose="02020603050405020304" pitchFamily="18" charset="0"/>
              </a:rPr>
              <a:t>Append and Read (‘a+’)</a:t>
            </a:r>
            <a:endParaRPr lang="en-US" sz="2100" spc="-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354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Access modes in Python:</a:t>
            </a:r>
          </a:p>
        </p:txBody>
      </p:sp>
      <p:sp>
        <p:nvSpPr>
          <p:cNvPr id="3" name="object 3"/>
          <p:cNvSpPr txBox="1"/>
          <p:nvPr/>
        </p:nvSpPr>
        <p:spPr>
          <a:xfrm>
            <a:off x="914400" y="1295400"/>
            <a:ext cx="10357485" cy="4962256"/>
          </a:xfrm>
          <a:prstGeom prst="rect">
            <a:avLst/>
          </a:prstGeom>
        </p:spPr>
        <p:txBody>
          <a:bodyPr vert="horz" wrap="square" lIns="0" tIns="12065" rIns="0" bIns="0" rtlCol="0">
            <a:spAutoFit/>
          </a:bodyPr>
          <a:lstStyle/>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b="1" spc="-5" dirty="0">
                <a:solidFill>
                  <a:srgbClr val="002060"/>
                </a:solidFill>
                <a:latin typeface="Times New Roman" panose="02020603050405020304" pitchFamily="18" charset="0"/>
                <a:cs typeface="Times New Roman" panose="02020603050405020304" pitchFamily="18" charset="0"/>
              </a:rPr>
              <a:t>Read Only (‘r’) : </a:t>
            </a:r>
            <a:r>
              <a:rPr lang="en-US" sz="2000" spc="-5" dirty="0">
                <a:latin typeface="Times New Roman" panose="02020603050405020304" pitchFamily="18" charset="0"/>
                <a:cs typeface="Times New Roman" panose="02020603050405020304" pitchFamily="18" charset="0"/>
              </a:rPr>
              <a:t>Open text file for reading. The handle is positioned at the beginning of the file. If the file does not exist, raises the I/O error. This is also the default mode in which a file is opened.</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b="1" spc="-5" dirty="0">
                <a:solidFill>
                  <a:srgbClr val="002060"/>
                </a:solidFill>
                <a:latin typeface="Times New Roman" panose="02020603050405020304" pitchFamily="18" charset="0"/>
                <a:cs typeface="Times New Roman" panose="02020603050405020304" pitchFamily="18" charset="0"/>
              </a:rPr>
              <a:t>Read and Write (‘r+’): </a:t>
            </a:r>
            <a:r>
              <a:rPr lang="en-US" sz="2000" spc="-5" dirty="0">
                <a:latin typeface="Times New Roman" panose="02020603050405020304" pitchFamily="18" charset="0"/>
                <a:cs typeface="Times New Roman" panose="02020603050405020304" pitchFamily="18" charset="0"/>
              </a:rPr>
              <a:t>Open the file for reading and writing. The handle is positioned at the beginning of the file. Raises I/O error if the file does not exist.</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b="1" spc="-5" dirty="0">
                <a:solidFill>
                  <a:srgbClr val="002060"/>
                </a:solidFill>
                <a:latin typeface="Times New Roman" panose="02020603050405020304" pitchFamily="18" charset="0"/>
                <a:cs typeface="Times New Roman" panose="02020603050405020304" pitchFamily="18" charset="0"/>
              </a:rPr>
              <a:t>Write Only (‘w’) : </a:t>
            </a:r>
            <a:r>
              <a:rPr lang="en-US" sz="2000" spc="-5" dirty="0">
                <a:latin typeface="Times New Roman" panose="02020603050405020304" pitchFamily="18" charset="0"/>
                <a:cs typeface="Times New Roman" panose="02020603050405020304" pitchFamily="18" charset="0"/>
              </a:rPr>
              <a:t>Open the file for writing. For the existing files, the data is truncated and over-written. The handle is positioned at the beginning of the file. Creates the file if the file does not exist.</a:t>
            </a:r>
            <a:endParaRPr lang="en-US" sz="2100" spc="-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719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Access modes in Python:</a:t>
            </a:r>
          </a:p>
        </p:txBody>
      </p:sp>
      <p:sp>
        <p:nvSpPr>
          <p:cNvPr id="3" name="object 3"/>
          <p:cNvSpPr txBox="1"/>
          <p:nvPr/>
        </p:nvSpPr>
        <p:spPr>
          <a:xfrm>
            <a:off x="914400" y="1295400"/>
            <a:ext cx="10357485" cy="4962256"/>
          </a:xfrm>
          <a:prstGeom prst="rect">
            <a:avLst/>
          </a:prstGeom>
        </p:spPr>
        <p:txBody>
          <a:bodyPr vert="horz" wrap="square" lIns="0" tIns="12065" rIns="0" bIns="0" rtlCol="0">
            <a:spAutoFit/>
          </a:bodyPr>
          <a:lstStyle/>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b="1" spc="-5" dirty="0">
                <a:solidFill>
                  <a:srgbClr val="002060"/>
                </a:solidFill>
                <a:latin typeface="Times New Roman" panose="02020603050405020304" pitchFamily="18" charset="0"/>
                <a:cs typeface="Times New Roman" panose="02020603050405020304" pitchFamily="18" charset="0"/>
              </a:rPr>
              <a:t>Write and Read (‘w+’) : </a:t>
            </a:r>
            <a:r>
              <a:rPr lang="en-US" sz="2000" spc="-5" dirty="0">
                <a:latin typeface="Times New Roman" panose="02020603050405020304" pitchFamily="18" charset="0"/>
                <a:cs typeface="Times New Roman" panose="02020603050405020304" pitchFamily="18" charset="0"/>
              </a:rPr>
              <a:t>Open the file for reading and writing. For an existing file, data is truncated and over-written. The handle is positioned at the beginning of the file.</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b="1" spc="-5" dirty="0">
                <a:solidFill>
                  <a:srgbClr val="002060"/>
                </a:solidFill>
                <a:latin typeface="Times New Roman" panose="02020603050405020304" pitchFamily="18" charset="0"/>
                <a:cs typeface="Times New Roman" panose="02020603050405020304" pitchFamily="18" charset="0"/>
              </a:rPr>
              <a:t>Append Only (‘a’) : </a:t>
            </a:r>
            <a:r>
              <a:rPr lang="en-US" sz="2000" spc="-5" dirty="0">
                <a:latin typeface="Times New Roman" panose="02020603050405020304" pitchFamily="18" charset="0"/>
                <a:cs typeface="Times New Roman" panose="02020603050405020304" pitchFamily="18" charset="0"/>
              </a:rPr>
              <a:t>Open the file for writing. The file is created if it does not exist. The handle is positioned at the end of the file. The data being written will be inserted at the end, after the existing data.</a:t>
            </a:r>
          </a:p>
          <a:p>
            <a:pPr marL="354965" indent="-342900" algn="just">
              <a:lnSpc>
                <a:spcPct val="200000"/>
              </a:lnSpc>
              <a:spcBef>
                <a:spcPts val="95"/>
              </a:spcBef>
              <a:buClr>
                <a:srgbClr val="4471C4"/>
              </a:buClr>
              <a:buFont typeface="Wingdings" panose="05000000000000000000" pitchFamily="2" charset="2"/>
              <a:buChar cha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b="1" spc="-5" dirty="0">
                <a:solidFill>
                  <a:srgbClr val="002060"/>
                </a:solidFill>
                <a:latin typeface="Times New Roman" panose="02020603050405020304" pitchFamily="18" charset="0"/>
                <a:cs typeface="Times New Roman" panose="02020603050405020304" pitchFamily="18" charset="0"/>
              </a:rPr>
              <a:t>Append and Read (‘a+’) </a:t>
            </a:r>
            <a:r>
              <a:rPr lang="en-US" sz="2000" spc="-5" dirty="0">
                <a:latin typeface="Times New Roman" panose="02020603050405020304" pitchFamily="18" charset="0"/>
                <a:cs typeface="Times New Roman" panose="02020603050405020304" pitchFamily="18" charset="0"/>
              </a:rPr>
              <a:t>: Open the file for reading and writing. The file is created if it does not exist. The handle is positioned at the end of the file. The data being written will be inserted at the end, after the existing data.</a:t>
            </a:r>
          </a:p>
        </p:txBody>
      </p:sp>
    </p:spTree>
    <p:extLst>
      <p:ext uri="{BB962C8B-B14F-4D97-AF65-F5344CB8AC3E}">
        <p14:creationId xmlns:p14="http://schemas.microsoft.com/office/powerpoint/2010/main" val="3678397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Opening a Text File in Python</a:t>
            </a:r>
          </a:p>
        </p:txBody>
      </p:sp>
      <p:sp>
        <p:nvSpPr>
          <p:cNvPr id="4" name="object 3"/>
          <p:cNvSpPr txBox="1"/>
          <p:nvPr/>
        </p:nvSpPr>
        <p:spPr>
          <a:xfrm>
            <a:off x="914400" y="1295400"/>
            <a:ext cx="10357485" cy="543482"/>
          </a:xfrm>
          <a:prstGeom prst="rect">
            <a:avLst/>
          </a:prstGeom>
        </p:spPr>
        <p:txBody>
          <a:bodyPr vert="horz" wrap="square" lIns="0" tIns="12065" rIns="0" bIns="0" rtlCol="0">
            <a:spAutoFit/>
          </a:bodyPr>
          <a:lstStyle/>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spc="-5" dirty="0" err="1">
                <a:solidFill>
                  <a:srgbClr val="002060"/>
                </a:solidFill>
                <a:latin typeface="Book Antiqua" panose="02040602050305030304" pitchFamily="18" charset="0"/>
                <a:cs typeface="Times New Roman" panose="02020603050405020304" pitchFamily="18" charset="0"/>
              </a:rPr>
              <a:t>File_object</a:t>
            </a:r>
            <a:r>
              <a:rPr lang="en-US" sz="2000" spc="-5" dirty="0">
                <a:solidFill>
                  <a:srgbClr val="002060"/>
                </a:solidFill>
                <a:latin typeface="Book Antiqua" panose="02040602050305030304" pitchFamily="18" charset="0"/>
                <a:cs typeface="Times New Roman" panose="02020603050405020304" pitchFamily="18" charset="0"/>
              </a:rPr>
              <a:t> = open (r"File_Name","</a:t>
            </a:r>
            <a:r>
              <a:rPr lang="en-US" sz="2000" spc="-5" dirty="0" err="1">
                <a:solidFill>
                  <a:srgbClr val="002060"/>
                </a:solidFill>
                <a:latin typeface="Book Antiqua" panose="02040602050305030304" pitchFamily="18" charset="0"/>
                <a:cs typeface="Times New Roman" panose="02020603050405020304" pitchFamily="18" charset="0"/>
              </a:rPr>
              <a:t>Access_Mode</a:t>
            </a:r>
            <a:r>
              <a:rPr lang="en-US" sz="2000" spc="-5" dirty="0">
                <a:solidFill>
                  <a:srgbClr val="002060"/>
                </a:solidFill>
                <a:latin typeface="Book Antiqua" panose="02040602050305030304" pitchFamily="18" charset="0"/>
                <a:cs typeface="Times New Roman" panose="02020603050405020304" pitchFamily="18" charset="0"/>
              </a:rPr>
              <a:t>")</a:t>
            </a:r>
            <a:endParaRPr lang="en-US" sz="2000" spc="-5" dirty="0">
              <a:latin typeface="Book Antiqua" panose="02040602050305030304" pitchFamily="18" charset="0"/>
              <a:cs typeface="Times New Roman" panose="02020603050405020304" pitchFamily="18" charset="0"/>
            </a:endParaRPr>
          </a:p>
        </p:txBody>
      </p:sp>
      <p:sp>
        <p:nvSpPr>
          <p:cNvPr id="5" name="object 3"/>
          <p:cNvSpPr txBox="1"/>
          <p:nvPr/>
        </p:nvSpPr>
        <p:spPr>
          <a:xfrm>
            <a:off x="914399" y="2133600"/>
            <a:ext cx="10357485" cy="3769622"/>
          </a:xfrm>
          <a:prstGeom prst="rect">
            <a:avLst/>
          </a:prstGeom>
        </p:spPr>
        <p:txBody>
          <a:bodyPr vert="horz" wrap="square" lIns="0" tIns="12065" rIns="0" bIns="0" rtlCol="0">
            <a:spAutoFit/>
          </a:bodyPr>
          <a:lstStyle/>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spc="-5" dirty="0">
                <a:latin typeface="Book Antiqua" panose="02040602050305030304" pitchFamily="18" charset="0"/>
                <a:cs typeface="Times New Roman" panose="02020603050405020304" pitchFamily="18" charset="0"/>
              </a:rPr>
              <a:t># Open function to open the file "MyFile1.txt"</a:t>
            </a:r>
          </a:p>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spc="-5" dirty="0">
                <a:latin typeface="Book Antiqua" panose="02040602050305030304" pitchFamily="18" charset="0"/>
                <a:cs typeface="Times New Roman" panose="02020603050405020304" pitchFamily="18" charset="0"/>
              </a:rPr>
              <a:t># (same directory) in append mode and</a:t>
            </a:r>
          </a:p>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i="1" spc="-5" dirty="0">
                <a:solidFill>
                  <a:srgbClr val="FF0000"/>
                </a:solidFill>
                <a:latin typeface="Book Antiqua" panose="02040602050305030304" pitchFamily="18" charset="0"/>
                <a:cs typeface="Times New Roman" panose="02020603050405020304" pitchFamily="18" charset="0"/>
              </a:rPr>
              <a:t>file1 = open("MyFile1.txt","a")</a:t>
            </a:r>
          </a:p>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spc="-5" dirty="0">
                <a:latin typeface="Book Antiqua" panose="02040602050305030304" pitchFamily="18" charset="0"/>
                <a:cs typeface="Times New Roman" panose="02020603050405020304" pitchFamily="18" charset="0"/>
              </a:rPr>
              <a:t># store its reference in the variable file1</a:t>
            </a:r>
          </a:p>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spc="-5" dirty="0">
                <a:latin typeface="Book Antiqua" panose="02040602050305030304" pitchFamily="18" charset="0"/>
                <a:cs typeface="Times New Roman" panose="02020603050405020304" pitchFamily="18" charset="0"/>
              </a:rPr>
              <a:t># and "MyFile2.txt" in D:\Text in file2</a:t>
            </a:r>
          </a:p>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i="1" spc="-5" dirty="0">
                <a:solidFill>
                  <a:srgbClr val="FF0000"/>
                </a:solidFill>
                <a:latin typeface="Book Antiqua" panose="02040602050305030304" pitchFamily="18" charset="0"/>
                <a:cs typeface="Times New Roman" panose="02020603050405020304" pitchFamily="18" charset="0"/>
              </a:rPr>
              <a:t>file2 = open(</a:t>
            </a:r>
            <a:r>
              <a:rPr lang="en-US" sz="2000" i="1" spc="-5" dirty="0" err="1">
                <a:solidFill>
                  <a:srgbClr val="FF0000"/>
                </a:solidFill>
                <a:latin typeface="Book Antiqua" panose="02040602050305030304" pitchFamily="18" charset="0"/>
                <a:cs typeface="Times New Roman" panose="02020603050405020304" pitchFamily="18" charset="0"/>
              </a:rPr>
              <a:t>r"D</a:t>
            </a:r>
            <a:r>
              <a:rPr lang="en-US" sz="2000" i="1" spc="-5" dirty="0">
                <a:solidFill>
                  <a:srgbClr val="FF0000"/>
                </a:solidFill>
                <a:latin typeface="Book Antiqua" panose="02040602050305030304" pitchFamily="18" charset="0"/>
                <a:cs typeface="Times New Roman" panose="02020603050405020304" pitchFamily="18" charset="0"/>
              </a:rPr>
              <a:t>:\Text\MyFile2.txt","w+")</a:t>
            </a:r>
          </a:p>
        </p:txBody>
      </p:sp>
    </p:spTree>
    <p:extLst>
      <p:ext uri="{BB962C8B-B14F-4D97-AF65-F5344CB8AC3E}">
        <p14:creationId xmlns:p14="http://schemas.microsoft.com/office/powerpoint/2010/main" val="1842096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Closing a Text File in Python</a:t>
            </a:r>
          </a:p>
        </p:txBody>
      </p:sp>
      <p:sp>
        <p:nvSpPr>
          <p:cNvPr id="4" name="object 3"/>
          <p:cNvSpPr txBox="1"/>
          <p:nvPr/>
        </p:nvSpPr>
        <p:spPr>
          <a:xfrm>
            <a:off x="914400" y="1295400"/>
            <a:ext cx="10357485" cy="650050"/>
          </a:xfrm>
          <a:prstGeom prst="rect">
            <a:avLst/>
          </a:prstGeom>
        </p:spPr>
        <p:txBody>
          <a:bodyPr vert="horz" wrap="square" lIns="0" tIns="12065" rIns="0" bIns="0" rtlCol="0">
            <a:spAutoFit/>
          </a:bodyPr>
          <a:lstStyle/>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AU" sz="2400" dirty="0" err="1">
                <a:solidFill>
                  <a:srgbClr val="002060"/>
                </a:solidFill>
                <a:latin typeface="Book Antiqua" panose="02040602050305030304" pitchFamily="18" charset="0"/>
              </a:rPr>
              <a:t>File_object.close</a:t>
            </a:r>
            <a:r>
              <a:rPr lang="en-AU" sz="2400" dirty="0">
                <a:solidFill>
                  <a:srgbClr val="002060"/>
                </a:solidFill>
                <a:latin typeface="Book Antiqua" panose="02040602050305030304" pitchFamily="18" charset="0"/>
              </a:rPr>
              <a:t>()</a:t>
            </a:r>
            <a:endParaRPr lang="en-US" sz="2400" spc="-5" dirty="0">
              <a:solidFill>
                <a:srgbClr val="002060"/>
              </a:solidFill>
              <a:latin typeface="Book Antiqua" panose="02040602050305030304" pitchFamily="18" charset="0"/>
              <a:cs typeface="Times New Roman" panose="02020603050405020304" pitchFamily="18" charset="0"/>
            </a:endParaRPr>
          </a:p>
        </p:txBody>
      </p:sp>
      <p:sp>
        <p:nvSpPr>
          <p:cNvPr id="5" name="object 3"/>
          <p:cNvSpPr txBox="1"/>
          <p:nvPr/>
        </p:nvSpPr>
        <p:spPr>
          <a:xfrm>
            <a:off x="914399" y="2133600"/>
            <a:ext cx="10357485" cy="2512867"/>
          </a:xfrm>
          <a:prstGeom prst="rect">
            <a:avLst/>
          </a:prstGeom>
        </p:spPr>
        <p:txBody>
          <a:bodyPr vert="horz" wrap="square" lIns="0" tIns="12065" rIns="0" bIns="0" rtlCol="0">
            <a:spAutoFit/>
          </a:bodyPr>
          <a:lstStyle/>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spc="-5" dirty="0">
                <a:latin typeface="Book Antiqua" panose="02040602050305030304" pitchFamily="18" charset="0"/>
                <a:cs typeface="Times New Roman" panose="02020603050405020304" pitchFamily="18" charset="0"/>
              </a:rPr>
              <a:t># Opening and Closing a file "MyFile.txt"</a:t>
            </a:r>
          </a:p>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spc="-5" dirty="0">
                <a:latin typeface="Book Antiqua" panose="02040602050305030304" pitchFamily="18" charset="0"/>
                <a:cs typeface="Times New Roman" panose="02020603050405020304" pitchFamily="18" charset="0"/>
              </a:rPr>
              <a:t># for object name file1.</a:t>
            </a:r>
          </a:p>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i="1" spc="-5" dirty="0">
                <a:solidFill>
                  <a:srgbClr val="FF0000"/>
                </a:solidFill>
                <a:latin typeface="Book Antiqua" panose="02040602050305030304" pitchFamily="18" charset="0"/>
                <a:cs typeface="Times New Roman" panose="02020603050405020304" pitchFamily="18" charset="0"/>
              </a:rPr>
              <a:t>file1 = open("</a:t>
            </a:r>
            <a:r>
              <a:rPr lang="en-US" sz="2000" i="1" spc="-5" dirty="0" err="1">
                <a:solidFill>
                  <a:srgbClr val="FF0000"/>
                </a:solidFill>
                <a:latin typeface="Book Antiqua" panose="02040602050305030304" pitchFamily="18" charset="0"/>
                <a:cs typeface="Times New Roman" panose="02020603050405020304" pitchFamily="18" charset="0"/>
              </a:rPr>
              <a:t>MyFile.txt","a</a:t>
            </a:r>
            <a:r>
              <a:rPr lang="en-US" sz="2000" i="1" spc="-5" dirty="0">
                <a:solidFill>
                  <a:srgbClr val="FF0000"/>
                </a:solidFill>
                <a:latin typeface="Book Antiqua" panose="02040602050305030304" pitchFamily="18" charset="0"/>
                <a:cs typeface="Times New Roman" panose="02020603050405020304" pitchFamily="18" charset="0"/>
              </a:rPr>
              <a:t>")</a:t>
            </a:r>
          </a:p>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000" i="1" spc="-5" dirty="0">
                <a:solidFill>
                  <a:srgbClr val="FF0000"/>
                </a:solidFill>
                <a:latin typeface="Book Antiqua" panose="02040602050305030304" pitchFamily="18" charset="0"/>
                <a:cs typeface="Times New Roman" panose="02020603050405020304" pitchFamily="18" charset="0"/>
              </a:rPr>
              <a:t>file1.close()</a:t>
            </a:r>
          </a:p>
        </p:txBody>
      </p:sp>
    </p:spTree>
    <p:extLst>
      <p:ext uri="{BB962C8B-B14F-4D97-AF65-F5344CB8AC3E}">
        <p14:creationId xmlns:p14="http://schemas.microsoft.com/office/powerpoint/2010/main" val="2408710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Writing to a file in Python</a:t>
            </a:r>
          </a:p>
        </p:txBody>
      </p:sp>
      <p:sp>
        <p:nvSpPr>
          <p:cNvPr id="4" name="object 3"/>
          <p:cNvSpPr txBox="1"/>
          <p:nvPr/>
        </p:nvSpPr>
        <p:spPr>
          <a:xfrm>
            <a:off x="914400" y="1295400"/>
            <a:ext cx="10357485" cy="3336170"/>
          </a:xfrm>
          <a:prstGeom prst="rect">
            <a:avLst/>
          </a:prstGeom>
        </p:spPr>
        <p:txBody>
          <a:bodyPr vert="horz" wrap="square" lIns="0" tIns="12065" rIns="0" bIns="0" rtlCol="0">
            <a:spAutoFit/>
          </a:bodyPr>
          <a:lstStyle/>
          <a:p>
            <a:pPr fontAlgn="base"/>
            <a:r>
              <a:rPr lang="en-US" sz="2400" dirty="0">
                <a:latin typeface="Times New Roman" panose="02020603050405020304" pitchFamily="18" charset="0"/>
                <a:cs typeface="Times New Roman" panose="02020603050405020304" pitchFamily="18" charset="0"/>
              </a:rPr>
              <a:t>There are two ways to write in a file:</a:t>
            </a:r>
          </a:p>
          <a:p>
            <a:pPr fontAlgn="base"/>
            <a:endParaRPr lang="en-US" sz="2400" dirty="0">
              <a:latin typeface="Times New Roman" panose="02020603050405020304" pitchFamily="18" charset="0"/>
              <a:cs typeface="Times New Roman" panose="02020603050405020304" pitchFamily="18" charset="0"/>
            </a:endParaRPr>
          </a:p>
          <a:p>
            <a:pPr marL="342900" indent="-342900" fontAlgn="base">
              <a:buClr>
                <a:srgbClr val="0070C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Using write()</a:t>
            </a:r>
          </a:p>
          <a:p>
            <a:pPr fontAlgn="base">
              <a:buClr>
                <a:srgbClr val="0070C0"/>
              </a:buClr>
            </a:pPr>
            <a:endParaRPr lang="en-US" sz="2400" dirty="0">
              <a:latin typeface="Times New Roman" panose="02020603050405020304" pitchFamily="18" charset="0"/>
              <a:cs typeface="Times New Roman" panose="02020603050405020304" pitchFamily="18" charset="0"/>
            </a:endParaRPr>
          </a:p>
          <a:p>
            <a:pPr marL="342900" indent="-342900" fontAlgn="base">
              <a:buClr>
                <a:srgbClr val="0070C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Using </a:t>
            </a:r>
            <a:r>
              <a:rPr lang="en-US" sz="2400" dirty="0" err="1">
                <a:latin typeface="Times New Roman" panose="02020603050405020304" pitchFamily="18" charset="0"/>
                <a:cs typeface="Times New Roman" panose="02020603050405020304" pitchFamily="18" charset="0"/>
              </a:rPr>
              <a:t>writelines</a:t>
            </a:r>
            <a:r>
              <a:rPr lang="en-US" sz="2400" dirty="0">
                <a:latin typeface="Times New Roman" panose="02020603050405020304" pitchFamily="18" charset="0"/>
                <a:cs typeface="Times New Roman" panose="02020603050405020304" pitchFamily="18" charset="0"/>
              </a:rPr>
              <a:t>()</a:t>
            </a:r>
          </a:p>
          <a:p>
            <a:pPr marL="342900" indent="-342900" fontAlgn="base">
              <a:buClr>
                <a:srgbClr val="0070C0"/>
              </a:buClr>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fontAlgn="base"/>
            <a:r>
              <a:rPr lang="en-US" sz="2400" dirty="0">
                <a:latin typeface="Times New Roman" panose="02020603050405020304" pitchFamily="18" charset="0"/>
                <a:cs typeface="Times New Roman" panose="02020603050405020304" pitchFamily="18" charset="0"/>
              </a:rPr>
              <a:t>Writing to a Python Text File Using write()</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b="1" dirty="0">
                <a:latin typeface="Times New Roman" panose="02020603050405020304" pitchFamily="18" charset="0"/>
                <a:cs typeface="Times New Roman" panose="02020603050405020304" pitchFamily="18" charset="0"/>
              </a:rPr>
              <a:t>write() : </a:t>
            </a:r>
            <a:r>
              <a:rPr lang="en-US" sz="2400" dirty="0">
                <a:latin typeface="Times New Roman" panose="02020603050405020304" pitchFamily="18" charset="0"/>
                <a:cs typeface="Times New Roman" panose="02020603050405020304" pitchFamily="18" charset="0"/>
              </a:rPr>
              <a:t>Inserts the string str1 in a single line in the text file.</a:t>
            </a:r>
          </a:p>
        </p:txBody>
      </p:sp>
      <p:sp>
        <p:nvSpPr>
          <p:cNvPr id="5" name="object 3"/>
          <p:cNvSpPr txBox="1"/>
          <p:nvPr/>
        </p:nvSpPr>
        <p:spPr>
          <a:xfrm>
            <a:off x="885967" y="4953000"/>
            <a:ext cx="10357485" cy="652166"/>
          </a:xfrm>
          <a:prstGeom prst="rect">
            <a:avLst/>
          </a:prstGeom>
        </p:spPr>
        <p:txBody>
          <a:bodyPr vert="horz" wrap="square" lIns="0" tIns="12065" rIns="0" bIns="0" rtlCol="0">
            <a:spAutoFit/>
          </a:bodyPr>
          <a:lstStyle/>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i="1" spc="-5" dirty="0" err="1">
                <a:solidFill>
                  <a:srgbClr val="FF0000"/>
                </a:solidFill>
                <a:latin typeface="Book Antiqua" panose="02040602050305030304" pitchFamily="18" charset="0"/>
                <a:cs typeface="Times New Roman" panose="02020603050405020304" pitchFamily="18" charset="0"/>
              </a:rPr>
              <a:t>File_object.write</a:t>
            </a:r>
            <a:r>
              <a:rPr lang="en-US" sz="2400" i="1" spc="-5" dirty="0">
                <a:solidFill>
                  <a:srgbClr val="FF0000"/>
                </a:solidFill>
                <a:latin typeface="Book Antiqua" panose="02040602050305030304" pitchFamily="18" charset="0"/>
                <a:cs typeface="Times New Roman" panose="02020603050405020304" pitchFamily="18" charset="0"/>
              </a:rPr>
              <a:t>(str1)</a:t>
            </a:r>
          </a:p>
        </p:txBody>
      </p:sp>
    </p:spTree>
    <p:extLst>
      <p:ext uri="{BB962C8B-B14F-4D97-AF65-F5344CB8AC3E}">
        <p14:creationId xmlns:p14="http://schemas.microsoft.com/office/powerpoint/2010/main" val="896373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Writing to a file in Python</a:t>
            </a:r>
          </a:p>
        </p:txBody>
      </p:sp>
      <p:sp>
        <p:nvSpPr>
          <p:cNvPr id="4" name="object 3"/>
          <p:cNvSpPr txBox="1"/>
          <p:nvPr/>
        </p:nvSpPr>
        <p:spPr>
          <a:xfrm>
            <a:off x="914400" y="1295400"/>
            <a:ext cx="10357485" cy="1858842"/>
          </a:xfrm>
          <a:prstGeom prst="rect">
            <a:avLst/>
          </a:prstGeom>
        </p:spPr>
        <p:txBody>
          <a:bodyPr vert="horz" wrap="square" lIns="0" tIns="12065" rIns="0" bIns="0" rtlCol="0">
            <a:spAutoFit/>
          </a:bodyPr>
          <a:lstStyle/>
          <a:p>
            <a:pPr fontAlgn="base"/>
            <a:r>
              <a:rPr lang="en-US" sz="2400" dirty="0">
                <a:latin typeface="Times New Roman" panose="02020603050405020304" pitchFamily="18" charset="0"/>
                <a:cs typeface="Times New Roman" panose="02020603050405020304" pitchFamily="18" charset="0"/>
              </a:rPr>
              <a:t>Writing to a Text File Using </a:t>
            </a:r>
            <a:r>
              <a:rPr lang="en-US" sz="2400" dirty="0" err="1">
                <a:latin typeface="Times New Roman" panose="02020603050405020304" pitchFamily="18" charset="0"/>
                <a:cs typeface="Times New Roman" panose="02020603050405020304" pitchFamily="18" charset="0"/>
              </a:rPr>
              <a:t>writelines</a:t>
            </a:r>
            <a:r>
              <a:rPr lang="en-US" sz="2400" dirty="0">
                <a:latin typeface="Times New Roman" panose="02020603050405020304" pitchFamily="18" charset="0"/>
                <a:cs typeface="Times New Roman" panose="02020603050405020304" pitchFamily="18" charset="0"/>
              </a:rPr>
              <a:t>()</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b="1" dirty="0" err="1">
                <a:latin typeface="Times New Roman" panose="02020603050405020304" pitchFamily="18" charset="0"/>
                <a:cs typeface="Times New Roman" panose="02020603050405020304" pitchFamily="18" charset="0"/>
              </a:rPr>
              <a:t>writelines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For a list of string elements, each string is inserted in the text </a:t>
            </a:r>
            <a:r>
              <a:rPr lang="en-US" sz="2400" dirty="0" err="1">
                <a:latin typeface="Times New Roman" panose="02020603050405020304" pitchFamily="18" charset="0"/>
                <a:cs typeface="Times New Roman" panose="02020603050405020304" pitchFamily="18" charset="0"/>
              </a:rPr>
              <a:t>file.Used</a:t>
            </a:r>
            <a:r>
              <a:rPr lang="en-US" sz="2400" dirty="0">
                <a:latin typeface="Times New Roman" panose="02020603050405020304" pitchFamily="18" charset="0"/>
                <a:cs typeface="Times New Roman" panose="02020603050405020304" pitchFamily="18" charset="0"/>
              </a:rPr>
              <a:t> to insert multiple strings at a single time.</a:t>
            </a:r>
          </a:p>
          <a:p>
            <a:pPr fontAlgn="base"/>
            <a:endParaRPr lang="en-US" sz="2400" dirty="0">
              <a:latin typeface="Times New Roman" panose="02020603050405020304" pitchFamily="18" charset="0"/>
              <a:cs typeface="Times New Roman" panose="02020603050405020304" pitchFamily="18" charset="0"/>
            </a:endParaRPr>
          </a:p>
        </p:txBody>
      </p:sp>
      <p:sp>
        <p:nvSpPr>
          <p:cNvPr id="5" name="object 3"/>
          <p:cNvSpPr txBox="1"/>
          <p:nvPr/>
        </p:nvSpPr>
        <p:spPr>
          <a:xfrm>
            <a:off x="925773" y="3505200"/>
            <a:ext cx="10357485" cy="652166"/>
          </a:xfrm>
          <a:prstGeom prst="rect">
            <a:avLst/>
          </a:prstGeom>
        </p:spPr>
        <p:txBody>
          <a:bodyPr vert="horz" wrap="square" lIns="0" tIns="12065" rIns="0" bIns="0" rtlCol="0">
            <a:spAutoFit/>
          </a:bodyPr>
          <a:lstStyle/>
          <a:p>
            <a:pPr marL="12065" algn="just">
              <a:lnSpc>
                <a:spcPct val="200000"/>
              </a:lnSpc>
              <a:spcBef>
                <a:spcPts val="95"/>
              </a:spcBef>
              <a:buClr>
                <a:srgbClr val="4471C4"/>
              </a:buClr>
              <a:tabLst>
                <a:tab pos="241935" algn="l"/>
                <a:tab pos="1430020" algn="l"/>
                <a:tab pos="1838325" algn="l"/>
                <a:tab pos="2383790" algn="l"/>
                <a:tab pos="4157979" algn="l"/>
                <a:tab pos="4902200" algn="l"/>
                <a:tab pos="6240145" algn="l"/>
                <a:tab pos="7618095" algn="l"/>
                <a:tab pos="8618220" algn="l"/>
                <a:tab pos="9144000" algn="l"/>
                <a:tab pos="9966960" algn="l"/>
              </a:tabLst>
            </a:pPr>
            <a:r>
              <a:rPr lang="en-US" sz="2400" i="1" spc="-5" dirty="0" err="1">
                <a:solidFill>
                  <a:srgbClr val="FF0000"/>
                </a:solidFill>
                <a:latin typeface="Book Antiqua" panose="02040602050305030304" pitchFamily="18" charset="0"/>
                <a:cs typeface="Times New Roman" panose="02020603050405020304" pitchFamily="18" charset="0"/>
              </a:rPr>
              <a:t>File_object.writelines</a:t>
            </a:r>
            <a:r>
              <a:rPr lang="en-US" sz="2400" i="1" spc="-5" dirty="0">
                <a:solidFill>
                  <a:srgbClr val="FF0000"/>
                </a:solidFill>
                <a:latin typeface="Book Antiqua" panose="02040602050305030304" pitchFamily="18" charset="0"/>
                <a:cs typeface="Times New Roman" panose="02020603050405020304" pitchFamily="18" charset="0"/>
              </a:rPr>
              <a:t>(L) for L = [str1, str2, str3</a:t>
            </a:r>
          </a:p>
        </p:txBody>
      </p:sp>
    </p:spTree>
    <p:extLst>
      <p:ext uri="{BB962C8B-B14F-4D97-AF65-F5344CB8AC3E}">
        <p14:creationId xmlns:p14="http://schemas.microsoft.com/office/powerpoint/2010/main" val="550576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Reading from a file in Python</a:t>
            </a:r>
          </a:p>
        </p:txBody>
      </p:sp>
      <p:sp>
        <p:nvSpPr>
          <p:cNvPr id="4" name="object 3"/>
          <p:cNvSpPr txBox="1"/>
          <p:nvPr/>
        </p:nvSpPr>
        <p:spPr>
          <a:xfrm>
            <a:off x="914400" y="1295400"/>
            <a:ext cx="10357485" cy="2043508"/>
          </a:xfrm>
          <a:prstGeom prst="rect">
            <a:avLst/>
          </a:prstGeom>
        </p:spPr>
        <p:txBody>
          <a:bodyPr vert="horz" wrap="square" lIns="0" tIns="12065" rIns="0" bIns="0" rtlCol="0">
            <a:spAutoFit/>
          </a:bodyPr>
          <a:lstStyle/>
          <a:p>
            <a:pPr fontAlgn="base"/>
            <a:r>
              <a:rPr lang="en-US" sz="2400" dirty="0">
                <a:latin typeface="Times New Roman" panose="02020603050405020304" pitchFamily="18" charset="0"/>
                <a:cs typeface="Times New Roman" panose="02020603050405020304" pitchFamily="18" charset="0"/>
              </a:rPr>
              <a:t>There are three ways to read data from a text file:</a:t>
            </a:r>
          </a:p>
          <a:p>
            <a:pPr marL="342900" indent="-342900" fontAlgn="base">
              <a:lnSpc>
                <a:spcPct val="150000"/>
              </a:lnSpc>
              <a:buClr>
                <a:srgbClr val="0070C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Using read()</a:t>
            </a:r>
          </a:p>
          <a:p>
            <a:pPr marL="342900" indent="-342900" fontAlgn="base">
              <a:lnSpc>
                <a:spcPct val="150000"/>
              </a:lnSpc>
              <a:buClr>
                <a:srgbClr val="0070C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Using </a:t>
            </a:r>
            <a:r>
              <a:rPr lang="en-US" sz="2400" dirty="0" err="1">
                <a:latin typeface="Times New Roman" panose="02020603050405020304" pitchFamily="18" charset="0"/>
                <a:cs typeface="Times New Roman" panose="02020603050405020304" pitchFamily="18" charset="0"/>
              </a:rPr>
              <a:t>readline</a:t>
            </a:r>
            <a:r>
              <a:rPr lang="en-US" sz="2400" dirty="0">
                <a:latin typeface="Times New Roman" panose="02020603050405020304" pitchFamily="18" charset="0"/>
                <a:cs typeface="Times New Roman" panose="02020603050405020304" pitchFamily="18" charset="0"/>
              </a:rPr>
              <a:t>()</a:t>
            </a:r>
          </a:p>
          <a:p>
            <a:pPr marL="342900" indent="-342900" fontAlgn="base">
              <a:lnSpc>
                <a:spcPct val="150000"/>
              </a:lnSpc>
              <a:buClr>
                <a:srgbClr val="0070C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Using </a:t>
            </a:r>
            <a:r>
              <a:rPr lang="en-US" sz="2400" dirty="0" err="1">
                <a:latin typeface="Times New Roman" panose="02020603050405020304" pitchFamily="18" charset="0"/>
                <a:cs typeface="Times New Roman" panose="02020603050405020304" pitchFamily="18" charset="0"/>
              </a:rPr>
              <a:t>readlines</a:t>
            </a:r>
            <a:r>
              <a:rPr lang="en-US" sz="2400" dirty="0">
                <a:latin typeface="Times New Roman" panose="02020603050405020304" pitchFamily="18" charset="0"/>
                <a:cs typeface="Times New Roman" panose="02020603050405020304" pitchFamily="18" charset="0"/>
              </a:rPr>
              <a:t>()</a:t>
            </a:r>
          </a:p>
        </p:txBody>
      </p:sp>
      <p:sp>
        <p:nvSpPr>
          <p:cNvPr id="8" name="object 3"/>
          <p:cNvSpPr txBox="1"/>
          <p:nvPr/>
        </p:nvSpPr>
        <p:spPr>
          <a:xfrm>
            <a:off x="914399" y="3810000"/>
            <a:ext cx="10357485" cy="1489510"/>
          </a:xfrm>
          <a:prstGeom prst="rect">
            <a:avLst/>
          </a:prstGeom>
        </p:spPr>
        <p:txBody>
          <a:bodyPr vert="horz" wrap="square" lIns="0" tIns="12065" rIns="0" bIns="0" rtlCol="0">
            <a:spAutoFit/>
          </a:bodyPr>
          <a:lstStyle/>
          <a:p>
            <a:pPr fontAlgn="base"/>
            <a:r>
              <a:rPr lang="en-US" sz="2400" dirty="0">
                <a:latin typeface="Times New Roman" panose="02020603050405020304" pitchFamily="18" charset="0"/>
                <a:cs typeface="Times New Roman" panose="02020603050405020304" pitchFamily="18" charset="0"/>
              </a:rPr>
              <a:t>read() : Returns the read bytes in form of a string. Reads n bytes, if no n specified, reads the entire file.</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b="1" i="1" dirty="0" err="1">
                <a:latin typeface="Book Antiqua" panose="02040602050305030304" pitchFamily="18" charset="0"/>
                <a:cs typeface="Times New Roman" panose="02020603050405020304" pitchFamily="18" charset="0"/>
              </a:rPr>
              <a:t>File_object.read</a:t>
            </a:r>
            <a:r>
              <a:rPr lang="en-US" sz="2400" b="1" i="1" dirty="0">
                <a:latin typeface="Book Antiqua" panose="02040602050305030304" pitchFamily="18" charset="0"/>
                <a:cs typeface="Times New Roman" panose="02020603050405020304" pitchFamily="18" charset="0"/>
              </a:rPr>
              <a:t>([n])</a:t>
            </a:r>
          </a:p>
        </p:txBody>
      </p:sp>
    </p:spTree>
    <p:extLst>
      <p:ext uri="{BB962C8B-B14F-4D97-AF65-F5344CB8AC3E}">
        <p14:creationId xmlns:p14="http://schemas.microsoft.com/office/powerpoint/2010/main" val="2073373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Reading from a file in Python</a:t>
            </a:r>
          </a:p>
        </p:txBody>
      </p:sp>
      <p:sp>
        <p:nvSpPr>
          <p:cNvPr id="4" name="object 3"/>
          <p:cNvSpPr txBox="1"/>
          <p:nvPr/>
        </p:nvSpPr>
        <p:spPr>
          <a:xfrm>
            <a:off x="914400" y="1447800"/>
            <a:ext cx="10357485" cy="3336170"/>
          </a:xfrm>
          <a:prstGeom prst="rect">
            <a:avLst/>
          </a:prstGeom>
        </p:spPr>
        <p:txBody>
          <a:bodyPr vert="horz" wrap="square" lIns="0" tIns="12065" rIns="0" bIns="0" rtlCol="0">
            <a:spAutoFit/>
          </a:bodyPr>
          <a:lstStyle/>
          <a:p>
            <a:pPr fontAlgn="base"/>
            <a:r>
              <a:rPr lang="en-US" sz="2400" dirty="0" err="1">
                <a:latin typeface="Times New Roman" panose="02020603050405020304" pitchFamily="18" charset="0"/>
                <a:cs typeface="Times New Roman" panose="02020603050405020304" pitchFamily="18" charset="0"/>
              </a:rPr>
              <a:t>readline</a:t>
            </a:r>
            <a:r>
              <a:rPr lang="en-US" sz="2400" dirty="0">
                <a:latin typeface="Times New Roman" panose="02020603050405020304" pitchFamily="18" charset="0"/>
                <a:cs typeface="Times New Roman" panose="02020603050405020304" pitchFamily="18" charset="0"/>
              </a:rPr>
              <a:t>() : Reads a line of the file and returns in form of a </a:t>
            </a:r>
            <a:r>
              <a:rPr lang="en-US" sz="2400" dirty="0" err="1">
                <a:latin typeface="Times New Roman" panose="02020603050405020304" pitchFamily="18" charset="0"/>
                <a:cs typeface="Times New Roman" panose="02020603050405020304" pitchFamily="18" charset="0"/>
              </a:rPr>
              <a:t>string.For</a:t>
            </a:r>
            <a:r>
              <a:rPr lang="en-US" sz="2400" dirty="0">
                <a:latin typeface="Times New Roman" panose="02020603050405020304" pitchFamily="18" charset="0"/>
                <a:cs typeface="Times New Roman" panose="02020603050405020304" pitchFamily="18" charset="0"/>
              </a:rPr>
              <a:t> specified n, reads at most n bytes. However, does not reads more than one line, even if n exceeds the length of the line.</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b="1" i="1" dirty="0" err="1">
                <a:latin typeface="Book Antiqua" panose="02040602050305030304" pitchFamily="18" charset="0"/>
                <a:cs typeface="Times New Roman" panose="02020603050405020304" pitchFamily="18" charset="0"/>
              </a:rPr>
              <a:t>File_object.readline</a:t>
            </a:r>
            <a:r>
              <a:rPr lang="en-US" sz="2400" b="1" i="1" dirty="0">
                <a:latin typeface="Book Antiqua" panose="02040602050305030304" pitchFamily="18" charset="0"/>
                <a:cs typeface="Times New Roman" panose="02020603050405020304" pitchFamily="18" charset="0"/>
              </a:rPr>
              <a:t>([n])</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dirty="0" err="1">
                <a:latin typeface="Times New Roman" panose="02020603050405020304" pitchFamily="18" charset="0"/>
                <a:cs typeface="Times New Roman" panose="02020603050405020304" pitchFamily="18" charset="0"/>
              </a:rPr>
              <a:t>readlines</a:t>
            </a:r>
            <a:r>
              <a:rPr lang="en-US" sz="2400" dirty="0">
                <a:latin typeface="Times New Roman" panose="02020603050405020304" pitchFamily="18" charset="0"/>
                <a:cs typeface="Times New Roman" panose="02020603050405020304" pitchFamily="18" charset="0"/>
              </a:rPr>
              <a:t>() : Reads all the lines and return them as each line a string element in a list.</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dirty="0">
                <a:latin typeface="Times New Roman" panose="02020603050405020304" pitchFamily="18" charset="0"/>
                <a:cs typeface="Times New Roman" panose="02020603050405020304" pitchFamily="18" charset="0"/>
              </a:rPr>
              <a:t> </a:t>
            </a:r>
            <a:r>
              <a:rPr lang="en-US" sz="2400" b="1" i="1" dirty="0" err="1">
                <a:latin typeface="Book Antiqua" panose="02040602050305030304" pitchFamily="18" charset="0"/>
                <a:cs typeface="Times New Roman" panose="02020603050405020304" pitchFamily="18" charset="0"/>
              </a:rPr>
              <a:t>File_object.readlines</a:t>
            </a:r>
            <a:r>
              <a:rPr lang="en-US" sz="2400" b="1" i="1" dirty="0">
                <a:latin typeface="Book Antiqua" panose="02040602050305030304" pitchFamily="18" charset="0"/>
                <a:cs typeface="Times New Roman" panose="02020603050405020304" pitchFamily="18" charset="0"/>
              </a:rPr>
              <a:t>()</a:t>
            </a:r>
          </a:p>
        </p:txBody>
      </p:sp>
    </p:spTree>
    <p:extLst>
      <p:ext uri="{BB962C8B-B14F-4D97-AF65-F5344CB8AC3E}">
        <p14:creationId xmlns:p14="http://schemas.microsoft.com/office/powerpoint/2010/main" val="905749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Reading from a file in Python</a:t>
            </a:r>
          </a:p>
        </p:txBody>
      </p:sp>
      <p:sp>
        <p:nvSpPr>
          <p:cNvPr id="4" name="object 3"/>
          <p:cNvSpPr txBox="1"/>
          <p:nvPr/>
        </p:nvSpPr>
        <p:spPr>
          <a:xfrm>
            <a:off x="914400" y="1447800"/>
            <a:ext cx="10357485" cy="3336170"/>
          </a:xfrm>
          <a:prstGeom prst="rect">
            <a:avLst/>
          </a:prstGeom>
        </p:spPr>
        <p:txBody>
          <a:bodyPr vert="horz" wrap="square" lIns="0" tIns="12065" rIns="0" bIns="0" rtlCol="0">
            <a:spAutoFit/>
          </a:bodyPr>
          <a:lstStyle/>
          <a:p>
            <a:pPr fontAlgn="base"/>
            <a:r>
              <a:rPr lang="en-US" sz="2400" dirty="0" err="1">
                <a:latin typeface="Times New Roman" panose="02020603050405020304" pitchFamily="18" charset="0"/>
                <a:cs typeface="Times New Roman" panose="02020603050405020304" pitchFamily="18" charset="0"/>
              </a:rPr>
              <a:t>readline</a:t>
            </a:r>
            <a:r>
              <a:rPr lang="en-US" sz="2400" dirty="0">
                <a:latin typeface="Times New Roman" panose="02020603050405020304" pitchFamily="18" charset="0"/>
                <a:cs typeface="Times New Roman" panose="02020603050405020304" pitchFamily="18" charset="0"/>
              </a:rPr>
              <a:t>() : Reads a line of the file and returns in form of a </a:t>
            </a:r>
            <a:r>
              <a:rPr lang="en-US" sz="2400" dirty="0" err="1">
                <a:latin typeface="Times New Roman" panose="02020603050405020304" pitchFamily="18" charset="0"/>
                <a:cs typeface="Times New Roman" panose="02020603050405020304" pitchFamily="18" charset="0"/>
              </a:rPr>
              <a:t>string.For</a:t>
            </a:r>
            <a:r>
              <a:rPr lang="en-US" sz="2400" dirty="0">
                <a:latin typeface="Times New Roman" panose="02020603050405020304" pitchFamily="18" charset="0"/>
                <a:cs typeface="Times New Roman" panose="02020603050405020304" pitchFamily="18" charset="0"/>
              </a:rPr>
              <a:t> specified n, reads at most n bytes. However, does not reads more than one line, even if n exceeds the length of the line.</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b="1" i="1" dirty="0" err="1">
                <a:latin typeface="Book Antiqua" panose="02040602050305030304" pitchFamily="18" charset="0"/>
                <a:cs typeface="Times New Roman" panose="02020603050405020304" pitchFamily="18" charset="0"/>
              </a:rPr>
              <a:t>File_object.readline</a:t>
            </a:r>
            <a:r>
              <a:rPr lang="en-US" sz="2400" b="1" i="1" dirty="0">
                <a:latin typeface="Book Antiqua" panose="02040602050305030304" pitchFamily="18" charset="0"/>
                <a:cs typeface="Times New Roman" panose="02020603050405020304" pitchFamily="18" charset="0"/>
              </a:rPr>
              <a:t>([n])</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dirty="0" err="1">
                <a:latin typeface="Times New Roman" panose="02020603050405020304" pitchFamily="18" charset="0"/>
                <a:cs typeface="Times New Roman" panose="02020603050405020304" pitchFamily="18" charset="0"/>
              </a:rPr>
              <a:t>readlines</a:t>
            </a:r>
            <a:r>
              <a:rPr lang="en-US" sz="2400" dirty="0">
                <a:latin typeface="Times New Roman" panose="02020603050405020304" pitchFamily="18" charset="0"/>
                <a:cs typeface="Times New Roman" panose="02020603050405020304" pitchFamily="18" charset="0"/>
              </a:rPr>
              <a:t>() : Reads all the lines and return them as each line a string element in a list.</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dirty="0">
                <a:latin typeface="Times New Roman" panose="02020603050405020304" pitchFamily="18" charset="0"/>
                <a:cs typeface="Times New Roman" panose="02020603050405020304" pitchFamily="18" charset="0"/>
              </a:rPr>
              <a:t> </a:t>
            </a:r>
            <a:r>
              <a:rPr lang="en-US" sz="2400" b="1" i="1" dirty="0" err="1">
                <a:latin typeface="Book Antiqua" panose="02040602050305030304" pitchFamily="18" charset="0"/>
                <a:cs typeface="Times New Roman" panose="02020603050405020304" pitchFamily="18" charset="0"/>
              </a:rPr>
              <a:t>File_object.readlines</a:t>
            </a:r>
            <a:r>
              <a:rPr lang="en-US" sz="2400" b="1" i="1" dirty="0">
                <a:latin typeface="Book Antiqua" panose="02040602050305030304" pitchFamily="18" charset="0"/>
                <a:cs typeface="Times New Roman" panose="02020603050405020304" pitchFamily="18" charset="0"/>
              </a:rPr>
              <a:t>()</a:t>
            </a:r>
          </a:p>
        </p:txBody>
      </p:sp>
    </p:spTree>
    <p:extLst>
      <p:ext uri="{BB962C8B-B14F-4D97-AF65-F5344CB8AC3E}">
        <p14:creationId xmlns:p14="http://schemas.microsoft.com/office/powerpoint/2010/main" val="704461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609600"/>
            <a:ext cx="8793684"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Delete a File</a:t>
            </a:r>
          </a:p>
        </p:txBody>
      </p:sp>
      <p:sp>
        <p:nvSpPr>
          <p:cNvPr id="4" name="object 3"/>
          <p:cNvSpPr txBox="1"/>
          <p:nvPr/>
        </p:nvSpPr>
        <p:spPr>
          <a:xfrm>
            <a:off x="914400" y="1295400"/>
            <a:ext cx="10357485" cy="997068"/>
          </a:xfrm>
          <a:prstGeom prst="rect">
            <a:avLst/>
          </a:prstGeom>
        </p:spPr>
        <p:txBody>
          <a:bodyPr vert="horz" wrap="square" lIns="0" tIns="12065" rIns="0" bIns="0" rtlCol="0">
            <a:spAutoFit/>
          </a:bodyPr>
          <a:lstStyle/>
          <a:p>
            <a:pPr fontAlgn="base"/>
            <a:r>
              <a:rPr lang="en-AU" sz="3200" i="1" dirty="0">
                <a:solidFill>
                  <a:srgbClr val="FF0000"/>
                </a:solidFill>
                <a:latin typeface="Times New Roman" panose="02020603050405020304" pitchFamily="18" charset="0"/>
                <a:cs typeface="Times New Roman" panose="02020603050405020304" pitchFamily="18" charset="0"/>
              </a:rPr>
              <a:t>import </a:t>
            </a:r>
            <a:r>
              <a:rPr lang="en-AU" sz="3200" i="1" dirty="0" err="1">
                <a:solidFill>
                  <a:srgbClr val="FF0000"/>
                </a:solidFill>
                <a:latin typeface="Times New Roman" panose="02020603050405020304" pitchFamily="18" charset="0"/>
                <a:cs typeface="Times New Roman" panose="02020603050405020304" pitchFamily="18" charset="0"/>
              </a:rPr>
              <a:t>os</a:t>
            </a:r>
            <a:br>
              <a:rPr lang="en-AU" sz="3200" dirty="0">
                <a:latin typeface="Times New Roman" panose="02020603050405020304" pitchFamily="18" charset="0"/>
                <a:cs typeface="Times New Roman" panose="02020603050405020304" pitchFamily="18" charset="0"/>
              </a:rPr>
            </a:br>
            <a:r>
              <a:rPr lang="en-AU" sz="3200" dirty="0" err="1">
                <a:latin typeface="Times New Roman" panose="02020603050405020304" pitchFamily="18" charset="0"/>
                <a:cs typeface="Times New Roman" panose="02020603050405020304" pitchFamily="18" charset="0"/>
              </a:rPr>
              <a:t>os.remove</a:t>
            </a:r>
            <a:r>
              <a:rPr lang="en-AU" sz="3200" dirty="0">
                <a:latin typeface="Times New Roman" panose="02020603050405020304" pitchFamily="18" charset="0"/>
                <a:cs typeface="Times New Roman" panose="02020603050405020304" pitchFamily="18" charset="0"/>
              </a:rPr>
              <a:t>(“</a:t>
            </a:r>
            <a:r>
              <a:rPr lang="en-AU" sz="3200" b="1" i="1" dirty="0">
                <a:latin typeface="Times New Roman" panose="02020603050405020304" pitchFamily="18" charset="0"/>
                <a:cs typeface="Times New Roman" panose="02020603050405020304" pitchFamily="18" charset="0"/>
              </a:rPr>
              <a:t>filename</a:t>
            </a:r>
            <a:r>
              <a:rPr lang="en-AU" sz="3200" dirty="0">
                <a:latin typeface="Times New Roman" panose="02020603050405020304" pitchFamily="18" charset="0"/>
                <a:cs typeface="Times New Roman" panose="02020603050405020304" pitchFamily="18" charset="0"/>
              </a:rPr>
              <a:t>.txt")</a:t>
            </a:r>
            <a:endParaRPr lang="en-US" sz="3200" b="1" i="1" dirty="0">
              <a:latin typeface="Times New Roman" panose="02020603050405020304" pitchFamily="18" charset="0"/>
              <a:cs typeface="Times New Roman" panose="02020603050405020304" pitchFamily="18" charset="0"/>
            </a:endParaRPr>
          </a:p>
        </p:txBody>
      </p:sp>
      <p:sp>
        <p:nvSpPr>
          <p:cNvPr id="5" name="object 3"/>
          <p:cNvSpPr txBox="1"/>
          <p:nvPr/>
        </p:nvSpPr>
        <p:spPr>
          <a:xfrm>
            <a:off x="939421" y="3657600"/>
            <a:ext cx="10357485" cy="2166619"/>
          </a:xfrm>
          <a:prstGeom prst="rect">
            <a:avLst/>
          </a:prstGeom>
        </p:spPr>
        <p:txBody>
          <a:bodyPr vert="horz" wrap="square" lIns="0" tIns="12065" rIns="0" bIns="0" rtlCol="0">
            <a:spAutoFit/>
          </a:bodyPr>
          <a:lstStyle/>
          <a:p>
            <a:pPr fontAlgn="base"/>
            <a:r>
              <a:rPr lang="en-AU" sz="2800" i="1" dirty="0">
                <a:latin typeface="Times New Roman" panose="02020603050405020304" pitchFamily="18" charset="0"/>
                <a:cs typeface="Times New Roman" panose="02020603050405020304" pitchFamily="18" charset="0"/>
              </a:rPr>
              <a:t>import </a:t>
            </a:r>
            <a:r>
              <a:rPr lang="en-AU" sz="2800" i="1" dirty="0" err="1">
                <a:latin typeface="Times New Roman" panose="02020603050405020304" pitchFamily="18" charset="0"/>
                <a:cs typeface="Times New Roman" panose="02020603050405020304" pitchFamily="18" charset="0"/>
              </a:rPr>
              <a:t>os</a:t>
            </a:r>
            <a:br>
              <a:rPr lang="en-AU" sz="2800" dirty="0">
                <a:latin typeface="Times New Roman" panose="02020603050405020304" pitchFamily="18" charset="0"/>
                <a:cs typeface="Times New Roman" panose="02020603050405020304" pitchFamily="18" charset="0"/>
              </a:rPr>
            </a:br>
            <a:r>
              <a:rPr lang="en-AU" sz="2800" dirty="0">
                <a:latin typeface="Times New Roman" panose="02020603050405020304" pitchFamily="18" charset="0"/>
                <a:cs typeface="Times New Roman" panose="02020603050405020304" pitchFamily="18" charset="0"/>
              </a:rPr>
              <a:t>if </a:t>
            </a:r>
            <a:r>
              <a:rPr lang="en-AU" sz="2800" dirty="0" err="1">
                <a:latin typeface="Times New Roman" panose="02020603050405020304" pitchFamily="18" charset="0"/>
                <a:cs typeface="Times New Roman" panose="02020603050405020304" pitchFamily="18" charset="0"/>
              </a:rPr>
              <a:t>os.path.exists</a:t>
            </a:r>
            <a:r>
              <a:rPr lang="en-AU" sz="2800" dirty="0">
                <a:latin typeface="Times New Roman" panose="02020603050405020304" pitchFamily="18" charset="0"/>
                <a:cs typeface="Times New Roman" panose="02020603050405020304" pitchFamily="18" charset="0"/>
              </a:rPr>
              <a:t>(“</a:t>
            </a:r>
            <a:r>
              <a:rPr lang="en-AU" sz="2800" i="1" dirty="0">
                <a:solidFill>
                  <a:srgbClr val="FF0000"/>
                </a:solidFill>
                <a:latin typeface="Times New Roman" panose="02020603050405020304" pitchFamily="18" charset="0"/>
                <a:cs typeface="Times New Roman" panose="02020603050405020304" pitchFamily="18" charset="0"/>
              </a:rPr>
              <a:t>filename</a:t>
            </a:r>
            <a:r>
              <a:rPr lang="en-AU" sz="2800" dirty="0">
                <a:latin typeface="Times New Roman" panose="02020603050405020304" pitchFamily="18" charset="0"/>
                <a:cs typeface="Times New Roman" panose="02020603050405020304" pitchFamily="18" charset="0"/>
              </a:rPr>
              <a:t>.txt"):</a:t>
            </a:r>
            <a:br>
              <a:rPr lang="en-AU" sz="2800" dirty="0">
                <a:latin typeface="Times New Roman" panose="02020603050405020304" pitchFamily="18" charset="0"/>
                <a:cs typeface="Times New Roman" panose="02020603050405020304" pitchFamily="18" charset="0"/>
              </a:rPr>
            </a:br>
            <a:r>
              <a:rPr lang="en-AU" sz="2800" dirty="0">
                <a:latin typeface="Times New Roman" panose="02020603050405020304" pitchFamily="18" charset="0"/>
                <a:cs typeface="Times New Roman" panose="02020603050405020304" pitchFamily="18" charset="0"/>
              </a:rPr>
              <a:t>  </a:t>
            </a:r>
            <a:r>
              <a:rPr lang="en-AU" sz="2800" dirty="0" err="1">
                <a:latin typeface="Times New Roman" panose="02020603050405020304" pitchFamily="18" charset="0"/>
                <a:cs typeface="Times New Roman" panose="02020603050405020304" pitchFamily="18" charset="0"/>
              </a:rPr>
              <a:t>os.remove</a:t>
            </a:r>
            <a:r>
              <a:rPr lang="en-AU" sz="2800" dirty="0">
                <a:latin typeface="Times New Roman" panose="02020603050405020304" pitchFamily="18" charset="0"/>
                <a:cs typeface="Times New Roman" panose="02020603050405020304" pitchFamily="18" charset="0"/>
              </a:rPr>
              <a:t>(“</a:t>
            </a:r>
            <a:r>
              <a:rPr lang="en-AU" sz="2800" i="1" dirty="0">
                <a:solidFill>
                  <a:srgbClr val="FF0000"/>
                </a:solidFill>
                <a:latin typeface="Times New Roman" panose="02020603050405020304" pitchFamily="18" charset="0"/>
                <a:cs typeface="Times New Roman" panose="02020603050405020304" pitchFamily="18" charset="0"/>
              </a:rPr>
              <a:t>filename</a:t>
            </a:r>
            <a:r>
              <a:rPr lang="en-AU" sz="2800" dirty="0">
                <a:latin typeface="Times New Roman" panose="02020603050405020304" pitchFamily="18" charset="0"/>
                <a:cs typeface="Times New Roman" panose="02020603050405020304" pitchFamily="18" charset="0"/>
              </a:rPr>
              <a:t>.txt")</a:t>
            </a:r>
            <a:br>
              <a:rPr lang="en-AU" sz="2800" dirty="0">
                <a:latin typeface="Times New Roman" panose="02020603050405020304" pitchFamily="18" charset="0"/>
                <a:cs typeface="Times New Roman" panose="02020603050405020304" pitchFamily="18" charset="0"/>
              </a:rPr>
            </a:br>
            <a:r>
              <a:rPr lang="en-AU" sz="2800" dirty="0">
                <a:latin typeface="Times New Roman" panose="02020603050405020304" pitchFamily="18" charset="0"/>
                <a:cs typeface="Times New Roman" panose="02020603050405020304" pitchFamily="18" charset="0"/>
              </a:rPr>
              <a:t>else:</a:t>
            </a:r>
            <a:br>
              <a:rPr lang="en-AU" sz="2800" dirty="0">
                <a:latin typeface="Times New Roman" panose="02020603050405020304" pitchFamily="18" charset="0"/>
                <a:cs typeface="Times New Roman" panose="02020603050405020304" pitchFamily="18" charset="0"/>
              </a:rPr>
            </a:br>
            <a:r>
              <a:rPr lang="en-AU" sz="2800" dirty="0">
                <a:latin typeface="Times New Roman" panose="02020603050405020304" pitchFamily="18" charset="0"/>
                <a:cs typeface="Times New Roman" panose="02020603050405020304" pitchFamily="18" charset="0"/>
              </a:rPr>
              <a:t>  print("The file does not exist")</a:t>
            </a:r>
            <a:endParaRPr lang="en-US" sz="2800" b="1" i="1" dirty="0">
              <a:latin typeface="Times New Roman" panose="02020603050405020304" pitchFamily="18" charset="0"/>
              <a:cs typeface="Times New Roman" panose="02020603050405020304" pitchFamily="18" charset="0"/>
            </a:endParaRPr>
          </a:p>
        </p:txBody>
      </p:sp>
      <p:sp>
        <p:nvSpPr>
          <p:cNvPr id="6" name="object 2"/>
          <p:cNvSpPr txBox="1">
            <a:spLocks/>
          </p:cNvSpPr>
          <p:nvPr/>
        </p:nvSpPr>
        <p:spPr>
          <a:xfrm>
            <a:off x="838200" y="2815817"/>
            <a:ext cx="8793684" cy="566822"/>
          </a:xfrm>
          <a:prstGeom prst="rect">
            <a:avLst/>
          </a:prstGeom>
        </p:spPr>
        <p:txBody>
          <a:bodyPr vert="horz" wrap="square" lIns="0" tIns="12700" rIns="0" bIns="0" rtlCol="0" anchor="b">
            <a:sp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2700">
              <a:lnSpc>
                <a:spcPct val="100000"/>
              </a:lnSpc>
              <a:spcBef>
                <a:spcPts val="100"/>
              </a:spcBef>
            </a:pPr>
            <a:r>
              <a:rPr lang="en-US" sz="3600" spc="10" dirty="0">
                <a:solidFill>
                  <a:srgbClr val="00B050"/>
                </a:solidFill>
                <a:latin typeface="Times New Roman" panose="02020603050405020304" pitchFamily="18" charset="0"/>
                <a:cs typeface="Times New Roman" panose="02020603050405020304" pitchFamily="18" charset="0"/>
              </a:rPr>
              <a:t>Check if File exist:</a:t>
            </a:r>
          </a:p>
        </p:txBody>
      </p:sp>
    </p:spTree>
    <p:extLst>
      <p:ext uri="{BB962C8B-B14F-4D97-AF65-F5344CB8AC3E}">
        <p14:creationId xmlns:p14="http://schemas.microsoft.com/office/powerpoint/2010/main" val="1692360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962400" y="2895600"/>
            <a:ext cx="4337050" cy="695703"/>
          </a:xfrm>
          <a:prstGeom prst="rect">
            <a:avLst/>
          </a:prstGeom>
        </p:spPr>
        <p:txBody>
          <a:bodyPr vert="horz" wrap="square" lIns="0" tIns="140335" rIns="0" bIns="0" rtlCol="0">
            <a:spAutoFit/>
          </a:bodyPr>
          <a:lstStyle/>
          <a:p>
            <a:pPr marL="12065" algn="ctr">
              <a:lnSpc>
                <a:spcPct val="100000"/>
              </a:lnSpc>
              <a:spcBef>
                <a:spcPts val="1105"/>
              </a:spcBef>
              <a:buClr>
                <a:srgbClr val="4471C4"/>
              </a:buClr>
              <a:tabLst>
                <a:tab pos="241935" algn="l"/>
              </a:tabLst>
            </a:pPr>
            <a:r>
              <a:rPr lang="en-US" sz="3600" dirty="0">
                <a:solidFill>
                  <a:srgbClr val="00B050"/>
                </a:solidFill>
                <a:latin typeface="Times New Roman" panose="02020603050405020304" pitchFamily="18" charset="0"/>
                <a:cs typeface="Times New Roman" panose="02020603050405020304" pitchFamily="18" charset="0"/>
              </a:rPr>
              <a:t>HAVE A NICE DAY!</a:t>
            </a:r>
            <a:endParaRPr sz="3600" dirty="0">
              <a:solidFill>
                <a:srgbClr val="00B050"/>
              </a:solidFill>
              <a:latin typeface="Times New Roman" panose="02020603050405020304" pitchFamily="18" charset="0"/>
              <a:cs typeface="Times New Roman" panose="02020603050405020304" pitchFamily="18" charset="0"/>
            </a:endParaRPr>
          </a:p>
        </p:txBody>
      </p:sp>
      <p:sp>
        <p:nvSpPr>
          <p:cNvPr id="5" name="object 3"/>
          <p:cNvSpPr txBox="1"/>
          <p:nvPr/>
        </p:nvSpPr>
        <p:spPr>
          <a:xfrm>
            <a:off x="457200" y="838200"/>
            <a:ext cx="4337050" cy="634148"/>
          </a:xfrm>
          <a:prstGeom prst="rect">
            <a:avLst/>
          </a:prstGeom>
        </p:spPr>
        <p:txBody>
          <a:bodyPr vert="horz" wrap="square" lIns="0" tIns="140335" rIns="0" bIns="0" rtlCol="0">
            <a:spAutoFit/>
          </a:bodyPr>
          <a:lstStyle/>
          <a:p>
            <a:pPr marL="12065" algn="ctr">
              <a:lnSpc>
                <a:spcPct val="100000"/>
              </a:lnSpc>
              <a:spcBef>
                <a:spcPts val="1105"/>
              </a:spcBef>
              <a:buClr>
                <a:srgbClr val="4471C4"/>
              </a:buClr>
              <a:tabLst>
                <a:tab pos="241935" algn="l"/>
              </a:tabLst>
            </a:pPr>
            <a:r>
              <a:rPr lang="en-US" sz="3200" dirty="0">
                <a:solidFill>
                  <a:srgbClr val="0070C0"/>
                </a:solidFill>
                <a:latin typeface="Times New Roman" panose="02020603050405020304" pitchFamily="18" charset="0"/>
                <a:cs typeface="Times New Roman" panose="02020603050405020304" pitchFamily="18" charset="0"/>
              </a:rPr>
              <a:t>Any Questions?</a:t>
            </a:r>
            <a:endParaRPr sz="3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521695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506</TotalTime>
  <Words>1422</Words>
  <Application>Microsoft Office PowerPoint</Application>
  <PresentationFormat>Widescreen</PresentationFormat>
  <Paragraphs>108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Book Antiqua</vt:lpstr>
      <vt:lpstr>Calibri</vt:lpstr>
      <vt:lpstr>Calibri Light</vt:lpstr>
      <vt:lpstr>Times New Roman</vt:lpstr>
      <vt:lpstr>Wingdings</vt:lpstr>
      <vt:lpstr>Retrospect</vt:lpstr>
      <vt:lpstr>ADVANCED PROGRAMMING-ITIC 2223</vt:lpstr>
      <vt:lpstr>File handling </vt:lpstr>
      <vt:lpstr>Advantages of File Handling in Python</vt:lpstr>
      <vt:lpstr>Disadvantages of File Handling in Python</vt:lpstr>
      <vt:lpstr>Reading and Writing to text files in Python</vt:lpstr>
      <vt:lpstr>File Access Modes</vt:lpstr>
      <vt:lpstr>There are 6 access modes in Python:</vt:lpstr>
      <vt:lpstr>Access modes in Python:</vt:lpstr>
      <vt:lpstr>Access modes in Python:</vt:lpstr>
      <vt:lpstr>Opening a Text File in Python</vt:lpstr>
      <vt:lpstr>Closing a Text File in Python</vt:lpstr>
      <vt:lpstr>Writing to a file in Python</vt:lpstr>
      <vt:lpstr>Writing to a file in Python</vt:lpstr>
      <vt:lpstr>Reading from a file in Python</vt:lpstr>
      <vt:lpstr>Reading from a file in Python</vt:lpstr>
      <vt:lpstr>Reading from a file in Python</vt:lpstr>
      <vt:lpstr>Delete a File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Dayan Rajapakse</dc:creator>
  <cp:lastModifiedBy>Ramesh Madhuranga</cp:lastModifiedBy>
  <cp:revision>15</cp:revision>
  <dcterms:created xsi:type="dcterms:W3CDTF">2024-07-10T10:05:28Z</dcterms:created>
  <dcterms:modified xsi:type="dcterms:W3CDTF">2025-07-13T03:45:05Z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2020-04-08T00:00:00Z</vt:filetime>
  </property>
  <property fmtid="{D5CDD505-2E9C-101B-9397-08002B2CF9AE}" pid="3" name="Creator">
    <vt:lpwstr>Microsoft® Office PowerPoint® 2007</vt:lpwstr>
  </property>
  <property fmtid="{D5CDD505-2E9C-101B-9397-08002B2CF9AE}" pid="4" name="LastSaved">
    <vt:filetime>2024-07-10T00:00:00Z</vt:filetime>
  </property>
</Properties>
</file>