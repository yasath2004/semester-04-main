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59"/>
  </p:notesMasterIdLst>
  <p:sldIdLst>
    <p:sldId id="256" r:id="rId2"/>
    <p:sldId id="257" r:id="rId3"/>
    <p:sldId id="258" r:id="rId4"/>
    <p:sldId id="260" r:id="rId5"/>
    <p:sldId id="261" r:id="rId6"/>
    <p:sldId id="262" r:id="rId7"/>
    <p:sldId id="301" r:id="rId8"/>
    <p:sldId id="302" r:id="rId9"/>
    <p:sldId id="303" r:id="rId10"/>
    <p:sldId id="259" r:id="rId11"/>
    <p:sldId id="304" r:id="rId12"/>
    <p:sldId id="263" r:id="rId13"/>
    <p:sldId id="264" r:id="rId14"/>
    <p:sldId id="292" r:id="rId15"/>
    <p:sldId id="265" r:id="rId16"/>
    <p:sldId id="266" r:id="rId17"/>
    <p:sldId id="299" r:id="rId18"/>
    <p:sldId id="300" r:id="rId19"/>
    <p:sldId id="293" r:id="rId20"/>
    <p:sldId id="294" r:id="rId21"/>
    <p:sldId id="295" r:id="rId22"/>
    <p:sldId id="296" r:id="rId23"/>
    <p:sldId id="297" r:id="rId24"/>
    <p:sldId id="298"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275" r:id="rId43"/>
    <p:sldId id="276" r:id="rId44"/>
    <p:sldId id="277" r:id="rId45"/>
    <p:sldId id="278" r:id="rId46"/>
    <p:sldId id="279" r:id="rId47"/>
    <p:sldId id="280" r:id="rId48"/>
    <p:sldId id="281" r:id="rId49"/>
    <p:sldId id="282" r:id="rId50"/>
    <p:sldId id="283" r:id="rId51"/>
    <p:sldId id="284" r:id="rId52"/>
    <p:sldId id="285" r:id="rId53"/>
    <p:sldId id="286" r:id="rId54"/>
    <p:sldId id="287" r:id="rId55"/>
    <p:sldId id="288" r:id="rId56"/>
    <p:sldId id="289" r:id="rId57"/>
    <p:sldId id="290" r:id="rId58"/>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0741" autoAdjust="0"/>
  </p:normalViewPr>
  <p:slideViewPr>
    <p:cSldViewPr snapToGrid="0" snapToObjects="1">
      <p:cViewPr varScale="1">
        <p:scale>
          <a:sx n="25" d="100"/>
          <a:sy n="25" d="100"/>
        </p:scale>
        <p:origin x="222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2487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 cipher text</a:t>
            </a:r>
          </a:p>
          <a:p>
            <a:r>
              <a:rPr lang="en-US" dirty="0"/>
              <a:t>M – number of letters</a:t>
            </a:r>
          </a:p>
          <a:p>
            <a:r>
              <a:rPr lang="en-US" dirty="0"/>
              <a:t>P – numerical value of the plain text</a:t>
            </a:r>
          </a:p>
          <a:p>
            <a:r>
              <a:rPr lang="en-US" dirty="0"/>
              <a:t>A and b – </a:t>
            </a:r>
            <a:r>
              <a:rPr lang="en-US" dirty="0" err="1"/>
              <a:t>scret</a:t>
            </a:r>
            <a:r>
              <a:rPr lang="en-US" dirty="0"/>
              <a:t> keys</a:t>
            </a:r>
          </a:p>
          <a:p>
            <a:endParaRPr lang="en-US" dirty="0"/>
          </a:p>
          <a:p>
            <a:r>
              <a:rPr lang="en-US" dirty="0"/>
              <a:t>H = 7</a:t>
            </a:r>
          </a:p>
          <a:p>
            <a:r>
              <a:rPr lang="en-US" dirty="0"/>
              <a:t>E = 4</a:t>
            </a:r>
          </a:p>
          <a:p>
            <a:r>
              <a:rPr lang="en-US" dirty="0"/>
              <a:t>L = 11</a:t>
            </a:r>
          </a:p>
          <a:p>
            <a:r>
              <a:rPr lang="en-US" dirty="0"/>
              <a:t>P = 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99111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36785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64453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Playfair cipher is a classical encryption technique that encrypts pairs of letters instead of individual characters, making it more secure than simple substitution ciphers. It uses a 5×5 matrix, called the Playfair square, which is generated using a secret keyword. During encryption, plaintext is divided into digraphs, or groups of two letters, and each pair is transformed according to specific rules based on their positions in the matrix. If letters appear in the same row, column, or rectangle, different transformation rules are applied. Although Playfair provides better protection against frequency analysis, modern computing methods can still break it due to its limited key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Rail Fence cipher is a classical transposition encryption technique that hides the original message by rearranging the order of characters rather than replacing them. In this method, the plaintext is written in a zigzag pattern across multiple rows, called rails, and then read row by row to create the ciphertext. For example, with three rails, the letters move diagonally between the top, middle, and bottom rows before being combined. The security of this cipher depends on the number of rails used, but it is relatively weak because the original letters remain unchanged. Rail Fence cipher demonstrates the basic concept of transposition techniques in cryptography.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3C25A-F845-DF40-4314-52DCBBCEF5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8D6857-640A-A7A8-217C-DB9E10EC4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896B8D-C10D-F072-3FA6-9CC17CFDEF45}"/>
              </a:ext>
            </a:extLst>
          </p:cNvPr>
          <p:cNvSpPr>
            <a:spLocks noGrp="1"/>
          </p:cNvSpPr>
          <p:nvPr>
            <p:ph type="dt" sz="half" idx="10"/>
          </p:nvPr>
        </p:nvSpPr>
        <p:spPr/>
        <p:txBody>
          <a:bodyPr/>
          <a:lstStyle/>
          <a:p>
            <a:fld id="{4AAD347D-5ACD-4C99-B74B-A9C85AD731AF}" type="datetimeFigureOut">
              <a:rPr lang="en-US" smtClean="0"/>
              <a:t>10/16/2026</a:t>
            </a:fld>
            <a:endParaRPr lang="en-US" dirty="0"/>
          </a:p>
        </p:txBody>
      </p:sp>
      <p:sp>
        <p:nvSpPr>
          <p:cNvPr id="5" name="Footer Placeholder 4">
            <a:extLst>
              <a:ext uri="{FF2B5EF4-FFF2-40B4-BE49-F238E27FC236}">
                <a16:creationId xmlns:a16="http://schemas.microsoft.com/office/drawing/2014/main" id="{6D5E8102-F472-451B-D306-D310DFA2AA4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F41E228-B24C-C931-7F78-458334DBA338}"/>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5985275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7BAC7-952D-0DB8-93FC-E3CC60F0D4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B19F74-DE5B-53AA-BADE-992D74D131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38402-C434-6C85-7F6A-3467AC62D234}"/>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5" name="Footer Placeholder 4">
            <a:extLst>
              <a:ext uri="{FF2B5EF4-FFF2-40B4-BE49-F238E27FC236}">
                <a16:creationId xmlns:a16="http://schemas.microsoft.com/office/drawing/2014/main" id="{4F80728D-3D11-60D7-E127-EC4A4515C60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01EBB7-8500-B597-7EB3-E58955CD79C7}"/>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130393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01F8A-C13D-5F73-9298-174610BC4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472EC6-8435-3858-4035-E62300CF74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43071B-32EE-162A-318C-E408151129C8}"/>
              </a:ext>
            </a:extLst>
          </p:cNvPr>
          <p:cNvSpPr>
            <a:spLocks noGrp="1"/>
          </p:cNvSpPr>
          <p:nvPr>
            <p:ph type="dt" sz="half" idx="10"/>
          </p:nvPr>
        </p:nvSpPr>
        <p:spPr/>
        <p:txBody>
          <a:bodyPr/>
          <a:lstStyle/>
          <a:p>
            <a:fld id="{9796027F-7875-4030-9381-8BD8C4F21935}" type="datetimeFigureOut">
              <a:rPr lang="en-US" smtClean="0"/>
              <a:t>10/16/2026</a:t>
            </a:fld>
            <a:endParaRPr lang="en-US" dirty="0"/>
          </a:p>
        </p:txBody>
      </p:sp>
      <p:sp>
        <p:nvSpPr>
          <p:cNvPr id="5" name="Footer Placeholder 4">
            <a:extLst>
              <a:ext uri="{FF2B5EF4-FFF2-40B4-BE49-F238E27FC236}">
                <a16:creationId xmlns:a16="http://schemas.microsoft.com/office/drawing/2014/main" id="{689B3E3F-2775-5187-C61D-11A6E4E3A78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C3C0034-6064-B5D3-DE70-A88C843ACEB1}"/>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5516163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3861-8797-EE36-2E3E-F3C4844697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E2946E-037F-9B4B-9F30-E1A9179B20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4417EA-86DF-309C-50DE-60B8A37468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14150B-B4F1-3277-32D9-A1E891A99EC6}"/>
              </a:ext>
            </a:extLst>
          </p:cNvPr>
          <p:cNvSpPr>
            <a:spLocks noGrp="1"/>
          </p:cNvSpPr>
          <p:nvPr>
            <p:ph type="dt" sz="half" idx="10"/>
          </p:nvPr>
        </p:nvSpPr>
        <p:spPr/>
        <p:txBody>
          <a:bodyPr/>
          <a:lstStyle/>
          <a:p>
            <a:fld id="{9796027F-7875-4030-9381-8BD8C4F21935}" type="datetimeFigureOut">
              <a:rPr lang="en-US" smtClean="0"/>
              <a:t>10/16/2026</a:t>
            </a:fld>
            <a:endParaRPr lang="en-US" dirty="0"/>
          </a:p>
        </p:txBody>
      </p:sp>
      <p:sp>
        <p:nvSpPr>
          <p:cNvPr id="6" name="Footer Placeholder 5">
            <a:extLst>
              <a:ext uri="{FF2B5EF4-FFF2-40B4-BE49-F238E27FC236}">
                <a16:creationId xmlns:a16="http://schemas.microsoft.com/office/drawing/2014/main" id="{72E5C7C9-FB62-21FC-0DC4-8ECD6ACB6D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AF4BB-D26A-2078-BB67-83BCCC119AA1}"/>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058740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8777-888F-A2B0-68FA-7ADD0E18F7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F3499B-2D7E-1375-4CCB-18BF8EAE06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F6691E-25B6-1C75-C78D-FFE9CAB7DE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C49E23-F11B-7D55-7BA2-B4B35BB85E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5E363-D3CA-A981-9677-A40A88971E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E27C62-7C15-1C11-F6CD-0EF16024E5DE}"/>
              </a:ext>
            </a:extLst>
          </p:cNvPr>
          <p:cNvSpPr>
            <a:spLocks noGrp="1"/>
          </p:cNvSpPr>
          <p:nvPr>
            <p:ph type="dt" sz="half" idx="10"/>
          </p:nvPr>
        </p:nvSpPr>
        <p:spPr/>
        <p:txBody>
          <a:bodyPr/>
          <a:lstStyle/>
          <a:p>
            <a:fld id="{9796027F-7875-4030-9381-8BD8C4F21935}" type="datetimeFigureOut">
              <a:rPr lang="en-US" smtClean="0"/>
              <a:t>10/16/2026</a:t>
            </a:fld>
            <a:endParaRPr lang="en-US" dirty="0"/>
          </a:p>
        </p:txBody>
      </p:sp>
      <p:sp>
        <p:nvSpPr>
          <p:cNvPr id="8" name="Footer Placeholder 7">
            <a:extLst>
              <a:ext uri="{FF2B5EF4-FFF2-40B4-BE49-F238E27FC236}">
                <a16:creationId xmlns:a16="http://schemas.microsoft.com/office/drawing/2014/main" id="{0E6A23C0-6CC8-F0FD-E32D-6C93B0B6737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A5C3B58-6490-D329-4EA4-A27CE60E0E65}"/>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9891766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68CDB-BE3B-5915-F751-207A850BD3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09DA81-A420-3B89-4EC1-F9707C7A895A}"/>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4" name="Footer Placeholder 3">
            <a:extLst>
              <a:ext uri="{FF2B5EF4-FFF2-40B4-BE49-F238E27FC236}">
                <a16:creationId xmlns:a16="http://schemas.microsoft.com/office/drawing/2014/main" id="{16B56095-0A58-39F1-C717-C1639907F3F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2C46ECF-D551-3640-044E-2E4FEC523DF3}"/>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8233904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7B3D35-3569-83BE-EF53-B0C2CAA21C3D}"/>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3" name="Footer Placeholder 2">
            <a:extLst>
              <a:ext uri="{FF2B5EF4-FFF2-40B4-BE49-F238E27FC236}">
                <a16:creationId xmlns:a16="http://schemas.microsoft.com/office/drawing/2014/main" id="{FB14F595-7AC4-39D5-C10D-44911B6C91B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AADA04D-779C-C9DB-3F0F-61EC91743EA8}"/>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783030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08FDA-264B-57C8-E69D-2D20763705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46184B-476C-B4D5-6D49-E8446EC73F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BAB9A4-ACF4-85B0-AAAA-CDF81E6F4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663633-596F-753F-5FD8-CFC2221F4B7F}"/>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6" name="Footer Placeholder 5">
            <a:extLst>
              <a:ext uri="{FF2B5EF4-FFF2-40B4-BE49-F238E27FC236}">
                <a16:creationId xmlns:a16="http://schemas.microsoft.com/office/drawing/2014/main" id="{57E2C8DF-5334-A964-1175-0E888F3231F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E4B94A2-ED87-746F-F438-2A592A41B607}"/>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156191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696F-04C0-44D6-0B45-C8B896A99A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2C1500-927B-F4E9-E12E-6734A13EA9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129C63-A373-7D16-0DB1-E3675410D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B8042-BB6A-CCE8-B49C-5FED06563BE9}"/>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6" name="Footer Placeholder 5">
            <a:extLst>
              <a:ext uri="{FF2B5EF4-FFF2-40B4-BE49-F238E27FC236}">
                <a16:creationId xmlns:a16="http://schemas.microsoft.com/office/drawing/2014/main" id="{21AF8ABD-DF3F-09F0-EDEA-403294B7417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6B81C43-6515-E4CF-73E0-E37AEDA4B9B0}"/>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7437071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C47FF-A753-F4E1-BBA6-6CA3621841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FF351F-691E-5D93-0111-D552992262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8E19E5-4AEC-ECFC-60C5-EE9A9F97D09A}"/>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5" name="Footer Placeholder 4">
            <a:extLst>
              <a:ext uri="{FF2B5EF4-FFF2-40B4-BE49-F238E27FC236}">
                <a16:creationId xmlns:a16="http://schemas.microsoft.com/office/drawing/2014/main" id="{A2658E56-CEAE-FB58-28AD-8F0627CEC3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FE4C9B-DA06-E726-4F89-51AB487261E7}"/>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5314663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575427-3D4E-2D72-0258-0527F85734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0F4157-F40F-6466-AD24-88C7465170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72601-5AEB-4BFB-ED3F-C69272CAB16E}"/>
              </a:ext>
            </a:extLst>
          </p:cNvPr>
          <p:cNvSpPr>
            <a:spLocks noGrp="1"/>
          </p:cNvSpPr>
          <p:nvPr>
            <p:ph type="dt" sz="half" idx="10"/>
          </p:nvPr>
        </p:nvSpPr>
        <p:spPr/>
        <p:txBody>
          <a:bodyPr/>
          <a:lstStyle/>
          <a:p>
            <a:fld id="{4509A250-FF31-4206-8172-F9D3106AACB1}" type="datetimeFigureOut">
              <a:rPr lang="en-US" smtClean="0"/>
              <a:t>10/16/2026</a:t>
            </a:fld>
            <a:endParaRPr lang="en-US" dirty="0"/>
          </a:p>
        </p:txBody>
      </p:sp>
      <p:sp>
        <p:nvSpPr>
          <p:cNvPr id="5" name="Footer Placeholder 4">
            <a:extLst>
              <a:ext uri="{FF2B5EF4-FFF2-40B4-BE49-F238E27FC236}">
                <a16:creationId xmlns:a16="http://schemas.microsoft.com/office/drawing/2014/main" id="{491A8348-0EC1-5292-1273-FFCB3A24CB1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414150F-3D7C-F4E1-4363-640B4E762DD4}"/>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436691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73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828F73-466B-1B54-81DC-06C230260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13E342-7815-9211-9754-E8A15088E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F8800B-9183-42B6-3971-94B64CC2F3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D347D-5ACD-4C99-B74B-A9C85AD731AF}" type="datetimeFigureOut">
              <a:rPr lang="en-US" smtClean="0"/>
              <a:t>10/16/2026</a:t>
            </a:fld>
            <a:endParaRPr lang="en-US" dirty="0"/>
          </a:p>
        </p:txBody>
      </p:sp>
      <p:sp>
        <p:nvSpPr>
          <p:cNvPr id="5" name="Footer Placeholder 4">
            <a:extLst>
              <a:ext uri="{FF2B5EF4-FFF2-40B4-BE49-F238E27FC236}">
                <a16:creationId xmlns:a16="http://schemas.microsoft.com/office/drawing/2014/main" id="{9BC46076-C435-3A6B-9E31-038AB0470A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969A990-C5D4-011D-ADC5-3D208EA26A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08412702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4" name="Shape 2"/>
          <p:cNvSpPr/>
          <p:nvPr/>
        </p:nvSpPr>
        <p:spPr>
          <a:xfrm>
            <a:off x="5230368" y="1051560"/>
            <a:ext cx="1737360" cy="1737360"/>
          </a:xfrm>
          <a:prstGeom prst="ellipse">
            <a:avLst/>
          </a:prstGeom>
          <a:solidFill>
            <a:srgbClr val="13315C"/>
          </a:solidFill>
          <a:ln/>
        </p:spPr>
      </p:sp>
      <p:pic>
        <p:nvPicPr>
          <p:cNvPr id="5" name="Image 0" descr="/home/claude/icons/lock_5FBFF9.png"/>
          <p:cNvPicPr>
            <a:picLocks noChangeAspect="1"/>
          </p:cNvPicPr>
          <p:nvPr/>
        </p:nvPicPr>
        <p:blipFill>
          <a:blip r:embed="rId3"/>
          <a:stretch>
            <a:fillRect/>
          </a:stretch>
        </p:blipFill>
        <p:spPr>
          <a:xfrm>
            <a:off x="5682082" y="1503274"/>
            <a:ext cx="833933" cy="833933"/>
          </a:xfrm>
          <a:prstGeom prst="rect">
            <a:avLst/>
          </a:prstGeom>
        </p:spPr>
      </p:pic>
      <p:sp>
        <p:nvSpPr>
          <p:cNvPr id="6" name="Text 3"/>
          <p:cNvSpPr/>
          <p:nvPr/>
        </p:nvSpPr>
        <p:spPr>
          <a:xfrm>
            <a:off x="914400" y="3063240"/>
            <a:ext cx="10360152" cy="13716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Classical Encryption Techniques in Cryptography</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Learning Outcomes</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gradcap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40080" y="1600200"/>
            <a:ext cx="10881360" cy="4663440"/>
          </a:xfrm>
          <a:prstGeom prst="rect">
            <a:avLst/>
          </a:prstGeom>
          <a:noFill/>
          <a:ln/>
        </p:spPr>
        <p:txBody>
          <a:bodyPr wrap="square" rtlCol="0" anchor="t"/>
          <a:lstStyle/>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Explain the history of classical cryptography and its role in shaping modern security</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Differentiate substitution ciphers from transposition ciphers</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Perform encryption and decryption manually for each classical algorithm</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Analyze the strengths and weaknesses of classical techniques</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Compare classical encryption algorithms using consistent evaluation criteria</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Understand why modern cryptography replaced classical methods</a:t>
            </a:r>
            <a:endParaRPr lang="en-US" sz="1500" dirty="0"/>
          </a:p>
        </p:txBody>
      </p:sp>
      <p:sp>
        <p:nvSpPr>
          <p:cNvPr id="7" name="Text 4"/>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Introduction to Cryptography</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lock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554480"/>
            <a:ext cx="5029200" cy="4572000"/>
          </a:xfrm>
          <a:prstGeom prst="rect">
            <a:avLst/>
          </a:prstGeom>
          <a:noFill/>
          <a:ln/>
        </p:spPr>
        <p:txBody>
          <a:bodyPr wrap="square"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Cryptography</a:t>
            </a:r>
            <a:endParaRPr lang="en-US" sz="1400" dirty="0"/>
          </a:p>
          <a:p>
            <a:pPr marL="0" indent="0">
              <a:spcAft>
                <a:spcPts val="1000"/>
              </a:spcAft>
              <a:buNone/>
            </a:pPr>
            <a:r>
              <a:rPr lang="en-US" sz="1250" dirty="0">
                <a:solidFill>
                  <a:srgbClr val="16232E"/>
                </a:solidFill>
                <a:latin typeface="Calibri" pitchFamily="34" charset="0"/>
                <a:ea typeface="Calibri" pitchFamily="34" charset="-122"/>
                <a:cs typeface="Calibri" pitchFamily="34" charset="-120"/>
              </a:rPr>
              <a:t>The science of writing information in a hidden or secret form to protect it from unauthorized access.</a:t>
            </a:r>
            <a:endParaRPr lang="en-US" sz="1400" dirty="0"/>
          </a:p>
          <a:p>
            <a:pPr marL="0" indent="0">
              <a:buNone/>
            </a:pPr>
            <a:r>
              <a:rPr lang="en-US" sz="1400" b="1" dirty="0">
                <a:solidFill>
                  <a:srgbClr val="0B2545"/>
                </a:solidFill>
                <a:latin typeface="Calibri" pitchFamily="34" charset="0"/>
                <a:ea typeface="Calibri" pitchFamily="34" charset="-122"/>
                <a:cs typeface="Calibri" pitchFamily="34" charset="-120"/>
              </a:rPr>
              <a:t>Plaintext (P)</a:t>
            </a:r>
            <a:endParaRPr lang="en-US" sz="1400" dirty="0"/>
          </a:p>
          <a:p>
            <a:pPr marL="0" indent="0">
              <a:spcAft>
                <a:spcPts val="1000"/>
              </a:spcAft>
              <a:buNone/>
            </a:pPr>
            <a:r>
              <a:rPr lang="en-US" sz="1250" dirty="0">
                <a:solidFill>
                  <a:srgbClr val="16232E"/>
                </a:solidFill>
                <a:latin typeface="Calibri" pitchFamily="34" charset="0"/>
                <a:ea typeface="Calibri" pitchFamily="34" charset="-122"/>
                <a:cs typeface="Calibri" pitchFamily="34" charset="-120"/>
              </a:rPr>
              <a:t>The original, readable message before any transformation is applied.</a:t>
            </a:r>
            <a:endParaRPr lang="en-US" sz="1400" dirty="0"/>
          </a:p>
          <a:p>
            <a:pPr marL="0" indent="0">
              <a:buNone/>
            </a:pPr>
            <a:r>
              <a:rPr lang="en-US" sz="1400" b="1" dirty="0">
                <a:solidFill>
                  <a:srgbClr val="0B2545"/>
                </a:solidFill>
                <a:latin typeface="Calibri" pitchFamily="34" charset="0"/>
                <a:ea typeface="Calibri" pitchFamily="34" charset="-122"/>
                <a:cs typeface="Calibri" pitchFamily="34" charset="-120"/>
              </a:rPr>
              <a:t>Ciphertext (C)</a:t>
            </a:r>
            <a:endParaRPr lang="en-US" sz="1400" dirty="0"/>
          </a:p>
          <a:p>
            <a:pPr marL="0" indent="0">
              <a:spcAft>
                <a:spcPts val="1000"/>
              </a:spcAft>
              <a:buNone/>
            </a:pPr>
            <a:r>
              <a:rPr lang="en-US" sz="1250" dirty="0">
                <a:solidFill>
                  <a:srgbClr val="16232E"/>
                </a:solidFill>
                <a:latin typeface="Calibri" pitchFamily="34" charset="0"/>
                <a:ea typeface="Calibri" pitchFamily="34" charset="-122"/>
                <a:cs typeface="Calibri" pitchFamily="34" charset="-120"/>
              </a:rPr>
              <a:t>The scrambled, unreadable output produced after encryption.</a:t>
            </a:r>
            <a:endParaRPr lang="en-US" sz="1400" dirty="0"/>
          </a:p>
          <a:p>
            <a:pPr marL="0" indent="0">
              <a:buNone/>
            </a:pPr>
            <a:r>
              <a:rPr lang="en-US" sz="1400" b="1" dirty="0">
                <a:solidFill>
                  <a:srgbClr val="0B2545"/>
                </a:solidFill>
                <a:latin typeface="Calibri" pitchFamily="34" charset="0"/>
                <a:ea typeface="Calibri" pitchFamily="34" charset="-122"/>
                <a:cs typeface="Calibri" pitchFamily="34" charset="-120"/>
              </a:rPr>
              <a:t>Secret Key (K)</a:t>
            </a:r>
            <a:endParaRPr lang="en-US" sz="1400" dirty="0"/>
          </a:p>
          <a:p>
            <a:pPr marL="0" indent="0">
              <a:buNone/>
            </a:pPr>
            <a:r>
              <a:rPr lang="en-US" sz="1250" dirty="0">
                <a:solidFill>
                  <a:srgbClr val="16232E"/>
                </a:solidFill>
                <a:latin typeface="Calibri" pitchFamily="34" charset="0"/>
                <a:ea typeface="Calibri" pitchFamily="34" charset="-122"/>
                <a:cs typeface="Calibri" pitchFamily="34" charset="-120"/>
              </a:rPr>
              <a:t>The parameter that controls exactly how plaintext is transformed into ciphertext, and back again.</a:t>
            </a:r>
            <a:endParaRPr lang="en-US" sz="1400" dirty="0"/>
          </a:p>
        </p:txBody>
      </p:sp>
      <p:sp>
        <p:nvSpPr>
          <p:cNvPr id="7" name="Text 4"/>
          <p:cNvSpPr/>
          <p:nvPr/>
        </p:nvSpPr>
        <p:spPr>
          <a:xfrm>
            <a:off x="6035040" y="1508760"/>
            <a:ext cx="5577840" cy="320040"/>
          </a:xfrm>
          <a:prstGeom prst="rect">
            <a:avLst/>
          </a:prstGeom>
          <a:noFill/>
          <a:ln/>
        </p:spPr>
        <p:txBody>
          <a:bodyPr wrap="square" rtlCol="0" anchor="ctr"/>
          <a:lstStyle/>
          <a:p>
            <a:pPr marL="0" indent="0">
              <a:buNone/>
            </a:pPr>
            <a:r>
              <a:rPr lang="en-US" sz="1200" b="1" dirty="0">
                <a:solidFill>
                  <a:srgbClr val="5A6B7B"/>
                </a:solidFill>
                <a:latin typeface="Calibri" pitchFamily="34" charset="0"/>
                <a:ea typeface="Calibri" pitchFamily="34" charset="-122"/>
                <a:cs typeface="Calibri" pitchFamily="34" charset="-120"/>
              </a:rPr>
              <a:t>Encryption / Decryption Process</a:t>
            </a:r>
            <a:endParaRPr lang="en-US" sz="1200" dirty="0"/>
          </a:p>
        </p:txBody>
      </p:sp>
      <p:sp>
        <p:nvSpPr>
          <p:cNvPr id="8" name="Shape 5"/>
          <p:cNvSpPr/>
          <p:nvPr/>
        </p:nvSpPr>
        <p:spPr>
          <a:xfrm>
            <a:off x="6035040" y="1965960"/>
            <a:ext cx="1737360" cy="777240"/>
          </a:xfrm>
          <a:prstGeom prst="roundRect">
            <a:avLst>
              <a:gd name="adj" fmla="val 7059"/>
            </a:avLst>
          </a:prstGeom>
          <a:solidFill>
            <a:srgbClr val="FFFFFF"/>
          </a:solidFill>
          <a:ln/>
        </p:spPr>
      </p:sp>
      <p:sp>
        <p:nvSpPr>
          <p:cNvPr id="9" name="Text 6"/>
          <p:cNvSpPr/>
          <p:nvPr/>
        </p:nvSpPr>
        <p:spPr>
          <a:xfrm>
            <a:off x="6172200" y="1965960"/>
            <a:ext cx="1463040" cy="777240"/>
          </a:xfrm>
          <a:prstGeom prst="rect">
            <a:avLst/>
          </a:prstGeom>
          <a:noFill/>
          <a:ln/>
        </p:spPr>
        <p:txBody>
          <a:bodyPr wrap="square" rtlCol="0" anchor="ctr"/>
          <a:lstStyle/>
          <a:p>
            <a:pPr marL="0" indent="0" algn="ctr">
              <a:buNone/>
            </a:pPr>
            <a:r>
              <a:rPr lang="en-US" sz="1100" b="1" kern="0" spc="200" dirty="0">
                <a:solidFill>
                  <a:srgbClr val="0B2545"/>
                </a:solidFill>
                <a:latin typeface="Courier New" pitchFamily="34" charset="0"/>
                <a:ea typeface="Courier New" pitchFamily="34" charset="-122"/>
                <a:cs typeface="Courier New" pitchFamily="34" charset="-120"/>
              </a:rPr>
              <a:t>PLAINTEXT</a:t>
            </a:r>
            <a:endParaRPr lang="en-US" sz="1100" dirty="0"/>
          </a:p>
        </p:txBody>
      </p:sp>
      <p:sp>
        <p:nvSpPr>
          <p:cNvPr id="10" name="Shape 7"/>
          <p:cNvSpPr/>
          <p:nvPr/>
        </p:nvSpPr>
        <p:spPr>
          <a:xfrm>
            <a:off x="6035040" y="1965960"/>
            <a:ext cx="1737360" cy="777240"/>
          </a:xfrm>
          <a:prstGeom prst="roundRect">
            <a:avLst>
              <a:gd name="adj" fmla="val 9412"/>
            </a:avLst>
          </a:prstGeom>
          <a:solidFill>
            <a:srgbClr val="FFFFFF"/>
          </a:solidFill>
          <a:ln w="19050">
            <a:solidFill>
              <a:srgbClr val="0B2545"/>
            </a:solidFill>
            <a:prstDash val="solid"/>
          </a:ln>
        </p:spPr>
      </p:sp>
      <p:sp>
        <p:nvSpPr>
          <p:cNvPr id="11" name="Text 8"/>
          <p:cNvSpPr/>
          <p:nvPr/>
        </p:nvSpPr>
        <p:spPr>
          <a:xfrm>
            <a:off x="6035040" y="1965960"/>
            <a:ext cx="1737360" cy="7772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PLAINTEXT</a:t>
            </a:r>
            <a:endParaRPr lang="en-US" sz="1100" dirty="0"/>
          </a:p>
        </p:txBody>
      </p:sp>
      <p:sp>
        <p:nvSpPr>
          <p:cNvPr id="12" name="Text 9"/>
          <p:cNvSpPr/>
          <p:nvPr/>
        </p:nvSpPr>
        <p:spPr>
          <a:xfrm>
            <a:off x="7772400" y="1965960"/>
            <a:ext cx="365760" cy="777240"/>
          </a:xfrm>
          <a:prstGeom prst="rect">
            <a:avLst/>
          </a:prstGeom>
          <a:noFill/>
          <a:ln/>
        </p:spPr>
        <p:txBody>
          <a:bodyPr wrap="square" rtlCol="0" anchor="ctr"/>
          <a:lstStyle/>
          <a:p>
            <a:pPr marL="0" indent="0" algn="ctr">
              <a:buNone/>
            </a:pPr>
            <a:r>
              <a:rPr lang="en-US" sz="1600" dirty="0">
                <a:solidFill>
                  <a:srgbClr val="5FBFF9"/>
                </a:solidFill>
              </a:rPr>
              <a:t>▶</a:t>
            </a:r>
            <a:endParaRPr lang="en-US" sz="1600" dirty="0"/>
          </a:p>
        </p:txBody>
      </p:sp>
      <p:sp>
        <p:nvSpPr>
          <p:cNvPr id="13" name="Shape 10"/>
          <p:cNvSpPr/>
          <p:nvPr/>
        </p:nvSpPr>
        <p:spPr>
          <a:xfrm>
            <a:off x="8138160" y="1965960"/>
            <a:ext cx="1737360" cy="777240"/>
          </a:xfrm>
          <a:prstGeom prst="roundRect">
            <a:avLst>
              <a:gd name="adj" fmla="val 9412"/>
            </a:avLst>
          </a:prstGeom>
          <a:solidFill>
            <a:srgbClr val="0B2545"/>
          </a:solidFill>
          <a:ln/>
        </p:spPr>
      </p:sp>
      <p:sp>
        <p:nvSpPr>
          <p:cNvPr id="14" name="Text 11"/>
          <p:cNvSpPr/>
          <p:nvPr/>
        </p:nvSpPr>
        <p:spPr>
          <a:xfrm>
            <a:off x="8138160" y="1965960"/>
            <a:ext cx="17373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ENCRYPTION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ALGORITHM</a:t>
            </a:r>
            <a:endParaRPr lang="en-US" sz="1050" dirty="0"/>
          </a:p>
        </p:txBody>
      </p:sp>
      <p:sp>
        <p:nvSpPr>
          <p:cNvPr id="15" name="Text 12"/>
          <p:cNvSpPr/>
          <p:nvPr/>
        </p:nvSpPr>
        <p:spPr>
          <a:xfrm>
            <a:off x="9875520" y="1965960"/>
            <a:ext cx="365760" cy="777240"/>
          </a:xfrm>
          <a:prstGeom prst="rect">
            <a:avLst/>
          </a:prstGeom>
          <a:noFill/>
          <a:ln/>
        </p:spPr>
        <p:txBody>
          <a:bodyPr wrap="square" rtlCol="0" anchor="ctr"/>
          <a:lstStyle/>
          <a:p>
            <a:pPr marL="0" indent="0" algn="ctr">
              <a:buNone/>
            </a:pPr>
            <a:r>
              <a:rPr lang="en-US" sz="1600" dirty="0">
                <a:solidFill>
                  <a:srgbClr val="5FBFF9"/>
                </a:solidFill>
              </a:rPr>
              <a:t>▶</a:t>
            </a:r>
            <a:endParaRPr lang="en-US" sz="1600" dirty="0"/>
          </a:p>
        </p:txBody>
      </p:sp>
      <p:sp>
        <p:nvSpPr>
          <p:cNvPr id="16" name="Shape 13"/>
          <p:cNvSpPr/>
          <p:nvPr/>
        </p:nvSpPr>
        <p:spPr>
          <a:xfrm>
            <a:off x="10241280" y="1965960"/>
            <a:ext cx="1371600" cy="777240"/>
          </a:xfrm>
          <a:prstGeom prst="roundRect">
            <a:avLst>
              <a:gd name="adj" fmla="val 9412"/>
            </a:avLst>
          </a:prstGeom>
          <a:solidFill>
            <a:srgbClr val="13315C"/>
          </a:solidFill>
          <a:ln/>
        </p:spPr>
      </p:sp>
      <p:sp>
        <p:nvSpPr>
          <p:cNvPr id="17" name="Text 14"/>
          <p:cNvSpPr/>
          <p:nvPr/>
        </p:nvSpPr>
        <p:spPr>
          <a:xfrm>
            <a:off x="10241280" y="1965960"/>
            <a:ext cx="137160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CIPHERTEXT</a:t>
            </a:r>
            <a:endParaRPr lang="en-US" sz="1000" dirty="0"/>
          </a:p>
        </p:txBody>
      </p:sp>
      <p:sp>
        <p:nvSpPr>
          <p:cNvPr id="18" name="Shape 15"/>
          <p:cNvSpPr/>
          <p:nvPr/>
        </p:nvSpPr>
        <p:spPr>
          <a:xfrm>
            <a:off x="8778240" y="3063240"/>
            <a:ext cx="502920" cy="502920"/>
          </a:xfrm>
          <a:prstGeom prst="ellipse">
            <a:avLst/>
          </a:prstGeom>
          <a:solidFill>
            <a:srgbClr val="5FBFF9"/>
          </a:solidFill>
          <a:ln/>
        </p:spPr>
      </p:sp>
      <p:pic>
        <p:nvPicPr>
          <p:cNvPr id="19" name="Image 1" descr="/home/claude/icons/key_0B2545.png"/>
          <p:cNvPicPr>
            <a:picLocks noChangeAspect="1"/>
          </p:cNvPicPr>
          <p:nvPr/>
        </p:nvPicPr>
        <p:blipFill>
          <a:blip r:embed="rId4"/>
          <a:stretch>
            <a:fillRect/>
          </a:stretch>
        </p:blipFill>
        <p:spPr>
          <a:xfrm>
            <a:off x="8908999" y="3193999"/>
            <a:ext cx="241402" cy="241402"/>
          </a:xfrm>
          <a:prstGeom prst="rect">
            <a:avLst/>
          </a:prstGeom>
        </p:spPr>
      </p:pic>
      <p:sp>
        <p:nvSpPr>
          <p:cNvPr id="20" name="Shape 16"/>
          <p:cNvSpPr/>
          <p:nvPr/>
        </p:nvSpPr>
        <p:spPr>
          <a:xfrm>
            <a:off x="9006840" y="2743200"/>
            <a:ext cx="0" cy="320040"/>
          </a:xfrm>
          <a:prstGeom prst="line">
            <a:avLst/>
          </a:prstGeom>
          <a:noFill/>
          <a:ln w="19050">
            <a:solidFill>
              <a:srgbClr val="5FBFF9"/>
            </a:solidFill>
            <a:prstDash val="dash"/>
          </a:ln>
        </p:spPr>
      </p:sp>
      <p:sp>
        <p:nvSpPr>
          <p:cNvPr id="21" name="Text 17"/>
          <p:cNvSpPr/>
          <p:nvPr/>
        </p:nvSpPr>
        <p:spPr>
          <a:xfrm>
            <a:off x="8138160" y="3611880"/>
            <a:ext cx="1737360" cy="274320"/>
          </a:xfrm>
          <a:prstGeom prst="rect">
            <a:avLst/>
          </a:prstGeom>
          <a:noFill/>
          <a:ln/>
        </p:spPr>
        <p:txBody>
          <a:bodyPr wrap="square" rtlCol="0" anchor="ctr"/>
          <a:lstStyle/>
          <a:p>
            <a:pPr marL="0" indent="0" algn="ctr">
              <a:buNone/>
            </a:pPr>
            <a:r>
              <a:rPr lang="en-US" sz="1000" dirty="0">
                <a:solidFill>
                  <a:srgbClr val="5A6B7B"/>
                </a:solidFill>
                <a:latin typeface="Calibri" pitchFamily="34" charset="0"/>
                <a:ea typeface="Calibri" pitchFamily="34" charset="-122"/>
                <a:cs typeface="Calibri" pitchFamily="34" charset="-120"/>
              </a:rPr>
              <a:t>Secret Key (K)</a:t>
            </a:r>
            <a:endParaRPr lang="en-US" sz="1000" dirty="0"/>
          </a:p>
        </p:txBody>
      </p:sp>
      <p:sp>
        <p:nvSpPr>
          <p:cNvPr id="22" name="Shape 18"/>
          <p:cNvSpPr/>
          <p:nvPr/>
        </p:nvSpPr>
        <p:spPr>
          <a:xfrm>
            <a:off x="10241280" y="4572000"/>
            <a:ext cx="1371600" cy="777240"/>
          </a:xfrm>
          <a:prstGeom prst="roundRect">
            <a:avLst>
              <a:gd name="adj" fmla="val 9412"/>
            </a:avLst>
          </a:prstGeom>
          <a:solidFill>
            <a:srgbClr val="13315C"/>
          </a:solidFill>
          <a:ln/>
        </p:spPr>
      </p:sp>
      <p:sp>
        <p:nvSpPr>
          <p:cNvPr id="23" name="Text 19"/>
          <p:cNvSpPr/>
          <p:nvPr/>
        </p:nvSpPr>
        <p:spPr>
          <a:xfrm>
            <a:off x="10241280" y="4572000"/>
            <a:ext cx="137160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CIPHERTEXT</a:t>
            </a:r>
            <a:endParaRPr lang="en-US" sz="1000" dirty="0"/>
          </a:p>
        </p:txBody>
      </p:sp>
      <p:sp>
        <p:nvSpPr>
          <p:cNvPr id="24" name="Text 20"/>
          <p:cNvSpPr/>
          <p:nvPr/>
        </p:nvSpPr>
        <p:spPr>
          <a:xfrm rot="10800000">
            <a:off x="9326880" y="4572000"/>
            <a:ext cx="365760" cy="777240"/>
          </a:xfrm>
          <a:prstGeom prst="rect">
            <a:avLst/>
          </a:prstGeom>
          <a:noFill/>
          <a:ln/>
        </p:spPr>
        <p:txBody>
          <a:bodyPr wrap="square" rtlCol="0" anchor="ctr"/>
          <a:lstStyle/>
          <a:p>
            <a:pPr marL="0" indent="0" algn="ctr">
              <a:buNone/>
            </a:pPr>
            <a:r>
              <a:rPr lang="en-US" sz="1600" dirty="0">
                <a:solidFill>
                  <a:srgbClr val="5FBFF9"/>
                </a:solidFill>
              </a:rPr>
              <a:t>▶</a:t>
            </a:r>
            <a:endParaRPr lang="en-US" sz="1600" dirty="0"/>
          </a:p>
        </p:txBody>
      </p:sp>
      <p:sp>
        <p:nvSpPr>
          <p:cNvPr id="25" name="Shape 21"/>
          <p:cNvSpPr/>
          <p:nvPr/>
        </p:nvSpPr>
        <p:spPr>
          <a:xfrm>
            <a:off x="7223760" y="4572000"/>
            <a:ext cx="1737360" cy="777240"/>
          </a:xfrm>
          <a:prstGeom prst="roundRect">
            <a:avLst>
              <a:gd name="adj" fmla="val 9412"/>
            </a:avLst>
          </a:prstGeom>
          <a:solidFill>
            <a:srgbClr val="0B2545"/>
          </a:solidFill>
          <a:ln/>
        </p:spPr>
      </p:sp>
      <p:sp>
        <p:nvSpPr>
          <p:cNvPr id="26" name="Text 22"/>
          <p:cNvSpPr/>
          <p:nvPr/>
        </p:nvSpPr>
        <p:spPr>
          <a:xfrm>
            <a:off x="7223760" y="4572000"/>
            <a:ext cx="1737360"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DECRYPTION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ALGORITHM</a:t>
            </a:r>
            <a:endParaRPr lang="en-US" sz="1050" dirty="0"/>
          </a:p>
        </p:txBody>
      </p:sp>
      <p:sp>
        <p:nvSpPr>
          <p:cNvPr id="27" name="Text 23"/>
          <p:cNvSpPr/>
          <p:nvPr/>
        </p:nvSpPr>
        <p:spPr>
          <a:xfrm>
            <a:off x="6035040" y="4572000"/>
            <a:ext cx="822960" cy="777240"/>
          </a:xfrm>
          <a:prstGeom prst="rect">
            <a:avLst/>
          </a:prstGeom>
          <a:noFill/>
          <a:ln/>
        </p:spPr>
        <p:txBody>
          <a:bodyPr wrap="square" rtlCol="0" anchor="ctr"/>
          <a:lstStyle/>
          <a:p>
            <a:pPr marL="0" indent="0" algn="ctr">
              <a:buNone/>
            </a:pPr>
            <a:r>
              <a:rPr lang="en-US" sz="1600" dirty="0">
                <a:solidFill>
                  <a:srgbClr val="5FBFF9"/>
                </a:solidFill>
              </a:rPr>
              <a:t>◀</a:t>
            </a:r>
            <a:endParaRPr lang="en-US" sz="1600" dirty="0"/>
          </a:p>
        </p:txBody>
      </p:sp>
      <p:sp>
        <p:nvSpPr>
          <p:cNvPr id="28" name="Shape 24"/>
          <p:cNvSpPr/>
          <p:nvPr/>
        </p:nvSpPr>
        <p:spPr>
          <a:xfrm>
            <a:off x="5120640" y="4572000"/>
            <a:ext cx="1737360" cy="777240"/>
          </a:xfrm>
          <a:prstGeom prst="roundRect">
            <a:avLst>
              <a:gd name="adj" fmla="val 9412"/>
            </a:avLst>
          </a:prstGeom>
          <a:solidFill>
            <a:srgbClr val="FFFFFF"/>
          </a:solidFill>
          <a:ln w="19050">
            <a:solidFill>
              <a:srgbClr val="0B2545"/>
            </a:solidFill>
            <a:prstDash val="solid"/>
          </a:ln>
        </p:spPr>
      </p:sp>
      <p:sp>
        <p:nvSpPr>
          <p:cNvPr id="29" name="Text 25"/>
          <p:cNvSpPr/>
          <p:nvPr/>
        </p:nvSpPr>
        <p:spPr>
          <a:xfrm>
            <a:off x="5120640" y="4572000"/>
            <a:ext cx="1737360" cy="7772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PLAINTEXT</a:t>
            </a:r>
            <a:endParaRPr lang="en-US" sz="1100" dirty="0"/>
          </a:p>
        </p:txBody>
      </p:sp>
      <p:sp>
        <p:nvSpPr>
          <p:cNvPr id="30" name="Shape 26"/>
          <p:cNvSpPr/>
          <p:nvPr/>
        </p:nvSpPr>
        <p:spPr>
          <a:xfrm>
            <a:off x="8778240" y="3703320"/>
            <a:ext cx="502920" cy="502920"/>
          </a:xfrm>
          <a:prstGeom prst="ellipse">
            <a:avLst/>
          </a:prstGeom>
          <a:solidFill>
            <a:srgbClr val="5FBFF9"/>
          </a:solidFill>
          <a:ln/>
        </p:spPr>
      </p:sp>
      <p:pic>
        <p:nvPicPr>
          <p:cNvPr id="31" name="Image 2" descr="/home/claude/icons/key_0B2545.png"/>
          <p:cNvPicPr>
            <a:picLocks noChangeAspect="1"/>
          </p:cNvPicPr>
          <p:nvPr/>
        </p:nvPicPr>
        <p:blipFill>
          <a:blip r:embed="rId4"/>
          <a:stretch>
            <a:fillRect/>
          </a:stretch>
        </p:blipFill>
        <p:spPr>
          <a:xfrm>
            <a:off x="8908999" y="3834079"/>
            <a:ext cx="241402" cy="241402"/>
          </a:xfrm>
          <a:prstGeom prst="rect">
            <a:avLst/>
          </a:prstGeom>
        </p:spPr>
      </p:pic>
      <p:sp>
        <p:nvSpPr>
          <p:cNvPr id="32" name="Shape 27"/>
          <p:cNvSpPr/>
          <p:nvPr/>
        </p:nvSpPr>
        <p:spPr>
          <a:xfrm>
            <a:off x="9006840" y="4206240"/>
            <a:ext cx="0" cy="365760"/>
          </a:xfrm>
          <a:prstGeom prst="line">
            <a:avLst/>
          </a:prstGeom>
          <a:noFill/>
          <a:ln w="19050">
            <a:solidFill>
              <a:srgbClr val="5FBFF9"/>
            </a:solidFill>
            <a:prstDash val="dash"/>
          </a:ln>
        </p:spPr>
      </p:sp>
      <p:sp>
        <p:nvSpPr>
          <p:cNvPr id="33" name="Text 28"/>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34" name="Text 29"/>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FRAMEWORK</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Categories of Classical Encryption</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sitemap_5FBFF9.png"/>
          <p:cNvPicPr>
            <a:picLocks noChangeAspect="1"/>
          </p:cNvPicPr>
          <p:nvPr/>
        </p:nvPicPr>
        <p:blipFill>
          <a:blip r:embed="rId3"/>
          <a:stretch>
            <a:fillRect/>
          </a:stretch>
        </p:blipFill>
        <p:spPr>
          <a:xfrm>
            <a:off x="10912450" y="579730"/>
            <a:ext cx="395021" cy="395021"/>
          </a:xfrm>
          <a:prstGeom prst="rect">
            <a:avLst/>
          </a:prstGeom>
        </p:spPr>
      </p:pic>
      <p:sp>
        <p:nvSpPr>
          <p:cNvPr id="6" name="Shape 3"/>
          <p:cNvSpPr/>
          <p:nvPr/>
        </p:nvSpPr>
        <p:spPr>
          <a:xfrm>
            <a:off x="548640" y="1600200"/>
            <a:ext cx="5303520" cy="2148840"/>
          </a:xfrm>
          <a:prstGeom prst="roundRect">
            <a:avLst>
              <a:gd name="adj" fmla="val 3404"/>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7" name="Text 4"/>
          <p:cNvSpPr/>
          <p:nvPr/>
        </p:nvSpPr>
        <p:spPr>
          <a:xfrm>
            <a:off x="777240" y="1764792"/>
            <a:ext cx="484632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Substitution Ciphers</a:t>
            </a:r>
            <a:endParaRPr lang="en-US" sz="1500" dirty="0"/>
          </a:p>
        </p:txBody>
      </p:sp>
      <p:sp>
        <p:nvSpPr>
          <p:cNvPr id="8" name="Text 5"/>
          <p:cNvSpPr/>
          <p:nvPr/>
        </p:nvSpPr>
        <p:spPr>
          <a:xfrm>
            <a:off x="777240" y="2130552"/>
            <a:ext cx="4846320" cy="14173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Each letter (or group of letters) of the plaintext is replaced by another letter, number, or symbol. The position of letters stays the same, but their identity changes.</a:t>
            </a:r>
            <a:endParaRPr lang="en-US" sz="1200" dirty="0"/>
          </a:p>
          <a:p>
            <a:pPr marL="0" indent="0">
              <a:buNone/>
            </a:pPr>
            <a:endParaRPr lang="en-US" sz="1200" dirty="0"/>
          </a:p>
          <a:p>
            <a:pPr marL="0" indent="0">
              <a:buNone/>
            </a:pPr>
            <a:r>
              <a:rPr lang="en-US" sz="1200" dirty="0">
                <a:solidFill>
                  <a:srgbClr val="16232E"/>
                </a:solidFill>
                <a:latin typeface="Calibri" pitchFamily="34" charset="0"/>
                <a:ea typeface="Calibri" pitchFamily="34" charset="-122"/>
                <a:cs typeface="Calibri" pitchFamily="34" charset="-120"/>
              </a:rPr>
              <a:t>Examples: Caesar, Affine, Playfair, Vigenère, Beaufort, Hill</a:t>
            </a:r>
            <a:endParaRPr lang="en-US" sz="1200" dirty="0"/>
          </a:p>
        </p:txBody>
      </p:sp>
      <p:sp>
        <p:nvSpPr>
          <p:cNvPr id="11" name="Shape 7"/>
          <p:cNvSpPr/>
          <p:nvPr/>
        </p:nvSpPr>
        <p:spPr>
          <a:xfrm>
            <a:off x="6035040" y="1600200"/>
            <a:ext cx="5303520" cy="2148840"/>
          </a:xfrm>
          <a:prstGeom prst="roundRect">
            <a:avLst>
              <a:gd name="adj" fmla="val 3404"/>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2" name="Text 8"/>
          <p:cNvSpPr/>
          <p:nvPr/>
        </p:nvSpPr>
        <p:spPr>
          <a:xfrm>
            <a:off x="6263640" y="1764792"/>
            <a:ext cx="484632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Transposition Ciphers</a:t>
            </a:r>
            <a:endParaRPr lang="en-US" sz="1500" dirty="0"/>
          </a:p>
        </p:txBody>
      </p:sp>
      <p:sp>
        <p:nvSpPr>
          <p:cNvPr id="13" name="Text 9"/>
          <p:cNvSpPr/>
          <p:nvPr/>
        </p:nvSpPr>
        <p:spPr>
          <a:xfrm>
            <a:off x="6263640" y="2130552"/>
            <a:ext cx="4846320" cy="14173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The identity of each letter is preserved, but its position within the message is rearranged according to a system or key.</a:t>
            </a:r>
            <a:endParaRPr lang="en-US" sz="1200" dirty="0"/>
          </a:p>
          <a:p>
            <a:pPr marL="0" indent="0">
              <a:buNone/>
            </a:pPr>
            <a:endParaRPr lang="en-US" sz="1200" dirty="0"/>
          </a:p>
          <a:p>
            <a:pPr marL="0" indent="0">
              <a:buNone/>
            </a:pPr>
            <a:r>
              <a:rPr lang="en-US" sz="1200" dirty="0">
                <a:solidFill>
                  <a:srgbClr val="16232E"/>
                </a:solidFill>
                <a:latin typeface="Calibri" pitchFamily="34" charset="0"/>
                <a:ea typeface="Calibri" pitchFamily="34" charset="-122"/>
                <a:cs typeface="Calibri" pitchFamily="34" charset="-120"/>
              </a:rPr>
              <a:t>Examples: Rail Fence Cipher, Columnar Transposition Cipher</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0789920" cy="2286000"/>
        </p:xfrm>
        <a:graphic>
          <a:graphicData uri="http://schemas.openxmlformats.org/drawingml/2006/table">
            <a:tbl>
              <a:tblPr/>
              <a:tblGrid>
                <a:gridCol w="31089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57200">
                <a:tc>
                  <a:txBody>
                    <a:bodyPr/>
                    <a:lstStyle/>
                    <a:p>
                      <a:pPr marL="0" indent="0" algn="ctr">
                        <a:buNone/>
                      </a:pPr>
                      <a:r>
                        <a:rPr lang="en-US" sz="1150" b="1" dirty="0">
                          <a:solidFill>
                            <a:srgbClr val="FFFFFF"/>
                          </a:solidFill>
                        </a:rPr>
                        <a:t>Criterion</a:t>
                      </a:r>
                      <a:endParaRPr lang="en-US" sz="11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150" b="1" dirty="0">
                          <a:solidFill>
                            <a:srgbClr val="FFFFFF"/>
                          </a:solidFill>
                        </a:rPr>
                        <a:t>Substitution</a:t>
                      </a:r>
                      <a:endParaRPr lang="en-US" sz="11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150" b="1" dirty="0">
                          <a:solidFill>
                            <a:srgbClr val="FFFFFF"/>
                          </a:solidFill>
                        </a:rPr>
                        <a:t>Transposition</a:t>
                      </a:r>
                      <a:endParaRPr lang="en-US" sz="11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16232E"/>
                          </a:solidFill>
                        </a:rPr>
                        <a:t>What changes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Letter identity</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Letter position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16232E"/>
                          </a:solidFill>
                        </a:rPr>
                        <a:t>Letter frequency</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Altered</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Preserved</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16232E"/>
                          </a:solidFill>
                        </a:rPr>
                        <a:t>Typical defense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Large key space, polyalphabetic mixing</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Complex, multi-round rearrangement</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16232E"/>
                          </a:solidFill>
                        </a:rPr>
                        <a:t>Typical weakness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Frequency analysis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Anagramming, pattern search</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bl>
          </a:graphicData>
        </a:graphic>
      </p:graphicFrame>
      <p:sp>
        <p:nvSpPr>
          <p:cNvPr id="17" name="Text 11"/>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18" name="Text 12"/>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B2545"/>
        </a:solidFill>
        <a:effectLst/>
      </p:bgPr>
    </p:bg>
    <p:spTree>
      <p:nvGrpSpPr>
        <p:cNvPr id="1" name=""/>
        <p:cNvGrpSpPr/>
        <p:nvPr/>
      </p:nvGrpSpPr>
      <p:grpSpPr>
        <a:xfrm>
          <a:off x="0" y="0"/>
          <a:ext cx="0" cy="0"/>
          <a:chOff x="0" y="0"/>
          <a:chExt cx="0" cy="0"/>
        </a:xfrm>
      </p:grpSpPr>
      <p:sp>
        <p:nvSpPr>
          <p:cNvPr id="3" name="Text 1"/>
          <p:cNvSpPr/>
          <p:nvPr/>
        </p:nvSpPr>
        <p:spPr>
          <a:xfrm>
            <a:off x="914400" y="2331720"/>
            <a:ext cx="5486400" cy="365760"/>
          </a:xfrm>
          <a:prstGeom prst="rect">
            <a:avLst/>
          </a:prstGeom>
          <a:noFill/>
          <a:ln/>
        </p:spPr>
        <p:txBody>
          <a:bodyPr wrap="square" rtlCol="0" anchor="ctr"/>
          <a:lstStyle/>
          <a:p>
            <a:pPr marL="0" indent="0">
              <a:buNone/>
            </a:pPr>
            <a:r>
              <a:rPr lang="en-US" sz="1300" b="1" kern="0" spc="200" dirty="0">
                <a:solidFill>
                  <a:srgbClr val="5FBFF9"/>
                </a:solidFill>
                <a:latin typeface="Calibri" pitchFamily="34" charset="0"/>
                <a:ea typeface="Calibri" pitchFamily="34" charset="-122"/>
                <a:cs typeface="Calibri" pitchFamily="34" charset="-120"/>
              </a:rPr>
              <a:t>PART 1 / 2</a:t>
            </a:r>
            <a:endParaRPr lang="en-US" sz="1300" dirty="0"/>
          </a:p>
        </p:txBody>
      </p:sp>
      <p:sp>
        <p:nvSpPr>
          <p:cNvPr id="4" name="Text 2"/>
          <p:cNvSpPr/>
          <p:nvPr/>
        </p:nvSpPr>
        <p:spPr>
          <a:xfrm>
            <a:off x="914400" y="2697480"/>
            <a:ext cx="86868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Substitution Ciphers</a:t>
            </a:r>
            <a:endParaRPr lang="en-US" sz="3400" dirty="0"/>
          </a:p>
        </p:txBody>
      </p:sp>
      <p:sp>
        <p:nvSpPr>
          <p:cNvPr id="5" name="Text 3"/>
          <p:cNvSpPr/>
          <p:nvPr/>
        </p:nvSpPr>
        <p:spPr>
          <a:xfrm>
            <a:off x="914400" y="3886200"/>
            <a:ext cx="7863840" cy="822960"/>
          </a:xfrm>
          <a:prstGeom prst="rect">
            <a:avLst/>
          </a:prstGeom>
          <a:noFill/>
          <a:ln/>
        </p:spPr>
        <p:txBody>
          <a:bodyPr wrap="square" rtlCol="0" anchor="ctr"/>
          <a:lstStyle/>
          <a:p>
            <a:pPr marL="0" indent="0">
              <a:buNone/>
            </a:pPr>
            <a:r>
              <a:rPr lang="en-US" sz="1400" dirty="0">
                <a:solidFill>
                  <a:srgbClr val="A9C2DA"/>
                </a:solidFill>
                <a:latin typeface="Calibri" pitchFamily="34" charset="0"/>
                <a:ea typeface="Calibri" pitchFamily="34" charset="-122"/>
                <a:cs typeface="Calibri" pitchFamily="34" charset="-120"/>
              </a:rPr>
              <a:t>Where the identity of each letter changes, but its position in the message stays fixed.</a:t>
            </a:r>
            <a:endParaRPr lang="en-US" sz="1400" dirty="0"/>
          </a:p>
        </p:txBody>
      </p:sp>
      <p:sp>
        <p:nvSpPr>
          <p:cNvPr id="6" name="Shape 4"/>
          <p:cNvSpPr/>
          <p:nvPr/>
        </p:nvSpPr>
        <p:spPr>
          <a:xfrm>
            <a:off x="9692640" y="2468880"/>
            <a:ext cx="1554480" cy="1554480"/>
          </a:xfrm>
          <a:prstGeom prst="ellipse">
            <a:avLst/>
          </a:prstGeom>
          <a:solidFill>
            <a:srgbClr val="13315C"/>
          </a:solidFill>
          <a:ln/>
        </p:spPr>
      </p:sp>
      <p:pic>
        <p:nvPicPr>
          <p:cNvPr id="7" name="Image 0" descr="/home/claude/icons/exchange_5FBFF9.png"/>
          <p:cNvPicPr>
            <a:picLocks noChangeAspect="1"/>
          </p:cNvPicPr>
          <p:nvPr/>
        </p:nvPicPr>
        <p:blipFill>
          <a:blip r:embed="rId3"/>
          <a:stretch>
            <a:fillRect/>
          </a:stretch>
        </p:blipFill>
        <p:spPr>
          <a:xfrm>
            <a:off x="10096805" y="2873045"/>
            <a:ext cx="746150" cy="746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01</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Caesar Cipher — Concept</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key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5120640" cy="2011680"/>
          </a:xfrm>
          <a:prstGeom prst="rect">
            <a:avLst/>
          </a:prstGeom>
          <a:noFill/>
          <a:ln/>
        </p:spPr>
        <p:txBody>
          <a:bodyPr wrap="square" rtlCol="0" anchor="t"/>
          <a:lstStyle/>
          <a:p>
            <a:pPr marL="0" indent="0">
              <a:spcAft>
                <a:spcPts val="1000"/>
              </a:spcAft>
              <a:buNone/>
            </a:pPr>
            <a:r>
              <a:rPr lang="en-US" sz="1300" dirty="0">
                <a:solidFill>
                  <a:srgbClr val="16232E"/>
                </a:solidFill>
                <a:latin typeface="Calibri" pitchFamily="34" charset="0"/>
                <a:ea typeface="Calibri" pitchFamily="34" charset="-122"/>
                <a:cs typeface="Calibri" pitchFamily="34" charset="-120"/>
              </a:rPr>
              <a:t>The earliest known substitution cipher, attributed to Julius Caesar for military dispatches.</a:t>
            </a:r>
            <a:endParaRPr lang="en-US" sz="1300" dirty="0"/>
          </a:p>
          <a:p>
            <a:pPr marL="0" indent="0">
              <a:spcAft>
                <a:spcPts val="1000"/>
              </a:spcAft>
              <a:buNone/>
            </a:pPr>
            <a:r>
              <a:rPr lang="en-US" sz="1300" dirty="0">
                <a:solidFill>
                  <a:srgbClr val="16232E"/>
                </a:solidFill>
                <a:latin typeface="Calibri" pitchFamily="34" charset="0"/>
                <a:ea typeface="Calibri" pitchFamily="34" charset="-122"/>
                <a:cs typeface="Calibri" pitchFamily="34" charset="-120"/>
              </a:rPr>
              <a:t>Each letter of the plaintext is shifted a fixed number of positions (the key, k) down the alphabet.</a:t>
            </a:r>
            <a:endParaRPr lang="en-US" sz="1300" dirty="0"/>
          </a:p>
          <a:p>
            <a:pPr marL="0" indent="0">
              <a:spcAft>
                <a:spcPts val="400"/>
              </a:spcAft>
              <a:buNone/>
            </a:pPr>
            <a:r>
              <a:rPr lang="en-US" sz="1300" b="1" dirty="0">
                <a:solidFill>
                  <a:srgbClr val="0B2545"/>
                </a:solidFill>
                <a:latin typeface="Calibri" pitchFamily="34" charset="0"/>
                <a:ea typeface="Calibri" pitchFamily="34" charset="-122"/>
                <a:cs typeface="Calibri" pitchFamily="34" charset="-120"/>
              </a:rPr>
              <a:t>Mathematical form:</a:t>
            </a:r>
            <a:endParaRPr lang="en-US" sz="1300" dirty="0"/>
          </a:p>
        </p:txBody>
      </p:sp>
      <p:sp>
        <p:nvSpPr>
          <p:cNvPr id="7" name="Shape 4"/>
          <p:cNvSpPr/>
          <p:nvPr/>
        </p:nvSpPr>
        <p:spPr>
          <a:xfrm>
            <a:off x="548640" y="3611880"/>
            <a:ext cx="5120640" cy="502920"/>
          </a:xfrm>
          <a:prstGeom prst="roundRect">
            <a:avLst>
              <a:gd name="adj" fmla="val 10909"/>
            </a:avLst>
          </a:prstGeom>
          <a:solidFill>
            <a:srgbClr val="0B2545"/>
          </a:solidFill>
          <a:ln/>
        </p:spPr>
      </p:sp>
      <p:sp>
        <p:nvSpPr>
          <p:cNvPr id="8" name="Text 5"/>
          <p:cNvSpPr/>
          <p:nvPr/>
        </p:nvSpPr>
        <p:spPr>
          <a:xfrm>
            <a:off x="685800" y="3611880"/>
            <a:ext cx="484632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Encrypt:  C = (P + k) mod 26</a:t>
            </a:r>
            <a:endParaRPr lang="en-US" sz="1400" dirty="0"/>
          </a:p>
        </p:txBody>
      </p:sp>
      <p:sp>
        <p:nvSpPr>
          <p:cNvPr id="9" name="Shape 6"/>
          <p:cNvSpPr/>
          <p:nvPr/>
        </p:nvSpPr>
        <p:spPr>
          <a:xfrm>
            <a:off x="548640" y="4206240"/>
            <a:ext cx="5120640" cy="502920"/>
          </a:xfrm>
          <a:prstGeom prst="roundRect">
            <a:avLst>
              <a:gd name="adj" fmla="val 10909"/>
            </a:avLst>
          </a:prstGeom>
          <a:solidFill>
            <a:srgbClr val="13315C"/>
          </a:solidFill>
          <a:ln/>
        </p:spPr>
      </p:sp>
      <p:sp>
        <p:nvSpPr>
          <p:cNvPr id="10" name="Text 7"/>
          <p:cNvSpPr/>
          <p:nvPr/>
        </p:nvSpPr>
        <p:spPr>
          <a:xfrm>
            <a:off x="685800" y="4206240"/>
            <a:ext cx="484632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Decrypt:  P = (C − k) mod 26</a:t>
            </a:r>
            <a:endParaRPr lang="en-US" sz="1400" dirty="0"/>
          </a:p>
        </p:txBody>
      </p:sp>
      <p:sp>
        <p:nvSpPr>
          <p:cNvPr id="11" name="Text 8"/>
          <p:cNvSpPr/>
          <p:nvPr/>
        </p:nvSpPr>
        <p:spPr>
          <a:xfrm>
            <a:off x="548640" y="4892040"/>
            <a:ext cx="5120640" cy="457200"/>
          </a:xfrm>
          <a:prstGeom prst="rect">
            <a:avLst/>
          </a:prstGeom>
          <a:noFill/>
          <a:ln/>
        </p:spPr>
        <p:txBody>
          <a:bodyPr wrap="square"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Key space: only 25 usable keys (k = 1..25) — trivially small.</a:t>
            </a:r>
            <a:endParaRPr lang="en-US" sz="1200" dirty="0"/>
          </a:p>
        </p:txBody>
      </p:sp>
      <p:sp>
        <p:nvSpPr>
          <p:cNvPr id="12" name="Text 9"/>
          <p:cNvSpPr/>
          <p:nvPr/>
        </p:nvSpPr>
        <p:spPr>
          <a:xfrm>
            <a:off x="6126480" y="1691640"/>
            <a:ext cx="5120640" cy="320040"/>
          </a:xfrm>
          <a:prstGeom prst="rect">
            <a:avLst/>
          </a:prstGeom>
          <a:noFill/>
          <a:ln/>
        </p:spPr>
        <p:txBody>
          <a:bodyPr wrap="square" rtlCol="0" anchor="ctr"/>
          <a:lstStyle/>
          <a:p>
            <a:pPr marL="0" indent="0">
              <a:buNone/>
            </a:pPr>
            <a:r>
              <a:rPr lang="en-US" sz="1200" b="1" dirty="0">
                <a:solidFill>
                  <a:srgbClr val="5A6B7B"/>
                </a:solidFill>
                <a:latin typeface="Calibri" pitchFamily="34" charset="0"/>
                <a:ea typeface="Calibri" pitchFamily="34" charset="-122"/>
                <a:cs typeface="Calibri" pitchFamily="34" charset="-120"/>
              </a:rPr>
              <a:t>Example shift, k = 3</a:t>
            </a:r>
            <a:endParaRPr lang="en-US" sz="1200" dirty="0"/>
          </a:p>
        </p:txBody>
      </p:sp>
      <p:sp>
        <p:nvSpPr>
          <p:cNvPr id="13" name="Shape 10"/>
          <p:cNvSpPr/>
          <p:nvPr/>
        </p:nvSpPr>
        <p:spPr>
          <a:xfrm>
            <a:off x="6126480" y="2057400"/>
            <a:ext cx="658368" cy="548640"/>
          </a:xfrm>
          <a:prstGeom prst="rect">
            <a:avLst/>
          </a:prstGeom>
          <a:solidFill>
            <a:srgbClr val="FFFFFF"/>
          </a:solidFill>
          <a:ln w="12700">
            <a:solidFill>
              <a:srgbClr val="0B2545"/>
            </a:solidFill>
            <a:prstDash val="solid"/>
          </a:ln>
        </p:spPr>
      </p:sp>
      <p:sp>
        <p:nvSpPr>
          <p:cNvPr id="14" name="Text 11"/>
          <p:cNvSpPr/>
          <p:nvPr/>
        </p:nvSpPr>
        <p:spPr>
          <a:xfrm>
            <a:off x="6126480" y="2057400"/>
            <a:ext cx="658368" cy="54864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A</a:t>
            </a:r>
            <a:endParaRPr lang="en-US" sz="1400" dirty="0"/>
          </a:p>
        </p:txBody>
      </p:sp>
      <p:sp>
        <p:nvSpPr>
          <p:cNvPr id="15" name="Shape 12"/>
          <p:cNvSpPr/>
          <p:nvPr/>
        </p:nvSpPr>
        <p:spPr>
          <a:xfrm>
            <a:off x="6812280" y="2057400"/>
            <a:ext cx="658368" cy="548640"/>
          </a:xfrm>
          <a:prstGeom prst="rect">
            <a:avLst/>
          </a:prstGeom>
          <a:solidFill>
            <a:srgbClr val="FFFFFF"/>
          </a:solidFill>
          <a:ln w="12700">
            <a:solidFill>
              <a:srgbClr val="0B2545"/>
            </a:solidFill>
            <a:prstDash val="solid"/>
          </a:ln>
        </p:spPr>
      </p:sp>
      <p:sp>
        <p:nvSpPr>
          <p:cNvPr id="16" name="Text 13"/>
          <p:cNvSpPr/>
          <p:nvPr/>
        </p:nvSpPr>
        <p:spPr>
          <a:xfrm>
            <a:off x="6812280" y="2057400"/>
            <a:ext cx="658368" cy="54864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B</a:t>
            </a:r>
            <a:endParaRPr lang="en-US" sz="1400" dirty="0"/>
          </a:p>
        </p:txBody>
      </p:sp>
      <p:sp>
        <p:nvSpPr>
          <p:cNvPr id="17" name="Shape 14"/>
          <p:cNvSpPr/>
          <p:nvPr/>
        </p:nvSpPr>
        <p:spPr>
          <a:xfrm>
            <a:off x="7498080" y="2057400"/>
            <a:ext cx="658368" cy="548640"/>
          </a:xfrm>
          <a:prstGeom prst="rect">
            <a:avLst/>
          </a:prstGeom>
          <a:solidFill>
            <a:srgbClr val="FFFFFF"/>
          </a:solidFill>
          <a:ln w="12700">
            <a:solidFill>
              <a:srgbClr val="0B2545"/>
            </a:solidFill>
            <a:prstDash val="solid"/>
          </a:ln>
        </p:spPr>
      </p:sp>
      <p:sp>
        <p:nvSpPr>
          <p:cNvPr id="18" name="Text 15"/>
          <p:cNvSpPr/>
          <p:nvPr/>
        </p:nvSpPr>
        <p:spPr>
          <a:xfrm>
            <a:off x="7498080" y="2057400"/>
            <a:ext cx="658368" cy="54864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C</a:t>
            </a:r>
            <a:endParaRPr lang="en-US" sz="1400" dirty="0"/>
          </a:p>
        </p:txBody>
      </p:sp>
      <p:sp>
        <p:nvSpPr>
          <p:cNvPr id="19" name="Shape 16"/>
          <p:cNvSpPr/>
          <p:nvPr/>
        </p:nvSpPr>
        <p:spPr>
          <a:xfrm>
            <a:off x="8183880" y="2057400"/>
            <a:ext cx="658368" cy="548640"/>
          </a:xfrm>
          <a:prstGeom prst="rect">
            <a:avLst/>
          </a:prstGeom>
          <a:solidFill>
            <a:srgbClr val="FFFFFF"/>
          </a:solidFill>
          <a:ln w="12700">
            <a:solidFill>
              <a:srgbClr val="0B2545"/>
            </a:solidFill>
            <a:prstDash val="solid"/>
          </a:ln>
        </p:spPr>
      </p:sp>
      <p:sp>
        <p:nvSpPr>
          <p:cNvPr id="20" name="Text 17"/>
          <p:cNvSpPr/>
          <p:nvPr/>
        </p:nvSpPr>
        <p:spPr>
          <a:xfrm>
            <a:off x="8183880" y="2057400"/>
            <a:ext cx="658368" cy="54864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D</a:t>
            </a:r>
            <a:endParaRPr lang="en-US" sz="1400" dirty="0"/>
          </a:p>
        </p:txBody>
      </p:sp>
      <p:sp>
        <p:nvSpPr>
          <p:cNvPr id="21" name="Shape 18"/>
          <p:cNvSpPr/>
          <p:nvPr/>
        </p:nvSpPr>
        <p:spPr>
          <a:xfrm>
            <a:off x="8869680" y="2057400"/>
            <a:ext cx="658368" cy="548640"/>
          </a:xfrm>
          <a:prstGeom prst="rect">
            <a:avLst/>
          </a:prstGeom>
          <a:solidFill>
            <a:srgbClr val="FFFFFF"/>
          </a:solidFill>
          <a:ln w="12700">
            <a:solidFill>
              <a:srgbClr val="0B2545"/>
            </a:solidFill>
            <a:prstDash val="solid"/>
          </a:ln>
        </p:spPr>
      </p:sp>
      <p:sp>
        <p:nvSpPr>
          <p:cNvPr id="22" name="Text 19"/>
          <p:cNvSpPr/>
          <p:nvPr/>
        </p:nvSpPr>
        <p:spPr>
          <a:xfrm>
            <a:off x="8869680" y="2057400"/>
            <a:ext cx="658368" cy="54864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E</a:t>
            </a:r>
            <a:endParaRPr lang="en-US" sz="1400" dirty="0"/>
          </a:p>
        </p:txBody>
      </p:sp>
      <p:sp>
        <p:nvSpPr>
          <p:cNvPr id="23" name="Text 20"/>
          <p:cNvSpPr/>
          <p:nvPr/>
        </p:nvSpPr>
        <p:spPr>
          <a:xfrm>
            <a:off x="6126480" y="2651760"/>
            <a:ext cx="3566160" cy="274320"/>
          </a:xfrm>
          <a:prstGeom prst="rect">
            <a:avLst/>
          </a:prstGeom>
          <a:noFill/>
          <a:ln/>
        </p:spPr>
        <p:txBody>
          <a:bodyPr wrap="square" rtlCol="0" anchor="ctr"/>
          <a:lstStyle/>
          <a:p>
            <a:pPr marL="0" indent="0">
              <a:buNone/>
            </a:pPr>
            <a:r>
              <a:rPr lang="en-US" sz="1000" i="1" dirty="0">
                <a:solidFill>
                  <a:srgbClr val="5FBFF9"/>
                </a:solidFill>
                <a:latin typeface="Calibri" pitchFamily="34" charset="0"/>
                <a:ea typeface="Calibri" pitchFamily="34" charset="-122"/>
                <a:cs typeface="Calibri" pitchFamily="34" charset="-120"/>
              </a:rPr>
              <a:t>shift by 3 ▼</a:t>
            </a:r>
            <a:endParaRPr lang="en-US" sz="1000" dirty="0"/>
          </a:p>
        </p:txBody>
      </p:sp>
      <p:sp>
        <p:nvSpPr>
          <p:cNvPr id="24" name="Shape 21"/>
          <p:cNvSpPr/>
          <p:nvPr/>
        </p:nvSpPr>
        <p:spPr>
          <a:xfrm>
            <a:off x="6126480" y="2971800"/>
            <a:ext cx="658368" cy="548640"/>
          </a:xfrm>
          <a:prstGeom prst="rect">
            <a:avLst/>
          </a:prstGeom>
          <a:solidFill>
            <a:srgbClr val="0B2545"/>
          </a:solidFill>
          <a:ln w="12700">
            <a:solidFill>
              <a:srgbClr val="0B2545"/>
            </a:solidFill>
            <a:prstDash val="solid"/>
          </a:ln>
        </p:spPr>
      </p:sp>
      <p:sp>
        <p:nvSpPr>
          <p:cNvPr id="25" name="Text 22"/>
          <p:cNvSpPr/>
          <p:nvPr/>
        </p:nvSpPr>
        <p:spPr>
          <a:xfrm>
            <a:off x="6126480" y="2971800"/>
            <a:ext cx="658368" cy="54864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D</a:t>
            </a:r>
            <a:endParaRPr lang="en-US" sz="1400" dirty="0"/>
          </a:p>
        </p:txBody>
      </p:sp>
      <p:sp>
        <p:nvSpPr>
          <p:cNvPr id="26" name="Shape 23"/>
          <p:cNvSpPr/>
          <p:nvPr/>
        </p:nvSpPr>
        <p:spPr>
          <a:xfrm>
            <a:off x="6812280" y="2971800"/>
            <a:ext cx="658368" cy="548640"/>
          </a:xfrm>
          <a:prstGeom prst="rect">
            <a:avLst/>
          </a:prstGeom>
          <a:solidFill>
            <a:srgbClr val="0B2545"/>
          </a:solidFill>
          <a:ln w="12700">
            <a:solidFill>
              <a:srgbClr val="0B2545"/>
            </a:solidFill>
            <a:prstDash val="solid"/>
          </a:ln>
        </p:spPr>
      </p:sp>
      <p:sp>
        <p:nvSpPr>
          <p:cNvPr id="27" name="Text 24"/>
          <p:cNvSpPr/>
          <p:nvPr/>
        </p:nvSpPr>
        <p:spPr>
          <a:xfrm>
            <a:off x="6812280" y="2971800"/>
            <a:ext cx="658368" cy="54864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E</a:t>
            </a:r>
            <a:endParaRPr lang="en-US" sz="1400" dirty="0"/>
          </a:p>
        </p:txBody>
      </p:sp>
      <p:sp>
        <p:nvSpPr>
          <p:cNvPr id="28" name="Shape 25"/>
          <p:cNvSpPr/>
          <p:nvPr/>
        </p:nvSpPr>
        <p:spPr>
          <a:xfrm>
            <a:off x="7498080" y="2971800"/>
            <a:ext cx="658368" cy="548640"/>
          </a:xfrm>
          <a:prstGeom prst="rect">
            <a:avLst/>
          </a:prstGeom>
          <a:solidFill>
            <a:srgbClr val="0B2545"/>
          </a:solidFill>
          <a:ln w="12700">
            <a:solidFill>
              <a:srgbClr val="0B2545"/>
            </a:solidFill>
            <a:prstDash val="solid"/>
          </a:ln>
        </p:spPr>
      </p:sp>
      <p:sp>
        <p:nvSpPr>
          <p:cNvPr id="29" name="Text 26"/>
          <p:cNvSpPr/>
          <p:nvPr/>
        </p:nvSpPr>
        <p:spPr>
          <a:xfrm>
            <a:off x="7498080" y="2971800"/>
            <a:ext cx="658368" cy="54864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F</a:t>
            </a:r>
            <a:endParaRPr lang="en-US" sz="1400" dirty="0"/>
          </a:p>
        </p:txBody>
      </p:sp>
      <p:sp>
        <p:nvSpPr>
          <p:cNvPr id="30" name="Shape 27"/>
          <p:cNvSpPr/>
          <p:nvPr/>
        </p:nvSpPr>
        <p:spPr>
          <a:xfrm>
            <a:off x="8183880" y="2971800"/>
            <a:ext cx="658368" cy="548640"/>
          </a:xfrm>
          <a:prstGeom prst="rect">
            <a:avLst/>
          </a:prstGeom>
          <a:solidFill>
            <a:srgbClr val="0B2545"/>
          </a:solidFill>
          <a:ln w="12700">
            <a:solidFill>
              <a:srgbClr val="0B2545"/>
            </a:solidFill>
            <a:prstDash val="solid"/>
          </a:ln>
        </p:spPr>
      </p:sp>
      <p:sp>
        <p:nvSpPr>
          <p:cNvPr id="31" name="Text 28"/>
          <p:cNvSpPr/>
          <p:nvPr/>
        </p:nvSpPr>
        <p:spPr>
          <a:xfrm>
            <a:off x="8183880" y="2971800"/>
            <a:ext cx="658368" cy="54864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G</a:t>
            </a:r>
            <a:endParaRPr lang="en-US" sz="1400" dirty="0"/>
          </a:p>
        </p:txBody>
      </p:sp>
      <p:sp>
        <p:nvSpPr>
          <p:cNvPr id="32" name="Shape 29"/>
          <p:cNvSpPr/>
          <p:nvPr/>
        </p:nvSpPr>
        <p:spPr>
          <a:xfrm>
            <a:off x="8869680" y="2971800"/>
            <a:ext cx="658368" cy="548640"/>
          </a:xfrm>
          <a:prstGeom prst="rect">
            <a:avLst/>
          </a:prstGeom>
          <a:solidFill>
            <a:srgbClr val="0B2545"/>
          </a:solidFill>
          <a:ln w="12700">
            <a:solidFill>
              <a:srgbClr val="0B2545"/>
            </a:solidFill>
            <a:prstDash val="solid"/>
          </a:ln>
        </p:spPr>
      </p:sp>
      <p:sp>
        <p:nvSpPr>
          <p:cNvPr id="33" name="Text 30"/>
          <p:cNvSpPr/>
          <p:nvPr/>
        </p:nvSpPr>
        <p:spPr>
          <a:xfrm>
            <a:off x="8869680" y="2971800"/>
            <a:ext cx="658368" cy="54864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H</a:t>
            </a:r>
            <a:endParaRPr lang="en-US" sz="1400" dirty="0"/>
          </a:p>
        </p:txBody>
      </p:sp>
      <p:sp>
        <p:nvSpPr>
          <p:cNvPr id="34" name="Shape 31"/>
          <p:cNvSpPr/>
          <p:nvPr/>
        </p:nvSpPr>
        <p:spPr>
          <a:xfrm>
            <a:off x="6126480" y="3794760"/>
            <a:ext cx="5166360" cy="2148840"/>
          </a:xfrm>
          <a:prstGeom prst="roundRect">
            <a:avLst>
              <a:gd name="adj" fmla="val 3404"/>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35" name="Text 32"/>
          <p:cNvSpPr/>
          <p:nvPr/>
        </p:nvSpPr>
        <p:spPr>
          <a:xfrm>
            <a:off x="6355080" y="3959352"/>
            <a:ext cx="470916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Historical note</a:t>
            </a:r>
            <a:endParaRPr lang="en-US" sz="1500" dirty="0"/>
          </a:p>
        </p:txBody>
      </p:sp>
      <p:sp>
        <p:nvSpPr>
          <p:cNvPr id="36" name="Text 33"/>
          <p:cNvSpPr/>
          <p:nvPr/>
        </p:nvSpPr>
        <p:spPr>
          <a:xfrm>
            <a:off x="6355080" y="4325112"/>
            <a:ext cx="4709160" cy="14173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Caesar reportedly used a shift of 3 in his personal correspondence. The technique remained militarily useful for centuries simply because literacy — let alone cryptanalysis — was rare.</a:t>
            </a:r>
            <a:endParaRPr lang="en-US" sz="1200" dirty="0"/>
          </a:p>
        </p:txBody>
      </p:sp>
      <p:sp>
        <p:nvSpPr>
          <p:cNvPr id="37" name="Text 3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38" name="Text 3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7315200" cy="640080"/>
          </a:xfrm>
          <a:prstGeom prst="rect">
            <a:avLst/>
          </a:prstGeom>
          <a:noFill/>
          <a:ln/>
        </p:spPr>
        <p:txBody>
          <a:bodyPr wrap="square" rtlCol="0" anchor="ctr"/>
          <a:lstStyle/>
          <a:p>
            <a:pPr marL="0" indent="0">
              <a:buNone/>
            </a:pPr>
            <a:r>
              <a:rPr lang="en-US" sz="3400" b="1" dirty="0">
                <a:solidFill>
                  <a:srgbClr val="FFD447"/>
                </a:solidFill>
                <a:latin typeface="Arial" pitchFamily="34" charset="0"/>
                <a:ea typeface="Arial" pitchFamily="34" charset="-122"/>
                <a:cs typeface="Arial" pitchFamily="34" charset="-120"/>
              </a:rPr>
              <a:t>Caesar Cipher</a:t>
            </a:r>
            <a:endParaRPr lang="en-US" sz="3400" dirty="0"/>
          </a:p>
        </p:txBody>
      </p:sp>
      <p:sp>
        <p:nvSpPr>
          <p:cNvPr id="3" name="Text 1"/>
          <p:cNvSpPr/>
          <p:nvPr/>
        </p:nvSpPr>
        <p:spPr>
          <a:xfrm>
            <a:off x="548640" y="1051560"/>
            <a:ext cx="10789920" cy="502920"/>
          </a:xfrm>
          <a:prstGeom prst="rect">
            <a:avLst/>
          </a:prstGeom>
          <a:noFill/>
          <a:ln/>
        </p:spPr>
        <p:txBody>
          <a:bodyPr wrap="square" rtlCol="0" anchor="t"/>
          <a:lstStyle/>
          <a:p>
            <a:pPr marL="0" indent="0">
              <a:buNone/>
            </a:pPr>
            <a:r>
              <a:rPr lang="en-US" sz="1600" b="1" dirty="0">
                <a:latin typeface="Arial" pitchFamily="34" charset="0"/>
                <a:ea typeface="Arial" pitchFamily="34" charset="-122"/>
                <a:cs typeface="Arial" pitchFamily="34" charset="-120"/>
              </a:rPr>
              <a:t>★  </a:t>
            </a:r>
            <a:r>
              <a:rPr lang="en-US" sz="1600" dirty="0">
                <a:latin typeface="Arial" pitchFamily="34" charset="0"/>
                <a:ea typeface="Arial" pitchFamily="34" charset="-122"/>
                <a:cs typeface="Arial" pitchFamily="34" charset="-120"/>
              </a:rPr>
              <a:t>Letters are replaced by other letters or symbols.</a:t>
            </a:r>
            <a:endParaRPr lang="en-US" sz="1600" dirty="0"/>
          </a:p>
        </p:txBody>
      </p:sp>
      <p:sp>
        <p:nvSpPr>
          <p:cNvPr id="4" name="Text 2"/>
          <p:cNvSpPr/>
          <p:nvPr/>
        </p:nvSpPr>
        <p:spPr>
          <a:xfrm>
            <a:off x="548640" y="1554480"/>
            <a:ext cx="10789920" cy="502920"/>
          </a:xfrm>
          <a:prstGeom prst="rect">
            <a:avLst/>
          </a:prstGeom>
          <a:noFill/>
          <a:ln/>
        </p:spPr>
        <p:txBody>
          <a:bodyPr wrap="square" rtlCol="0" anchor="t"/>
          <a:lstStyle/>
          <a:p>
            <a:pPr marL="0" indent="0">
              <a:buNone/>
            </a:pPr>
            <a:r>
              <a:rPr lang="en-US" sz="1600" b="1" dirty="0">
                <a:latin typeface="Arial" pitchFamily="34" charset="0"/>
                <a:ea typeface="Arial" pitchFamily="34" charset="-122"/>
                <a:cs typeface="Arial" pitchFamily="34" charset="-120"/>
              </a:rPr>
              <a:t>★  </a:t>
            </a:r>
            <a:r>
              <a:rPr lang="en-US" sz="1600" dirty="0">
                <a:latin typeface="Arial" pitchFamily="34" charset="0"/>
                <a:ea typeface="Arial" pitchFamily="34" charset="-122"/>
                <a:cs typeface="Arial" pitchFamily="34" charset="-120"/>
              </a:rPr>
              <a:t>The earlier known and simplest method used be Julius Caesar.</a:t>
            </a:r>
            <a:endParaRPr lang="en-US" sz="1600" dirty="0"/>
          </a:p>
        </p:txBody>
      </p:sp>
      <p:sp>
        <p:nvSpPr>
          <p:cNvPr id="5" name="Text 3"/>
          <p:cNvSpPr/>
          <p:nvPr/>
        </p:nvSpPr>
        <p:spPr>
          <a:xfrm>
            <a:off x="548640" y="2057400"/>
            <a:ext cx="10789920" cy="502920"/>
          </a:xfrm>
          <a:prstGeom prst="rect">
            <a:avLst/>
          </a:prstGeom>
          <a:noFill/>
          <a:ln/>
        </p:spPr>
        <p:txBody>
          <a:bodyPr wrap="square" rtlCol="0" anchor="t"/>
          <a:lstStyle/>
          <a:p>
            <a:pPr marL="0" indent="0">
              <a:buNone/>
            </a:pPr>
            <a:r>
              <a:rPr lang="en-US" sz="1600" b="1" dirty="0">
                <a:latin typeface="Arial" pitchFamily="34" charset="0"/>
                <a:ea typeface="Arial" pitchFamily="34" charset="-122"/>
                <a:cs typeface="Arial" pitchFamily="34" charset="-120"/>
              </a:rPr>
              <a:t>★  </a:t>
            </a:r>
            <a:r>
              <a:rPr lang="en-US" sz="1600" dirty="0">
                <a:latin typeface="Arial" pitchFamily="34" charset="0"/>
                <a:ea typeface="Arial" pitchFamily="34" charset="-122"/>
                <a:cs typeface="Arial" pitchFamily="34" charset="-120"/>
              </a:rPr>
              <a:t>Replacing each letter of the alphabet with the letter standing three places further down the alphabet.</a:t>
            </a:r>
            <a:endParaRPr lang="en-US" sz="1600" dirty="0"/>
          </a:p>
        </p:txBody>
      </p:sp>
      <p:sp>
        <p:nvSpPr>
          <p:cNvPr id="6" name="Text 4"/>
          <p:cNvSpPr/>
          <p:nvPr/>
        </p:nvSpPr>
        <p:spPr>
          <a:xfrm>
            <a:off x="548640" y="2743200"/>
            <a:ext cx="2743200" cy="365760"/>
          </a:xfrm>
          <a:prstGeom prst="rect">
            <a:avLst/>
          </a:prstGeom>
          <a:noFill/>
          <a:ln/>
        </p:spPr>
        <p:txBody>
          <a:bodyPr wrap="square" rtlCol="0" anchor="ctr"/>
          <a:lstStyle/>
          <a:p>
            <a:pPr marL="0" indent="0">
              <a:buNone/>
            </a:pPr>
            <a:r>
              <a:rPr lang="en-US" sz="1800" b="1" dirty="0">
                <a:solidFill>
                  <a:srgbClr val="FF6FA5"/>
                </a:solidFill>
                <a:latin typeface="Arial" pitchFamily="34" charset="0"/>
                <a:ea typeface="Arial" pitchFamily="34" charset="-122"/>
                <a:cs typeface="Arial" pitchFamily="34" charset="-120"/>
              </a:rPr>
              <a:t>Example:</a:t>
            </a:r>
            <a:endParaRPr lang="en-US" sz="1800" dirty="0"/>
          </a:p>
        </p:txBody>
      </p:sp>
      <p:graphicFrame>
        <p:nvGraphicFramePr>
          <p:cNvPr id="7" name="Table 0"/>
          <p:cNvGraphicFramePr>
            <a:graphicFrameLocks noGrp="1"/>
          </p:cNvGraphicFramePr>
          <p:nvPr/>
        </p:nvGraphicFramePr>
        <p:xfrm>
          <a:off x="548640" y="3154680"/>
          <a:ext cx="10222992" cy="777240"/>
        </p:xfrm>
        <a:graphic>
          <a:graphicData uri="http://schemas.openxmlformats.org/drawingml/2006/table">
            <a:tbl>
              <a:tblPr/>
              <a:tblGrid>
                <a:gridCol w="78638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86384">
                  <a:extLst>
                    <a:ext uri="{9D8B030D-6E8A-4147-A177-3AD203B41FA5}">
                      <a16:colId xmlns:a16="http://schemas.microsoft.com/office/drawing/2014/main" val="20007"/>
                    </a:ext>
                  </a:extLst>
                </a:gridCol>
                <a:gridCol w="786384">
                  <a:extLst>
                    <a:ext uri="{9D8B030D-6E8A-4147-A177-3AD203B41FA5}">
                      <a16:colId xmlns:a16="http://schemas.microsoft.com/office/drawing/2014/main" val="20008"/>
                    </a:ext>
                  </a:extLst>
                </a:gridCol>
                <a:gridCol w="786384">
                  <a:extLst>
                    <a:ext uri="{9D8B030D-6E8A-4147-A177-3AD203B41FA5}">
                      <a16:colId xmlns:a16="http://schemas.microsoft.com/office/drawing/2014/main" val="20009"/>
                    </a:ext>
                  </a:extLst>
                </a:gridCol>
                <a:gridCol w="786384">
                  <a:extLst>
                    <a:ext uri="{9D8B030D-6E8A-4147-A177-3AD203B41FA5}">
                      <a16:colId xmlns:a16="http://schemas.microsoft.com/office/drawing/2014/main" val="20010"/>
                    </a:ext>
                  </a:extLst>
                </a:gridCol>
                <a:gridCol w="786384">
                  <a:extLst>
                    <a:ext uri="{9D8B030D-6E8A-4147-A177-3AD203B41FA5}">
                      <a16:colId xmlns:a16="http://schemas.microsoft.com/office/drawing/2014/main" val="20011"/>
                    </a:ext>
                  </a:extLst>
                </a:gridCol>
                <a:gridCol w="786384">
                  <a:extLst>
                    <a:ext uri="{9D8B030D-6E8A-4147-A177-3AD203B41FA5}">
                      <a16:colId xmlns:a16="http://schemas.microsoft.com/office/drawing/2014/main" val="20012"/>
                    </a:ext>
                  </a:extLst>
                </a:gridCol>
              </a:tblGrid>
              <a:tr h="320040">
                <a:tc>
                  <a:txBody>
                    <a:bodyPr/>
                    <a:lstStyle/>
                    <a:p>
                      <a:pPr marL="0" indent="0" algn="ctr">
                        <a:buNone/>
                      </a:pPr>
                      <a:r>
                        <a:rPr lang="en-US" sz="1300" b="1" dirty="0">
                          <a:solidFill>
                            <a:srgbClr val="FFA500"/>
                          </a:solidFill>
                        </a:rPr>
                        <a:t>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6</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7</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8</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9</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FFD447"/>
                          </a:solidFill>
                        </a:rPr>
                        <a:t>A</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B</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C</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D</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E</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F</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G</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H</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I</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J</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K</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L</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M</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1"/>
                  </a:ext>
                </a:extLst>
              </a:tr>
            </a:tbl>
          </a:graphicData>
        </a:graphic>
      </p:graphicFrame>
      <p:graphicFrame>
        <p:nvGraphicFramePr>
          <p:cNvPr id="8" name="Table 1"/>
          <p:cNvGraphicFramePr>
            <a:graphicFrameLocks noGrp="1"/>
          </p:cNvGraphicFramePr>
          <p:nvPr/>
        </p:nvGraphicFramePr>
        <p:xfrm>
          <a:off x="548640" y="4023360"/>
          <a:ext cx="10222992" cy="777240"/>
        </p:xfrm>
        <a:graphic>
          <a:graphicData uri="http://schemas.openxmlformats.org/drawingml/2006/table">
            <a:tbl>
              <a:tblPr/>
              <a:tblGrid>
                <a:gridCol w="78638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86384">
                  <a:extLst>
                    <a:ext uri="{9D8B030D-6E8A-4147-A177-3AD203B41FA5}">
                      <a16:colId xmlns:a16="http://schemas.microsoft.com/office/drawing/2014/main" val="20007"/>
                    </a:ext>
                  </a:extLst>
                </a:gridCol>
                <a:gridCol w="786384">
                  <a:extLst>
                    <a:ext uri="{9D8B030D-6E8A-4147-A177-3AD203B41FA5}">
                      <a16:colId xmlns:a16="http://schemas.microsoft.com/office/drawing/2014/main" val="20008"/>
                    </a:ext>
                  </a:extLst>
                </a:gridCol>
                <a:gridCol w="786384">
                  <a:extLst>
                    <a:ext uri="{9D8B030D-6E8A-4147-A177-3AD203B41FA5}">
                      <a16:colId xmlns:a16="http://schemas.microsoft.com/office/drawing/2014/main" val="20009"/>
                    </a:ext>
                  </a:extLst>
                </a:gridCol>
                <a:gridCol w="786384">
                  <a:extLst>
                    <a:ext uri="{9D8B030D-6E8A-4147-A177-3AD203B41FA5}">
                      <a16:colId xmlns:a16="http://schemas.microsoft.com/office/drawing/2014/main" val="20010"/>
                    </a:ext>
                  </a:extLst>
                </a:gridCol>
                <a:gridCol w="786384">
                  <a:extLst>
                    <a:ext uri="{9D8B030D-6E8A-4147-A177-3AD203B41FA5}">
                      <a16:colId xmlns:a16="http://schemas.microsoft.com/office/drawing/2014/main" val="20011"/>
                    </a:ext>
                  </a:extLst>
                </a:gridCol>
                <a:gridCol w="786384">
                  <a:extLst>
                    <a:ext uri="{9D8B030D-6E8A-4147-A177-3AD203B41FA5}">
                      <a16:colId xmlns:a16="http://schemas.microsoft.com/office/drawing/2014/main" val="20012"/>
                    </a:ext>
                  </a:extLst>
                </a:gridCol>
              </a:tblGrid>
              <a:tr h="320040">
                <a:tc>
                  <a:txBody>
                    <a:bodyPr/>
                    <a:lstStyle/>
                    <a:p>
                      <a:pPr marL="0" indent="0" algn="ctr">
                        <a:buNone/>
                      </a:pPr>
                      <a:r>
                        <a:rPr lang="en-US" sz="1300" b="1" dirty="0">
                          <a:solidFill>
                            <a:srgbClr val="FFA500"/>
                          </a:solidFill>
                        </a:rPr>
                        <a:t>13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16</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17</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18</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19</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FFD447"/>
                          </a:solidFill>
                        </a:rPr>
                        <a:t>N</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O</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P</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Q</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R</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S</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T</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U</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V</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W</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X</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Y</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Z</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7315200" cy="502920"/>
          </a:xfrm>
          <a:prstGeom prst="rect">
            <a:avLst/>
          </a:prstGeom>
          <a:noFill/>
          <a:ln/>
        </p:spPr>
        <p:txBody>
          <a:bodyPr wrap="square" rtlCol="0" anchor="ctr"/>
          <a:lstStyle/>
          <a:p>
            <a:pPr marL="0" indent="0">
              <a:buNone/>
            </a:pPr>
            <a:r>
              <a:rPr lang="en-US" sz="3000" b="1" dirty="0">
                <a:solidFill>
                  <a:srgbClr val="FFD447"/>
                </a:solidFill>
                <a:latin typeface="Arial" pitchFamily="34" charset="0"/>
                <a:ea typeface="Arial" pitchFamily="34" charset="-122"/>
                <a:cs typeface="Arial" pitchFamily="34" charset="-120"/>
              </a:rPr>
              <a:t>Caesar Cipher</a:t>
            </a:r>
            <a:endParaRPr lang="en-US" sz="3000" dirty="0"/>
          </a:p>
        </p:txBody>
      </p:sp>
      <p:sp>
        <p:nvSpPr>
          <p:cNvPr id="3" name="Text 1"/>
          <p:cNvSpPr/>
          <p:nvPr/>
        </p:nvSpPr>
        <p:spPr>
          <a:xfrm>
            <a:off x="548640" y="777240"/>
            <a:ext cx="4572000" cy="411480"/>
          </a:xfrm>
          <a:prstGeom prst="rect">
            <a:avLst/>
          </a:prstGeom>
          <a:noFill/>
          <a:ln/>
        </p:spPr>
        <p:txBody>
          <a:bodyPr wrap="square" rtlCol="0" anchor="ctr"/>
          <a:lstStyle/>
          <a:p>
            <a:pPr marL="0" indent="0">
              <a:buNone/>
            </a:pPr>
            <a:r>
              <a:rPr lang="en-US" sz="2000" b="1" dirty="0">
                <a:solidFill>
                  <a:srgbClr val="4CD964"/>
                </a:solidFill>
                <a:latin typeface="Arial" pitchFamily="34" charset="0"/>
                <a:ea typeface="Arial" pitchFamily="34" charset="-122"/>
                <a:cs typeface="Arial" pitchFamily="34" charset="-120"/>
              </a:rPr>
              <a:t>Algorithm:</a:t>
            </a:r>
            <a:endParaRPr lang="en-US" sz="2000" dirty="0"/>
          </a:p>
        </p:txBody>
      </p:sp>
      <p:sp>
        <p:nvSpPr>
          <p:cNvPr id="4" name="Text 2"/>
          <p:cNvSpPr/>
          <p:nvPr/>
        </p:nvSpPr>
        <p:spPr>
          <a:xfrm>
            <a:off x="548640" y="1234440"/>
            <a:ext cx="10972800" cy="365760"/>
          </a:xfrm>
          <a:prstGeom prst="rect">
            <a:avLst/>
          </a:prstGeom>
          <a:noFill/>
          <a:ln/>
        </p:spPr>
        <p:txBody>
          <a:bodyPr wrap="square" rtlCol="0" anchor="ctr"/>
          <a:lstStyle/>
          <a:p>
            <a:pPr marL="0" indent="0">
              <a:buNone/>
            </a:pPr>
            <a:r>
              <a:rPr lang="en-US" sz="1600" dirty="0">
                <a:latin typeface="Arial" pitchFamily="34" charset="0"/>
                <a:ea typeface="Arial" pitchFamily="34" charset="-122"/>
                <a:cs typeface="Arial" pitchFamily="34" charset="-120"/>
              </a:rPr>
              <a:t>For each plaintext letter 'p', substitute the ciphertext letter 'C':</a:t>
            </a:r>
            <a:endParaRPr lang="en-US" sz="1600" dirty="0"/>
          </a:p>
        </p:txBody>
      </p:sp>
      <p:sp>
        <p:nvSpPr>
          <p:cNvPr id="5" name="Text 3"/>
          <p:cNvSpPr/>
          <p:nvPr/>
        </p:nvSpPr>
        <p:spPr>
          <a:xfrm>
            <a:off x="548640" y="1645920"/>
            <a:ext cx="10972800" cy="365760"/>
          </a:xfrm>
          <a:prstGeom prst="rect">
            <a:avLst/>
          </a:prstGeom>
          <a:noFill/>
          <a:ln/>
        </p:spPr>
        <p:txBody>
          <a:bodyPr wrap="square" rtlCol="0" anchor="ctr"/>
          <a:lstStyle/>
          <a:p>
            <a:pPr marL="0" indent="0">
              <a:buNone/>
            </a:pPr>
            <a:r>
              <a:rPr lang="en-US" sz="1700" dirty="0">
                <a:latin typeface="Courier New" pitchFamily="34" charset="0"/>
                <a:ea typeface="Courier New" pitchFamily="34" charset="-122"/>
                <a:cs typeface="Courier New" pitchFamily="34" charset="-120"/>
              </a:rPr>
              <a:t>C = E (p, k) mod 26 = (p + k) mod 26</a:t>
            </a:r>
            <a:endParaRPr lang="en-US" sz="1700" dirty="0"/>
          </a:p>
        </p:txBody>
      </p:sp>
      <p:sp>
        <p:nvSpPr>
          <p:cNvPr id="6" name="Text 4"/>
          <p:cNvSpPr/>
          <p:nvPr/>
        </p:nvSpPr>
        <p:spPr>
          <a:xfrm>
            <a:off x="548640" y="2011680"/>
            <a:ext cx="10972800" cy="365760"/>
          </a:xfrm>
          <a:prstGeom prst="rect">
            <a:avLst/>
          </a:prstGeom>
          <a:noFill/>
          <a:ln/>
        </p:spPr>
        <p:txBody>
          <a:bodyPr wrap="square" rtlCol="0" anchor="ctr"/>
          <a:lstStyle/>
          <a:p>
            <a:pPr marL="0" indent="0">
              <a:buNone/>
            </a:pPr>
            <a:r>
              <a:rPr lang="en-US" sz="1700" dirty="0">
                <a:latin typeface="Courier New" pitchFamily="34" charset="0"/>
                <a:ea typeface="Courier New" pitchFamily="34" charset="-122"/>
                <a:cs typeface="Courier New" pitchFamily="34" charset="-120"/>
              </a:rPr>
              <a:t>p = D (C, k) mod 26 = (C - k) mod 26</a:t>
            </a:r>
            <a:endParaRPr lang="en-US" sz="1700" dirty="0"/>
          </a:p>
        </p:txBody>
      </p:sp>
      <p:graphicFrame>
        <p:nvGraphicFramePr>
          <p:cNvPr id="7" name="Table 0"/>
          <p:cNvGraphicFramePr>
            <a:graphicFrameLocks noGrp="1"/>
          </p:cNvGraphicFramePr>
          <p:nvPr/>
        </p:nvGraphicFramePr>
        <p:xfrm>
          <a:off x="548640" y="2651760"/>
          <a:ext cx="10222992" cy="777240"/>
        </p:xfrm>
        <a:graphic>
          <a:graphicData uri="http://schemas.openxmlformats.org/drawingml/2006/table">
            <a:tbl>
              <a:tblPr/>
              <a:tblGrid>
                <a:gridCol w="78638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86384">
                  <a:extLst>
                    <a:ext uri="{9D8B030D-6E8A-4147-A177-3AD203B41FA5}">
                      <a16:colId xmlns:a16="http://schemas.microsoft.com/office/drawing/2014/main" val="20007"/>
                    </a:ext>
                  </a:extLst>
                </a:gridCol>
                <a:gridCol w="786384">
                  <a:extLst>
                    <a:ext uri="{9D8B030D-6E8A-4147-A177-3AD203B41FA5}">
                      <a16:colId xmlns:a16="http://schemas.microsoft.com/office/drawing/2014/main" val="20008"/>
                    </a:ext>
                  </a:extLst>
                </a:gridCol>
                <a:gridCol w="786384">
                  <a:extLst>
                    <a:ext uri="{9D8B030D-6E8A-4147-A177-3AD203B41FA5}">
                      <a16:colId xmlns:a16="http://schemas.microsoft.com/office/drawing/2014/main" val="20009"/>
                    </a:ext>
                  </a:extLst>
                </a:gridCol>
                <a:gridCol w="786384">
                  <a:extLst>
                    <a:ext uri="{9D8B030D-6E8A-4147-A177-3AD203B41FA5}">
                      <a16:colId xmlns:a16="http://schemas.microsoft.com/office/drawing/2014/main" val="20010"/>
                    </a:ext>
                  </a:extLst>
                </a:gridCol>
                <a:gridCol w="786384">
                  <a:extLst>
                    <a:ext uri="{9D8B030D-6E8A-4147-A177-3AD203B41FA5}">
                      <a16:colId xmlns:a16="http://schemas.microsoft.com/office/drawing/2014/main" val="20011"/>
                    </a:ext>
                  </a:extLst>
                </a:gridCol>
                <a:gridCol w="786384">
                  <a:extLst>
                    <a:ext uri="{9D8B030D-6E8A-4147-A177-3AD203B41FA5}">
                      <a16:colId xmlns:a16="http://schemas.microsoft.com/office/drawing/2014/main" val="20012"/>
                    </a:ext>
                  </a:extLst>
                </a:gridCol>
              </a:tblGrid>
              <a:tr h="320040">
                <a:tc>
                  <a:txBody>
                    <a:bodyPr/>
                    <a:lstStyle/>
                    <a:p>
                      <a:pPr marL="0" indent="0" algn="ctr">
                        <a:buNone/>
                      </a:pPr>
                      <a:r>
                        <a:rPr lang="en-US" sz="1300" b="1" dirty="0">
                          <a:solidFill>
                            <a:srgbClr val="FFA500"/>
                          </a:solidFill>
                        </a:rPr>
                        <a:t>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6</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7</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8</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9</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FFD447"/>
                          </a:solidFill>
                        </a:rPr>
                        <a:t>A</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B</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C</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D</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E</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F</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G</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H</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I</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J</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K</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L</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M</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1"/>
                  </a:ext>
                </a:extLst>
              </a:tr>
            </a:tbl>
          </a:graphicData>
        </a:graphic>
      </p:graphicFrame>
      <p:graphicFrame>
        <p:nvGraphicFramePr>
          <p:cNvPr id="8" name="Table 1"/>
          <p:cNvGraphicFramePr>
            <a:graphicFrameLocks noGrp="1"/>
          </p:cNvGraphicFramePr>
          <p:nvPr/>
        </p:nvGraphicFramePr>
        <p:xfrm>
          <a:off x="548640" y="3520440"/>
          <a:ext cx="10222992" cy="777240"/>
        </p:xfrm>
        <a:graphic>
          <a:graphicData uri="http://schemas.openxmlformats.org/drawingml/2006/table">
            <a:tbl>
              <a:tblPr/>
              <a:tblGrid>
                <a:gridCol w="78638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86384">
                  <a:extLst>
                    <a:ext uri="{9D8B030D-6E8A-4147-A177-3AD203B41FA5}">
                      <a16:colId xmlns:a16="http://schemas.microsoft.com/office/drawing/2014/main" val="20007"/>
                    </a:ext>
                  </a:extLst>
                </a:gridCol>
                <a:gridCol w="786384">
                  <a:extLst>
                    <a:ext uri="{9D8B030D-6E8A-4147-A177-3AD203B41FA5}">
                      <a16:colId xmlns:a16="http://schemas.microsoft.com/office/drawing/2014/main" val="20008"/>
                    </a:ext>
                  </a:extLst>
                </a:gridCol>
                <a:gridCol w="786384">
                  <a:extLst>
                    <a:ext uri="{9D8B030D-6E8A-4147-A177-3AD203B41FA5}">
                      <a16:colId xmlns:a16="http://schemas.microsoft.com/office/drawing/2014/main" val="20009"/>
                    </a:ext>
                  </a:extLst>
                </a:gridCol>
                <a:gridCol w="786384">
                  <a:extLst>
                    <a:ext uri="{9D8B030D-6E8A-4147-A177-3AD203B41FA5}">
                      <a16:colId xmlns:a16="http://schemas.microsoft.com/office/drawing/2014/main" val="20010"/>
                    </a:ext>
                  </a:extLst>
                </a:gridCol>
                <a:gridCol w="786384">
                  <a:extLst>
                    <a:ext uri="{9D8B030D-6E8A-4147-A177-3AD203B41FA5}">
                      <a16:colId xmlns:a16="http://schemas.microsoft.com/office/drawing/2014/main" val="20011"/>
                    </a:ext>
                  </a:extLst>
                </a:gridCol>
                <a:gridCol w="786384">
                  <a:extLst>
                    <a:ext uri="{9D8B030D-6E8A-4147-A177-3AD203B41FA5}">
                      <a16:colId xmlns:a16="http://schemas.microsoft.com/office/drawing/2014/main" val="20012"/>
                    </a:ext>
                  </a:extLst>
                </a:gridCol>
              </a:tblGrid>
              <a:tr h="320040">
                <a:tc>
                  <a:txBody>
                    <a:bodyPr/>
                    <a:lstStyle/>
                    <a:p>
                      <a:pPr marL="0" indent="0" algn="ctr">
                        <a:buNone/>
                      </a:pPr>
                      <a:r>
                        <a:rPr lang="en-US" sz="1300" b="1" dirty="0">
                          <a:solidFill>
                            <a:srgbClr val="FFA500"/>
                          </a:solidFill>
                        </a:rPr>
                        <a:t>13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16</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17</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18</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19</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FFD447"/>
                          </a:solidFill>
                        </a:rPr>
                        <a:t>N</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O</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P</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Q</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R</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S</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T</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U</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V</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W</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X</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Y</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Z</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9144000" cy="502920"/>
          </a:xfrm>
          <a:prstGeom prst="rect">
            <a:avLst/>
          </a:prstGeom>
          <a:noFill/>
          <a:ln/>
        </p:spPr>
        <p:txBody>
          <a:bodyPr wrap="square" rtlCol="0" anchor="ctr"/>
          <a:lstStyle/>
          <a:p>
            <a:pPr marL="0" indent="0">
              <a:buNone/>
            </a:pPr>
            <a:r>
              <a:rPr lang="en-US" sz="3000" b="1" dirty="0">
                <a:solidFill>
                  <a:srgbClr val="FFD447"/>
                </a:solidFill>
                <a:latin typeface="Arial" pitchFamily="34" charset="0"/>
                <a:ea typeface="Arial" pitchFamily="34" charset="-122"/>
                <a:cs typeface="Arial" pitchFamily="34" charset="-120"/>
              </a:rPr>
              <a:t>Caesar Cipher – Example</a:t>
            </a:r>
            <a:endParaRPr lang="en-US" sz="3000" dirty="0"/>
          </a:p>
        </p:txBody>
      </p:sp>
      <p:sp>
        <p:nvSpPr>
          <p:cNvPr id="3" name="Text 1"/>
          <p:cNvSpPr/>
          <p:nvPr/>
        </p:nvSpPr>
        <p:spPr>
          <a:xfrm>
            <a:off x="548640" y="822960"/>
            <a:ext cx="10972800" cy="365760"/>
          </a:xfrm>
          <a:prstGeom prst="rect">
            <a:avLst/>
          </a:prstGeom>
          <a:noFill/>
          <a:ln/>
        </p:spPr>
        <p:txBody>
          <a:bodyPr wrap="square" rtlCol="0" anchor="ctr"/>
          <a:lstStyle/>
          <a:p>
            <a:pPr marL="0" indent="0">
              <a:buNone/>
            </a:pPr>
            <a:r>
              <a:rPr lang="en-US" sz="1700" dirty="0">
                <a:latin typeface="Arial" pitchFamily="34" charset="0"/>
                <a:ea typeface="Arial" pitchFamily="34" charset="-122"/>
                <a:cs typeface="Arial" pitchFamily="34" charset="-120"/>
              </a:rPr>
              <a:t>Question: Encrypt “HELLOW" using Caesar cipher. Key =3</a:t>
            </a:r>
            <a:endParaRPr lang="en-US" sz="1700" dirty="0"/>
          </a:p>
        </p:txBody>
      </p:sp>
      <p:sp>
        <p:nvSpPr>
          <p:cNvPr id="4" name="Text 2"/>
          <p:cNvSpPr/>
          <p:nvPr/>
        </p:nvSpPr>
        <p:spPr>
          <a:xfrm>
            <a:off x="548640" y="1234440"/>
            <a:ext cx="3657600" cy="365760"/>
          </a:xfrm>
          <a:prstGeom prst="rect">
            <a:avLst/>
          </a:prstGeom>
          <a:noFill/>
          <a:ln/>
        </p:spPr>
        <p:txBody>
          <a:bodyPr wrap="square" rtlCol="0" anchor="ctr"/>
          <a:lstStyle/>
          <a:p>
            <a:pPr marL="0" indent="0">
              <a:buNone/>
            </a:pPr>
            <a:r>
              <a:rPr lang="en-US" sz="1800" b="1" dirty="0">
                <a:solidFill>
                  <a:srgbClr val="FF6FA5"/>
                </a:solidFill>
                <a:latin typeface="Arial" pitchFamily="34" charset="0"/>
                <a:ea typeface="Arial" pitchFamily="34" charset="-122"/>
                <a:cs typeface="Arial" pitchFamily="34" charset="-120"/>
              </a:rPr>
              <a:t>Solution:</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158388927"/>
              </p:ext>
            </p:extLst>
          </p:nvPr>
        </p:nvGraphicFramePr>
        <p:xfrm>
          <a:off x="548640" y="1691640"/>
          <a:ext cx="10515600" cy="1005840"/>
        </p:xfrm>
        <a:graphic>
          <a:graphicData uri="http://schemas.openxmlformats.org/drawingml/2006/table">
            <a:tbl>
              <a:tblPr/>
              <a:tblGrid>
                <a:gridCol w="1051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1051560">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gridCol w="1051560">
                  <a:extLst>
                    <a:ext uri="{9D8B030D-6E8A-4147-A177-3AD203B41FA5}">
                      <a16:colId xmlns:a16="http://schemas.microsoft.com/office/drawing/2014/main" val="20009"/>
                    </a:ext>
                  </a:extLst>
                </a:gridCol>
              </a:tblGrid>
              <a:tr h="502920">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502920">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tc>
                  <a:txBody>
                    <a:bodyPr/>
                    <a:lstStyle/>
                    <a:p>
                      <a:pPr marL="0" indent="0">
                        <a:buNone/>
                      </a:pPr>
                      <a:endParaRPr lang="en-US" sz="12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bl>
          </a:graphicData>
        </a:graphic>
      </p:graphicFrame>
      <p:graphicFrame>
        <p:nvGraphicFramePr>
          <p:cNvPr id="7" name="Table 1"/>
          <p:cNvGraphicFramePr>
            <a:graphicFrameLocks noGrp="1"/>
          </p:cNvGraphicFramePr>
          <p:nvPr/>
        </p:nvGraphicFramePr>
        <p:xfrm>
          <a:off x="548640" y="3063240"/>
          <a:ext cx="10222992" cy="777240"/>
        </p:xfrm>
        <a:graphic>
          <a:graphicData uri="http://schemas.openxmlformats.org/drawingml/2006/table">
            <a:tbl>
              <a:tblPr/>
              <a:tblGrid>
                <a:gridCol w="78638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86384">
                  <a:extLst>
                    <a:ext uri="{9D8B030D-6E8A-4147-A177-3AD203B41FA5}">
                      <a16:colId xmlns:a16="http://schemas.microsoft.com/office/drawing/2014/main" val="20007"/>
                    </a:ext>
                  </a:extLst>
                </a:gridCol>
                <a:gridCol w="786384">
                  <a:extLst>
                    <a:ext uri="{9D8B030D-6E8A-4147-A177-3AD203B41FA5}">
                      <a16:colId xmlns:a16="http://schemas.microsoft.com/office/drawing/2014/main" val="20008"/>
                    </a:ext>
                  </a:extLst>
                </a:gridCol>
                <a:gridCol w="786384">
                  <a:extLst>
                    <a:ext uri="{9D8B030D-6E8A-4147-A177-3AD203B41FA5}">
                      <a16:colId xmlns:a16="http://schemas.microsoft.com/office/drawing/2014/main" val="20009"/>
                    </a:ext>
                  </a:extLst>
                </a:gridCol>
                <a:gridCol w="786384">
                  <a:extLst>
                    <a:ext uri="{9D8B030D-6E8A-4147-A177-3AD203B41FA5}">
                      <a16:colId xmlns:a16="http://schemas.microsoft.com/office/drawing/2014/main" val="20010"/>
                    </a:ext>
                  </a:extLst>
                </a:gridCol>
                <a:gridCol w="786384">
                  <a:extLst>
                    <a:ext uri="{9D8B030D-6E8A-4147-A177-3AD203B41FA5}">
                      <a16:colId xmlns:a16="http://schemas.microsoft.com/office/drawing/2014/main" val="20011"/>
                    </a:ext>
                  </a:extLst>
                </a:gridCol>
                <a:gridCol w="786384">
                  <a:extLst>
                    <a:ext uri="{9D8B030D-6E8A-4147-A177-3AD203B41FA5}">
                      <a16:colId xmlns:a16="http://schemas.microsoft.com/office/drawing/2014/main" val="20012"/>
                    </a:ext>
                  </a:extLst>
                </a:gridCol>
              </a:tblGrid>
              <a:tr h="320040">
                <a:tc>
                  <a:txBody>
                    <a:bodyPr/>
                    <a:lstStyle/>
                    <a:p>
                      <a:pPr marL="0" indent="0" algn="ctr">
                        <a:buNone/>
                      </a:pPr>
                      <a:r>
                        <a:rPr lang="en-US" sz="1300" b="1" dirty="0">
                          <a:solidFill>
                            <a:srgbClr val="FFA500"/>
                          </a:solidFill>
                        </a:rPr>
                        <a:t>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6</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7</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8</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9</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FFD447"/>
                          </a:solidFill>
                        </a:rPr>
                        <a:t>A</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B</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C</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D</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E</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F</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G</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H</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I</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J</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K</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L</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M</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1"/>
                  </a:ext>
                </a:extLst>
              </a:tr>
            </a:tbl>
          </a:graphicData>
        </a:graphic>
      </p:graphicFrame>
      <p:graphicFrame>
        <p:nvGraphicFramePr>
          <p:cNvPr id="10" name="Table 2"/>
          <p:cNvGraphicFramePr>
            <a:graphicFrameLocks noGrp="1"/>
          </p:cNvGraphicFramePr>
          <p:nvPr/>
        </p:nvGraphicFramePr>
        <p:xfrm>
          <a:off x="548640" y="3931920"/>
          <a:ext cx="10222992" cy="777240"/>
        </p:xfrm>
        <a:graphic>
          <a:graphicData uri="http://schemas.openxmlformats.org/drawingml/2006/table">
            <a:tbl>
              <a:tblPr/>
              <a:tblGrid>
                <a:gridCol w="786384">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gridCol w="786384">
                  <a:extLst>
                    <a:ext uri="{9D8B030D-6E8A-4147-A177-3AD203B41FA5}">
                      <a16:colId xmlns:a16="http://schemas.microsoft.com/office/drawing/2014/main" val="20007"/>
                    </a:ext>
                  </a:extLst>
                </a:gridCol>
                <a:gridCol w="786384">
                  <a:extLst>
                    <a:ext uri="{9D8B030D-6E8A-4147-A177-3AD203B41FA5}">
                      <a16:colId xmlns:a16="http://schemas.microsoft.com/office/drawing/2014/main" val="20008"/>
                    </a:ext>
                  </a:extLst>
                </a:gridCol>
                <a:gridCol w="786384">
                  <a:extLst>
                    <a:ext uri="{9D8B030D-6E8A-4147-A177-3AD203B41FA5}">
                      <a16:colId xmlns:a16="http://schemas.microsoft.com/office/drawing/2014/main" val="20009"/>
                    </a:ext>
                  </a:extLst>
                </a:gridCol>
                <a:gridCol w="786384">
                  <a:extLst>
                    <a:ext uri="{9D8B030D-6E8A-4147-A177-3AD203B41FA5}">
                      <a16:colId xmlns:a16="http://schemas.microsoft.com/office/drawing/2014/main" val="20010"/>
                    </a:ext>
                  </a:extLst>
                </a:gridCol>
                <a:gridCol w="786384">
                  <a:extLst>
                    <a:ext uri="{9D8B030D-6E8A-4147-A177-3AD203B41FA5}">
                      <a16:colId xmlns:a16="http://schemas.microsoft.com/office/drawing/2014/main" val="20011"/>
                    </a:ext>
                  </a:extLst>
                </a:gridCol>
                <a:gridCol w="786384">
                  <a:extLst>
                    <a:ext uri="{9D8B030D-6E8A-4147-A177-3AD203B41FA5}">
                      <a16:colId xmlns:a16="http://schemas.microsoft.com/office/drawing/2014/main" val="20012"/>
                    </a:ext>
                  </a:extLst>
                </a:gridCol>
              </a:tblGrid>
              <a:tr h="320040">
                <a:tc>
                  <a:txBody>
                    <a:bodyPr/>
                    <a:lstStyle/>
                    <a:p>
                      <a:pPr marL="0" indent="0" algn="ctr">
                        <a:buNone/>
                      </a:pPr>
                      <a:r>
                        <a:rPr lang="en-US" sz="1300" b="1" dirty="0">
                          <a:solidFill>
                            <a:srgbClr val="FFA500"/>
                          </a:solidFill>
                        </a:rPr>
                        <a:t>13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16</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17</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18</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19</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20</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21</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22</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23</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24</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300" b="1" dirty="0">
                          <a:solidFill>
                            <a:srgbClr val="FFA500"/>
                          </a:solidFill>
                        </a:rPr>
                        <a:t>25</a:t>
                      </a:r>
                      <a:endParaRPr lang="en-US" sz="13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FFD447"/>
                          </a:solidFill>
                        </a:rPr>
                        <a:t>N</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O</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P</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Q</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R</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S</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T</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U</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V</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W</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X</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Y</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tc>
                  <a:txBody>
                    <a:bodyPr/>
                    <a:lstStyle/>
                    <a:p>
                      <a:pPr marL="0" indent="0" algn="ctr">
                        <a:buNone/>
                      </a:pPr>
                      <a:r>
                        <a:rPr lang="en-US" sz="1500" b="1" dirty="0">
                          <a:solidFill>
                            <a:srgbClr val="FFD447"/>
                          </a:solidFill>
                        </a:rPr>
                        <a:t>Z</a:t>
                      </a:r>
                      <a:endParaRPr lang="en-US" sz="1500" dirty="0"/>
                    </a:p>
                  </a:txBody>
                  <a:tcPr>
                    <a:lnL w="12700" cap="flat" cmpd="sng" algn="ctr">
                      <a:solidFill>
                        <a:srgbClr val="2E4A38"/>
                      </a:solidFill>
                      <a:prstDash val="solid"/>
                      <a:round/>
                      <a:headEnd type="none" w="med" len="med"/>
                      <a:tailEnd type="none" w="med" len="med"/>
                    </a:lnL>
                    <a:lnR w="12700" cap="flat" cmpd="sng" algn="ctr">
                      <a:solidFill>
                        <a:srgbClr val="2E4A38"/>
                      </a:solidFill>
                      <a:prstDash val="solid"/>
                      <a:round/>
                      <a:headEnd type="none" w="med" len="med"/>
                      <a:tailEnd type="none" w="med" len="med"/>
                    </a:lnR>
                    <a:lnT w="12700" cap="flat" cmpd="sng" algn="ctr">
                      <a:solidFill>
                        <a:srgbClr val="2E4A38"/>
                      </a:solidFill>
                      <a:prstDash val="solid"/>
                      <a:round/>
                      <a:headEnd type="none" w="med" len="med"/>
                      <a:tailEnd type="none" w="med" len="med"/>
                    </a:lnT>
                    <a:lnB w="1270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rtlCol="0" anchor="ctr"/>
          <a:lstStyle/>
          <a:p>
            <a:pPr marL="0" indent="0">
              <a:buNone/>
            </a:pPr>
            <a:r>
              <a:rPr lang="en-US" sz="3200" b="1" dirty="0">
                <a:solidFill>
                  <a:srgbClr val="FFD447"/>
                </a:solidFill>
                <a:latin typeface="Arial" pitchFamily="34" charset="0"/>
                <a:ea typeface="Arial" pitchFamily="34" charset="-122"/>
                <a:cs typeface="Arial" pitchFamily="34" charset="-120"/>
              </a:rPr>
              <a:t>Caesar Cipher – Pros and Cons</a:t>
            </a:r>
            <a:endParaRPr lang="en-US" sz="3200" dirty="0"/>
          </a:p>
        </p:txBody>
      </p:sp>
      <p:sp>
        <p:nvSpPr>
          <p:cNvPr id="3" name="Text 1"/>
          <p:cNvSpPr/>
          <p:nvPr/>
        </p:nvSpPr>
        <p:spPr>
          <a:xfrm>
            <a:off x="548640" y="1280160"/>
            <a:ext cx="3657600" cy="411480"/>
          </a:xfrm>
          <a:prstGeom prst="rect">
            <a:avLst/>
          </a:prstGeom>
          <a:noFill/>
          <a:ln/>
        </p:spPr>
        <p:txBody>
          <a:bodyPr wrap="square" rtlCol="0" anchor="ctr"/>
          <a:lstStyle/>
          <a:p>
            <a:pPr marL="0" indent="0">
              <a:buNone/>
            </a:pPr>
            <a:r>
              <a:rPr lang="en-US" sz="2000" b="1" dirty="0">
                <a:solidFill>
                  <a:srgbClr val="4CD964"/>
                </a:solidFill>
                <a:latin typeface="Arial" pitchFamily="34" charset="0"/>
                <a:ea typeface="Arial" pitchFamily="34" charset="-122"/>
                <a:cs typeface="Arial" pitchFamily="34" charset="-120"/>
              </a:rPr>
              <a:t>Pros</a:t>
            </a:r>
            <a:endParaRPr lang="en-US" sz="2000" dirty="0"/>
          </a:p>
        </p:txBody>
      </p:sp>
      <p:sp>
        <p:nvSpPr>
          <p:cNvPr id="4" name="Text 2"/>
          <p:cNvSpPr/>
          <p:nvPr/>
        </p:nvSpPr>
        <p:spPr>
          <a:xfrm>
            <a:off x="822960" y="1783080"/>
            <a:ext cx="9144000" cy="411480"/>
          </a:xfrm>
          <a:prstGeom prst="rect">
            <a:avLst/>
          </a:prstGeom>
          <a:noFill/>
          <a:ln/>
        </p:spPr>
        <p:txBody>
          <a:bodyPr wrap="square" rtlCol="0" anchor="ctr"/>
          <a:lstStyle/>
          <a:p>
            <a:pPr marL="0" indent="0">
              <a:buNone/>
            </a:pPr>
            <a:r>
              <a:rPr lang="en-US" sz="1700" dirty="0">
                <a:latin typeface="Arial" pitchFamily="34" charset="0"/>
                <a:ea typeface="Arial" pitchFamily="34" charset="-122"/>
                <a:cs typeface="Arial" pitchFamily="34" charset="-120"/>
              </a:rPr>
              <a:t>1.  Simple</a:t>
            </a:r>
            <a:endParaRPr lang="en-US" sz="1700" dirty="0"/>
          </a:p>
        </p:txBody>
      </p:sp>
      <p:sp>
        <p:nvSpPr>
          <p:cNvPr id="5" name="Text 3"/>
          <p:cNvSpPr/>
          <p:nvPr/>
        </p:nvSpPr>
        <p:spPr>
          <a:xfrm>
            <a:off x="822960" y="2240280"/>
            <a:ext cx="9144000" cy="411480"/>
          </a:xfrm>
          <a:prstGeom prst="rect">
            <a:avLst/>
          </a:prstGeom>
          <a:noFill/>
          <a:ln/>
        </p:spPr>
        <p:txBody>
          <a:bodyPr wrap="square" rtlCol="0" anchor="ctr"/>
          <a:lstStyle/>
          <a:p>
            <a:pPr marL="0" indent="0">
              <a:buNone/>
            </a:pPr>
            <a:r>
              <a:rPr lang="en-US" sz="1700" dirty="0">
                <a:latin typeface="Arial" pitchFamily="34" charset="0"/>
                <a:ea typeface="Arial" pitchFamily="34" charset="-122"/>
                <a:cs typeface="Arial" pitchFamily="34" charset="-120"/>
              </a:rPr>
              <a:t>2.  Easy to implement.</a:t>
            </a:r>
            <a:endParaRPr lang="en-US" sz="1700" dirty="0"/>
          </a:p>
        </p:txBody>
      </p:sp>
      <p:sp>
        <p:nvSpPr>
          <p:cNvPr id="6" name="Text 4"/>
          <p:cNvSpPr/>
          <p:nvPr/>
        </p:nvSpPr>
        <p:spPr>
          <a:xfrm>
            <a:off x="548640" y="3017520"/>
            <a:ext cx="3657600" cy="411480"/>
          </a:xfrm>
          <a:prstGeom prst="rect">
            <a:avLst/>
          </a:prstGeom>
          <a:noFill/>
          <a:ln/>
        </p:spPr>
        <p:txBody>
          <a:bodyPr wrap="square" rtlCol="0" anchor="ctr"/>
          <a:lstStyle/>
          <a:p>
            <a:pPr marL="0" indent="0">
              <a:buNone/>
            </a:pPr>
            <a:r>
              <a:rPr lang="en-US" sz="2000" b="1" dirty="0">
                <a:solidFill>
                  <a:srgbClr val="FF6FA5"/>
                </a:solidFill>
                <a:latin typeface="Arial" pitchFamily="34" charset="0"/>
                <a:ea typeface="Arial" pitchFamily="34" charset="-122"/>
                <a:cs typeface="Arial" pitchFamily="34" charset="-120"/>
              </a:rPr>
              <a:t>Cons</a:t>
            </a:r>
            <a:endParaRPr lang="en-US" sz="2000" dirty="0"/>
          </a:p>
        </p:txBody>
      </p:sp>
      <p:sp>
        <p:nvSpPr>
          <p:cNvPr id="7" name="Text 5"/>
          <p:cNvSpPr/>
          <p:nvPr/>
        </p:nvSpPr>
        <p:spPr>
          <a:xfrm>
            <a:off x="822960" y="3520440"/>
            <a:ext cx="10058400" cy="502920"/>
          </a:xfrm>
          <a:prstGeom prst="rect">
            <a:avLst/>
          </a:prstGeom>
          <a:noFill/>
          <a:ln/>
        </p:spPr>
        <p:txBody>
          <a:bodyPr wrap="square" rtlCol="0" anchor="ctr"/>
          <a:lstStyle/>
          <a:p>
            <a:pPr marL="0" indent="0">
              <a:buNone/>
            </a:pPr>
            <a:r>
              <a:rPr lang="en-US" sz="1700" dirty="0">
                <a:latin typeface="Arial" pitchFamily="34" charset="0"/>
                <a:ea typeface="Arial" pitchFamily="34" charset="-122"/>
                <a:cs typeface="Arial" pitchFamily="34" charset="-120"/>
              </a:rPr>
              <a:t>1.  The encryption and decryption algorithms are known.</a:t>
            </a:r>
            <a:endParaRPr lang="en-US" sz="1700" dirty="0"/>
          </a:p>
        </p:txBody>
      </p:sp>
      <p:sp>
        <p:nvSpPr>
          <p:cNvPr id="8" name="Text 6"/>
          <p:cNvSpPr/>
          <p:nvPr/>
        </p:nvSpPr>
        <p:spPr>
          <a:xfrm>
            <a:off x="822960" y="4069080"/>
            <a:ext cx="10058400" cy="502920"/>
          </a:xfrm>
          <a:prstGeom prst="rect">
            <a:avLst/>
          </a:prstGeom>
          <a:noFill/>
          <a:ln/>
        </p:spPr>
        <p:txBody>
          <a:bodyPr wrap="square" rtlCol="0" anchor="ctr"/>
          <a:lstStyle/>
          <a:p>
            <a:pPr marL="0" indent="0">
              <a:buNone/>
            </a:pPr>
            <a:r>
              <a:rPr lang="en-US" sz="1700" dirty="0">
                <a:latin typeface="Arial" pitchFamily="34" charset="0"/>
                <a:ea typeface="Arial" pitchFamily="34" charset="-122"/>
                <a:cs typeface="Arial" pitchFamily="34" charset="-120"/>
              </a:rPr>
              <a:t>2.  There are only 25 keys to try. (Vulnerable to Brute-force attack)</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9144000" cy="502920"/>
          </a:xfrm>
          <a:prstGeom prst="rect">
            <a:avLst/>
          </a:prstGeom>
          <a:noFill/>
          <a:ln/>
        </p:spPr>
        <p:txBody>
          <a:bodyPr wrap="square" rtlCol="0" anchor="ctr"/>
          <a:lstStyle/>
          <a:p>
            <a:pPr marL="0" indent="0">
              <a:buNone/>
            </a:pPr>
            <a:r>
              <a:rPr lang="en-US" sz="3000" b="1" dirty="0">
                <a:solidFill>
                  <a:srgbClr val="FFD447"/>
                </a:solidFill>
                <a:latin typeface="Arial" pitchFamily="34" charset="0"/>
                <a:ea typeface="Arial" pitchFamily="34" charset="-122"/>
                <a:cs typeface="Arial" pitchFamily="34" charset="-120"/>
              </a:rPr>
              <a:t>Brute force attack</a:t>
            </a:r>
            <a:endParaRPr lang="en-US" sz="3000" dirty="0"/>
          </a:p>
        </p:txBody>
      </p:sp>
      <p:sp>
        <p:nvSpPr>
          <p:cNvPr id="3" name="Text 1"/>
          <p:cNvSpPr/>
          <p:nvPr/>
        </p:nvSpPr>
        <p:spPr>
          <a:xfrm>
            <a:off x="548640" y="777240"/>
            <a:ext cx="7315200" cy="365760"/>
          </a:xfrm>
          <a:prstGeom prst="rect">
            <a:avLst/>
          </a:prstGeom>
          <a:noFill/>
          <a:ln/>
        </p:spPr>
        <p:txBody>
          <a:bodyPr wrap="square" rtlCol="0" anchor="ctr"/>
          <a:lstStyle/>
          <a:p>
            <a:pPr marL="0" indent="0">
              <a:buNone/>
            </a:pPr>
            <a:r>
              <a:rPr lang="en-US" sz="1800" dirty="0">
                <a:solidFill>
                  <a:srgbClr val="FFFFFF"/>
                </a:solidFill>
                <a:latin typeface="Arial" pitchFamily="34" charset="0"/>
                <a:ea typeface="Arial" pitchFamily="34" charset="-122"/>
                <a:cs typeface="Arial" pitchFamily="34" charset="-120"/>
              </a:rPr>
              <a:t>Ciphertext: </a:t>
            </a:r>
            <a:r>
              <a:rPr lang="en-US" sz="1800" b="1" dirty="0">
                <a:solidFill>
                  <a:srgbClr val="FF6FA5"/>
                </a:solidFill>
                <a:latin typeface="Arial" pitchFamily="34" charset="0"/>
                <a:ea typeface="Arial" pitchFamily="34" charset="-122"/>
                <a:cs typeface="Arial" pitchFamily="34" charset="-120"/>
              </a:rPr>
              <a:t>SQDYMZK</a:t>
            </a:r>
            <a:endParaRPr lang="en-US" sz="1800" dirty="0"/>
          </a:p>
        </p:txBody>
      </p:sp>
      <p:graphicFrame>
        <p:nvGraphicFramePr>
          <p:cNvPr id="6" name="Table 0"/>
          <p:cNvGraphicFramePr>
            <a:graphicFrameLocks noGrp="1"/>
          </p:cNvGraphicFramePr>
          <p:nvPr/>
        </p:nvGraphicFramePr>
        <p:xfrm>
          <a:off x="548640" y="1280160"/>
          <a:ext cx="5120640" cy="48006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20040">
                <a:tc>
                  <a:txBody>
                    <a:bodyPr/>
                    <a:lstStyle/>
                    <a:p>
                      <a:pPr marL="0" indent="0">
                        <a:buNone/>
                      </a:pPr>
                      <a:r>
                        <a:rPr lang="en-US" sz="1200" b="1" dirty="0">
                          <a:solidFill>
                            <a:srgbClr val="FFD447"/>
                          </a:solidFill>
                          <a:latin typeface="Courier New" pitchFamily="34" charset="0"/>
                          <a:ea typeface="Courier New" pitchFamily="34" charset="-122"/>
                          <a:cs typeface="Courier New" pitchFamily="34" charset="-120"/>
                        </a:rPr>
                        <a:t>Shifts</a:t>
                      </a:r>
                      <a:endParaRPr lang="en-US" sz="12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142A1E"/>
                    </a:solidFill>
                  </a:tcPr>
                </a:tc>
                <a:tc>
                  <a:txBody>
                    <a:bodyPr/>
                    <a:lstStyle/>
                    <a:p>
                      <a:pPr marL="0" indent="0">
                        <a:buNone/>
                      </a:pPr>
                      <a:r>
                        <a:rPr lang="en-US" sz="1200" b="1" dirty="0">
                          <a:solidFill>
                            <a:srgbClr val="FFD447"/>
                          </a:solidFill>
                          <a:latin typeface="Courier New" pitchFamily="34" charset="0"/>
                          <a:ea typeface="Courier New" pitchFamily="34" charset="-122"/>
                          <a:cs typeface="Courier New" pitchFamily="34" charset="-120"/>
                        </a:rPr>
                        <a:t>Back</a:t>
                      </a:r>
                      <a:endParaRPr lang="en-US" sz="12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142A1E"/>
                    </a:solidFill>
                  </a:tcPr>
                </a:tc>
                <a:tc>
                  <a:txBody>
                    <a:bodyPr/>
                    <a:lstStyle/>
                    <a:p>
                      <a:pPr marL="0" indent="0">
                        <a:buNone/>
                      </a:pPr>
                      <a:r>
                        <a:rPr lang="en-US" sz="1200" b="1" dirty="0">
                          <a:solidFill>
                            <a:srgbClr val="FFD447"/>
                          </a:solidFill>
                          <a:latin typeface="Courier New" pitchFamily="34" charset="0"/>
                          <a:ea typeface="Courier New" pitchFamily="34" charset="-122"/>
                          <a:cs typeface="Courier New" pitchFamily="34" charset="-120"/>
                        </a:rPr>
                        <a:t>Result</a:t>
                      </a:r>
                      <a:endParaRPr lang="en-US" sz="12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[26]</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SQDYMZK</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1"/>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[25]</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TREZNAL</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2"/>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[24]</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USFAOBM</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3"/>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VTGBPCN</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4"/>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[22]</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WUHCQDO</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5"/>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[21]</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XVIDREP</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6"/>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[20]</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YWJESFQ</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7"/>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7</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[19]</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ZXKFTGR</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8"/>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8</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[18]</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AYLGUHS</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9"/>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9</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[17]</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BZMHVIT</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0"/>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[16]</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CANIWJU</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1"/>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11</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[15]</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DBOJXKV</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2"/>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12</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[14]</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ECPKYLW</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3"/>
                  </a:ext>
                </a:extLst>
              </a:tr>
              <a:tr h="320040">
                <a:tc>
                  <a:txBody>
                    <a:bodyPr/>
                    <a:lstStyle/>
                    <a:p>
                      <a:pPr marL="0" indent="0">
                        <a:buNone/>
                      </a:pPr>
                      <a:r>
                        <a:rPr lang="en-US" sz="1100" dirty="0">
                          <a:solidFill>
                            <a:srgbClr val="4CD964"/>
                          </a:solidFill>
                          <a:latin typeface="Courier New" pitchFamily="34" charset="0"/>
                          <a:ea typeface="Courier New" pitchFamily="34" charset="-122"/>
                          <a:cs typeface="Courier New" pitchFamily="34" charset="-120"/>
                        </a:rPr>
                        <a:t>13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4CD964"/>
                          </a:solidFill>
                          <a:latin typeface="Courier New" pitchFamily="34" charset="0"/>
                          <a:ea typeface="Courier New" pitchFamily="34" charset="-122"/>
                          <a:cs typeface="Courier New" pitchFamily="34" charset="-120"/>
                        </a:rPr>
                        <a:t>[13]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b="1" dirty="0">
                          <a:solidFill>
                            <a:srgbClr val="4CD964"/>
                          </a:solidFill>
                          <a:latin typeface="Courier New" pitchFamily="34" charset="0"/>
                          <a:ea typeface="Courier New" pitchFamily="34" charset="-122"/>
                          <a:cs typeface="Courier New" pitchFamily="34" charset="-120"/>
                        </a:rPr>
                        <a:t>FDQLZMX</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4"/>
                  </a:ext>
                </a:extLst>
              </a:tr>
            </a:tbl>
          </a:graphicData>
        </a:graphic>
      </p:graphicFrame>
      <p:graphicFrame>
        <p:nvGraphicFramePr>
          <p:cNvPr id="11" name="Table 1"/>
          <p:cNvGraphicFramePr>
            <a:graphicFrameLocks noGrp="1"/>
          </p:cNvGraphicFramePr>
          <p:nvPr/>
        </p:nvGraphicFramePr>
        <p:xfrm>
          <a:off x="6217920" y="1280160"/>
          <a:ext cx="5120640" cy="44805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20040">
                <a:tc>
                  <a:txBody>
                    <a:bodyPr/>
                    <a:lstStyle/>
                    <a:p>
                      <a:pPr marL="0" indent="0">
                        <a:buNone/>
                      </a:pPr>
                      <a:r>
                        <a:rPr lang="en-US" sz="1200" b="1" dirty="0">
                          <a:solidFill>
                            <a:srgbClr val="FFD447"/>
                          </a:solidFill>
                          <a:latin typeface="Courier New" pitchFamily="34" charset="0"/>
                          <a:ea typeface="Courier New" pitchFamily="34" charset="-122"/>
                          <a:cs typeface="Courier New" pitchFamily="34" charset="-120"/>
                        </a:rPr>
                        <a:t>Shifts</a:t>
                      </a:r>
                      <a:endParaRPr lang="en-US" sz="12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142A1E"/>
                    </a:solidFill>
                  </a:tcPr>
                </a:tc>
                <a:tc>
                  <a:txBody>
                    <a:bodyPr/>
                    <a:lstStyle/>
                    <a:p>
                      <a:pPr marL="0" indent="0">
                        <a:buNone/>
                      </a:pPr>
                      <a:r>
                        <a:rPr lang="en-US" sz="1200" b="1" dirty="0">
                          <a:solidFill>
                            <a:srgbClr val="FFD447"/>
                          </a:solidFill>
                          <a:latin typeface="Courier New" pitchFamily="34" charset="0"/>
                          <a:ea typeface="Courier New" pitchFamily="34" charset="-122"/>
                          <a:cs typeface="Courier New" pitchFamily="34" charset="-120"/>
                        </a:rPr>
                        <a:t>Back</a:t>
                      </a:r>
                      <a:endParaRPr lang="en-US" sz="12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142A1E"/>
                    </a:solidFill>
                  </a:tcPr>
                </a:tc>
                <a:tc>
                  <a:txBody>
                    <a:bodyPr/>
                    <a:lstStyle/>
                    <a:p>
                      <a:pPr marL="0" indent="0">
                        <a:buNone/>
                      </a:pPr>
                      <a:r>
                        <a:rPr lang="en-US" sz="1200" b="1" dirty="0">
                          <a:solidFill>
                            <a:srgbClr val="FFD447"/>
                          </a:solidFill>
                          <a:latin typeface="Courier New" pitchFamily="34" charset="0"/>
                          <a:ea typeface="Courier New" pitchFamily="34" charset="-122"/>
                          <a:cs typeface="Courier New" pitchFamily="34" charset="-120"/>
                        </a:rPr>
                        <a:t>Result</a:t>
                      </a:r>
                      <a:endParaRPr lang="en-US" sz="12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142A1E"/>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FDQLZMX</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1"/>
                  </a:ext>
                </a:extLst>
              </a:tr>
              <a:tr h="320040">
                <a:tc>
                  <a:txBody>
                    <a:bodyPr/>
                    <a:lstStyle/>
                    <a:p>
                      <a:pPr marL="0" indent="0">
                        <a:buNone/>
                      </a:pPr>
                      <a:r>
                        <a:rPr lang="en-US" sz="1100" dirty="0">
                          <a:solidFill>
                            <a:srgbClr val="4CD964"/>
                          </a:solidFill>
                          <a:latin typeface="Courier New" pitchFamily="34" charset="0"/>
                          <a:ea typeface="Courier New" pitchFamily="34" charset="-122"/>
                          <a:cs typeface="Courier New" pitchFamily="34" charset="-120"/>
                        </a:rPr>
                        <a:t>14</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4CD964"/>
                          </a:solidFill>
                          <a:latin typeface="Courier New" pitchFamily="34" charset="0"/>
                          <a:ea typeface="Courier New" pitchFamily="34" charset="-122"/>
                          <a:cs typeface="Courier New" pitchFamily="34" charset="-120"/>
                        </a:rPr>
                        <a:t>[12]</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b="1" dirty="0">
                          <a:solidFill>
                            <a:srgbClr val="4CD964"/>
                          </a:solidFill>
                          <a:latin typeface="Courier New" pitchFamily="34" charset="0"/>
                          <a:ea typeface="Courier New" pitchFamily="34" charset="-122"/>
                          <a:cs typeface="Courier New" pitchFamily="34" charset="-120"/>
                        </a:rPr>
                        <a:t>GERMANY</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2"/>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15</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[11]</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HFSNBOZ</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3"/>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16</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IGTOCPA</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4"/>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17</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[9]</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JHUPDQB</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5"/>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18</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[8]</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KIVQERC</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6"/>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19</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[7]</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LJWRFSD</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7"/>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20</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MKXSGTE</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8"/>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21</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NLYTHUF</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09"/>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22</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OMZUIVG</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0"/>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PNAVJWH</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1"/>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24</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QOBWKXI</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2"/>
                  </a:ext>
                </a:extLst>
              </a:tr>
              <a:tr h="320040">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25</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tc>
                  <a:txBody>
                    <a:bodyPr/>
                    <a:lstStyle/>
                    <a:p>
                      <a:pPr marL="0" indent="0">
                        <a:buNone/>
                      </a:pPr>
                      <a:r>
                        <a:rPr lang="en-US" sz="1100" dirty="0">
                          <a:solidFill>
                            <a:srgbClr val="FFFFFF"/>
                          </a:solidFill>
                          <a:latin typeface="Courier New" pitchFamily="34" charset="0"/>
                          <a:ea typeface="Courier New" pitchFamily="34" charset="-122"/>
                          <a:cs typeface="Courier New" pitchFamily="34" charset="-120"/>
                        </a:rPr>
                        <a:t>RPCXLYJ</a:t>
                      </a:r>
                      <a:endParaRPr lang="en-US" sz="1100" dirty="0">
                        <a:latin typeface="Courier New" charset="0"/>
                        <a:ea typeface="Courier New" charset="0"/>
                        <a:cs typeface="Courier New" charset="0"/>
                      </a:endParaRPr>
                    </a:p>
                  </a:txBody>
                  <a:tcPr>
                    <a:lnL w="6350" cap="flat" cmpd="sng" algn="ctr">
                      <a:solidFill>
                        <a:srgbClr val="2E4A38"/>
                      </a:solidFill>
                      <a:prstDash val="solid"/>
                      <a:round/>
                      <a:headEnd type="none" w="med" len="med"/>
                      <a:tailEnd type="none" w="med" len="med"/>
                    </a:lnL>
                    <a:lnR w="6350" cap="flat" cmpd="sng" algn="ctr">
                      <a:solidFill>
                        <a:srgbClr val="2E4A38"/>
                      </a:solidFill>
                      <a:prstDash val="solid"/>
                      <a:round/>
                      <a:headEnd type="none" w="med" len="med"/>
                      <a:tailEnd type="none" w="med" len="med"/>
                    </a:lnR>
                    <a:lnT w="6350" cap="flat" cmpd="sng" algn="ctr">
                      <a:solidFill>
                        <a:srgbClr val="2E4A38"/>
                      </a:solidFill>
                      <a:prstDash val="solid"/>
                      <a:round/>
                      <a:headEnd type="none" w="med" len="med"/>
                      <a:tailEnd type="none" w="med" len="med"/>
                    </a:lnT>
                    <a:lnB w="6350" cap="flat" cmpd="sng" algn="ctr">
                      <a:solidFill>
                        <a:srgbClr val="2E4A38"/>
                      </a:solidFill>
                      <a:prstDash val="solid"/>
                      <a:round/>
                      <a:headEnd type="none" w="med" len="med"/>
                      <a:tailEnd type="none" w="med" len="med"/>
                    </a:lnB>
                    <a:solidFill>
                      <a:srgbClr val="0E1B14"/>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01</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Caesar Cipher — Worked Example</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731520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Encrypt "ATTACK" with key k = 3</a:t>
            </a:r>
            <a:endParaRPr lang="en-US" sz="1400" dirty="0"/>
          </a:p>
        </p:txBody>
      </p:sp>
      <p:sp>
        <p:nvSpPr>
          <p:cNvPr id="7" name="Shape 4"/>
          <p:cNvSpPr/>
          <p:nvPr/>
        </p:nvSpPr>
        <p:spPr>
          <a:xfrm>
            <a:off x="548640" y="2103120"/>
            <a:ext cx="841248" cy="594360"/>
          </a:xfrm>
          <a:prstGeom prst="rect">
            <a:avLst/>
          </a:prstGeom>
          <a:solidFill>
            <a:srgbClr val="FFFFFF"/>
          </a:solidFill>
          <a:ln w="12700">
            <a:solidFill>
              <a:srgbClr val="0B2545"/>
            </a:solidFill>
            <a:prstDash val="solid"/>
          </a:ln>
        </p:spPr>
      </p:sp>
      <p:sp>
        <p:nvSpPr>
          <p:cNvPr id="8" name="Text 5"/>
          <p:cNvSpPr/>
          <p:nvPr/>
        </p:nvSpPr>
        <p:spPr>
          <a:xfrm>
            <a:off x="548640" y="2103120"/>
            <a:ext cx="841248" cy="594360"/>
          </a:xfrm>
          <a:prstGeom prst="rect">
            <a:avLst/>
          </a:prstGeom>
          <a:noFill/>
          <a:ln/>
        </p:spPr>
        <p:txBody>
          <a:bodyPr wrap="square" rtlCol="0" anchor="ctr"/>
          <a:lstStyle/>
          <a:p>
            <a:pPr marL="0" indent="0" algn="ctr">
              <a:buNone/>
            </a:pPr>
            <a:r>
              <a:rPr lang="en-US" sz="1600" b="1" dirty="0">
                <a:solidFill>
                  <a:srgbClr val="16232E"/>
                </a:solidFill>
                <a:latin typeface="Courier New" pitchFamily="34" charset="0"/>
                <a:ea typeface="Courier New" pitchFamily="34" charset="-122"/>
                <a:cs typeface="Courier New" pitchFamily="34" charset="-120"/>
              </a:rPr>
              <a:t>A</a:t>
            </a:r>
            <a:endParaRPr lang="en-US" sz="1600" dirty="0"/>
          </a:p>
        </p:txBody>
      </p:sp>
      <p:sp>
        <p:nvSpPr>
          <p:cNvPr id="9" name="Shape 6"/>
          <p:cNvSpPr/>
          <p:nvPr/>
        </p:nvSpPr>
        <p:spPr>
          <a:xfrm>
            <a:off x="1417320" y="2103120"/>
            <a:ext cx="841248" cy="594360"/>
          </a:xfrm>
          <a:prstGeom prst="rect">
            <a:avLst/>
          </a:prstGeom>
          <a:solidFill>
            <a:srgbClr val="FFFFFF"/>
          </a:solidFill>
          <a:ln w="12700">
            <a:solidFill>
              <a:srgbClr val="0B2545"/>
            </a:solidFill>
            <a:prstDash val="solid"/>
          </a:ln>
        </p:spPr>
      </p:sp>
      <p:sp>
        <p:nvSpPr>
          <p:cNvPr id="10" name="Text 7"/>
          <p:cNvSpPr/>
          <p:nvPr/>
        </p:nvSpPr>
        <p:spPr>
          <a:xfrm>
            <a:off x="1417320" y="2103120"/>
            <a:ext cx="841248" cy="594360"/>
          </a:xfrm>
          <a:prstGeom prst="rect">
            <a:avLst/>
          </a:prstGeom>
          <a:noFill/>
          <a:ln/>
        </p:spPr>
        <p:txBody>
          <a:bodyPr wrap="square" rtlCol="0" anchor="ctr"/>
          <a:lstStyle/>
          <a:p>
            <a:pPr marL="0" indent="0" algn="ctr">
              <a:buNone/>
            </a:pPr>
            <a:r>
              <a:rPr lang="en-US" sz="1600" b="1" dirty="0">
                <a:solidFill>
                  <a:srgbClr val="16232E"/>
                </a:solidFill>
                <a:latin typeface="Courier New" pitchFamily="34" charset="0"/>
                <a:ea typeface="Courier New" pitchFamily="34" charset="-122"/>
                <a:cs typeface="Courier New" pitchFamily="34" charset="-120"/>
              </a:rPr>
              <a:t>T</a:t>
            </a:r>
            <a:endParaRPr lang="en-US" sz="1600" dirty="0"/>
          </a:p>
        </p:txBody>
      </p:sp>
      <p:sp>
        <p:nvSpPr>
          <p:cNvPr id="11" name="Shape 8"/>
          <p:cNvSpPr/>
          <p:nvPr/>
        </p:nvSpPr>
        <p:spPr>
          <a:xfrm>
            <a:off x="2286000" y="2103120"/>
            <a:ext cx="841248" cy="594360"/>
          </a:xfrm>
          <a:prstGeom prst="rect">
            <a:avLst/>
          </a:prstGeom>
          <a:solidFill>
            <a:srgbClr val="FFFFFF"/>
          </a:solidFill>
          <a:ln w="12700">
            <a:solidFill>
              <a:srgbClr val="0B2545"/>
            </a:solidFill>
            <a:prstDash val="solid"/>
          </a:ln>
        </p:spPr>
      </p:sp>
      <p:sp>
        <p:nvSpPr>
          <p:cNvPr id="12" name="Text 9"/>
          <p:cNvSpPr/>
          <p:nvPr/>
        </p:nvSpPr>
        <p:spPr>
          <a:xfrm>
            <a:off x="2286000" y="2103120"/>
            <a:ext cx="841248" cy="594360"/>
          </a:xfrm>
          <a:prstGeom prst="rect">
            <a:avLst/>
          </a:prstGeom>
          <a:noFill/>
          <a:ln/>
        </p:spPr>
        <p:txBody>
          <a:bodyPr wrap="square" rtlCol="0" anchor="ctr"/>
          <a:lstStyle/>
          <a:p>
            <a:pPr marL="0" indent="0" algn="ctr">
              <a:buNone/>
            </a:pPr>
            <a:r>
              <a:rPr lang="en-US" sz="1600" b="1" dirty="0">
                <a:solidFill>
                  <a:srgbClr val="16232E"/>
                </a:solidFill>
                <a:latin typeface="Courier New" pitchFamily="34" charset="0"/>
                <a:ea typeface="Courier New" pitchFamily="34" charset="-122"/>
                <a:cs typeface="Courier New" pitchFamily="34" charset="-120"/>
              </a:rPr>
              <a:t>T</a:t>
            </a:r>
            <a:endParaRPr lang="en-US" sz="1600" dirty="0"/>
          </a:p>
        </p:txBody>
      </p:sp>
      <p:sp>
        <p:nvSpPr>
          <p:cNvPr id="13" name="Shape 10"/>
          <p:cNvSpPr/>
          <p:nvPr/>
        </p:nvSpPr>
        <p:spPr>
          <a:xfrm>
            <a:off x="3154680" y="2103120"/>
            <a:ext cx="841248" cy="594360"/>
          </a:xfrm>
          <a:prstGeom prst="rect">
            <a:avLst/>
          </a:prstGeom>
          <a:solidFill>
            <a:srgbClr val="FFFFFF"/>
          </a:solidFill>
          <a:ln w="12700">
            <a:solidFill>
              <a:srgbClr val="0B2545"/>
            </a:solidFill>
            <a:prstDash val="solid"/>
          </a:ln>
        </p:spPr>
      </p:sp>
      <p:sp>
        <p:nvSpPr>
          <p:cNvPr id="14" name="Text 11"/>
          <p:cNvSpPr/>
          <p:nvPr/>
        </p:nvSpPr>
        <p:spPr>
          <a:xfrm>
            <a:off x="3154680" y="2103120"/>
            <a:ext cx="841248" cy="594360"/>
          </a:xfrm>
          <a:prstGeom prst="rect">
            <a:avLst/>
          </a:prstGeom>
          <a:noFill/>
          <a:ln/>
        </p:spPr>
        <p:txBody>
          <a:bodyPr wrap="square" rtlCol="0" anchor="ctr"/>
          <a:lstStyle/>
          <a:p>
            <a:pPr marL="0" indent="0" algn="ctr">
              <a:buNone/>
            </a:pPr>
            <a:r>
              <a:rPr lang="en-US" sz="1600" b="1" dirty="0">
                <a:solidFill>
                  <a:srgbClr val="16232E"/>
                </a:solidFill>
                <a:latin typeface="Courier New" pitchFamily="34" charset="0"/>
                <a:ea typeface="Courier New" pitchFamily="34" charset="-122"/>
                <a:cs typeface="Courier New" pitchFamily="34" charset="-120"/>
              </a:rPr>
              <a:t>A</a:t>
            </a:r>
            <a:endParaRPr lang="en-US" sz="1600" dirty="0"/>
          </a:p>
        </p:txBody>
      </p:sp>
      <p:sp>
        <p:nvSpPr>
          <p:cNvPr id="15" name="Shape 12"/>
          <p:cNvSpPr/>
          <p:nvPr/>
        </p:nvSpPr>
        <p:spPr>
          <a:xfrm>
            <a:off x="4023360" y="2103120"/>
            <a:ext cx="841248" cy="594360"/>
          </a:xfrm>
          <a:prstGeom prst="rect">
            <a:avLst/>
          </a:prstGeom>
          <a:solidFill>
            <a:srgbClr val="FFFFFF"/>
          </a:solidFill>
          <a:ln w="12700">
            <a:solidFill>
              <a:srgbClr val="0B2545"/>
            </a:solidFill>
            <a:prstDash val="solid"/>
          </a:ln>
        </p:spPr>
      </p:sp>
      <p:sp>
        <p:nvSpPr>
          <p:cNvPr id="16" name="Text 13"/>
          <p:cNvSpPr/>
          <p:nvPr/>
        </p:nvSpPr>
        <p:spPr>
          <a:xfrm>
            <a:off x="4023360" y="2103120"/>
            <a:ext cx="841248" cy="594360"/>
          </a:xfrm>
          <a:prstGeom prst="rect">
            <a:avLst/>
          </a:prstGeom>
          <a:noFill/>
          <a:ln/>
        </p:spPr>
        <p:txBody>
          <a:bodyPr wrap="square" rtlCol="0" anchor="ctr"/>
          <a:lstStyle/>
          <a:p>
            <a:pPr marL="0" indent="0" algn="ctr">
              <a:buNone/>
            </a:pPr>
            <a:r>
              <a:rPr lang="en-US" sz="1600" b="1" dirty="0">
                <a:solidFill>
                  <a:srgbClr val="16232E"/>
                </a:solidFill>
                <a:latin typeface="Courier New" pitchFamily="34" charset="0"/>
                <a:ea typeface="Courier New" pitchFamily="34" charset="-122"/>
                <a:cs typeface="Courier New" pitchFamily="34" charset="-120"/>
              </a:rPr>
              <a:t>C</a:t>
            </a:r>
            <a:endParaRPr lang="en-US" sz="1600" dirty="0"/>
          </a:p>
        </p:txBody>
      </p:sp>
      <p:sp>
        <p:nvSpPr>
          <p:cNvPr id="17" name="Shape 14"/>
          <p:cNvSpPr/>
          <p:nvPr/>
        </p:nvSpPr>
        <p:spPr>
          <a:xfrm>
            <a:off x="4892040" y="2103120"/>
            <a:ext cx="841248" cy="594360"/>
          </a:xfrm>
          <a:prstGeom prst="rect">
            <a:avLst/>
          </a:prstGeom>
          <a:solidFill>
            <a:srgbClr val="FFFFFF"/>
          </a:solidFill>
          <a:ln w="12700">
            <a:solidFill>
              <a:srgbClr val="0B2545"/>
            </a:solidFill>
            <a:prstDash val="solid"/>
          </a:ln>
        </p:spPr>
      </p:sp>
      <p:sp>
        <p:nvSpPr>
          <p:cNvPr id="18" name="Text 15"/>
          <p:cNvSpPr/>
          <p:nvPr/>
        </p:nvSpPr>
        <p:spPr>
          <a:xfrm>
            <a:off x="4892040" y="2103120"/>
            <a:ext cx="841248" cy="594360"/>
          </a:xfrm>
          <a:prstGeom prst="rect">
            <a:avLst/>
          </a:prstGeom>
          <a:noFill/>
          <a:ln/>
        </p:spPr>
        <p:txBody>
          <a:bodyPr wrap="square" rtlCol="0" anchor="ctr"/>
          <a:lstStyle/>
          <a:p>
            <a:pPr marL="0" indent="0" algn="ctr">
              <a:buNone/>
            </a:pPr>
            <a:r>
              <a:rPr lang="en-US" sz="1600" b="1" dirty="0">
                <a:solidFill>
                  <a:srgbClr val="16232E"/>
                </a:solidFill>
                <a:latin typeface="Courier New" pitchFamily="34" charset="0"/>
                <a:ea typeface="Courier New" pitchFamily="34" charset="-122"/>
                <a:cs typeface="Courier New" pitchFamily="34" charset="-120"/>
              </a:rPr>
              <a:t>K</a:t>
            </a:r>
            <a:endParaRPr lang="en-US" sz="1600" dirty="0"/>
          </a:p>
        </p:txBody>
      </p:sp>
      <p:sp>
        <p:nvSpPr>
          <p:cNvPr id="19" name="Text 16"/>
          <p:cNvSpPr/>
          <p:nvPr/>
        </p:nvSpPr>
        <p:spPr>
          <a:xfrm>
            <a:off x="548640" y="2724912"/>
            <a:ext cx="5212080" cy="274320"/>
          </a:xfrm>
          <a:prstGeom prst="rect">
            <a:avLst/>
          </a:prstGeom>
          <a:noFill/>
          <a:ln/>
        </p:spPr>
        <p:txBody>
          <a:bodyPr wrap="square" rtlCol="0" anchor="ctr"/>
          <a:lstStyle/>
          <a:p>
            <a:pPr marL="0" indent="0">
              <a:buNone/>
            </a:pPr>
            <a:r>
              <a:rPr lang="en-US" sz="1000" dirty="0">
                <a:solidFill>
                  <a:srgbClr val="5A6B7B"/>
                </a:solidFill>
                <a:latin typeface="Calibri" pitchFamily="34" charset="0"/>
                <a:ea typeface="Calibri" pitchFamily="34" charset="-122"/>
                <a:cs typeface="Calibri" pitchFamily="34" charset="-120"/>
              </a:rPr>
              <a:t>Plaintext</a:t>
            </a:r>
            <a:endParaRPr lang="en-US" sz="1000" dirty="0"/>
          </a:p>
        </p:txBody>
      </p:sp>
      <p:sp>
        <p:nvSpPr>
          <p:cNvPr id="20" name="Shape 17"/>
          <p:cNvSpPr/>
          <p:nvPr/>
        </p:nvSpPr>
        <p:spPr>
          <a:xfrm>
            <a:off x="548640" y="3246120"/>
            <a:ext cx="841248" cy="594360"/>
          </a:xfrm>
          <a:prstGeom prst="rect">
            <a:avLst/>
          </a:prstGeom>
          <a:solidFill>
            <a:srgbClr val="0B2545"/>
          </a:solidFill>
          <a:ln w="12700">
            <a:solidFill>
              <a:srgbClr val="0B2545"/>
            </a:solidFill>
            <a:prstDash val="solid"/>
          </a:ln>
        </p:spPr>
      </p:sp>
      <p:sp>
        <p:nvSpPr>
          <p:cNvPr id="21" name="Text 18"/>
          <p:cNvSpPr/>
          <p:nvPr/>
        </p:nvSpPr>
        <p:spPr>
          <a:xfrm>
            <a:off x="548640" y="3246120"/>
            <a:ext cx="841248" cy="59436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D</a:t>
            </a:r>
            <a:endParaRPr lang="en-US" sz="1600" dirty="0"/>
          </a:p>
        </p:txBody>
      </p:sp>
      <p:sp>
        <p:nvSpPr>
          <p:cNvPr id="22" name="Shape 19"/>
          <p:cNvSpPr/>
          <p:nvPr/>
        </p:nvSpPr>
        <p:spPr>
          <a:xfrm>
            <a:off x="1417320" y="3246120"/>
            <a:ext cx="841248" cy="594360"/>
          </a:xfrm>
          <a:prstGeom prst="rect">
            <a:avLst/>
          </a:prstGeom>
          <a:solidFill>
            <a:srgbClr val="0B2545"/>
          </a:solidFill>
          <a:ln w="12700">
            <a:solidFill>
              <a:srgbClr val="0B2545"/>
            </a:solidFill>
            <a:prstDash val="solid"/>
          </a:ln>
        </p:spPr>
      </p:sp>
      <p:sp>
        <p:nvSpPr>
          <p:cNvPr id="23" name="Text 20"/>
          <p:cNvSpPr/>
          <p:nvPr/>
        </p:nvSpPr>
        <p:spPr>
          <a:xfrm>
            <a:off x="1417320" y="3246120"/>
            <a:ext cx="841248" cy="59436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W</a:t>
            </a:r>
            <a:endParaRPr lang="en-US" sz="1600" dirty="0"/>
          </a:p>
        </p:txBody>
      </p:sp>
      <p:sp>
        <p:nvSpPr>
          <p:cNvPr id="24" name="Shape 21"/>
          <p:cNvSpPr/>
          <p:nvPr/>
        </p:nvSpPr>
        <p:spPr>
          <a:xfrm>
            <a:off x="2286000" y="3246120"/>
            <a:ext cx="841248" cy="594360"/>
          </a:xfrm>
          <a:prstGeom prst="rect">
            <a:avLst/>
          </a:prstGeom>
          <a:solidFill>
            <a:srgbClr val="0B2545"/>
          </a:solidFill>
          <a:ln w="12700">
            <a:solidFill>
              <a:srgbClr val="0B2545"/>
            </a:solidFill>
            <a:prstDash val="solid"/>
          </a:ln>
        </p:spPr>
      </p:sp>
      <p:sp>
        <p:nvSpPr>
          <p:cNvPr id="25" name="Text 22"/>
          <p:cNvSpPr/>
          <p:nvPr/>
        </p:nvSpPr>
        <p:spPr>
          <a:xfrm>
            <a:off x="2286000" y="3246120"/>
            <a:ext cx="841248" cy="59436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W</a:t>
            </a:r>
            <a:endParaRPr lang="en-US" sz="1600" dirty="0"/>
          </a:p>
        </p:txBody>
      </p:sp>
      <p:sp>
        <p:nvSpPr>
          <p:cNvPr id="26" name="Shape 23"/>
          <p:cNvSpPr/>
          <p:nvPr/>
        </p:nvSpPr>
        <p:spPr>
          <a:xfrm>
            <a:off x="3154680" y="3246120"/>
            <a:ext cx="841248" cy="594360"/>
          </a:xfrm>
          <a:prstGeom prst="rect">
            <a:avLst/>
          </a:prstGeom>
          <a:solidFill>
            <a:srgbClr val="0B2545"/>
          </a:solidFill>
          <a:ln w="12700">
            <a:solidFill>
              <a:srgbClr val="0B2545"/>
            </a:solidFill>
            <a:prstDash val="solid"/>
          </a:ln>
        </p:spPr>
      </p:sp>
      <p:sp>
        <p:nvSpPr>
          <p:cNvPr id="27" name="Text 24"/>
          <p:cNvSpPr/>
          <p:nvPr/>
        </p:nvSpPr>
        <p:spPr>
          <a:xfrm>
            <a:off x="3154680" y="3246120"/>
            <a:ext cx="841248" cy="59436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D</a:t>
            </a:r>
            <a:endParaRPr lang="en-US" sz="1600" dirty="0"/>
          </a:p>
        </p:txBody>
      </p:sp>
      <p:sp>
        <p:nvSpPr>
          <p:cNvPr id="28" name="Shape 25"/>
          <p:cNvSpPr/>
          <p:nvPr/>
        </p:nvSpPr>
        <p:spPr>
          <a:xfrm>
            <a:off x="4023360" y="3246120"/>
            <a:ext cx="841248" cy="594360"/>
          </a:xfrm>
          <a:prstGeom prst="rect">
            <a:avLst/>
          </a:prstGeom>
          <a:solidFill>
            <a:srgbClr val="0B2545"/>
          </a:solidFill>
          <a:ln w="12700">
            <a:solidFill>
              <a:srgbClr val="0B2545"/>
            </a:solidFill>
            <a:prstDash val="solid"/>
          </a:ln>
        </p:spPr>
      </p:sp>
      <p:sp>
        <p:nvSpPr>
          <p:cNvPr id="29" name="Text 26"/>
          <p:cNvSpPr/>
          <p:nvPr/>
        </p:nvSpPr>
        <p:spPr>
          <a:xfrm>
            <a:off x="4023360" y="3246120"/>
            <a:ext cx="841248" cy="59436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F</a:t>
            </a:r>
            <a:endParaRPr lang="en-US" sz="1600" dirty="0"/>
          </a:p>
        </p:txBody>
      </p:sp>
      <p:sp>
        <p:nvSpPr>
          <p:cNvPr id="30" name="Shape 27"/>
          <p:cNvSpPr/>
          <p:nvPr/>
        </p:nvSpPr>
        <p:spPr>
          <a:xfrm>
            <a:off x="4892040" y="3246120"/>
            <a:ext cx="841248" cy="594360"/>
          </a:xfrm>
          <a:prstGeom prst="rect">
            <a:avLst/>
          </a:prstGeom>
          <a:solidFill>
            <a:srgbClr val="0B2545"/>
          </a:solidFill>
          <a:ln w="12700">
            <a:solidFill>
              <a:srgbClr val="0B2545"/>
            </a:solidFill>
            <a:prstDash val="solid"/>
          </a:ln>
        </p:spPr>
      </p:sp>
      <p:sp>
        <p:nvSpPr>
          <p:cNvPr id="31" name="Text 28"/>
          <p:cNvSpPr/>
          <p:nvPr/>
        </p:nvSpPr>
        <p:spPr>
          <a:xfrm>
            <a:off x="4892040" y="3246120"/>
            <a:ext cx="841248" cy="594360"/>
          </a:xfrm>
          <a:prstGeom prst="rect">
            <a:avLst/>
          </a:prstGeom>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N</a:t>
            </a:r>
            <a:endParaRPr lang="en-US" sz="1600" dirty="0"/>
          </a:p>
        </p:txBody>
      </p:sp>
      <p:sp>
        <p:nvSpPr>
          <p:cNvPr id="32" name="Text 29"/>
          <p:cNvSpPr/>
          <p:nvPr/>
        </p:nvSpPr>
        <p:spPr>
          <a:xfrm>
            <a:off x="548640" y="3867912"/>
            <a:ext cx="5212080" cy="274320"/>
          </a:xfrm>
          <a:prstGeom prst="rect">
            <a:avLst/>
          </a:prstGeom>
          <a:noFill/>
          <a:ln/>
        </p:spPr>
        <p:txBody>
          <a:bodyPr wrap="square" rtlCol="0" anchor="ctr"/>
          <a:lstStyle/>
          <a:p>
            <a:pPr marL="0" indent="0">
              <a:buNone/>
            </a:pPr>
            <a:r>
              <a:rPr lang="en-US" sz="1000" dirty="0">
                <a:solidFill>
                  <a:srgbClr val="5A6B7B"/>
                </a:solidFill>
                <a:latin typeface="Calibri" pitchFamily="34" charset="0"/>
                <a:ea typeface="Calibri" pitchFamily="34" charset="-122"/>
                <a:cs typeface="Calibri" pitchFamily="34" charset="-120"/>
              </a:rPr>
              <a:t>Ciphertext</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126480" y="1737360"/>
          <a:ext cx="5212080" cy="2057400"/>
        </p:xfrm>
        <a:graphic>
          <a:graphicData uri="http://schemas.openxmlformats.org/drawingml/2006/table">
            <a:tbl>
              <a:tblPr/>
              <a:tblGrid>
                <a:gridCol w="1005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11480">
                <a:tc>
                  <a:txBody>
                    <a:bodyPr/>
                    <a:lstStyle/>
                    <a:p>
                      <a:pPr marL="0" indent="0" algn="ctr">
                        <a:buNone/>
                      </a:pPr>
                      <a:r>
                        <a:rPr lang="en-US" sz="1100" b="1" dirty="0">
                          <a:solidFill>
                            <a:srgbClr val="FFFFFF"/>
                          </a:solidFill>
                        </a:rPr>
                        <a:t>Letter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100" b="1" dirty="0">
                          <a:solidFill>
                            <a:srgbClr val="FFFFFF"/>
                          </a:solidFill>
                        </a:rPr>
                        <a:t>P value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100" b="1" dirty="0">
                          <a:solidFill>
                            <a:srgbClr val="FFFFFF"/>
                          </a:solidFill>
                        </a:rPr>
                        <a:t>Calculation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100" b="1" dirty="0">
                          <a:solidFill>
                            <a:srgbClr val="FFFFFF"/>
                          </a:solidFill>
                        </a:rPr>
                        <a:t>Cipher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11480">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0</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(0+3) mod 26 = 3</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D</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T</a:t>
                      </a:r>
                      <a:endParaRPr lang="en-US" sz="10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19</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(19+3) mod 26 = 22</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W</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411480">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2</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(2+3) mod 26 = 5</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F</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K</a:t>
                      </a:r>
                      <a:endParaRPr lang="en-US" sz="10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10</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(10+3) mod 26 = 13</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50" dirty="0">
                          <a:solidFill>
                            <a:srgbClr val="16232E"/>
                          </a:solidFill>
                          <a:latin typeface="Courier New" pitchFamily="34" charset="0"/>
                          <a:ea typeface="Courier New" pitchFamily="34" charset="-122"/>
                          <a:cs typeface="Courier New" pitchFamily="34" charset="-120"/>
                        </a:rPr>
                        <a:t>N</a:t>
                      </a:r>
                      <a:endParaRPr lang="en-US" sz="10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bl>
          </a:graphicData>
        </a:graphic>
      </p:graphicFrame>
      <p:sp>
        <p:nvSpPr>
          <p:cNvPr id="34" name="Text 30"/>
          <p:cNvSpPr/>
          <p:nvPr/>
        </p:nvSpPr>
        <p:spPr>
          <a:xfrm>
            <a:off x="6126480" y="3977640"/>
            <a:ext cx="5212080" cy="365760"/>
          </a:xfrm>
          <a:prstGeom prst="rect">
            <a:avLst/>
          </a:prstGeom>
          <a:noFill/>
          <a:ln/>
        </p:spPr>
        <p:txBody>
          <a:bodyPr wrap="square" rtlCol="0" anchor="ctr"/>
          <a:lstStyle/>
          <a:p>
            <a:pPr marL="0" indent="0">
              <a:buNone/>
            </a:pPr>
            <a:r>
              <a:rPr lang="en-US" sz="1300" b="1" dirty="0">
                <a:solidFill>
                  <a:srgbClr val="0B2545"/>
                </a:solidFill>
                <a:latin typeface="Courier New" pitchFamily="34" charset="0"/>
                <a:ea typeface="Courier New" pitchFamily="34" charset="-122"/>
                <a:cs typeface="Courier New" pitchFamily="34" charset="-120"/>
              </a:rPr>
              <a:t>Result:  ATTACK  →  DWWDFN</a:t>
            </a:r>
            <a:endParaRPr lang="en-US" sz="1300" dirty="0"/>
          </a:p>
        </p:txBody>
      </p:sp>
      <p:sp>
        <p:nvSpPr>
          <p:cNvPr id="35" name="Shape 31"/>
          <p:cNvSpPr/>
          <p:nvPr/>
        </p:nvSpPr>
        <p:spPr>
          <a:xfrm>
            <a:off x="548640" y="4434840"/>
            <a:ext cx="10744200" cy="1508760"/>
          </a:xfrm>
          <a:prstGeom prst="roundRect">
            <a:avLst>
              <a:gd name="adj" fmla="val 4848"/>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36" name="Text 32"/>
          <p:cNvSpPr/>
          <p:nvPr/>
        </p:nvSpPr>
        <p:spPr>
          <a:xfrm>
            <a:off x="777240" y="4599432"/>
            <a:ext cx="1028700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Cryptanalysis of the Caesar cipher</a:t>
            </a:r>
            <a:endParaRPr lang="en-US" sz="1500" dirty="0"/>
          </a:p>
        </p:txBody>
      </p:sp>
      <p:sp>
        <p:nvSpPr>
          <p:cNvPr id="37" name="Text 33"/>
          <p:cNvSpPr/>
          <p:nvPr/>
        </p:nvSpPr>
        <p:spPr>
          <a:xfrm>
            <a:off x="777240" y="4965192"/>
            <a:ext cx="10287000" cy="77724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Because only 25 keys exist, an attacker can simply try every shift value (brute-force / exhaustive key search) and read off the one that produces meaningful English text. This attack succeeds in a matter of seconds, even by hand.</a:t>
            </a:r>
            <a:endParaRPr lang="en-US" sz="1200" dirty="0"/>
          </a:p>
        </p:txBody>
      </p:sp>
      <p:sp>
        <p:nvSpPr>
          <p:cNvPr id="38" name="Text 3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39" name="Text 3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02</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Affine Cipher — Concept</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5120640" cy="2743200"/>
          </a:xfrm>
          <a:prstGeom prst="rect">
            <a:avLst/>
          </a:prstGeom>
          <a:noFill/>
          <a:ln/>
        </p:spPr>
        <p:txBody>
          <a:bodyPr wrap="square" rtlCol="0" anchor="t"/>
          <a:lstStyle/>
          <a:p>
            <a:pPr marL="0" indent="0">
              <a:spcAft>
                <a:spcPts val="1000"/>
              </a:spcAft>
              <a:buNone/>
            </a:pPr>
            <a:r>
              <a:rPr lang="en-US" sz="1300" dirty="0">
                <a:solidFill>
                  <a:srgbClr val="16232E"/>
                </a:solidFill>
                <a:latin typeface="Calibri" pitchFamily="34" charset="0"/>
                <a:ea typeface="Calibri" pitchFamily="34" charset="-122"/>
                <a:cs typeface="Calibri" pitchFamily="34" charset="-120"/>
              </a:rPr>
              <a:t>Generalizes the Caesar cipher by applying both a multiplicative key (a) and an additive key (b).</a:t>
            </a:r>
          </a:p>
          <a:p>
            <a:pPr marL="0" indent="0">
              <a:spcAft>
                <a:spcPts val="1000"/>
              </a:spcAft>
              <a:buNone/>
            </a:pPr>
            <a:r>
              <a:rPr lang="en-US" sz="1300" dirty="0">
                <a:solidFill>
                  <a:srgbClr val="16232E"/>
                </a:solidFill>
                <a:latin typeface="Calibri" pitchFamily="34" charset="0"/>
                <a:ea typeface="Calibri" pitchFamily="34" charset="-122"/>
                <a:cs typeface="Calibri" pitchFamily="34" charset="-120"/>
              </a:rPr>
              <a:t>To encrypt : (</a:t>
            </a:r>
            <a:r>
              <a:rPr lang="en-US" sz="1300" dirty="0" err="1">
                <a:solidFill>
                  <a:srgbClr val="16232E"/>
                </a:solidFill>
                <a:latin typeface="Calibri" pitchFamily="34" charset="0"/>
                <a:ea typeface="Calibri" pitchFamily="34" charset="-122"/>
                <a:cs typeface="Calibri" pitchFamily="34" charset="-120"/>
              </a:rPr>
              <a:t>aP</a:t>
            </a:r>
            <a:r>
              <a:rPr lang="en-US" sz="1300" dirty="0">
                <a:solidFill>
                  <a:srgbClr val="16232E"/>
                </a:solidFill>
                <a:latin typeface="Calibri" pitchFamily="34" charset="0"/>
                <a:ea typeface="Calibri" pitchFamily="34" charset="-122"/>
                <a:cs typeface="Calibri" pitchFamily="34" charset="-120"/>
              </a:rPr>
              <a:t> + b) mod m</a:t>
            </a:r>
          </a:p>
          <a:p>
            <a:pPr marL="285750" indent="-285750">
              <a:spcAft>
                <a:spcPts val="1000"/>
              </a:spcAft>
              <a:buFont typeface="Arial" panose="020B0604020202020204" pitchFamily="34" charset="0"/>
              <a:buChar char="•"/>
            </a:pPr>
            <a:r>
              <a:rPr lang="en-US" sz="1300" dirty="0">
                <a:solidFill>
                  <a:srgbClr val="16232E"/>
                </a:solidFill>
                <a:latin typeface="Calibri" pitchFamily="34" charset="0"/>
                <a:ea typeface="Calibri" pitchFamily="34" charset="-122"/>
                <a:cs typeface="Calibri" pitchFamily="34" charset="-120"/>
              </a:rPr>
              <a:t>a and b are both between 0 and 25</a:t>
            </a:r>
          </a:p>
          <a:p>
            <a:pPr marL="285750" indent="-285750">
              <a:spcAft>
                <a:spcPts val="1000"/>
              </a:spcAft>
              <a:buFont typeface="Arial" panose="020B0604020202020204" pitchFamily="34" charset="0"/>
              <a:buChar char="•"/>
            </a:pPr>
            <a:r>
              <a:rPr lang="en-US" sz="1300" dirty="0">
                <a:solidFill>
                  <a:srgbClr val="16232E"/>
                </a:solidFill>
                <a:latin typeface="Calibri" pitchFamily="34" charset="0"/>
                <a:ea typeface="Calibri" pitchFamily="34" charset="-122"/>
                <a:cs typeface="Calibri" pitchFamily="34" charset="-120"/>
              </a:rPr>
              <a:t>a is coprime with 26 (a # even and # 13)</a:t>
            </a:r>
          </a:p>
          <a:p>
            <a:pPr marL="285750" indent="-285750">
              <a:spcAft>
                <a:spcPts val="1000"/>
              </a:spcAft>
              <a:buFont typeface="Arial" panose="020B0604020202020204" pitchFamily="34" charset="0"/>
              <a:buChar char="•"/>
            </a:pPr>
            <a:r>
              <a:rPr lang="en-US" sz="1300" dirty="0">
                <a:solidFill>
                  <a:srgbClr val="16232E"/>
                </a:solidFill>
                <a:latin typeface="Calibri" pitchFamily="34" charset="0"/>
                <a:ea typeface="Calibri" pitchFamily="34" charset="-122"/>
                <a:cs typeface="Calibri" pitchFamily="34" charset="-120"/>
              </a:rPr>
              <a:t>P represents A-Z mapped to the integers 0-25</a:t>
            </a:r>
          </a:p>
          <a:p>
            <a:pPr marL="0" indent="0">
              <a:spcAft>
                <a:spcPts val="1000"/>
              </a:spcAft>
              <a:buNone/>
            </a:pPr>
            <a:r>
              <a:rPr lang="en-US" sz="1150" i="1" dirty="0">
                <a:solidFill>
                  <a:srgbClr val="5A6B7B"/>
                </a:solidFill>
                <a:latin typeface="Calibri" pitchFamily="34" charset="0"/>
                <a:ea typeface="Calibri" pitchFamily="34" charset="-122"/>
                <a:cs typeface="Calibri" pitchFamily="34" charset="-120"/>
              </a:rPr>
              <a:t>Valid values of a: 1, 3, 5, 7, 9, 11, 15, 17, 19, 21, 23, 25 (12 choices)</a:t>
            </a:r>
            <a:endParaRPr lang="en-US" sz="1300" dirty="0"/>
          </a:p>
        </p:txBody>
      </p:sp>
      <p:sp>
        <p:nvSpPr>
          <p:cNvPr id="7" name="Shape 4"/>
          <p:cNvSpPr/>
          <p:nvPr/>
        </p:nvSpPr>
        <p:spPr>
          <a:xfrm>
            <a:off x="548640" y="4680792"/>
            <a:ext cx="5120640" cy="502920"/>
          </a:xfrm>
          <a:prstGeom prst="roundRect">
            <a:avLst>
              <a:gd name="adj" fmla="val 10909"/>
            </a:avLst>
          </a:prstGeom>
          <a:solidFill>
            <a:srgbClr val="0B2545"/>
          </a:solidFill>
          <a:ln/>
        </p:spPr>
      </p:sp>
      <p:sp>
        <p:nvSpPr>
          <p:cNvPr id="8" name="Text 5"/>
          <p:cNvSpPr/>
          <p:nvPr/>
        </p:nvSpPr>
        <p:spPr>
          <a:xfrm>
            <a:off x="685800" y="4680792"/>
            <a:ext cx="484632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Encrypt:  C = (</a:t>
            </a:r>
            <a:r>
              <a:rPr lang="en-US" sz="1400" b="1" kern="0" spc="200" dirty="0" err="1">
                <a:solidFill>
                  <a:srgbClr val="FFFFFF"/>
                </a:solidFill>
                <a:latin typeface="Courier New" pitchFamily="34" charset="0"/>
                <a:ea typeface="Courier New" pitchFamily="34" charset="-122"/>
                <a:cs typeface="Courier New" pitchFamily="34" charset="-120"/>
              </a:rPr>
              <a:t>aP</a:t>
            </a:r>
            <a:r>
              <a:rPr lang="en-US" sz="1400" b="1" kern="0" spc="200" dirty="0">
                <a:solidFill>
                  <a:srgbClr val="FFFFFF"/>
                </a:solidFill>
                <a:latin typeface="Courier New" pitchFamily="34" charset="0"/>
                <a:ea typeface="Courier New" pitchFamily="34" charset="-122"/>
                <a:cs typeface="Courier New" pitchFamily="34" charset="-120"/>
              </a:rPr>
              <a:t> + b) mod 26</a:t>
            </a:r>
            <a:endParaRPr lang="en-US" sz="1400" dirty="0"/>
          </a:p>
        </p:txBody>
      </p:sp>
      <p:sp>
        <p:nvSpPr>
          <p:cNvPr id="9" name="Shape 6"/>
          <p:cNvSpPr/>
          <p:nvPr/>
        </p:nvSpPr>
        <p:spPr>
          <a:xfrm>
            <a:off x="548640" y="5296800"/>
            <a:ext cx="5120640" cy="502920"/>
          </a:xfrm>
          <a:prstGeom prst="roundRect">
            <a:avLst>
              <a:gd name="adj" fmla="val 10909"/>
            </a:avLst>
          </a:prstGeom>
          <a:solidFill>
            <a:srgbClr val="13315C"/>
          </a:solidFill>
          <a:ln/>
        </p:spPr>
      </p:sp>
      <p:sp>
        <p:nvSpPr>
          <p:cNvPr id="10" name="Text 7"/>
          <p:cNvSpPr/>
          <p:nvPr/>
        </p:nvSpPr>
        <p:spPr>
          <a:xfrm>
            <a:off x="685800" y="5296800"/>
            <a:ext cx="4846320" cy="502920"/>
          </a:xfrm>
          <a:prstGeom prst="rect">
            <a:avLst/>
          </a:prstGeom>
          <a:noFill/>
          <a:ln/>
        </p:spPr>
        <p:txBody>
          <a:bodyPr wrap="square" rtlCol="0" anchor="ctr"/>
          <a:lstStyle/>
          <a:p>
            <a:pPr marL="0" indent="0" algn="ctr">
              <a:buNone/>
            </a:pPr>
            <a:r>
              <a:rPr lang="en-US" sz="1300" b="1" kern="0" spc="200" dirty="0">
                <a:solidFill>
                  <a:srgbClr val="FFFFFF"/>
                </a:solidFill>
                <a:latin typeface="Courier New" pitchFamily="34" charset="0"/>
                <a:ea typeface="Courier New" pitchFamily="34" charset="-122"/>
                <a:cs typeface="Courier New" pitchFamily="34" charset="-120"/>
              </a:rPr>
              <a:t>Decrypt:  P = a⁻¹(C − b) mod 26</a:t>
            </a:r>
            <a:endParaRPr lang="en-US" sz="1300" dirty="0"/>
          </a:p>
        </p:txBody>
      </p:sp>
      <p:sp>
        <p:nvSpPr>
          <p:cNvPr id="11" name="Shape 8"/>
          <p:cNvSpPr/>
          <p:nvPr/>
        </p:nvSpPr>
        <p:spPr>
          <a:xfrm>
            <a:off x="6126480" y="1600200"/>
            <a:ext cx="5166360" cy="2011680"/>
          </a:xfrm>
          <a:prstGeom prst="roundRect">
            <a:avLst>
              <a:gd name="adj" fmla="val 3636"/>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2" name="Text 9"/>
          <p:cNvSpPr/>
          <p:nvPr/>
        </p:nvSpPr>
        <p:spPr>
          <a:xfrm>
            <a:off x="6355080" y="1764792"/>
            <a:ext cx="470916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Key space</a:t>
            </a:r>
            <a:endParaRPr lang="en-US" sz="1500" dirty="0"/>
          </a:p>
        </p:txBody>
      </p:sp>
      <p:sp>
        <p:nvSpPr>
          <p:cNvPr id="13" name="Text 10"/>
          <p:cNvSpPr/>
          <p:nvPr/>
        </p:nvSpPr>
        <p:spPr>
          <a:xfrm>
            <a:off x="6355080" y="2130552"/>
            <a:ext cx="4709160" cy="128016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Key = pair (a, b) with 12 valid values of a and 26 values of b, minus the identity case → 311 usable keys.</a:t>
            </a:r>
            <a:endParaRPr lang="en-US" sz="1200" dirty="0"/>
          </a:p>
          <a:p>
            <a:pPr marL="0" indent="0">
              <a:buNone/>
            </a:pPr>
            <a:endParaRPr lang="en-US" sz="1200" dirty="0"/>
          </a:p>
          <a:p>
            <a:pPr marL="0" indent="0">
              <a:buNone/>
            </a:pPr>
            <a:r>
              <a:rPr lang="en-US" sz="1200" dirty="0">
                <a:solidFill>
                  <a:srgbClr val="16232E"/>
                </a:solidFill>
                <a:latin typeface="Calibri" pitchFamily="34" charset="0"/>
                <a:ea typeface="Calibri" pitchFamily="34" charset="-122"/>
                <a:cs typeface="Calibri" pitchFamily="34" charset="-120"/>
              </a:rPr>
              <a:t>Still far too small to resist brute-force search by modern computers.</a:t>
            </a:r>
            <a:endParaRPr lang="en-US" sz="1200" dirty="0"/>
          </a:p>
        </p:txBody>
      </p:sp>
      <p:sp>
        <p:nvSpPr>
          <p:cNvPr id="14" name="Shape 11"/>
          <p:cNvSpPr/>
          <p:nvPr/>
        </p:nvSpPr>
        <p:spPr>
          <a:xfrm>
            <a:off x="6126480" y="3794760"/>
            <a:ext cx="5166360" cy="2331720"/>
          </a:xfrm>
          <a:prstGeom prst="roundRect">
            <a:avLst>
              <a:gd name="adj" fmla="val 3137"/>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5" name="Text 12"/>
          <p:cNvSpPr/>
          <p:nvPr/>
        </p:nvSpPr>
        <p:spPr>
          <a:xfrm>
            <a:off x="6355080" y="3959352"/>
            <a:ext cx="4709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Why a needs an inverse</a:t>
            </a:r>
            <a:endParaRPr lang="en-US" sz="1500" dirty="0"/>
          </a:p>
        </p:txBody>
      </p:sp>
      <p:sp>
        <p:nvSpPr>
          <p:cNvPr id="16" name="Text 13"/>
          <p:cNvSpPr/>
          <p:nvPr/>
        </p:nvSpPr>
        <p:spPr>
          <a:xfrm>
            <a:off x="6355080" y="4325112"/>
            <a:ext cx="4709160" cy="160020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Decryption multiplies by a⁻¹ mod 26, the modular multiplicative inverse of a. If gcd(a,26) ≠ 1, a⁻¹ does not exist and multiple plaintext letters would map to the same ciphertext letter — encryption would not be reversible.</a:t>
            </a:r>
            <a:endParaRPr lang="en-US" sz="1200" dirty="0"/>
          </a:p>
        </p:txBody>
      </p:sp>
      <p:sp>
        <p:nvSpPr>
          <p:cNvPr id="17" name="Text 1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8" name="Text 1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02</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Affine Cipher — Worked </a:t>
            </a:r>
            <a:r>
              <a:rPr lang="en-US" sz="2800" b="1" dirty="0" err="1">
                <a:solidFill>
                  <a:srgbClr val="0B2545"/>
                </a:solidFill>
                <a:latin typeface="Cambria" pitchFamily="34" charset="0"/>
                <a:ea typeface="Cambria" pitchFamily="34" charset="-122"/>
                <a:cs typeface="Cambria" pitchFamily="34" charset="-120"/>
              </a:rPr>
              <a:t>Eample</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687501" y="2386013"/>
            <a:ext cx="4846320" cy="3283267"/>
          </a:xfrm>
          <a:prstGeom prst="rect">
            <a:avLst/>
          </a:prstGeom>
          <a:noFill/>
          <a:ln/>
        </p:spPr>
        <p:txBody>
          <a:bodyPr wrap="square" rtlCol="0" anchor="t"/>
          <a:lstStyle/>
          <a:p>
            <a:pPr marL="0" indent="0">
              <a:spcAft>
                <a:spcPts val="1000"/>
              </a:spcAft>
              <a:buNone/>
            </a:pPr>
            <a:endParaRPr lang="en-US" sz="1300" dirty="0"/>
          </a:p>
        </p:txBody>
      </p:sp>
      <p:sp>
        <p:nvSpPr>
          <p:cNvPr id="7" name="Shape 4"/>
          <p:cNvSpPr/>
          <p:nvPr/>
        </p:nvSpPr>
        <p:spPr>
          <a:xfrm>
            <a:off x="662940" y="1348740"/>
            <a:ext cx="5120640" cy="502920"/>
          </a:xfrm>
          <a:prstGeom prst="roundRect">
            <a:avLst>
              <a:gd name="adj" fmla="val 10909"/>
            </a:avLst>
          </a:prstGeom>
          <a:solidFill>
            <a:srgbClr val="0B2545"/>
          </a:solidFill>
          <a:ln/>
        </p:spPr>
      </p:sp>
      <p:sp>
        <p:nvSpPr>
          <p:cNvPr id="8" name="Text 5"/>
          <p:cNvSpPr/>
          <p:nvPr/>
        </p:nvSpPr>
        <p:spPr>
          <a:xfrm>
            <a:off x="800100" y="1348740"/>
            <a:ext cx="484632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Encrypt:  C = (</a:t>
            </a:r>
            <a:r>
              <a:rPr lang="en-US" sz="1400" b="1" kern="0" spc="200" dirty="0" err="1">
                <a:solidFill>
                  <a:srgbClr val="FFFFFF"/>
                </a:solidFill>
                <a:latin typeface="Courier New" pitchFamily="34" charset="0"/>
                <a:ea typeface="Courier New" pitchFamily="34" charset="-122"/>
                <a:cs typeface="Courier New" pitchFamily="34" charset="-120"/>
              </a:rPr>
              <a:t>aP</a:t>
            </a:r>
            <a:r>
              <a:rPr lang="en-US" sz="1400" b="1" kern="0" spc="200" dirty="0">
                <a:solidFill>
                  <a:srgbClr val="FFFFFF"/>
                </a:solidFill>
                <a:latin typeface="Courier New" pitchFamily="34" charset="0"/>
                <a:ea typeface="Courier New" pitchFamily="34" charset="-122"/>
                <a:cs typeface="Courier New" pitchFamily="34" charset="-120"/>
              </a:rPr>
              <a:t> + b) mod 26</a:t>
            </a:r>
            <a:endParaRPr lang="en-US" sz="1400" dirty="0"/>
          </a:p>
        </p:txBody>
      </p:sp>
      <p:sp>
        <p:nvSpPr>
          <p:cNvPr id="9" name="Shape 6"/>
          <p:cNvSpPr/>
          <p:nvPr/>
        </p:nvSpPr>
        <p:spPr>
          <a:xfrm>
            <a:off x="6522720" y="1348740"/>
            <a:ext cx="5120640" cy="502920"/>
          </a:xfrm>
          <a:prstGeom prst="roundRect">
            <a:avLst>
              <a:gd name="adj" fmla="val 10909"/>
            </a:avLst>
          </a:prstGeom>
          <a:solidFill>
            <a:srgbClr val="13315C"/>
          </a:solidFill>
          <a:ln/>
        </p:spPr>
      </p:sp>
      <p:sp>
        <p:nvSpPr>
          <p:cNvPr id="10" name="Text 7"/>
          <p:cNvSpPr/>
          <p:nvPr/>
        </p:nvSpPr>
        <p:spPr>
          <a:xfrm>
            <a:off x="6430975" y="1372515"/>
            <a:ext cx="4846320" cy="502920"/>
          </a:xfrm>
          <a:prstGeom prst="rect">
            <a:avLst/>
          </a:prstGeom>
          <a:noFill/>
          <a:ln/>
        </p:spPr>
        <p:txBody>
          <a:bodyPr wrap="square" rtlCol="0" anchor="ctr"/>
          <a:lstStyle/>
          <a:p>
            <a:pPr marL="0" indent="0" algn="ctr">
              <a:buNone/>
            </a:pPr>
            <a:r>
              <a:rPr lang="en-US" sz="1300" b="1" kern="0" spc="200" dirty="0">
                <a:solidFill>
                  <a:srgbClr val="FFFFFF"/>
                </a:solidFill>
                <a:latin typeface="Courier New" pitchFamily="34" charset="0"/>
                <a:ea typeface="Courier New" pitchFamily="34" charset="-122"/>
                <a:cs typeface="Courier New" pitchFamily="34" charset="-120"/>
              </a:rPr>
              <a:t>Decrypt:  P = a⁻¹(C − b) mod 26</a:t>
            </a:r>
            <a:endParaRPr lang="en-US" sz="1300" dirty="0"/>
          </a:p>
        </p:txBody>
      </p:sp>
      <p:sp>
        <p:nvSpPr>
          <p:cNvPr id="15" name="Text 12"/>
          <p:cNvSpPr/>
          <p:nvPr/>
        </p:nvSpPr>
        <p:spPr>
          <a:xfrm>
            <a:off x="548640" y="2263140"/>
            <a:ext cx="4709160" cy="3406140"/>
          </a:xfrm>
          <a:prstGeom prst="rect">
            <a:avLst/>
          </a:prstGeom>
          <a:noFill/>
          <a:ln/>
        </p:spPr>
        <p:txBody>
          <a:bodyPr wrap="square" rtlCol="0" anchor="ctr"/>
          <a:lstStyle/>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r>
              <a:rPr lang="en-US" sz="1500" dirty="0"/>
              <a:t>Plain Text = HELP    a= 5 , b= 8</a:t>
            </a:r>
          </a:p>
          <a:p>
            <a:pPr marL="0" indent="0">
              <a:buNone/>
            </a:pPr>
            <a:endParaRPr lang="en-US" sz="1500" dirty="0"/>
          </a:p>
          <a:p>
            <a:pPr marL="0" indent="0">
              <a:buNone/>
            </a:pPr>
            <a:r>
              <a:rPr lang="en-US" sz="1500" dirty="0"/>
              <a:t>Encryption</a:t>
            </a:r>
          </a:p>
          <a:p>
            <a:pPr marL="0" indent="0">
              <a:buNone/>
            </a:pPr>
            <a:r>
              <a:rPr lang="en-US" sz="1600" b="1" kern="0" spc="200" dirty="0">
                <a:latin typeface="Courier New" pitchFamily="34" charset="0"/>
                <a:ea typeface="Courier New" pitchFamily="34" charset="-122"/>
                <a:cs typeface="Courier New" pitchFamily="34" charset="-120"/>
              </a:rPr>
              <a:t>C = (</a:t>
            </a:r>
            <a:r>
              <a:rPr lang="en-US" sz="1600" b="1" kern="0" spc="200" dirty="0" err="1">
                <a:latin typeface="Courier New" pitchFamily="34" charset="0"/>
                <a:ea typeface="Courier New" pitchFamily="34" charset="-122"/>
                <a:cs typeface="Courier New" pitchFamily="34" charset="-120"/>
              </a:rPr>
              <a:t>aP</a:t>
            </a:r>
            <a:r>
              <a:rPr lang="en-US" sz="1600" b="1" kern="0" spc="200" dirty="0">
                <a:latin typeface="Courier New" pitchFamily="34" charset="0"/>
                <a:ea typeface="Courier New" pitchFamily="34" charset="-122"/>
                <a:cs typeface="Courier New" pitchFamily="34" charset="-120"/>
              </a:rPr>
              <a:t> + b) mod 26</a:t>
            </a:r>
          </a:p>
          <a:p>
            <a:pPr marL="0" indent="0">
              <a:buNone/>
            </a:pPr>
            <a:endParaRPr lang="en-US" sz="1600" b="1" kern="0" spc="200" dirty="0">
              <a:latin typeface="Courier New" pitchFamily="34" charset="0"/>
              <a:cs typeface="Courier New" pitchFamily="34" charset="-120"/>
            </a:endParaRPr>
          </a:p>
          <a:p>
            <a:pPr marL="0" indent="0">
              <a:buNone/>
            </a:pPr>
            <a:r>
              <a:rPr lang="en-US" sz="1600" b="1" kern="0" spc="200" dirty="0">
                <a:latin typeface="Courier New" pitchFamily="34" charset="0"/>
                <a:cs typeface="Courier New" pitchFamily="34" charset="-120"/>
              </a:rPr>
              <a:t>H : (5*7 + 8) mod 26  = 17</a:t>
            </a:r>
          </a:p>
          <a:p>
            <a:pPr marL="0" indent="0">
              <a:buNone/>
            </a:pPr>
            <a:r>
              <a:rPr lang="en-US" sz="1600" b="1" kern="0" spc="200" dirty="0">
                <a:latin typeface="Courier New" pitchFamily="34" charset="0"/>
                <a:cs typeface="Courier New" pitchFamily="34" charset="-120"/>
              </a:rPr>
              <a:t>E : (5*4 + 8) mod 26  =  2</a:t>
            </a:r>
          </a:p>
          <a:p>
            <a:pPr marL="0" indent="0">
              <a:buNone/>
            </a:pPr>
            <a:r>
              <a:rPr lang="en-US" sz="1600" b="1" kern="0" spc="200" dirty="0">
                <a:latin typeface="Courier New" pitchFamily="34" charset="0"/>
                <a:cs typeface="Courier New" pitchFamily="34" charset="-120"/>
              </a:rPr>
              <a:t>L : (5*11 + 8) mod 26 = 11</a:t>
            </a:r>
          </a:p>
          <a:p>
            <a:pPr marL="0" indent="0">
              <a:buNone/>
            </a:pPr>
            <a:r>
              <a:rPr lang="en-US" sz="1600" b="1" kern="0" spc="200" dirty="0">
                <a:latin typeface="Courier New" pitchFamily="34" charset="0"/>
                <a:cs typeface="Courier New" pitchFamily="34" charset="-120"/>
              </a:rPr>
              <a:t>P : (5* 15 + 8) mod 26=  5</a:t>
            </a:r>
          </a:p>
          <a:p>
            <a:pPr marL="0" indent="0">
              <a:buNone/>
            </a:pPr>
            <a:endParaRPr lang="en-US" sz="1500" dirty="0"/>
          </a:p>
          <a:p>
            <a:pPr marL="0" indent="0">
              <a:buNone/>
            </a:pPr>
            <a:endParaRPr lang="en-US" sz="1500" dirty="0"/>
          </a:p>
          <a:p>
            <a:pPr marL="0" indent="0">
              <a:buNone/>
            </a:pPr>
            <a:r>
              <a:rPr lang="en-US" sz="1500" dirty="0"/>
              <a:t>Ciphertext = RCLF</a:t>
            </a:r>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p:txBody>
      </p:sp>
      <p:sp>
        <p:nvSpPr>
          <p:cNvPr id="17" name="Text 1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8" name="Text 1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
        <p:nvSpPr>
          <p:cNvPr id="19" name="TextBox 18">
            <a:extLst>
              <a:ext uri="{FF2B5EF4-FFF2-40B4-BE49-F238E27FC236}">
                <a16:creationId xmlns:a16="http://schemas.microsoft.com/office/drawing/2014/main" id="{D409C94D-ACB1-742A-9FC1-0F06C77ED4F1}"/>
              </a:ext>
            </a:extLst>
          </p:cNvPr>
          <p:cNvSpPr txBox="1"/>
          <p:nvPr/>
        </p:nvSpPr>
        <p:spPr>
          <a:xfrm>
            <a:off x="7000240" y="2019667"/>
            <a:ext cx="4277055" cy="4524315"/>
          </a:xfrm>
          <a:prstGeom prst="rect">
            <a:avLst/>
          </a:prstGeom>
          <a:noFill/>
        </p:spPr>
        <p:txBody>
          <a:bodyPr wrap="square" rtlCol="0">
            <a:spAutoFit/>
          </a:bodyPr>
          <a:lstStyle/>
          <a:p>
            <a:r>
              <a:rPr lang="en-US" b="0" i="0" dirty="0">
                <a:effectLst/>
                <a:latin typeface="anthropic-sans"/>
              </a:rPr>
              <a:t>a⁻¹ is the modular multiplicative inverse of a mod 26.</a:t>
            </a:r>
          </a:p>
          <a:p>
            <a:endParaRPr lang="en-US" dirty="0">
              <a:latin typeface="anthropic-sans"/>
            </a:endParaRPr>
          </a:p>
          <a:p>
            <a:r>
              <a:rPr lang="en-US" b="0" i="0" dirty="0">
                <a:effectLst/>
                <a:latin typeface="anthropic-sans"/>
              </a:rPr>
              <a:t>a⁻¹ * a mod 26 = 1</a:t>
            </a:r>
          </a:p>
          <a:p>
            <a:endParaRPr lang="en-US" b="0" i="0" dirty="0">
              <a:effectLst/>
              <a:latin typeface="anthropic-sans"/>
            </a:endParaRPr>
          </a:p>
          <a:p>
            <a:endParaRPr lang="en-US" dirty="0">
              <a:latin typeface="anthropic-sans"/>
            </a:endParaRPr>
          </a:p>
          <a:p>
            <a:r>
              <a:rPr lang="en-US" dirty="0"/>
              <a:t>    whatever this value is, when we divide it by 26 , we should get 1</a:t>
            </a:r>
          </a:p>
          <a:p>
            <a:endParaRPr lang="en-US" dirty="0"/>
          </a:p>
          <a:p>
            <a:r>
              <a:rPr lang="en-US" dirty="0"/>
              <a:t>21 * 5 mod 26 =1</a:t>
            </a:r>
          </a:p>
          <a:p>
            <a:r>
              <a:rPr lang="en-US" dirty="0"/>
              <a:t>105 mod 26 = 1</a:t>
            </a:r>
          </a:p>
          <a:p>
            <a:r>
              <a:rPr lang="en-US" b="0" i="0" dirty="0">
                <a:effectLst/>
                <a:latin typeface="anthropic-sans"/>
              </a:rPr>
              <a:t>a⁻¹ = 21</a:t>
            </a:r>
          </a:p>
          <a:p>
            <a:endParaRPr lang="en-US" dirty="0">
              <a:latin typeface="anthropic-sans"/>
            </a:endParaRPr>
          </a:p>
          <a:p>
            <a:r>
              <a:rPr lang="en-US" dirty="0">
                <a:latin typeface="anthropic-sans"/>
              </a:rPr>
              <a:t>21 ( 17 – 8) mod 26 = 7 .. So on</a:t>
            </a:r>
            <a:br>
              <a:rPr lang="en-US" dirty="0">
                <a:latin typeface="anthropic-sans"/>
              </a:rPr>
            </a:br>
            <a:endParaRPr lang="en-US" dirty="0"/>
          </a:p>
          <a:p>
            <a:endParaRPr lang="en-US" dirty="0"/>
          </a:p>
        </p:txBody>
      </p:sp>
      <p:sp>
        <p:nvSpPr>
          <p:cNvPr id="20" name="Right Brace 19">
            <a:extLst>
              <a:ext uri="{FF2B5EF4-FFF2-40B4-BE49-F238E27FC236}">
                <a16:creationId xmlns:a16="http://schemas.microsoft.com/office/drawing/2014/main" id="{70EB83D9-9899-F35E-E37F-99EBBDD951D0}"/>
              </a:ext>
            </a:extLst>
          </p:cNvPr>
          <p:cNvSpPr/>
          <p:nvPr/>
        </p:nvSpPr>
        <p:spPr>
          <a:xfrm rot="5400000">
            <a:off x="7282149" y="2931202"/>
            <a:ext cx="187287" cy="63897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886833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02</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Affine Cipher — Worked Example</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1005840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Encrypt "HI" with a = 5, b = 8 (a⁻¹ mod 26 = 21)</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0881360" cy="1508760"/>
        </p:xfrm>
        <a:graphic>
          <a:graphicData uri="http://schemas.openxmlformats.org/drawingml/2006/table">
            <a:tbl>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02920">
                <a:tc>
                  <a:txBody>
                    <a:bodyPr/>
                    <a:lstStyle/>
                    <a:p>
                      <a:pPr marL="0" indent="0" algn="ctr">
                        <a:buNone/>
                      </a:pPr>
                      <a:r>
                        <a:rPr lang="en-US" sz="1200" b="1" dirty="0">
                          <a:solidFill>
                            <a:srgbClr val="FFFFFF"/>
                          </a:solidFill>
                        </a:rPr>
                        <a:t>Letter</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P</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C = (5P + 8) mod 26</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Cipher letter</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502920">
                <a:tc>
                  <a:txBody>
                    <a:bodyPr/>
                    <a:lstStyle/>
                    <a:p>
                      <a:pPr marL="0" indent="0" algn="ctr">
                        <a:buNone/>
                      </a:pPr>
                      <a:r>
                        <a:rPr lang="en-US" sz="1200" dirty="0">
                          <a:solidFill>
                            <a:srgbClr val="16232E"/>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7</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(5×7 + 8) mod 26 = 43 mod 26 = 17</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R</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200" dirty="0">
                          <a:solidFill>
                            <a:srgbClr val="16232E"/>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8</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(5×8 + 8) mod 26 = 48 mod 26 = 22</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W</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bl>
          </a:graphicData>
        </a:graphic>
      </p:graphicFrame>
      <p:sp>
        <p:nvSpPr>
          <p:cNvPr id="8" name="Text 4"/>
          <p:cNvSpPr/>
          <p:nvPr/>
        </p:nvSpPr>
        <p:spPr>
          <a:xfrm>
            <a:off x="548640" y="3337560"/>
            <a:ext cx="5486400" cy="365760"/>
          </a:xfrm>
          <a:prstGeom prst="rect">
            <a:avLst/>
          </a:prstGeom>
          <a:noFill/>
          <a:ln/>
        </p:spPr>
        <p:txBody>
          <a:bodyPr wrap="square" rtlCol="0" anchor="ctr"/>
          <a:lstStyle/>
          <a:p>
            <a:pPr marL="0" indent="0">
              <a:buNone/>
            </a:pPr>
            <a:r>
              <a:rPr lang="en-US" sz="1400" b="1" dirty="0">
                <a:solidFill>
                  <a:srgbClr val="0B2545"/>
                </a:solidFill>
                <a:latin typeface="Courier New" pitchFamily="34" charset="0"/>
                <a:ea typeface="Courier New" pitchFamily="34" charset="-122"/>
                <a:cs typeface="Courier New" pitchFamily="34" charset="-120"/>
              </a:rPr>
              <a:t>Result:  HI  →  RW</a:t>
            </a:r>
            <a:endParaRPr lang="en-US" sz="1400" dirty="0"/>
          </a:p>
        </p:txBody>
      </p:sp>
      <p:sp>
        <p:nvSpPr>
          <p:cNvPr id="9" name="Text 5"/>
          <p:cNvSpPr/>
          <p:nvPr/>
        </p:nvSpPr>
        <p:spPr>
          <a:xfrm>
            <a:off x="548640" y="3886200"/>
            <a:ext cx="1005840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Decrypting "R" back to verify:</a:t>
            </a:r>
            <a:endParaRPr lang="en-US" sz="1300" dirty="0"/>
          </a:p>
        </p:txBody>
      </p:sp>
      <p:sp>
        <p:nvSpPr>
          <p:cNvPr id="10" name="Shape 6"/>
          <p:cNvSpPr/>
          <p:nvPr/>
        </p:nvSpPr>
        <p:spPr>
          <a:xfrm>
            <a:off x="548640" y="4251960"/>
            <a:ext cx="10881360" cy="502920"/>
          </a:xfrm>
          <a:prstGeom prst="roundRect">
            <a:avLst>
              <a:gd name="adj" fmla="val 10909"/>
            </a:avLst>
          </a:prstGeom>
          <a:solidFill>
            <a:srgbClr val="2C3E50"/>
          </a:solidFill>
          <a:ln/>
        </p:spPr>
      </p:sp>
      <p:sp>
        <p:nvSpPr>
          <p:cNvPr id="7" name="Text 7"/>
          <p:cNvSpPr/>
          <p:nvPr/>
        </p:nvSpPr>
        <p:spPr>
          <a:xfrm>
            <a:off x="685800" y="4251960"/>
            <a:ext cx="10607040" cy="502920"/>
          </a:xfrm>
          <a:prstGeom prst="rect">
            <a:avLst/>
          </a:prstGeom>
          <a:noFill/>
          <a:ln/>
        </p:spPr>
        <p:txBody>
          <a:bodyPr wrap="square" rtlCol="0" anchor="ctr"/>
          <a:lstStyle/>
          <a:p>
            <a:pPr marL="0" indent="0" algn="ctr">
              <a:buNone/>
            </a:pPr>
            <a:r>
              <a:rPr lang="en-US" sz="1300" b="1" kern="0" spc="200" dirty="0">
                <a:solidFill>
                  <a:srgbClr val="FFFFFF"/>
                </a:solidFill>
                <a:latin typeface="Courier New" pitchFamily="34" charset="0"/>
                <a:ea typeface="Courier New" pitchFamily="34" charset="-122"/>
                <a:cs typeface="Courier New" pitchFamily="34" charset="-120"/>
              </a:rPr>
              <a:t>P = 21 × (17 − 8) mod 26 = 21 × 9 mod 26 = 189 mod 26 = 7  →  H</a:t>
            </a:r>
            <a:endParaRPr lang="en-US" sz="1300" dirty="0"/>
          </a:p>
        </p:txBody>
      </p:sp>
      <p:sp>
        <p:nvSpPr>
          <p:cNvPr id="12" name="Shape 8"/>
          <p:cNvSpPr/>
          <p:nvPr/>
        </p:nvSpPr>
        <p:spPr>
          <a:xfrm>
            <a:off x="548640" y="4937760"/>
            <a:ext cx="10881360" cy="1143000"/>
          </a:xfrm>
          <a:prstGeom prst="roundRect">
            <a:avLst>
              <a:gd name="adj" fmla="val 6400"/>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3" name="Text 9"/>
          <p:cNvSpPr/>
          <p:nvPr/>
        </p:nvSpPr>
        <p:spPr>
          <a:xfrm>
            <a:off x="777240" y="5102352"/>
            <a:ext cx="10424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Strengths and weaknesses</a:t>
            </a:r>
            <a:endParaRPr lang="en-US" sz="1500" dirty="0"/>
          </a:p>
        </p:txBody>
      </p:sp>
      <p:sp>
        <p:nvSpPr>
          <p:cNvPr id="14" name="Text 10"/>
          <p:cNvSpPr/>
          <p:nvPr/>
        </p:nvSpPr>
        <p:spPr>
          <a:xfrm>
            <a:off x="777240" y="5468112"/>
            <a:ext cx="10424160" cy="41148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Slightly stronger than Caesar due to the added multiplicative term, but still a monoalphabetic substitution: each plaintext letter always maps to the same ciphertext letter, so the cipher remains fully vulnerable to frequency analysis.</a:t>
            </a:r>
            <a:endParaRPr lang="en-US" sz="1200" dirty="0"/>
          </a:p>
        </p:txBody>
      </p:sp>
      <p:sp>
        <p:nvSpPr>
          <p:cNvPr id="15" name="Text 11"/>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6" name="Text 12"/>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CRYPTANALYSIS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Monoalphabetic Ciphers and Frequency Analysis</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hartba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5486400" cy="4572000"/>
          </a:xfrm>
          <a:prstGeom prst="rect">
            <a:avLst/>
          </a:prstGeom>
          <a:noFill/>
          <a:ln/>
        </p:spPr>
        <p:txBody>
          <a:bodyPr wrap="square" rtlCol="0" anchor="t"/>
          <a:lstStyle/>
          <a:p>
            <a:pPr marL="0" indent="0" algn="just">
              <a:spcAft>
                <a:spcPts val="1000"/>
              </a:spcAft>
              <a:buNone/>
            </a:pPr>
            <a:r>
              <a:rPr lang="en-US" sz="2000" dirty="0">
                <a:solidFill>
                  <a:srgbClr val="16232E"/>
                </a:solidFill>
                <a:latin typeface="Calibri" pitchFamily="34" charset="0"/>
                <a:ea typeface="Calibri" pitchFamily="34" charset="-122"/>
                <a:cs typeface="Calibri" pitchFamily="34" charset="-120"/>
              </a:rPr>
              <a:t>Caesar and Affine are both monoalphabetic: one fixed mapping is used for the entire message.</a:t>
            </a:r>
            <a:endParaRPr lang="en-US" sz="2000" dirty="0"/>
          </a:p>
          <a:p>
            <a:pPr marL="0" indent="0" algn="just">
              <a:spcAft>
                <a:spcPts val="1000"/>
              </a:spcAft>
              <a:buNone/>
            </a:pPr>
            <a:r>
              <a:rPr lang="en-US" sz="2000" dirty="0">
                <a:solidFill>
                  <a:srgbClr val="16232E"/>
                </a:solidFill>
                <a:latin typeface="Calibri" pitchFamily="34" charset="0"/>
                <a:ea typeface="Calibri" pitchFamily="34" charset="-122"/>
                <a:cs typeface="Calibri" pitchFamily="34" charset="-120"/>
              </a:rPr>
              <a:t>This preserves the statistical fingerprint of the source language in the ciphertext.</a:t>
            </a:r>
            <a:endParaRPr lang="en-US" sz="2000" dirty="0"/>
          </a:p>
          <a:p>
            <a:pPr marL="0" indent="0" algn="just">
              <a:spcAft>
                <a:spcPts val="1000"/>
              </a:spcAft>
              <a:buNone/>
            </a:pPr>
            <a:r>
              <a:rPr lang="en-US" sz="2000" dirty="0">
                <a:solidFill>
                  <a:srgbClr val="16232E"/>
                </a:solidFill>
                <a:latin typeface="Calibri" pitchFamily="34" charset="0"/>
                <a:ea typeface="Calibri" pitchFamily="34" charset="-122"/>
                <a:cs typeface="Calibri" pitchFamily="34" charset="-120"/>
              </a:rPr>
              <a:t>In English, "E" appears ~12.7% of the time, "T" ~9.1%, "A" ~8.2% — while "Z", "Q", "X" are rare.</a:t>
            </a:r>
            <a:endParaRPr lang="en-US" sz="2000" dirty="0"/>
          </a:p>
          <a:p>
            <a:pPr marL="0" indent="0" algn="just">
              <a:buNone/>
            </a:pPr>
            <a:r>
              <a:rPr lang="en-US" sz="2000" dirty="0">
                <a:solidFill>
                  <a:srgbClr val="16232E"/>
                </a:solidFill>
                <a:latin typeface="Calibri" pitchFamily="34" charset="0"/>
                <a:ea typeface="Calibri" pitchFamily="34" charset="-122"/>
                <a:cs typeface="Calibri" pitchFamily="34" charset="-120"/>
              </a:rPr>
              <a:t>An analyst maps the most frequent ciphertext symbol to "E", the next to "T", and so on, refining guesses using common bigrams (TH, HE) and trigrams (THE, AND).</a:t>
            </a:r>
            <a:endParaRPr lang="en-US" sz="2000" dirty="0"/>
          </a:p>
        </p:txBody>
      </p:sp>
      <p:sp>
        <p:nvSpPr>
          <p:cNvPr id="7" name="Text 4"/>
          <p:cNvSpPr/>
          <p:nvPr/>
        </p:nvSpPr>
        <p:spPr>
          <a:xfrm>
            <a:off x="6492240" y="1554480"/>
            <a:ext cx="4937760" cy="320040"/>
          </a:xfrm>
          <a:prstGeom prst="rect">
            <a:avLst/>
          </a:prstGeom>
          <a:noFill/>
          <a:ln/>
        </p:spPr>
        <p:txBody>
          <a:bodyPr wrap="square" rtlCol="0" anchor="ctr"/>
          <a:lstStyle/>
          <a:p>
            <a:pPr marL="0" indent="0">
              <a:buNone/>
            </a:pPr>
            <a:r>
              <a:rPr lang="en-US" sz="1100" b="1" dirty="0">
                <a:solidFill>
                  <a:srgbClr val="5A6B7B"/>
                </a:solidFill>
                <a:latin typeface="Calibri" pitchFamily="34" charset="0"/>
                <a:ea typeface="Calibri" pitchFamily="34" charset="-122"/>
                <a:cs typeface="Calibri" pitchFamily="34" charset="-120"/>
              </a:rPr>
              <a:t>Relative Frequency of Letters in English (%)</a:t>
            </a:r>
            <a:endParaRPr lang="en-US" sz="1100" dirty="0"/>
          </a:p>
        </p:txBody>
      </p:sp>
      <p:sp>
        <p:nvSpPr>
          <p:cNvPr id="8" name="Shape 5"/>
          <p:cNvSpPr/>
          <p:nvPr/>
        </p:nvSpPr>
        <p:spPr>
          <a:xfrm>
            <a:off x="6492240" y="1996206"/>
            <a:ext cx="473202" cy="3215874"/>
          </a:xfrm>
          <a:prstGeom prst="rect">
            <a:avLst/>
          </a:prstGeom>
          <a:solidFill>
            <a:srgbClr val="5FBFF9"/>
          </a:solidFill>
          <a:ln/>
        </p:spPr>
      </p:sp>
      <p:sp>
        <p:nvSpPr>
          <p:cNvPr id="9" name="Text 6"/>
          <p:cNvSpPr/>
          <p:nvPr/>
        </p:nvSpPr>
        <p:spPr>
          <a:xfrm>
            <a:off x="6492240" y="1740174"/>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12.7</a:t>
            </a:r>
            <a:endParaRPr lang="en-US" sz="900" dirty="0"/>
          </a:p>
        </p:txBody>
      </p:sp>
      <p:sp>
        <p:nvSpPr>
          <p:cNvPr id="10" name="Text 7"/>
          <p:cNvSpPr/>
          <p:nvPr/>
        </p:nvSpPr>
        <p:spPr>
          <a:xfrm>
            <a:off x="6492240"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E</a:t>
            </a:r>
            <a:endParaRPr lang="en-US" sz="1100" dirty="0"/>
          </a:p>
        </p:txBody>
      </p:sp>
      <p:sp>
        <p:nvSpPr>
          <p:cNvPr id="11" name="Shape 8"/>
          <p:cNvSpPr/>
          <p:nvPr/>
        </p:nvSpPr>
        <p:spPr>
          <a:xfrm>
            <a:off x="7130034" y="2907792"/>
            <a:ext cx="473202" cy="2304288"/>
          </a:xfrm>
          <a:prstGeom prst="rect">
            <a:avLst/>
          </a:prstGeom>
          <a:solidFill>
            <a:srgbClr val="5FBFF9"/>
          </a:solidFill>
          <a:ln/>
        </p:spPr>
      </p:sp>
      <p:sp>
        <p:nvSpPr>
          <p:cNvPr id="12" name="Text 9"/>
          <p:cNvSpPr/>
          <p:nvPr/>
        </p:nvSpPr>
        <p:spPr>
          <a:xfrm>
            <a:off x="7130034" y="2651760"/>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9.1</a:t>
            </a:r>
            <a:endParaRPr lang="en-US" sz="900" dirty="0"/>
          </a:p>
        </p:txBody>
      </p:sp>
      <p:sp>
        <p:nvSpPr>
          <p:cNvPr id="13" name="Text 10"/>
          <p:cNvSpPr/>
          <p:nvPr/>
        </p:nvSpPr>
        <p:spPr>
          <a:xfrm>
            <a:off x="7130034"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T</a:t>
            </a:r>
            <a:endParaRPr lang="en-US" sz="1100" dirty="0"/>
          </a:p>
        </p:txBody>
      </p:sp>
      <p:sp>
        <p:nvSpPr>
          <p:cNvPr id="14" name="Shape 11"/>
          <p:cNvSpPr/>
          <p:nvPr/>
        </p:nvSpPr>
        <p:spPr>
          <a:xfrm>
            <a:off x="7767828" y="3135689"/>
            <a:ext cx="473202" cy="2076391"/>
          </a:xfrm>
          <a:prstGeom prst="rect">
            <a:avLst/>
          </a:prstGeom>
          <a:solidFill>
            <a:srgbClr val="0B2545"/>
          </a:solidFill>
          <a:ln/>
        </p:spPr>
      </p:sp>
      <p:sp>
        <p:nvSpPr>
          <p:cNvPr id="15" name="Text 12"/>
          <p:cNvSpPr/>
          <p:nvPr/>
        </p:nvSpPr>
        <p:spPr>
          <a:xfrm>
            <a:off x="7767828" y="2879657"/>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8.2</a:t>
            </a:r>
            <a:endParaRPr lang="en-US" sz="900" dirty="0"/>
          </a:p>
        </p:txBody>
      </p:sp>
      <p:sp>
        <p:nvSpPr>
          <p:cNvPr id="16" name="Text 13"/>
          <p:cNvSpPr/>
          <p:nvPr/>
        </p:nvSpPr>
        <p:spPr>
          <a:xfrm>
            <a:off x="7767828"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A</a:t>
            </a:r>
            <a:endParaRPr lang="en-US" sz="1100" dirty="0"/>
          </a:p>
        </p:txBody>
      </p:sp>
      <p:sp>
        <p:nvSpPr>
          <p:cNvPr id="17" name="Shape 14"/>
          <p:cNvSpPr/>
          <p:nvPr/>
        </p:nvSpPr>
        <p:spPr>
          <a:xfrm>
            <a:off x="8405622" y="3312942"/>
            <a:ext cx="473202" cy="1899138"/>
          </a:xfrm>
          <a:prstGeom prst="rect">
            <a:avLst/>
          </a:prstGeom>
          <a:solidFill>
            <a:srgbClr val="0B2545"/>
          </a:solidFill>
          <a:ln/>
        </p:spPr>
      </p:sp>
      <p:sp>
        <p:nvSpPr>
          <p:cNvPr id="18" name="Text 15"/>
          <p:cNvSpPr/>
          <p:nvPr/>
        </p:nvSpPr>
        <p:spPr>
          <a:xfrm>
            <a:off x="8405622" y="3056910"/>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7.5</a:t>
            </a:r>
            <a:endParaRPr lang="en-US" sz="900" dirty="0"/>
          </a:p>
        </p:txBody>
      </p:sp>
      <p:sp>
        <p:nvSpPr>
          <p:cNvPr id="19" name="Text 16"/>
          <p:cNvSpPr/>
          <p:nvPr/>
        </p:nvSpPr>
        <p:spPr>
          <a:xfrm>
            <a:off x="8405622"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O</a:t>
            </a:r>
            <a:endParaRPr lang="en-US" sz="1100" dirty="0"/>
          </a:p>
        </p:txBody>
      </p:sp>
      <p:sp>
        <p:nvSpPr>
          <p:cNvPr id="20" name="Shape 17"/>
          <p:cNvSpPr/>
          <p:nvPr/>
        </p:nvSpPr>
        <p:spPr>
          <a:xfrm>
            <a:off x="9043416" y="3439551"/>
            <a:ext cx="473202" cy="1772529"/>
          </a:xfrm>
          <a:prstGeom prst="rect">
            <a:avLst/>
          </a:prstGeom>
          <a:solidFill>
            <a:srgbClr val="0B2545"/>
          </a:solidFill>
          <a:ln/>
        </p:spPr>
      </p:sp>
      <p:sp>
        <p:nvSpPr>
          <p:cNvPr id="21" name="Text 18"/>
          <p:cNvSpPr/>
          <p:nvPr/>
        </p:nvSpPr>
        <p:spPr>
          <a:xfrm>
            <a:off x="9043416" y="3183519"/>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7.0</a:t>
            </a:r>
            <a:endParaRPr lang="en-US" sz="900" dirty="0"/>
          </a:p>
        </p:txBody>
      </p:sp>
      <p:sp>
        <p:nvSpPr>
          <p:cNvPr id="22" name="Text 19"/>
          <p:cNvSpPr/>
          <p:nvPr/>
        </p:nvSpPr>
        <p:spPr>
          <a:xfrm>
            <a:off x="9043416"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I</a:t>
            </a:r>
            <a:endParaRPr lang="en-US" sz="1100" dirty="0"/>
          </a:p>
        </p:txBody>
      </p:sp>
      <p:sp>
        <p:nvSpPr>
          <p:cNvPr id="23" name="Shape 20"/>
          <p:cNvSpPr/>
          <p:nvPr/>
        </p:nvSpPr>
        <p:spPr>
          <a:xfrm>
            <a:off x="9681210" y="3515516"/>
            <a:ext cx="473202" cy="1696564"/>
          </a:xfrm>
          <a:prstGeom prst="rect">
            <a:avLst/>
          </a:prstGeom>
          <a:solidFill>
            <a:srgbClr val="0B2545"/>
          </a:solidFill>
          <a:ln/>
        </p:spPr>
      </p:sp>
      <p:sp>
        <p:nvSpPr>
          <p:cNvPr id="24" name="Text 21"/>
          <p:cNvSpPr/>
          <p:nvPr/>
        </p:nvSpPr>
        <p:spPr>
          <a:xfrm>
            <a:off x="9681210" y="3259484"/>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6.7</a:t>
            </a:r>
            <a:endParaRPr lang="en-US" sz="900" dirty="0"/>
          </a:p>
        </p:txBody>
      </p:sp>
      <p:sp>
        <p:nvSpPr>
          <p:cNvPr id="25" name="Text 22"/>
          <p:cNvSpPr/>
          <p:nvPr/>
        </p:nvSpPr>
        <p:spPr>
          <a:xfrm>
            <a:off x="9681210"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N</a:t>
            </a:r>
            <a:endParaRPr lang="en-US" sz="1100" dirty="0"/>
          </a:p>
        </p:txBody>
      </p:sp>
      <p:sp>
        <p:nvSpPr>
          <p:cNvPr id="26" name="Shape 23"/>
          <p:cNvSpPr/>
          <p:nvPr/>
        </p:nvSpPr>
        <p:spPr>
          <a:xfrm>
            <a:off x="10319004" y="3616804"/>
            <a:ext cx="473202" cy="1595276"/>
          </a:xfrm>
          <a:prstGeom prst="rect">
            <a:avLst/>
          </a:prstGeom>
          <a:solidFill>
            <a:srgbClr val="0B2545"/>
          </a:solidFill>
          <a:ln/>
        </p:spPr>
      </p:sp>
      <p:sp>
        <p:nvSpPr>
          <p:cNvPr id="27" name="Text 24"/>
          <p:cNvSpPr/>
          <p:nvPr/>
        </p:nvSpPr>
        <p:spPr>
          <a:xfrm>
            <a:off x="10319004" y="3360772"/>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6.3</a:t>
            </a:r>
            <a:endParaRPr lang="en-US" sz="900" dirty="0"/>
          </a:p>
        </p:txBody>
      </p:sp>
      <p:sp>
        <p:nvSpPr>
          <p:cNvPr id="28" name="Text 25"/>
          <p:cNvSpPr/>
          <p:nvPr/>
        </p:nvSpPr>
        <p:spPr>
          <a:xfrm>
            <a:off x="10319004"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S</a:t>
            </a:r>
            <a:endParaRPr lang="en-US" sz="1100" dirty="0"/>
          </a:p>
        </p:txBody>
      </p:sp>
      <p:sp>
        <p:nvSpPr>
          <p:cNvPr id="29" name="Shape 26"/>
          <p:cNvSpPr/>
          <p:nvPr/>
        </p:nvSpPr>
        <p:spPr>
          <a:xfrm>
            <a:off x="10956798" y="3667447"/>
            <a:ext cx="473202" cy="1544633"/>
          </a:xfrm>
          <a:prstGeom prst="rect">
            <a:avLst/>
          </a:prstGeom>
          <a:solidFill>
            <a:srgbClr val="0B2545"/>
          </a:solidFill>
          <a:ln/>
        </p:spPr>
      </p:sp>
      <p:sp>
        <p:nvSpPr>
          <p:cNvPr id="30" name="Text 27"/>
          <p:cNvSpPr/>
          <p:nvPr/>
        </p:nvSpPr>
        <p:spPr>
          <a:xfrm>
            <a:off x="10956798" y="3411415"/>
            <a:ext cx="473202" cy="228600"/>
          </a:xfrm>
          <a:prstGeom prst="rect">
            <a:avLst/>
          </a:prstGeom>
          <a:noFill/>
          <a:ln/>
        </p:spPr>
        <p:txBody>
          <a:bodyPr wrap="square" rtlCol="0" anchor="ctr"/>
          <a:lstStyle/>
          <a:p>
            <a:pPr marL="0" indent="0" algn="ctr">
              <a:buNone/>
            </a:pPr>
            <a:r>
              <a:rPr lang="en-US" sz="900" dirty="0">
                <a:solidFill>
                  <a:srgbClr val="5A6B7B"/>
                </a:solidFill>
                <a:latin typeface="Calibri" pitchFamily="34" charset="0"/>
                <a:ea typeface="Calibri" pitchFamily="34" charset="-122"/>
                <a:cs typeface="Calibri" pitchFamily="34" charset="-120"/>
              </a:rPr>
              <a:t>6.1</a:t>
            </a:r>
            <a:endParaRPr lang="en-US" sz="900" dirty="0"/>
          </a:p>
        </p:txBody>
      </p:sp>
      <p:sp>
        <p:nvSpPr>
          <p:cNvPr id="31" name="Text 28"/>
          <p:cNvSpPr/>
          <p:nvPr/>
        </p:nvSpPr>
        <p:spPr>
          <a:xfrm>
            <a:off x="10956798" y="5257800"/>
            <a:ext cx="473202" cy="27432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H</a:t>
            </a:r>
            <a:endParaRPr lang="en-US" sz="1100" dirty="0"/>
          </a:p>
        </p:txBody>
      </p:sp>
      <p:sp>
        <p:nvSpPr>
          <p:cNvPr id="32" name="Shape 29"/>
          <p:cNvSpPr/>
          <p:nvPr/>
        </p:nvSpPr>
        <p:spPr>
          <a:xfrm>
            <a:off x="6492240" y="5212080"/>
            <a:ext cx="4937760" cy="0"/>
          </a:xfrm>
          <a:prstGeom prst="line">
            <a:avLst/>
          </a:prstGeom>
          <a:noFill/>
          <a:ln w="19050">
            <a:solidFill>
              <a:srgbClr val="DCE3EA"/>
            </a:solidFill>
            <a:prstDash val="solid"/>
          </a:ln>
        </p:spPr>
      </p:sp>
      <p:sp>
        <p:nvSpPr>
          <p:cNvPr id="33" name="Shape 30"/>
          <p:cNvSpPr/>
          <p:nvPr/>
        </p:nvSpPr>
        <p:spPr>
          <a:xfrm>
            <a:off x="6492240" y="5486400"/>
            <a:ext cx="4937760" cy="1005840"/>
          </a:xfrm>
          <a:prstGeom prst="roundRect">
            <a:avLst>
              <a:gd name="adj" fmla="val 7273"/>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34" name="Text 31"/>
          <p:cNvSpPr/>
          <p:nvPr/>
        </p:nvSpPr>
        <p:spPr>
          <a:xfrm>
            <a:off x="6720840" y="5650992"/>
            <a:ext cx="44805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Defense requires breaking the 1:1 map</a:t>
            </a:r>
            <a:endParaRPr lang="en-US" sz="1500" dirty="0"/>
          </a:p>
        </p:txBody>
      </p:sp>
      <p:sp>
        <p:nvSpPr>
          <p:cNvPr id="35" name="Text 32"/>
          <p:cNvSpPr/>
          <p:nvPr/>
        </p:nvSpPr>
        <p:spPr>
          <a:xfrm>
            <a:off x="6720840" y="6016752"/>
            <a:ext cx="4480560" cy="2743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Polyalphabetic ciphers (Vigenère, Beaufort) and larger substitution units (Playfair, Hill) were developed specifically to flatten this letter-frequency signature.</a:t>
            </a:r>
            <a:endParaRPr lang="en-US" sz="1200" dirty="0"/>
          </a:p>
        </p:txBody>
      </p:sp>
      <p:sp>
        <p:nvSpPr>
          <p:cNvPr id="36" name="Text 3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37" name="Text 3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KEYWORD CIPHER</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Monoalphabetic Substitution— Building a Cipher Alphabet</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key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306068"/>
            <a:ext cx="10881360" cy="2103120"/>
          </a:xfrm>
          <a:prstGeom prst="rect">
            <a:avLst/>
          </a:prstGeom>
          <a:noFill/>
          <a:ln/>
        </p:spPr>
        <p:txBody>
          <a:bodyPr wrap="square" rtlCol="0" anchor="t"/>
          <a:lstStyle/>
          <a:p>
            <a:pPr marL="0" indent="0">
              <a:spcAft>
                <a:spcPts val="1000"/>
              </a:spcAft>
              <a:buNone/>
            </a:pPr>
            <a:r>
              <a:rPr lang="en-US" sz="2000" dirty="0">
                <a:solidFill>
                  <a:srgbClr val="16232E"/>
                </a:solidFill>
                <a:latin typeface="Calibri" pitchFamily="34" charset="0"/>
                <a:ea typeface="Calibri" pitchFamily="34" charset="-122"/>
                <a:cs typeface="Calibri" pitchFamily="34" charset="-120"/>
              </a:rPr>
              <a:t>A different route to a monoalphabetic substitution: instead of a numeric shift, derive the entire cipher alphabet from a keyword.</a:t>
            </a:r>
            <a:endParaRPr lang="en-US" sz="2000" dirty="0"/>
          </a:p>
          <a:p>
            <a:pPr marL="0" indent="0">
              <a:spcAft>
                <a:spcPts val="800"/>
              </a:spcAft>
              <a:buNone/>
            </a:pPr>
            <a:r>
              <a:rPr lang="en-US" sz="2000" dirty="0">
                <a:solidFill>
                  <a:srgbClr val="16232E"/>
                </a:solidFill>
                <a:latin typeface="Calibri" pitchFamily="34" charset="0"/>
                <a:ea typeface="Calibri" pitchFamily="34" charset="-122"/>
                <a:cs typeface="Calibri" pitchFamily="34" charset="-120"/>
              </a:rPr>
              <a:t>Step 1 — write the keyword's letters in order, dropping any repeats.</a:t>
            </a:r>
            <a:endParaRPr lang="en-US" sz="2000" dirty="0"/>
          </a:p>
          <a:p>
            <a:pPr marL="0" indent="0">
              <a:spcAft>
                <a:spcPts val="800"/>
              </a:spcAft>
              <a:buNone/>
            </a:pPr>
            <a:r>
              <a:rPr lang="en-US" sz="2000" dirty="0">
                <a:solidFill>
                  <a:srgbClr val="16232E"/>
                </a:solidFill>
                <a:latin typeface="Calibri" pitchFamily="34" charset="0"/>
                <a:ea typeface="Calibri" pitchFamily="34" charset="-122"/>
                <a:cs typeface="Calibri" pitchFamily="34" charset="-120"/>
              </a:rPr>
              <a:t>Step 2 — append the remaining letters of the alphabet in their normal order, skipping any letter already used.</a:t>
            </a:r>
            <a:endParaRPr lang="en-US" sz="2000" dirty="0"/>
          </a:p>
          <a:p>
            <a:pPr marL="0" indent="0">
              <a:buNone/>
            </a:pPr>
            <a:r>
              <a:rPr lang="en-US" sz="2000" dirty="0">
                <a:solidFill>
                  <a:srgbClr val="16232E"/>
                </a:solidFill>
                <a:latin typeface="Calibri" pitchFamily="34" charset="0"/>
                <a:ea typeface="Calibri" pitchFamily="34" charset="-122"/>
                <a:cs typeface="Calibri" pitchFamily="34" charset="-120"/>
              </a:rPr>
              <a:t>Every plaintext letter is then replaced by the cipher-alphabet letter in the same position — still one fixed mapping for the whole message.</a:t>
            </a:r>
            <a:endParaRPr lang="en-US" sz="2000" dirty="0"/>
          </a:p>
        </p:txBody>
      </p:sp>
      <p:sp>
        <p:nvSpPr>
          <p:cNvPr id="7" name="Text 4"/>
          <p:cNvSpPr/>
          <p:nvPr/>
        </p:nvSpPr>
        <p:spPr>
          <a:xfrm>
            <a:off x="548640" y="3794760"/>
            <a:ext cx="548640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Keyword: KEYWORD</a:t>
            </a:r>
            <a:endParaRPr lang="en-US" sz="1300" dirty="0"/>
          </a:p>
        </p:txBody>
      </p:sp>
      <p:sp>
        <p:nvSpPr>
          <p:cNvPr id="8" name="Text 5"/>
          <p:cNvSpPr/>
          <p:nvPr/>
        </p:nvSpPr>
        <p:spPr>
          <a:xfrm>
            <a:off x="548640" y="4160520"/>
            <a:ext cx="2743200" cy="228600"/>
          </a:xfrm>
          <a:prstGeom prst="rect">
            <a:avLst/>
          </a:prstGeom>
          <a:noFill/>
          <a:ln/>
        </p:spPr>
        <p:txBody>
          <a:bodyPr wrap="square" rtlCol="0" anchor="ctr"/>
          <a:lstStyle/>
          <a:p>
            <a:pPr marL="0" indent="0">
              <a:buNone/>
            </a:pPr>
            <a:r>
              <a:rPr lang="en-US" sz="1000" dirty="0">
                <a:solidFill>
                  <a:srgbClr val="5A6B7B"/>
                </a:solidFill>
                <a:latin typeface="Calibri" pitchFamily="34" charset="0"/>
                <a:ea typeface="Calibri" pitchFamily="34" charset="-122"/>
                <a:cs typeface="Calibri" pitchFamily="34" charset="-120"/>
              </a:rPr>
              <a:t>open alphabet</a:t>
            </a:r>
            <a:endParaRPr lang="en-US" sz="1000" dirty="0"/>
          </a:p>
        </p:txBody>
      </p:sp>
      <p:sp>
        <p:nvSpPr>
          <p:cNvPr id="9" name="Shape 6"/>
          <p:cNvSpPr/>
          <p:nvPr/>
        </p:nvSpPr>
        <p:spPr>
          <a:xfrm>
            <a:off x="548640" y="4407408"/>
            <a:ext cx="379476" cy="457200"/>
          </a:xfrm>
          <a:prstGeom prst="rect">
            <a:avLst/>
          </a:prstGeom>
          <a:solidFill>
            <a:srgbClr val="FFFFFF"/>
          </a:solidFill>
          <a:ln w="12700">
            <a:solidFill>
              <a:srgbClr val="0B2545"/>
            </a:solidFill>
            <a:prstDash val="solid"/>
          </a:ln>
        </p:spPr>
      </p:sp>
      <p:sp>
        <p:nvSpPr>
          <p:cNvPr id="10" name="Text 7"/>
          <p:cNvSpPr/>
          <p:nvPr/>
        </p:nvSpPr>
        <p:spPr>
          <a:xfrm>
            <a:off x="548640"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A</a:t>
            </a:r>
            <a:endParaRPr lang="en-US" sz="1100" dirty="0"/>
          </a:p>
        </p:txBody>
      </p:sp>
      <p:sp>
        <p:nvSpPr>
          <p:cNvPr id="11" name="Shape 8"/>
          <p:cNvSpPr/>
          <p:nvPr/>
        </p:nvSpPr>
        <p:spPr>
          <a:xfrm>
            <a:off x="955548" y="4407408"/>
            <a:ext cx="379476" cy="457200"/>
          </a:xfrm>
          <a:prstGeom prst="rect">
            <a:avLst/>
          </a:prstGeom>
          <a:solidFill>
            <a:srgbClr val="FFFFFF"/>
          </a:solidFill>
          <a:ln w="12700">
            <a:solidFill>
              <a:srgbClr val="0B2545"/>
            </a:solidFill>
            <a:prstDash val="solid"/>
          </a:ln>
        </p:spPr>
      </p:sp>
      <p:sp>
        <p:nvSpPr>
          <p:cNvPr id="12" name="Text 9"/>
          <p:cNvSpPr/>
          <p:nvPr/>
        </p:nvSpPr>
        <p:spPr>
          <a:xfrm>
            <a:off x="955548"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B</a:t>
            </a:r>
            <a:endParaRPr lang="en-US" sz="1100" dirty="0"/>
          </a:p>
        </p:txBody>
      </p:sp>
      <p:sp>
        <p:nvSpPr>
          <p:cNvPr id="13" name="Shape 10"/>
          <p:cNvSpPr/>
          <p:nvPr/>
        </p:nvSpPr>
        <p:spPr>
          <a:xfrm>
            <a:off x="1362456" y="4407408"/>
            <a:ext cx="379476" cy="457200"/>
          </a:xfrm>
          <a:prstGeom prst="rect">
            <a:avLst/>
          </a:prstGeom>
          <a:solidFill>
            <a:srgbClr val="FFFFFF"/>
          </a:solidFill>
          <a:ln w="12700">
            <a:solidFill>
              <a:srgbClr val="0B2545"/>
            </a:solidFill>
            <a:prstDash val="solid"/>
          </a:ln>
        </p:spPr>
      </p:sp>
      <p:sp>
        <p:nvSpPr>
          <p:cNvPr id="14" name="Text 11"/>
          <p:cNvSpPr/>
          <p:nvPr/>
        </p:nvSpPr>
        <p:spPr>
          <a:xfrm>
            <a:off x="1362456"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C</a:t>
            </a:r>
            <a:endParaRPr lang="en-US" sz="1100" dirty="0"/>
          </a:p>
        </p:txBody>
      </p:sp>
      <p:sp>
        <p:nvSpPr>
          <p:cNvPr id="15" name="Shape 12"/>
          <p:cNvSpPr/>
          <p:nvPr/>
        </p:nvSpPr>
        <p:spPr>
          <a:xfrm>
            <a:off x="1769364" y="4407408"/>
            <a:ext cx="379476" cy="457200"/>
          </a:xfrm>
          <a:prstGeom prst="rect">
            <a:avLst/>
          </a:prstGeom>
          <a:solidFill>
            <a:srgbClr val="FFFFFF"/>
          </a:solidFill>
          <a:ln w="12700">
            <a:solidFill>
              <a:srgbClr val="0B2545"/>
            </a:solidFill>
            <a:prstDash val="solid"/>
          </a:ln>
        </p:spPr>
      </p:sp>
      <p:sp>
        <p:nvSpPr>
          <p:cNvPr id="16" name="Text 13"/>
          <p:cNvSpPr/>
          <p:nvPr/>
        </p:nvSpPr>
        <p:spPr>
          <a:xfrm>
            <a:off x="1769364"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D</a:t>
            </a:r>
            <a:endParaRPr lang="en-US" sz="1100" dirty="0"/>
          </a:p>
        </p:txBody>
      </p:sp>
      <p:sp>
        <p:nvSpPr>
          <p:cNvPr id="17" name="Shape 14"/>
          <p:cNvSpPr/>
          <p:nvPr/>
        </p:nvSpPr>
        <p:spPr>
          <a:xfrm>
            <a:off x="2176272" y="4407408"/>
            <a:ext cx="379476" cy="457200"/>
          </a:xfrm>
          <a:prstGeom prst="rect">
            <a:avLst/>
          </a:prstGeom>
          <a:solidFill>
            <a:srgbClr val="FFFFFF"/>
          </a:solidFill>
          <a:ln w="12700">
            <a:solidFill>
              <a:srgbClr val="0B2545"/>
            </a:solidFill>
            <a:prstDash val="solid"/>
          </a:ln>
        </p:spPr>
      </p:sp>
      <p:sp>
        <p:nvSpPr>
          <p:cNvPr id="18" name="Text 15"/>
          <p:cNvSpPr/>
          <p:nvPr/>
        </p:nvSpPr>
        <p:spPr>
          <a:xfrm>
            <a:off x="2176272"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E</a:t>
            </a:r>
            <a:endParaRPr lang="en-US" sz="1100" dirty="0"/>
          </a:p>
        </p:txBody>
      </p:sp>
      <p:sp>
        <p:nvSpPr>
          <p:cNvPr id="19" name="Shape 16"/>
          <p:cNvSpPr/>
          <p:nvPr/>
        </p:nvSpPr>
        <p:spPr>
          <a:xfrm>
            <a:off x="2583180" y="4407408"/>
            <a:ext cx="379476" cy="457200"/>
          </a:xfrm>
          <a:prstGeom prst="rect">
            <a:avLst/>
          </a:prstGeom>
          <a:solidFill>
            <a:srgbClr val="FFFFFF"/>
          </a:solidFill>
          <a:ln w="12700">
            <a:solidFill>
              <a:srgbClr val="0B2545"/>
            </a:solidFill>
            <a:prstDash val="solid"/>
          </a:ln>
        </p:spPr>
      </p:sp>
      <p:sp>
        <p:nvSpPr>
          <p:cNvPr id="20" name="Text 17"/>
          <p:cNvSpPr/>
          <p:nvPr/>
        </p:nvSpPr>
        <p:spPr>
          <a:xfrm>
            <a:off x="2583180"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F</a:t>
            </a:r>
            <a:endParaRPr lang="en-US" sz="1100" dirty="0"/>
          </a:p>
        </p:txBody>
      </p:sp>
      <p:sp>
        <p:nvSpPr>
          <p:cNvPr id="21" name="Shape 18"/>
          <p:cNvSpPr/>
          <p:nvPr/>
        </p:nvSpPr>
        <p:spPr>
          <a:xfrm>
            <a:off x="2990088" y="4407408"/>
            <a:ext cx="379476" cy="457200"/>
          </a:xfrm>
          <a:prstGeom prst="rect">
            <a:avLst/>
          </a:prstGeom>
          <a:solidFill>
            <a:srgbClr val="FFFFFF"/>
          </a:solidFill>
          <a:ln w="12700">
            <a:solidFill>
              <a:srgbClr val="0B2545"/>
            </a:solidFill>
            <a:prstDash val="solid"/>
          </a:ln>
        </p:spPr>
      </p:sp>
      <p:sp>
        <p:nvSpPr>
          <p:cNvPr id="22" name="Text 19"/>
          <p:cNvSpPr/>
          <p:nvPr/>
        </p:nvSpPr>
        <p:spPr>
          <a:xfrm>
            <a:off x="2990088"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G</a:t>
            </a:r>
            <a:endParaRPr lang="en-US" sz="1100" dirty="0"/>
          </a:p>
        </p:txBody>
      </p:sp>
      <p:sp>
        <p:nvSpPr>
          <p:cNvPr id="23" name="Shape 20"/>
          <p:cNvSpPr/>
          <p:nvPr/>
        </p:nvSpPr>
        <p:spPr>
          <a:xfrm>
            <a:off x="3396996" y="4407408"/>
            <a:ext cx="379476" cy="457200"/>
          </a:xfrm>
          <a:prstGeom prst="rect">
            <a:avLst/>
          </a:prstGeom>
          <a:solidFill>
            <a:srgbClr val="FFFFFF"/>
          </a:solidFill>
          <a:ln w="12700">
            <a:solidFill>
              <a:srgbClr val="0B2545"/>
            </a:solidFill>
            <a:prstDash val="solid"/>
          </a:ln>
        </p:spPr>
      </p:sp>
      <p:sp>
        <p:nvSpPr>
          <p:cNvPr id="24" name="Text 21"/>
          <p:cNvSpPr/>
          <p:nvPr/>
        </p:nvSpPr>
        <p:spPr>
          <a:xfrm>
            <a:off x="3396996"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H</a:t>
            </a:r>
            <a:endParaRPr lang="en-US" sz="1100" dirty="0"/>
          </a:p>
        </p:txBody>
      </p:sp>
      <p:sp>
        <p:nvSpPr>
          <p:cNvPr id="25" name="Shape 22"/>
          <p:cNvSpPr/>
          <p:nvPr/>
        </p:nvSpPr>
        <p:spPr>
          <a:xfrm>
            <a:off x="3803904" y="4407408"/>
            <a:ext cx="379476" cy="457200"/>
          </a:xfrm>
          <a:prstGeom prst="rect">
            <a:avLst/>
          </a:prstGeom>
          <a:solidFill>
            <a:srgbClr val="FFFFFF"/>
          </a:solidFill>
          <a:ln w="12700">
            <a:solidFill>
              <a:srgbClr val="0B2545"/>
            </a:solidFill>
            <a:prstDash val="solid"/>
          </a:ln>
        </p:spPr>
      </p:sp>
      <p:sp>
        <p:nvSpPr>
          <p:cNvPr id="26" name="Text 23"/>
          <p:cNvSpPr/>
          <p:nvPr/>
        </p:nvSpPr>
        <p:spPr>
          <a:xfrm>
            <a:off x="3803904"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I</a:t>
            </a:r>
            <a:endParaRPr lang="en-US" sz="1100" dirty="0"/>
          </a:p>
        </p:txBody>
      </p:sp>
      <p:sp>
        <p:nvSpPr>
          <p:cNvPr id="27" name="Shape 24"/>
          <p:cNvSpPr/>
          <p:nvPr/>
        </p:nvSpPr>
        <p:spPr>
          <a:xfrm>
            <a:off x="4210812" y="4407408"/>
            <a:ext cx="379476" cy="457200"/>
          </a:xfrm>
          <a:prstGeom prst="rect">
            <a:avLst/>
          </a:prstGeom>
          <a:solidFill>
            <a:srgbClr val="FFFFFF"/>
          </a:solidFill>
          <a:ln w="12700">
            <a:solidFill>
              <a:srgbClr val="0B2545"/>
            </a:solidFill>
            <a:prstDash val="solid"/>
          </a:ln>
        </p:spPr>
      </p:sp>
      <p:sp>
        <p:nvSpPr>
          <p:cNvPr id="28" name="Text 25"/>
          <p:cNvSpPr/>
          <p:nvPr/>
        </p:nvSpPr>
        <p:spPr>
          <a:xfrm>
            <a:off x="4210812"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J</a:t>
            </a:r>
            <a:endParaRPr lang="en-US" sz="1100" dirty="0"/>
          </a:p>
        </p:txBody>
      </p:sp>
      <p:sp>
        <p:nvSpPr>
          <p:cNvPr id="29" name="Shape 26"/>
          <p:cNvSpPr/>
          <p:nvPr/>
        </p:nvSpPr>
        <p:spPr>
          <a:xfrm>
            <a:off x="4617720" y="4407408"/>
            <a:ext cx="379476" cy="457200"/>
          </a:xfrm>
          <a:prstGeom prst="rect">
            <a:avLst/>
          </a:prstGeom>
          <a:solidFill>
            <a:srgbClr val="FFFFFF"/>
          </a:solidFill>
          <a:ln w="12700">
            <a:solidFill>
              <a:srgbClr val="0B2545"/>
            </a:solidFill>
            <a:prstDash val="solid"/>
          </a:ln>
        </p:spPr>
      </p:sp>
      <p:sp>
        <p:nvSpPr>
          <p:cNvPr id="30" name="Text 27"/>
          <p:cNvSpPr/>
          <p:nvPr/>
        </p:nvSpPr>
        <p:spPr>
          <a:xfrm>
            <a:off x="4617720"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K</a:t>
            </a:r>
            <a:endParaRPr lang="en-US" sz="1100" dirty="0"/>
          </a:p>
        </p:txBody>
      </p:sp>
      <p:sp>
        <p:nvSpPr>
          <p:cNvPr id="31" name="Shape 28"/>
          <p:cNvSpPr/>
          <p:nvPr/>
        </p:nvSpPr>
        <p:spPr>
          <a:xfrm>
            <a:off x="5024628" y="4407408"/>
            <a:ext cx="379476" cy="457200"/>
          </a:xfrm>
          <a:prstGeom prst="rect">
            <a:avLst/>
          </a:prstGeom>
          <a:solidFill>
            <a:srgbClr val="FFFFFF"/>
          </a:solidFill>
          <a:ln w="12700">
            <a:solidFill>
              <a:srgbClr val="0B2545"/>
            </a:solidFill>
            <a:prstDash val="solid"/>
          </a:ln>
        </p:spPr>
      </p:sp>
      <p:sp>
        <p:nvSpPr>
          <p:cNvPr id="32" name="Text 29"/>
          <p:cNvSpPr/>
          <p:nvPr/>
        </p:nvSpPr>
        <p:spPr>
          <a:xfrm>
            <a:off x="5024628"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L</a:t>
            </a:r>
            <a:endParaRPr lang="en-US" sz="1100" dirty="0"/>
          </a:p>
        </p:txBody>
      </p:sp>
      <p:sp>
        <p:nvSpPr>
          <p:cNvPr id="33" name="Shape 30"/>
          <p:cNvSpPr/>
          <p:nvPr/>
        </p:nvSpPr>
        <p:spPr>
          <a:xfrm>
            <a:off x="5431536" y="4407408"/>
            <a:ext cx="379476" cy="457200"/>
          </a:xfrm>
          <a:prstGeom prst="rect">
            <a:avLst/>
          </a:prstGeom>
          <a:solidFill>
            <a:srgbClr val="FFFFFF"/>
          </a:solidFill>
          <a:ln w="12700">
            <a:solidFill>
              <a:srgbClr val="0B2545"/>
            </a:solidFill>
            <a:prstDash val="solid"/>
          </a:ln>
        </p:spPr>
      </p:sp>
      <p:sp>
        <p:nvSpPr>
          <p:cNvPr id="34" name="Text 31"/>
          <p:cNvSpPr/>
          <p:nvPr/>
        </p:nvSpPr>
        <p:spPr>
          <a:xfrm>
            <a:off x="5431536"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M</a:t>
            </a:r>
            <a:endParaRPr lang="en-US" sz="1100" dirty="0"/>
          </a:p>
        </p:txBody>
      </p:sp>
      <p:sp>
        <p:nvSpPr>
          <p:cNvPr id="35" name="Shape 32"/>
          <p:cNvSpPr/>
          <p:nvPr/>
        </p:nvSpPr>
        <p:spPr>
          <a:xfrm>
            <a:off x="5838444" y="4407408"/>
            <a:ext cx="379476" cy="457200"/>
          </a:xfrm>
          <a:prstGeom prst="rect">
            <a:avLst/>
          </a:prstGeom>
          <a:solidFill>
            <a:srgbClr val="FFFFFF"/>
          </a:solidFill>
          <a:ln w="12700">
            <a:solidFill>
              <a:srgbClr val="0B2545"/>
            </a:solidFill>
            <a:prstDash val="solid"/>
          </a:ln>
        </p:spPr>
      </p:sp>
      <p:sp>
        <p:nvSpPr>
          <p:cNvPr id="36" name="Text 33"/>
          <p:cNvSpPr/>
          <p:nvPr/>
        </p:nvSpPr>
        <p:spPr>
          <a:xfrm>
            <a:off x="5838444"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N</a:t>
            </a:r>
            <a:endParaRPr lang="en-US" sz="1100" dirty="0"/>
          </a:p>
        </p:txBody>
      </p:sp>
      <p:sp>
        <p:nvSpPr>
          <p:cNvPr id="37" name="Shape 34"/>
          <p:cNvSpPr/>
          <p:nvPr/>
        </p:nvSpPr>
        <p:spPr>
          <a:xfrm>
            <a:off x="6245352" y="4407408"/>
            <a:ext cx="379476" cy="457200"/>
          </a:xfrm>
          <a:prstGeom prst="rect">
            <a:avLst/>
          </a:prstGeom>
          <a:solidFill>
            <a:srgbClr val="FFFFFF"/>
          </a:solidFill>
          <a:ln w="12700">
            <a:solidFill>
              <a:srgbClr val="0B2545"/>
            </a:solidFill>
            <a:prstDash val="solid"/>
          </a:ln>
        </p:spPr>
      </p:sp>
      <p:sp>
        <p:nvSpPr>
          <p:cNvPr id="38" name="Text 35"/>
          <p:cNvSpPr/>
          <p:nvPr/>
        </p:nvSpPr>
        <p:spPr>
          <a:xfrm>
            <a:off x="6245352"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O</a:t>
            </a:r>
            <a:endParaRPr lang="en-US" sz="1100" dirty="0"/>
          </a:p>
        </p:txBody>
      </p:sp>
      <p:sp>
        <p:nvSpPr>
          <p:cNvPr id="39" name="Shape 36"/>
          <p:cNvSpPr/>
          <p:nvPr/>
        </p:nvSpPr>
        <p:spPr>
          <a:xfrm>
            <a:off x="6652260" y="4407408"/>
            <a:ext cx="379476" cy="457200"/>
          </a:xfrm>
          <a:prstGeom prst="rect">
            <a:avLst/>
          </a:prstGeom>
          <a:solidFill>
            <a:srgbClr val="FFFFFF"/>
          </a:solidFill>
          <a:ln w="12700">
            <a:solidFill>
              <a:srgbClr val="0B2545"/>
            </a:solidFill>
            <a:prstDash val="solid"/>
          </a:ln>
        </p:spPr>
      </p:sp>
      <p:sp>
        <p:nvSpPr>
          <p:cNvPr id="40" name="Text 37"/>
          <p:cNvSpPr/>
          <p:nvPr/>
        </p:nvSpPr>
        <p:spPr>
          <a:xfrm>
            <a:off x="6652260"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P</a:t>
            </a:r>
            <a:endParaRPr lang="en-US" sz="1100" dirty="0"/>
          </a:p>
        </p:txBody>
      </p:sp>
      <p:sp>
        <p:nvSpPr>
          <p:cNvPr id="41" name="Shape 38"/>
          <p:cNvSpPr/>
          <p:nvPr/>
        </p:nvSpPr>
        <p:spPr>
          <a:xfrm>
            <a:off x="7059168" y="4407408"/>
            <a:ext cx="379476" cy="457200"/>
          </a:xfrm>
          <a:prstGeom prst="rect">
            <a:avLst/>
          </a:prstGeom>
          <a:solidFill>
            <a:srgbClr val="FFFFFF"/>
          </a:solidFill>
          <a:ln w="12700">
            <a:solidFill>
              <a:srgbClr val="0B2545"/>
            </a:solidFill>
            <a:prstDash val="solid"/>
          </a:ln>
        </p:spPr>
      </p:sp>
      <p:sp>
        <p:nvSpPr>
          <p:cNvPr id="42" name="Text 39"/>
          <p:cNvSpPr/>
          <p:nvPr/>
        </p:nvSpPr>
        <p:spPr>
          <a:xfrm>
            <a:off x="7059168"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Q</a:t>
            </a:r>
            <a:endParaRPr lang="en-US" sz="1100" dirty="0"/>
          </a:p>
        </p:txBody>
      </p:sp>
      <p:sp>
        <p:nvSpPr>
          <p:cNvPr id="43" name="Shape 40"/>
          <p:cNvSpPr/>
          <p:nvPr/>
        </p:nvSpPr>
        <p:spPr>
          <a:xfrm>
            <a:off x="7466076" y="4407408"/>
            <a:ext cx="379476" cy="457200"/>
          </a:xfrm>
          <a:prstGeom prst="rect">
            <a:avLst/>
          </a:prstGeom>
          <a:solidFill>
            <a:srgbClr val="FFFFFF"/>
          </a:solidFill>
          <a:ln w="12700">
            <a:solidFill>
              <a:srgbClr val="0B2545"/>
            </a:solidFill>
            <a:prstDash val="solid"/>
          </a:ln>
        </p:spPr>
      </p:sp>
      <p:sp>
        <p:nvSpPr>
          <p:cNvPr id="44" name="Text 41"/>
          <p:cNvSpPr/>
          <p:nvPr/>
        </p:nvSpPr>
        <p:spPr>
          <a:xfrm>
            <a:off x="7466076"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R</a:t>
            </a:r>
            <a:endParaRPr lang="en-US" sz="1100" dirty="0"/>
          </a:p>
        </p:txBody>
      </p:sp>
      <p:sp>
        <p:nvSpPr>
          <p:cNvPr id="45" name="Shape 42"/>
          <p:cNvSpPr/>
          <p:nvPr/>
        </p:nvSpPr>
        <p:spPr>
          <a:xfrm>
            <a:off x="7872984" y="4407408"/>
            <a:ext cx="379476" cy="457200"/>
          </a:xfrm>
          <a:prstGeom prst="rect">
            <a:avLst/>
          </a:prstGeom>
          <a:solidFill>
            <a:srgbClr val="FFFFFF"/>
          </a:solidFill>
          <a:ln w="12700">
            <a:solidFill>
              <a:srgbClr val="0B2545"/>
            </a:solidFill>
            <a:prstDash val="solid"/>
          </a:ln>
        </p:spPr>
      </p:sp>
      <p:sp>
        <p:nvSpPr>
          <p:cNvPr id="46" name="Text 43"/>
          <p:cNvSpPr/>
          <p:nvPr/>
        </p:nvSpPr>
        <p:spPr>
          <a:xfrm>
            <a:off x="7872984"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S</a:t>
            </a:r>
            <a:endParaRPr lang="en-US" sz="1100" dirty="0"/>
          </a:p>
        </p:txBody>
      </p:sp>
      <p:sp>
        <p:nvSpPr>
          <p:cNvPr id="47" name="Shape 44"/>
          <p:cNvSpPr/>
          <p:nvPr/>
        </p:nvSpPr>
        <p:spPr>
          <a:xfrm>
            <a:off x="8279892" y="4407408"/>
            <a:ext cx="379476" cy="457200"/>
          </a:xfrm>
          <a:prstGeom prst="rect">
            <a:avLst/>
          </a:prstGeom>
          <a:solidFill>
            <a:srgbClr val="FFFFFF"/>
          </a:solidFill>
          <a:ln w="12700">
            <a:solidFill>
              <a:srgbClr val="0B2545"/>
            </a:solidFill>
            <a:prstDash val="solid"/>
          </a:ln>
        </p:spPr>
      </p:sp>
      <p:sp>
        <p:nvSpPr>
          <p:cNvPr id="48" name="Text 45"/>
          <p:cNvSpPr/>
          <p:nvPr/>
        </p:nvSpPr>
        <p:spPr>
          <a:xfrm>
            <a:off x="8279892"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T</a:t>
            </a:r>
            <a:endParaRPr lang="en-US" sz="1100" dirty="0"/>
          </a:p>
        </p:txBody>
      </p:sp>
      <p:sp>
        <p:nvSpPr>
          <p:cNvPr id="49" name="Shape 46"/>
          <p:cNvSpPr/>
          <p:nvPr/>
        </p:nvSpPr>
        <p:spPr>
          <a:xfrm>
            <a:off x="8686800" y="4407408"/>
            <a:ext cx="379476" cy="457200"/>
          </a:xfrm>
          <a:prstGeom prst="rect">
            <a:avLst/>
          </a:prstGeom>
          <a:solidFill>
            <a:srgbClr val="FFFFFF"/>
          </a:solidFill>
          <a:ln w="12700">
            <a:solidFill>
              <a:srgbClr val="0B2545"/>
            </a:solidFill>
            <a:prstDash val="solid"/>
          </a:ln>
        </p:spPr>
      </p:sp>
      <p:sp>
        <p:nvSpPr>
          <p:cNvPr id="50" name="Text 47"/>
          <p:cNvSpPr/>
          <p:nvPr/>
        </p:nvSpPr>
        <p:spPr>
          <a:xfrm>
            <a:off x="8686800"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U</a:t>
            </a:r>
            <a:endParaRPr lang="en-US" sz="1100" dirty="0"/>
          </a:p>
        </p:txBody>
      </p:sp>
      <p:sp>
        <p:nvSpPr>
          <p:cNvPr id="51" name="Shape 48"/>
          <p:cNvSpPr/>
          <p:nvPr/>
        </p:nvSpPr>
        <p:spPr>
          <a:xfrm>
            <a:off x="9093708" y="4407408"/>
            <a:ext cx="379476" cy="457200"/>
          </a:xfrm>
          <a:prstGeom prst="rect">
            <a:avLst/>
          </a:prstGeom>
          <a:solidFill>
            <a:srgbClr val="FFFFFF"/>
          </a:solidFill>
          <a:ln w="12700">
            <a:solidFill>
              <a:srgbClr val="0B2545"/>
            </a:solidFill>
            <a:prstDash val="solid"/>
          </a:ln>
        </p:spPr>
      </p:sp>
      <p:sp>
        <p:nvSpPr>
          <p:cNvPr id="52" name="Text 49"/>
          <p:cNvSpPr/>
          <p:nvPr/>
        </p:nvSpPr>
        <p:spPr>
          <a:xfrm>
            <a:off x="9093708"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V</a:t>
            </a:r>
            <a:endParaRPr lang="en-US" sz="1100" dirty="0"/>
          </a:p>
        </p:txBody>
      </p:sp>
      <p:sp>
        <p:nvSpPr>
          <p:cNvPr id="53" name="Shape 50"/>
          <p:cNvSpPr/>
          <p:nvPr/>
        </p:nvSpPr>
        <p:spPr>
          <a:xfrm>
            <a:off x="9500616" y="4407408"/>
            <a:ext cx="379476" cy="457200"/>
          </a:xfrm>
          <a:prstGeom prst="rect">
            <a:avLst/>
          </a:prstGeom>
          <a:solidFill>
            <a:srgbClr val="FFFFFF"/>
          </a:solidFill>
          <a:ln w="12700">
            <a:solidFill>
              <a:srgbClr val="0B2545"/>
            </a:solidFill>
            <a:prstDash val="solid"/>
          </a:ln>
        </p:spPr>
      </p:sp>
      <p:sp>
        <p:nvSpPr>
          <p:cNvPr id="54" name="Text 51"/>
          <p:cNvSpPr/>
          <p:nvPr/>
        </p:nvSpPr>
        <p:spPr>
          <a:xfrm>
            <a:off x="9500616"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W</a:t>
            </a:r>
            <a:endParaRPr lang="en-US" sz="1100" dirty="0"/>
          </a:p>
        </p:txBody>
      </p:sp>
      <p:sp>
        <p:nvSpPr>
          <p:cNvPr id="55" name="Shape 52"/>
          <p:cNvSpPr/>
          <p:nvPr/>
        </p:nvSpPr>
        <p:spPr>
          <a:xfrm>
            <a:off x="9907524" y="4407408"/>
            <a:ext cx="379476" cy="457200"/>
          </a:xfrm>
          <a:prstGeom prst="rect">
            <a:avLst/>
          </a:prstGeom>
          <a:solidFill>
            <a:srgbClr val="FFFFFF"/>
          </a:solidFill>
          <a:ln w="12700">
            <a:solidFill>
              <a:srgbClr val="0B2545"/>
            </a:solidFill>
            <a:prstDash val="solid"/>
          </a:ln>
        </p:spPr>
      </p:sp>
      <p:sp>
        <p:nvSpPr>
          <p:cNvPr id="56" name="Text 53"/>
          <p:cNvSpPr/>
          <p:nvPr/>
        </p:nvSpPr>
        <p:spPr>
          <a:xfrm>
            <a:off x="9907524"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X</a:t>
            </a:r>
            <a:endParaRPr lang="en-US" sz="1100" dirty="0"/>
          </a:p>
        </p:txBody>
      </p:sp>
      <p:sp>
        <p:nvSpPr>
          <p:cNvPr id="57" name="Shape 54"/>
          <p:cNvSpPr/>
          <p:nvPr/>
        </p:nvSpPr>
        <p:spPr>
          <a:xfrm>
            <a:off x="10314432" y="4407408"/>
            <a:ext cx="379476" cy="457200"/>
          </a:xfrm>
          <a:prstGeom prst="rect">
            <a:avLst/>
          </a:prstGeom>
          <a:solidFill>
            <a:srgbClr val="FFFFFF"/>
          </a:solidFill>
          <a:ln w="12700">
            <a:solidFill>
              <a:srgbClr val="0B2545"/>
            </a:solidFill>
            <a:prstDash val="solid"/>
          </a:ln>
        </p:spPr>
      </p:sp>
      <p:sp>
        <p:nvSpPr>
          <p:cNvPr id="58" name="Text 55"/>
          <p:cNvSpPr/>
          <p:nvPr/>
        </p:nvSpPr>
        <p:spPr>
          <a:xfrm>
            <a:off x="10314432"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Y</a:t>
            </a:r>
            <a:endParaRPr lang="en-US" sz="1100" dirty="0"/>
          </a:p>
        </p:txBody>
      </p:sp>
      <p:sp>
        <p:nvSpPr>
          <p:cNvPr id="59" name="Shape 56"/>
          <p:cNvSpPr/>
          <p:nvPr/>
        </p:nvSpPr>
        <p:spPr>
          <a:xfrm>
            <a:off x="10721340" y="4407408"/>
            <a:ext cx="379476" cy="457200"/>
          </a:xfrm>
          <a:prstGeom prst="rect">
            <a:avLst/>
          </a:prstGeom>
          <a:solidFill>
            <a:srgbClr val="FFFFFF"/>
          </a:solidFill>
          <a:ln w="12700">
            <a:solidFill>
              <a:srgbClr val="0B2545"/>
            </a:solidFill>
            <a:prstDash val="solid"/>
          </a:ln>
        </p:spPr>
      </p:sp>
      <p:sp>
        <p:nvSpPr>
          <p:cNvPr id="60" name="Text 57"/>
          <p:cNvSpPr/>
          <p:nvPr/>
        </p:nvSpPr>
        <p:spPr>
          <a:xfrm>
            <a:off x="10721340" y="4407408"/>
            <a:ext cx="379476" cy="45720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Z</a:t>
            </a:r>
            <a:endParaRPr lang="en-US" sz="1100" dirty="0"/>
          </a:p>
        </p:txBody>
      </p:sp>
      <p:sp>
        <p:nvSpPr>
          <p:cNvPr id="61" name="Text 58"/>
          <p:cNvSpPr/>
          <p:nvPr/>
        </p:nvSpPr>
        <p:spPr>
          <a:xfrm>
            <a:off x="548640" y="4919472"/>
            <a:ext cx="2743200" cy="228600"/>
          </a:xfrm>
          <a:prstGeom prst="rect">
            <a:avLst/>
          </a:prstGeom>
          <a:noFill/>
          <a:ln/>
        </p:spPr>
        <p:txBody>
          <a:bodyPr wrap="square" rtlCol="0" anchor="ctr"/>
          <a:lstStyle/>
          <a:p>
            <a:pPr marL="0" indent="0">
              <a:buNone/>
            </a:pPr>
            <a:r>
              <a:rPr lang="en-US" sz="1000" dirty="0">
                <a:solidFill>
                  <a:srgbClr val="5A6B7B"/>
                </a:solidFill>
                <a:latin typeface="Calibri" pitchFamily="34" charset="0"/>
                <a:ea typeface="Calibri" pitchFamily="34" charset="-122"/>
                <a:cs typeface="Calibri" pitchFamily="34" charset="-120"/>
              </a:rPr>
              <a:t>cipher alphabet</a:t>
            </a:r>
            <a:endParaRPr lang="en-US" sz="1000" dirty="0"/>
          </a:p>
        </p:txBody>
      </p:sp>
      <p:sp>
        <p:nvSpPr>
          <p:cNvPr id="62" name="Shape 59"/>
          <p:cNvSpPr/>
          <p:nvPr/>
        </p:nvSpPr>
        <p:spPr>
          <a:xfrm>
            <a:off x="548640" y="5166360"/>
            <a:ext cx="379476" cy="457200"/>
          </a:xfrm>
          <a:prstGeom prst="rect">
            <a:avLst/>
          </a:prstGeom>
          <a:solidFill>
            <a:srgbClr val="5FBFF9"/>
          </a:solidFill>
          <a:ln w="12700">
            <a:solidFill>
              <a:srgbClr val="0B2545"/>
            </a:solidFill>
            <a:prstDash val="solid"/>
          </a:ln>
        </p:spPr>
      </p:sp>
      <p:sp>
        <p:nvSpPr>
          <p:cNvPr id="63" name="Text 60"/>
          <p:cNvSpPr/>
          <p:nvPr/>
        </p:nvSpPr>
        <p:spPr>
          <a:xfrm>
            <a:off x="548640"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K</a:t>
            </a:r>
            <a:endParaRPr lang="en-US" sz="1100" dirty="0"/>
          </a:p>
        </p:txBody>
      </p:sp>
      <p:sp>
        <p:nvSpPr>
          <p:cNvPr id="64" name="Shape 61"/>
          <p:cNvSpPr/>
          <p:nvPr/>
        </p:nvSpPr>
        <p:spPr>
          <a:xfrm>
            <a:off x="955548" y="5166360"/>
            <a:ext cx="379476" cy="457200"/>
          </a:xfrm>
          <a:prstGeom prst="rect">
            <a:avLst/>
          </a:prstGeom>
          <a:solidFill>
            <a:srgbClr val="5FBFF9"/>
          </a:solidFill>
          <a:ln w="12700">
            <a:solidFill>
              <a:srgbClr val="0B2545"/>
            </a:solidFill>
            <a:prstDash val="solid"/>
          </a:ln>
        </p:spPr>
      </p:sp>
      <p:sp>
        <p:nvSpPr>
          <p:cNvPr id="65" name="Text 62"/>
          <p:cNvSpPr/>
          <p:nvPr/>
        </p:nvSpPr>
        <p:spPr>
          <a:xfrm>
            <a:off x="955548"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E</a:t>
            </a:r>
            <a:endParaRPr lang="en-US" sz="1100" dirty="0"/>
          </a:p>
        </p:txBody>
      </p:sp>
      <p:sp>
        <p:nvSpPr>
          <p:cNvPr id="66" name="Shape 63"/>
          <p:cNvSpPr/>
          <p:nvPr/>
        </p:nvSpPr>
        <p:spPr>
          <a:xfrm>
            <a:off x="1362456" y="5166360"/>
            <a:ext cx="379476" cy="457200"/>
          </a:xfrm>
          <a:prstGeom prst="rect">
            <a:avLst/>
          </a:prstGeom>
          <a:solidFill>
            <a:srgbClr val="5FBFF9"/>
          </a:solidFill>
          <a:ln w="12700">
            <a:solidFill>
              <a:srgbClr val="0B2545"/>
            </a:solidFill>
            <a:prstDash val="solid"/>
          </a:ln>
        </p:spPr>
      </p:sp>
      <p:sp>
        <p:nvSpPr>
          <p:cNvPr id="67" name="Text 64"/>
          <p:cNvSpPr/>
          <p:nvPr/>
        </p:nvSpPr>
        <p:spPr>
          <a:xfrm>
            <a:off x="1362456"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Y</a:t>
            </a:r>
            <a:endParaRPr lang="en-US" sz="1100" dirty="0"/>
          </a:p>
        </p:txBody>
      </p:sp>
      <p:sp>
        <p:nvSpPr>
          <p:cNvPr id="68" name="Shape 65"/>
          <p:cNvSpPr/>
          <p:nvPr/>
        </p:nvSpPr>
        <p:spPr>
          <a:xfrm>
            <a:off x="1769364" y="5166360"/>
            <a:ext cx="379476" cy="457200"/>
          </a:xfrm>
          <a:prstGeom prst="rect">
            <a:avLst/>
          </a:prstGeom>
          <a:solidFill>
            <a:srgbClr val="5FBFF9"/>
          </a:solidFill>
          <a:ln w="12700">
            <a:solidFill>
              <a:srgbClr val="0B2545"/>
            </a:solidFill>
            <a:prstDash val="solid"/>
          </a:ln>
        </p:spPr>
      </p:sp>
      <p:sp>
        <p:nvSpPr>
          <p:cNvPr id="69" name="Text 66"/>
          <p:cNvSpPr/>
          <p:nvPr/>
        </p:nvSpPr>
        <p:spPr>
          <a:xfrm>
            <a:off x="1769364"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W</a:t>
            </a:r>
            <a:endParaRPr lang="en-US" sz="1100" dirty="0"/>
          </a:p>
        </p:txBody>
      </p:sp>
      <p:sp>
        <p:nvSpPr>
          <p:cNvPr id="70" name="Shape 67"/>
          <p:cNvSpPr/>
          <p:nvPr/>
        </p:nvSpPr>
        <p:spPr>
          <a:xfrm>
            <a:off x="2176272" y="5166360"/>
            <a:ext cx="379476" cy="457200"/>
          </a:xfrm>
          <a:prstGeom prst="rect">
            <a:avLst/>
          </a:prstGeom>
          <a:solidFill>
            <a:srgbClr val="5FBFF9"/>
          </a:solidFill>
          <a:ln w="12700">
            <a:solidFill>
              <a:srgbClr val="0B2545"/>
            </a:solidFill>
            <a:prstDash val="solid"/>
          </a:ln>
        </p:spPr>
      </p:sp>
      <p:sp>
        <p:nvSpPr>
          <p:cNvPr id="71" name="Text 68"/>
          <p:cNvSpPr/>
          <p:nvPr/>
        </p:nvSpPr>
        <p:spPr>
          <a:xfrm>
            <a:off x="2176272"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O</a:t>
            </a:r>
            <a:endParaRPr lang="en-US" sz="1100" dirty="0"/>
          </a:p>
        </p:txBody>
      </p:sp>
      <p:sp>
        <p:nvSpPr>
          <p:cNvPr id="72" name="Shape 69"/>
          <p:cNvSpPr/>
          <p:nvPr/>
        </p:nvSpPr>
        <p:spPr>
          <a:xfrm>
            <a:off x="2583180" y="5166360"/>
            <a:ext cx="379476" cy="457200"/>
          </a:xfrm>
          <a:prstGeom prst="rect">
            <a:avLst/>
          </a:prstGeom>
          <a:solidFill>
            <a:srgbClr val="5FBFF9"/>
          </a:solidFill>
          <a:ln w="12700">
            <a:solidFill>
              <a:srgbClr val="0B2545"/>
            </a:solidFill>
            <a:prstDash val="solid"/>
          </a:ln>
        </p:spPr>
      </p:sp>
      <p:sp>
        <p:nvSpPr>
          <p:cNvPr id="73" name="Text 70"/>
          <p:cNvSpPr/>
          <p:nvPr/>
        </p:nvSpPr>
        <p:spPr>
          <a:xfrm>
            <a:off x="2583180"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R</a:t>
            </a:r>
            <a:endParaRPr lang="en-US" sz="1100" dirty="0"/>
          </a:p>
        </p:txBody>
      </p:sp>
      <p:sp>
        <p:nvSpPr>
          <p:cNvPr id="74" name="Shape 71"/>
          <p:cNvSpPr/>
          <p:nvPr/>
        </p:nvSpPr>
        <p:spPr>
          <a:xfrm>
            <a:off x="2990088" y="5166360"/>
            <a:ext cx="379476" cy="457200"/>
          </a:xfrm>
          <a:prstGeom prst="rect">
            <a:avLst/>
          </a:prstGeom>
          <a:solidFill>
            <a:srgbClr val="5FBFF9"/>
          </a:solidFill>
          <a:ln w="12700">
            <a:solidFill>
              <a:srgbClr val="0B2545"/>
            </a:solidFill>
            <a:prstDash val="solid"/>
          </a:ln>
        </p:spPr>
      </p:sp>
      <p:sp>
        <p:nvSpPr>
          <p:cNvPr id="75" name="Text 72"/>
          <p:cNvSpPr/>
          <p:nvPr/>
        </p:nvSpPr>
        <p:spPr>
          <a:xfrm>
            <a:off x="2990088" y="5166360"/>
            <a:ext cx="379476" cy="457200"/>
          </a:xfrm>
          <a:prstGeom prst="rect">
            <a:avLst/>
          </a:prstGeom>
          <a:noFill/>
          <a:ln/>
        </p:spPr>
        <p:txBody>
          <a:bodyPr wrap="square" rtlCol="0" anchor="ctr"/>
          <a:lstStyle/>
          <a:p>
            <a:pPr marL="0" indent="0" algn="ctr">
              <a:buNone/>
            </a:pPr>
            <a:r>
              <a:rPr lang="en-US" sz="1100" b="1" dirty="0">
                <a:solidFill>
                  <a:srgbClr val="0B2545"/>
                </a:solidFill>
                <a:latin typeface="Courier New" pitchFamily="34" charset="0"/>
                <a:ea typeface="Courier New" pitchFamily="34" charset="-122"/>
                <a:cs typeface="Courier New" pitchFamily="34" charset="-120"/>
              </a:rPr>
              <a:t>D</a:t>
            </a:r>
            <a:endParaRPr lang="en-US" sz="1100" dirty="0"/>
          </a:p>
        </p:txBody>
      </p:sp>
      <p:sp>
        <p:nvSpPr>
          <p:cNvPr id="76" name="Shape 73"/>
          <p:cNvSpPr/>
          <p:nvPr/>
        </p:nvSpPr>
        <p:spPr>
          <a:xfrm>
            <a:off x="3396996" y="5166360"/>
            <a:ext cx="379476" cy="457200"/>
          </a:xfrm>
          <a:prstGeom prst="rect">
            <a:avLst/>
          </a:prstGeom>
          <a:solidFill>
            <a:srgbClr val="0B2545"/>
          </a:solidFill>
          <a:ln w="12700">
            <a:solidFill>
              <a:srgbClr val="0B2545"/>
            </a:solidFill>
            <a:prstDash val="solid"/>
          </a:ln>
        </p:spPr>
      </p:sp>
      <p:sp>
        <p:nvSpPr>
          <p:cNvPr id="77" name="Text 74"/>
          <p:cNvSpPr/>
          <p:nvPr/>
        </p:nvSpPr>
        <p:spPr>
          <a:xfrm>
            <a:off x="3396996"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78" name="Shape 75"/>
          <p:cNvSpPr/>
          <p:nvPr/>
        </p:nvSpPr>
        <p:spPr>
          <a:xfrm>
            <a:off x="3803904" y="5166360"/>
            <a:ext cx="379476" cy="457200"/>
          </a:xfrm>
          <a:prstGeom prst="rect">
            <a:avLst/>
          </a:prstGeom>
          <a:solidFill>
            <a:srgbClr val="0B2545"/>
          </a:solidFill>
          <a:ln w="12700">
            <a:solidFill>
              <a:srgbClr val="0B2545"/>
            </a:solidFill>
            <a:prstDash val="solid"/>
          </a:ln>
        </p:spPr>
      </p:sp>
      <p:sp>
        <p:nvSpPr>
          <p:cNvPr id="79" name="Text 76"/>
          <p:cNvSpPr/>
          <p:nvPr/>
        </p:nvSpPr>
        <p:spPr>
          <a:xfrm>
            <a:off x="3803904"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B</a:t>
            </a:r>
            <a:endParaRPr lang="en-US" sz="1100" dirty="0"/>
          </a:p>
        </p:txBody>
      </p:sp>
      <p:sp>
        <p:nvSpPr>
          <p:cNvPr id="80" name="Shape 77"/>
          <p:cNvSpPr/>
          <p:nvPr/>
        </p:nvSpPr>
        <p:spPr>
          <a:xfrm>
            <a:off x="4210812" y="5166360"/>
            <a:ext cx="379476" cy="457200"/>
          </a:xfrm>
          <a:prstGeom prst="rect">
            <a:avLst/>
          </a:prstGeom>
          <a:solidFill>
            <a:srgbClr val="0B2545"/>
          </a:solidFill>
          <a:ln w="12700">
            <a:solidFill>
              <a:srgbClr val="0B2545"/>
            </a:solidFill>
            <a:prstDash val="solid"/>
          </a:ln>
        </p:spPr>
      </p:sp>
      <p:sp>
        <p:nvSpPr>
          <p:cNvPr id="81" name="Text 78"/>
          <p:cNvSpPr/>
          <p:nvPr/>
        </p:nvSpPr>
        <p:spPr>
          <a:xfrm>
            <a:off x="4210812"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82" name="Shape 79"/>
          <p:cNvSpPr/>
          <p:nvPr/>
        </p:nvSpPr>
        <p:spPr>
          <a:xfrm>
            <a:off x="4617720" y="5166360"/>
            <a:ext cx="379476" cy="457200"/>
          </a:xfrm>
          <a:prstGeom prst="rect">
            <a:avLst/>
          </a:prstGeom>
          <a:solidFill>
            <a:srgbClr val="0B2545"/>
          </a:solidFill>
          <a:ln w="12700">
            <a:solidFill>
              <a:srgbClr val="0B2545"/>
            </a:solidFill>
            <a:prstDash val="solid"/>
          </a:ln>
        </p:spPr>
      </p:sp>
      <p:sp>
        <p:nvSpPr>
          <p:cNvPr id="83" name="Text 80"/>
          <p:cNvSpPr/>
          <p:nvPr/>
        </p:nvSpPr>
        <p:spPr>
          <a:xfrm>
            <a:off x="4617720"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F</a:t>
            </a:r>
            <a:endParaRPr lang="en-US" sz="1100" dirty="0"/>
          </a:p>
        </p:txBody>
      </p:sp>
      <p:sp>
        <p:nvSpPr>
          <p:cNvPr id="84" name="Shape 81"/>
          <p:cNvSpPr/>
          <p:nvPr/>
        </p:nvSpPr>
        <p:spPr>
          <a:xfrm>
            <a:off x="5024628" y="5166360"/>
            <a:ext cx="379476" cy="457200"/>
          </a:xfrm>
          <a:prstGeom prst="rect">
            <a:avLst/>
          </a:prstGeom>
          <a:solidFill>
            <a:srgbClr val="0B2545"/>
          </a:solidFill>
          <a:ln w="12700">
            <a:solidFill>
              <a:srgbClr val="0B2545"/>
            </a:solidFill>
            <a:prstDash val="solid"/>
          </a:ln>
        </p:spPr>
      </p:sp>
      <p:sp>
        <p:nvSpPr>
          <p:cNvPr id="85" name="Text 82"/>
          <p:cNvSpPr/>
          <p:nvPr/>
        </p:nvSpPr>
        <p:spPr>
          <a:xfrm>
            <a:off x="5024628"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86" name="Shape 83"/>
          <p:cNvSpPr/>
          <p:nvPr/>
        </p:nvSpPr>
        <p:spPr>
          <a:xfrm>
            <a:off x="5431536" y="5166360"/>
            <a:ext cx="379476" cy="457200"/>
          </a:xfrm>
          <a:prstGeom prst="rect">
            <a:avLst/>
          </a:prstGeom>
          <a:solidFill>
            <a:srgbClr val="0B2545"/>
          </a:solidFill>
          <a:ln w="12700">
            <a:solidFill>
              <a:srgbClr val="0B2545"/>
            </a:solidFill>
            <a:prstDash val="solid"/>
          </a:ln>
        </p:spPr>
      </p:sp>
      <p:sp>
        <p:nvSpPr>
          <p:cNvPr id="87" name="Text 84"/>
          <p:cNvSpPr/>
          <p:nvPr/>
        </p:nvSpPr>
        <p:spPr>
          <a:xfrm>
            <a:off x="5431536"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H</a:t>
            </a:r>
            <a:endParaRPr lang="en-US" sz="1100" dirty="0"/>
          </a:p>
        </p:txBody>
      </p:sp>
      <p:sp>
        <p:nvSpPr>
          <p:cNvPr id="88" name="Shape 85"/>
          <p:cNvSpPr/>
          <p:nvPr/>
        </p:nvSpPr>
        <p:spPr>
          <a:xfrm>
            <a:off x="5838444" y="5166360"/>
            <a:ext cx="379476" cy="457200"/>
          </a:xfrm>
          <a:prstGeom prst="rect">
            <a:avLst/>
          </a:prstGeom>
          <a:solidFill>
            <a:srgbClr val="0B2545"/>
          </a:solidFill>
          <a:ln w="12700">
            <a:solidFill>
              <a:srgbClr val="0B2545"/>
            </a:solidFill>
            <a:prstDash val="solid"/>
          </a:ln>
        </p:spPr>
      </p:sp>
      <p:sp>
        <p:nvSpPr>
          <p:cNvPr id="89" name="Text 86"/>
          <p:cNvSpPr/>
          <p:nvPr/>
        </p:nvSpPr>
        <p:spPr>
          <a:xfrm>
            <a:off x="5838444"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I</a:t>
            </a:r>
            <a:endParaRPr lang="en-US" sz="1100" dirty="0"/>
          </a:p>
        </p:txBody>
      </p:sp>
      <p:sp>
        <p:nvSpPr>
          <p:cNvPr id="90" name="Shape 87"/>
          <p:cNvSpPr/>
          <p:nvPr/>
        </p:nvSpPr>
        <p:spPr>
          <a:xfrm>
            <a:off x="6245352" y="5166360"/>
            <a:ext cx="379476" cy="457200"/>
          </a:xfrm>
          <a:prstGeom prst="rect">
            <a:avLst/>
          </a:prstGeom>
          <a:solidFill>
            <a:srgbClr val="0B2545"/>
          </a:solidFill>
          <a:ln w="12700">
            <a:solidFill>
              <a:srgbClr val="0B2545"/>
            </a:solidFill>
            <a:prstDash val="solid"/>
          </a:ln>
        </p:spPr>
      </p:sp>
      <p:sp>
        <p:nvSpPr>
          <p:cNvPr id="91" name="Text 88"/>
          <p:cNvSpPr/>
          <p:nvPr/>
        </p:nvSpPr>
        <p:spPr>
          <a:xfrm>
            <a:off x="6245352"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J</a:t>
            </a:r>
            <a:endParaRPr lang="en-US" sz="1100" dirty="0"/>
          </a:p>
        </p:txBody>
      </p:sp>
      <p:sp>
        <p:nvSpPr>
          <p:cNvPr id="92" name="Shape 89"/>
          <p:cNvSpPr/>
          <p:nvPr/>
        </p:nvSpPr>
        <p:spPr>
          <a:xfrm>
            <a:off x="6652260" y="5166360"/>
            <a:ext cx="379476" cy="457200"/>
          </a:xfrm>
          <a:prstGeom prst="rect">
            <a:avLst/>
          </a:prstGeom>
          <a:solidFill>
            <a:srgbClr val="0B2545"/>
          </a:solidFill>
          <a:ln w="12700">
            <a:solidFill>
              <a:srgbClr val="0B2545"/>
            </a:solidFill>
            <a:prstDash val="solid"/>
          </a:ln>
        </p:spPr>
      </p:sp>
      <p:sp>
        <p:nvSpPr>
          <p:cNvPr id="93" name="Text 90"/>
          <p:cNvSpPr/>
          <p:nvPr/>
        </p:nvSpPr>
        <p:spPr>
          <a:xfrm>
            <a:off x="6652260"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L</a:t>
            </a:r>
            <a:endParaRPr lang="en-US" sz="1100" dirty="0"/>
          </a:p>
        </p:txBody>
      </p:sp>
      <p:sp>
        <p:nvSpPr>
          <p:cNvPr id="94" name="Shape 91"/>
          <p:cNvSpPr/>
          <p:nvPr/>
        </p:nvSpPr>
        <p:spPr>
          <a:xfrm>
            <a:off x="7059168" y="5166360"/>
            <a:ext cx="379476" cy="457200"/>
          </a:xfrm>
          <a:prstGeom prst="rect">
            <a:avLst/>
          </a:prstGeom>
          <a:solidFill>
            <a:srgbClr val="0B2545"/>
          </a:solidFill>
          <a:ln w="12700">
            <a:solidFill>
              <a:srgbClr val="0B2545"/>
            </a:solidFill>
            <a:prstDash val="solid"/>
          </a:ln>
        </p:spPr>
      </p:sp>
      <p:sp>
        <p:nvSpPr>
          <p:cNvPr id="95" name="Text 92"/>
          <p:cNvSpPr/>
          <p:nvPr/>
        </p:nvSpPr>
        <p:spPr>
          <a:xfrm>
            <a:off x="7059168"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M</a:t>
            </a:r>
            <a:endParaRPr lang="en-US" sz="1100" dirty="0"/>
          </a:p>
        </p:txBody>
      </p:sp>
      <p:sp>
        <p:nvSpPr>
          <p:cNvPr id="96" name="Shape 93"/>
          <p:cNvSpPr/>
          <p:nvPr/>
        </p:nvSpPr>
        <p:spPr>
          <a:xfrm>
            <a:off x="7466076" y="5166360"/>
            <a:ext cx="379476" cy="457200"/>
          </a:xfrm>
          <a:prstGeom prst="rect">
            <a:avLst/>
          </a:prstGeom>
          <a:solidFill>
            <a:srgbClr val="0B2545"/>
          </a:solidFill>
          <a:ln w="12700">
            <a:solidFill>
              <a:srgbClr val="0B2545"/>
            </a:solidFill>
            <a:prstDash val="solid"/>
          </a:ln>
        </p:spPr>
      </p:sp>
      <p:sp>
        <p:nvSpPr>
          <p:cNvPr id="97" name="Text 94"/>
          <p:cNvSpPr/>
          <p:nvPr/>
        </p:nvSpPr>
        <p:spPr>
          <a:xfrm>
            <a:off x="7466076"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N</a:t>
            </a:r>
            <a:endParaRPr lang="en-US" sz="1100" dirty="0"/>
          </a:p>
        </p:txBody>
      </p:sp>
      <p:sp>
        <p:nvSpPr>
          <p:cNvPr id="98" name="Shape 95"/>
          <p:cNvSpPr/>
          <p:nvPr/>
        </p:nvSpPr>
        <p:spPr>
          <a:xfrm>
            <a:off x="7872984" y="5166360"/>
            <a:ext cx="379476" cy="457200"/>
          </a:xfrm>
          <a:prstGeom prst="rect">
            <a:avLst/>
          </a:prstGeom>
          <a:solidFill>
            <a:srgbClr val="0B2545"/>
          </a:solidFill>
          <a:ln w="12700">
            <a:solidFill>
              <a:srgbClr val="0B2545"/>
            </a:solidFill>
            <a:prstDash val="solid"/>
          </a:ln>
        </p:spPr>
      </p:sp>
      <p:sp>
        <p:nvSpPr>
          <p:cNvPr id="99" name="Text 96"/>
          <p:cNvSpPr/>
          <p:nvPr/>
        </p:nvSpPr>
        <p:spPr>
          <a:xfrm>
            <a:off x="7872984"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P</a:t>
            </a:r>
            <a:endParaRPr lang="en-US" sz="1100" dirty="0"/>
          </a:p>
        </p:txBody>
      </p:sp>
      <p:sp>
        <p:nvSpPr>
          <p:cNvPr id="100" name="Shape 97"/>
          <p:cNvSpPr/>
          <p:nvPr/>
        </p:nvSpPr>
        <p:spPr>
          <a:xfrm>
            <a:off x="8279892" y="5166360"/>
            <a:ext cx="379476" cy="457200"/>
          </a:xfrm>
          <a:prstGeom prst="rect">
            <a:avLst/>
          </a:prstGeom>
          <a:solidFill>
            <a:srgbClr val="0B2545"/>
          </a:solidFill>
          <a:ln w="12700">
            <a:solidFill>
              <a:srgbClr val="0B2545"/>
            </a:solidFill>
            <a:prstDash val="solid"/>
          </a:ln>
        </p:spPr>
      </p:sp>
      <p:sp>
        <p:nvSpPr>
          <p:cNvPr id="101" name="Text 98"/>
          <p:cNvSpPr/>
          <p:nvPr/>
        </p:nvSpPr>
        <p:spPr>
          <a:xfrm>
            <a:off x="8279892"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Q</a:t>
            </a:r>
            <a:endParaRPr lang="en-US" sz="1100" dirty="0"/>
          </a:p>
        </p:txBody>
      </p:sp>
      <p:sp>
        <p:nvSpPr>
          <p:cNvPr id="102" name="Shape 99"/>
          <p:cNvSpPr/>
          <p:nvPr/>
        </p:nvSpPr>
        <p:spPr>
          <a:xfrm>
            <a:off x="8686800" y="5166360"/>
            <a:ext cx="379476" cy="457200"/>
          </a:xfrm>
          <a:prstGeom prst="rect">
            <a:avLst/>
          </a:prstGeom>
          <a:solidFill>
            <a:srgbClr val="0B2545"/>
          </a:solidFill>
          <a:ln w="12700">
            <a:solidFill>
              <a:srgbClr val="0B2545"/>
            </a:solidFill>
            <a:prstDash val="solid"/>
          </a:ln>
        </p:spPr>
      </p:sp>
      <p:sp>
        <p:nvSpPr>
          <p:cNvPr id="103" name="Text 100"/>
          <p:cNvSpPr/>
          <p:nvPr/>
        </p:nvSpPr>
        <p:spPr>
          <a:xfrm>
            <a:off x="8686800"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S</a:t>
            </a:r>
            <a:endParaRPr lang="en-US" sz="1100" dirty="0"/>
          </a:p>
        </p:txBody>
      </p:sp>
      <p:sp>
        <p:nvSpPr>
          <p:cNvPr id="104" name="Shape 101"/>
          <p:cNvSpPr/>
          <p:nvPr/>
        </p:nvSpPr>
        <p:spPr>
          <a:xfrm>
            <a:off x="9093708" y="5166360"/>
            <a:ext cx="379476" cy="457200"/>
          </a:xfrm>
          <a:prstGeom prst="rect">
            <a:avLst/>
          </a:prstGeom>
          <a:solidFill>
            <a:srgbClr val="0B2545"/>
          </a:solidFill>
          <a:ln w="12700">
            <a:solidFill>
              <a:srgbClr val="0B2545"/>
            </a:solidFill>
            <a:prstDash val="solid"/>
          </a:ln>
        </p:spPr>
      </p:sp>
      <p:sp>
        <p:nvSpPr>
          <p:cNvPr id="105" name="Text 102"/>
          <p:cNvSpPr/>
          <p:nvPr/>
        </p:nvSpPr>
        <p:spPr>
          <a:xfrm>
            <a:off x="9093708"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T</a:t>
            </a:r>
            <a:endParaRPr lang="en-US" sz="1100" dirty="0"/>
          </a:p>
        </p:txBody>
      </p:sp>
      <p:sp>
        <p:nvSpPr>
          <p:cNvPr id="106" name="Shape 103"/>
          <p:cNvSpPr/>
          <p:nvPr/>
        </p:nvSpPr>
        <p:spPr>
          <a:xfrm>
            <a:off x="9500616" y="5166360"/>
            <a:ext cx="379476" cy="457200"/>
          </a:xfrm>
          <a:prstGeom prst="rect">
            <a:avLst/>
          </a:prstGeom>
          <a:solidFill>
            <a:srgbClr val="0B2545"/>
          </a:solidFill>
          <a:ln w="12700">
            <a:solidFill>
              <a:srgbClr val="0B2545"/>
            </a:solidFill>
            <a:prstDash val="solid"/>
          </a:ln>
        </p:spPr>
      </p:sp>
      <p:sp>
        <p:nvSpPr>
          <p:cNvPr id="107" name="Text 104"/>
          <p:cNvSpPr/>
          <p:nvPr/>
        </p:nvSpPr>
        <p:spPr>
          <a:xfrm>
            <a:off x="9500616"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U</a:t>
            </a:r>
            <a:endParaRPr lang="en-US" sz="1100" dirty="0"/>
          </a:p>
        </p:txBody>
      </p:sp>
      <p:sp>
        <p:nvSpPr>
          <p:cNvPr id="108" name="Shape 105"/>
          <p:cNvSpPr/>
          <p:nvPr/>
        </p:nvSpPr>
        <p:spPr>
          <a:xfrm>
            <a:off x="9907524" y="5166360"/>
            <a:ext cx="379476" cy="457200"/>
          </a:xfrm>
          <a:prstGeom prst="rect">
            <a:avLst/>
          </a:prstGeom>
          <a:solidFill>
            <a:srgbClr val="0B2545"/>
          </a:solidFill>
          <a:ln w="12700">
            <a:solidFill>
              <a:srgbClr val="0B2545"/>
            </a:solidFill>
            <a:prstDash val="solid"/>
          </a:ln>
        </p:spPr>
      </p:sp>
      <p:sp>
        <p:nvSpPr>
          <p:cNvPr id="109" name="Text 106"/>
          <p:cNvSpPr/>
          <p:nvPr/>
        </p:nvSpPr>
        <p:spPr>
          <a:xfrm>
            <a:off x="9907524"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V</a:t>
            </a:r>
            <a:endParaRPr lang="en-US" sz="1100" dirty="0"/>
          </a:p>
        </p:txBody>
      </p:sp>
      <p:sp>
        <p:nvSpPr>
          <p:cNvPr id="110" name="Shape 107"/>
          <p:cNvSpPr/>
          <p:nvPr/>
        </p:nvSpPr>
        <p:spPr>
          <a:xfrm>
            <a:off x="10314432" y="5166360"/>
            <a:ext cx="379476" cy="457200"/>
          </a:xfrm>
          <a:prstGeom prst="rect">
            <a:avLst/>
          </a:prstGeom>
          <a:solidFill>
            <a:srgbClr val="0B2545"/>
          </a:solidFill>
          <a:ln w="12700">
            <a:solidFill>
              <a:srgbClr val="0B2545"/>
            </a:solidFill>
            <a:prstDash val="solid"/>
          </a:ln>
        </p:spPr>
      </p:sp>
      <p:sp>
        <p:nvSpPr>
          <p:cNvPr id="111" name="Text 108"/>
          <p:cNvSpPr/>
          <p:nvPr/>
        </p:nvSpPr>
        <p:spPr>
          <a:xfrm>
            <a:off x="10314432"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X</a:t>
            </a:r>
            <a:endParaRPr lang="en-US" sz="1100" dirty="0"/>
          </a:p>
        </p:txBody>
      </p:sp>
      <p:sp>
        <p:nvSpPr>
          <p:cNvPr id="112" name="Shape 109"/>
          <p:cNvSpPr/>
          <p:nvPr/>
        </p:nvSpPr>
        <p:spPr>
          <a:xfrm>
            <a:off x="10721340" y="5166360"/>
            <a:ext cx="379476" cy="457200"/>
          </a:xfrm>
          <a:prstGeom prst="rect">
            <a:avLst/>
          </a:prstGeom>
          <a:solidFill>
            <a:srgbClr val="0B2545"/>
          </a:solidFill>
          <a:ln w="12700">
            <a:solidFill>
              <a:srgbClr val="0B2545"/>
            </a:solidFill>
            <a:prstDash val="solid"/>
          </a:ln>
        </p:spPr>
      </p:sp>
      <p:sp>
        <p:nvSpPr>
          <p:cNvPr id="113" name="Text 110"/>
          <p:cNvSpPr/>
          <p:nvPr/>
        </p:nvSpPr>
        <p:spPr>
          <a:xfrm>
            <a:off x="10721340" y="5166360"/>
            <a:ext cx="379476" cy="457200"/>
          </a:xfrm>
          <a:prstGeom prst="rect">
            <a:avLst/>
          </a:prstGeom>
          <a:noFill/>
          <a:ln/>
        </p:spPr>
        <p:txBody>
          <a:bodyPr wrap="square"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Z</a:t>
            </a:r>
            <a:endParaRPr lang="en-US" sz="1100" dirty="0"/>
          </a:p>
        </p:txBody>
      </p:sp>
      <p:sp>
        <p:nvSpPr>
          <p:cNvPr id="114" name="Text 111"/>
          <p:cNvSpPr/>
          <p:nvPr/>
        </p:nvSpPr>
        <p:spPr>
          <a:xfrm>
            <a:off x="548640" y="5760720"/>
            <a:ext cx="10881360" cy="457200"/>
          </a:xfrm>
          <a:prstGeom prst="rect">
            <a:avLst/>
          </a:prstGeom>
          <a:noFill/>
          <a:ln/>
        </p:spPr>
        <p:txBody>
          <a:bodyPr wrap="square" rtlCol="0" anchor="ctr"/>
          <a:lstStyle/>
          <a:p>
            <a:pPr marL="0" indent="0">
              <a:buNone/>
            </a:pPr>
            <a:r>
              <a:rPr lang="en-US" sz="1050" i="1" dirty="0">
                <a:solidFill>
                  <a:srgbClr val="5A6B7B"/>
                </a:solidFill>
                <a:latin typeface="Calibri" pitchFamily="34" charset="0"/>
                <a:ea typeface="Calibri" pitchFamily="34" charset="-122"/>
                <a:cs typeface="Calibri" pitchFamily="34" charset="-120"/>
              </a:rPr>
              <a:t>Cyan cells = unique keyword letters (K E Y W O R D). Navy cells = remaining alphabet letters, in order, skipping any letter already used.</a:t>
            </a:r>
            <a:endParaRPr lang="en-US" sz="1050" dirty="0"/>
          </a:p>
        </p:txBody>
      </p:sp>
      <p:sp>
        <p:nvSpPr>
          <p:cNvPr id="115" name="Text 112"/>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16" name="Text 113"/>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Tree>
    <p:extLst>
      <p:ext uri="{BB962C8B-B14F-4D97-AF65-F5344CB8AC3E}">
        <p14:creationId xmlns:p14="http://schemas.microsoft.com/office/powerpoint/2010/main" val="1811354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KEYWORD CIPHER</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Monoalphabetic Substitution— Worked Example</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1005840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Encrypt "ALKINDI" using keyword "KEYWORD"</a:t>
            </a:r>
            <a:endParaRPr lang="en-US" sz="1400" dirty="0"/>
          </a:p>
        </p:txBody>
      </p:sp>
      <p:sp>
        <p:nvSpPr>
          <p:cNvPr id="7" name="Text 4"/>
          <p:cNvSpPr/>
          <p:nvPr/>
        </p:nvSpPr>
        <p:spPr>
          <a:xfrm>
            <a:off x="548640" y="2011680"/>
            <a:ext cx="2743200" cy="201168"/>
          </a:xfrm>
          <a:prstGeom prst="rect">
            <a:avLst/>
          </a:prstGeom>
          <a:noFill/>
          <a:ln/>
        </p:spPr>
        <p:txBody>
          <a:bodyPr wrap="square" rtlCol="0" anchor="ctr"/>
          <a:lstStyle/>
          <a:p>
            <a:pPr marL="0" indent="0">
              <a:buNone/>
            </a:pPr>
            <a:r>
              <a:rPr lang="en-US" sz="950" dirty="0">
                <a:solidFill>
                  <a:srgbClr val="5A6B7B"/>
                </a:solidFill>
                <a:latin typeface="Calibri" pitchFamily="34" charset="0"/>
                <a:ea typeface="Calibri" pitchFamily="34" charset="-122"/>
                <a:cs typeface="Calibri" pitchFamily="34" charset="-120"/>
              </a:rPr>
              <a:t>open alphabet</a:t>
            </a:r>
            <a:endParaRPr lang="en-US" sz="950" dirty="0"/>
          </a:p>
        </p:txBody>
      </p:sp>
      <p:sp>
        <p:nvSpPr>
          <p:cNvPr id="8" name="Shape 5"/>
          <p:cNvSpPr/>
          <p:nvPr/>
        </p:nvSpPr>
        <p:spPr>
          <a:xfrm>
            <a:off x="548640" y="2240280"/>
            <a:ext cx="379476" cy="438912"/>
          </a:xfrm>
          <a:prstGeom prst="rect">
            <a:avLst/>
          </a:prstGeom>
          <a:solidFill>
            <a:srgbClr val="FFFFFF"/>
          </a:solidFill>
          <a:ln w="12700">
            <a:solidFill>
              <a:srgbClr val="0B2545"/>
            </a:solidFill>
            <a:prstDash val="solid"/>
          </a:ln>
        </p:spPr>
      </p:sp>
      <p:sp>
        <p:nvSpPr>
          <p:cNvPr id="9" name="Text 6"/>
          <p:cNvSpPr/>
          <p:nvPr/>
        </p:nvSpPr>
        <p:spPr>
          <a:xfrm>
            <a:off x="548640"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A</a:t>
            </a:r>
            <a:endParaRPr lang="en-US" sz="1050" dirty="0"/>
          </a:p>
        </p:txBody>
      </p:sp>
      <p:sp>
        <p:nvSpPr>
          <p:cNvPr id="10" name="Shape 7"/>
          <p:cNvSpPr/>
          <p:nvPr/>
        </p:nvSpPr>
        <p:spPr>
          <a:xfrm>
            <a:off x="955548" y="2240280"/>
            <a:ext cx="379476" cy="438912"/>
          </a:xfrm>
          <a:prstGeom prst="rect">
            <a:avLst/>
          </a:prstGeom>
          <a:solidFill>
            <a:srgbClr val="FFFFFF"/>
          </a:solidFill>
          <a:ln w="12700">
            <a:solidFill>
              <a:srgbClr val="0B2545"/>
            </a:solidFill>
            <a:prstDash val="solid"/>
          </a:ln>
        </p:spPr>
      </p:sp>
      <p:sp>
        <p:nvSpPr>
          <p:cNvPr id="11" name="Text 8"/>
          <p:cNvSpPr/>
          <p:nvPr/>
        </p:nvSpPr>
        <p:spPr>
          <a:xfrm>
            <a:off x="955548"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B</a:t>
            </a:r>
            <a:endParaRPr lang="en-US" sz="1050" dirty="0"/>
          </a:p>
        </p:txBody>
      </p:sp>
      <p:sp>
        <p:nvSpPr>
          <p:cNvPr id="12" name="Shape 9"/>
          <p:cNvSpPr/>
          <p:nvPr/>
        </p:nvSpPr>
        <p:spPr>
          <a:xfrm>
            <a:off x="1362456" y="2240280"/>
            <a:ext cx="379476" cy="438912"/>
          </a:xfrm>
          <a:prstGeom prst="rect">
            <a:avLst/>
          </a:prstGeom>
          <a:solidFill>
            <a:srgbClr val="FFFFFF"/>
          </a:solidFill>
          <a:ln w="12700">
            <a:solidFill>
              <a:srgbClr val="0B2545"/>
            </a:solidFill>
            <a:prstDash val="solid"/>
          </a:ln>
        </p:spPr>
      </p:sp>
      <p:sp>
        <p:nvSpPr>
          <p:cNvPr id="13" name="Text 10"/>
          <p:cNvSpPr/>
          <p:nvPr/>
        </p:nvSpPr>
        <p:spPr>
          <a:xfrm>
            <a:off x="1362456"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C</a:t>
            </a:r>
            <a:endParaRPr lang="en-US" sz="1050" dirty="0"/>
          </a:p>
        </p:txBody>
      </p:sp>
      <p:sp>
        <p:nvSpPr>
          <p:cNvPr id="14" name="Shape 11"/>
          <p:cNvSpPr/>
          <p:nvPr/>
        </p:nvSpPr>
        <p:spPr>
          <a:xfrm>
            <a:off x="1769364" y="2240280"/>
            <a:ext cx="379476" cy="438912"/>
          </a:xfrm>
          <a:prstGeom prst="rect">
            <a:avLst/>
          </a:prstGeom>
          <a:solidFill>
            <a:srgbClr val="FFFFFF"/>
          </a:solidFill>
          <a:ln w="12700">
            <a:solidFill>
              <a:srgbClr val="0B2545"/>
            </a:solidFill>
            <a:prstDash val="solid"/>
          </a:ln>
        </p:spPr>
      </p:sp>
      <p:sp>
        <p:nvSpPr>
          <p:cNvPr id="15" name="Text 12"/>
          <p:cNvSpPr/>
          <p:nvPr/>
        </p:nvSpPr>
        <p:spPr>
          <a:xfrm>
            <a:off x="1769364"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D</a:t>
            </a:r>
            <a:endParaRPr lang="en-US" sz="1050" dirty="0"/>
          </a:p>
        </p:txBody>
      </p:sp>
      <p:sp>
        <p:nvSpPr>
          <p:cNvPr id="16" name="Shape 13"/>
          <p:cNvSpPr/>
          <p:nvPr/>
        </p:nvSpPr>
        <p:spPr>
          <a:xfrm>
            <a:off x="2176272" y="2240280"/>
            <a:ext cx="379476" cy="438912"/>
          </a:xfrm>
          <a:prstGeom prst="rect">
            <a:avLst/>
          </a:prstGeom>
          <a:solidFill>
            <a:srgbClr val="FFFFFF"/>
          </a:solidFill>
          <a:ln w="12700">
            <a:solidFill>
              <a:srgbClr val="0B2545"/>
            </a:solidFill>
            <a:prstDash val="solid"/>
          </a:ln>
        </p:spPr>
      </p:sp>
      <p:sp>
        <p:nvSpPr>
          <p:cNvPr id="17" name="Text 14"/>
          <p:cNvSpPr/>
          <p:nvPr/>
        </p:nvSpPr>
        <p:spPr>
          <a:xfrm>
            <a:off x="2176272"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E</a:t>
            </a:r>
            <a:endParaRPr lang="en-US" sz="1050" dirty="0"/>
          </a:p>
        </p:txBody>
      </p:sp>
      <p:sp>
        <p:nvSpPr>
          <p:cNvPr id="18" name="Shape 15"/>
          <p:cNvSpPr/>
          <p:nvPr/>
        </p:nvSpPr>
        <p:spPr>
          <a:xfrm>
            <a:off x="2583180" y="2240280"/>
            <a:ext cx="379476" cy="438912"/>
          </a:xfrm>
          <a:prstGeom prst="rect">
            <a:avLst/>
          </a:prstGeom>
          <a:solidFill>
            <a:srgbClr val="FFFFFF"/>
          </a:solidFill>
          <a:ln w="12700">
            <a:solidFill>
              <a:srgbClr val="0B2545"/>
            </a:solidFill>
            <a:prstDash val="solid"/>
          </a:ln>
        </p:spPr>
      </p:sp>
      <p:sp>
        <p:nvSpPr>
          <p:cNvPr id="19" name="Text 16"/>
          <p:cNvSpPr/>
          <p:nvPr/>
        </p:nvSpPr>
        <p:spPr>
          <a:xfrm>
            <a:off x="2583180"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F</a:t>
            </a:r>
            <a:endParaRPr lang="en-US" sz="1050" dirty="0"/>
          </a:p>
        </p:txBody>
      </p:sp>
      <p:sp>
        <p:nvSpPr>
          <p:cNvPr id="20" name="Shape 17"/>
          <p:cNvSpPr/>
          <p:nvPr/>
        </p:nvSpPr>
        <p:spPr>
          <a:xfrm>
            <a:off x="2990088" y="2240280"/>
            <a:ext cx="379476" cy="438912"/>
          </a:xfrm>
          <a:prstGeom prst="rect">
            <a:avLst/>
          </a:prstGeom>
          <a:solidFill>
            <a:srgbClr val="FFFFFF"/>
          </a:solidFill>
          <a:ln w="12700">
            <a:solidFill>
              <a:srgbClr val="0B2545"/>
            </a:solidFill>
            <a:prstDash val="solid"/>
          </a:ln>
        </p:spPr>
      </p:sp>
      <p:sp>
        <p:nvSpPr>
          <p:cNvPr id="21" name="Text 18"/>
          <p:cNvSpPr/>
          <p:nvPr/>
        </p:nvSpPr>
        <p:spPr>
          <a:xfrm>
            <a:off x="2990088"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G</a:t>
            </a:r>
            <a:endParaRPr lang="en-US" sz="1050" dirty="0"/>
          </a:p>
        </p:txBody>
      </p:sp>
      <p:sp>
        <p:nvSpPr>
          <p:cNvPr id="22" name="Shape 19"/>
          <p:cNvSpPr/>
          <p:nvPr/>
        </p:nvSpPr>
        <p:spPr>
          <a:xfrm>
            <a:off x="3396996" y="2240280"/>
            <a:ext cx="379476" cy="438912"/>
          </a:xfrm>
          <a:prstGeom prst="rect">
            <a:avLst/>
          </a:prstGeom>
          <a:solidFill>
            <a:srgbClr val="FFFFFF"/>
          </a:solidFill>
          <a:ln w="12700">
            <a:solidFill>
              <a:srgbClr val="0B2545"/>
            </a:solidFill>
            <a:prstDash val="solid"/>
          </a:ln>
        </p:spPr>
      </p:sp>
      <p:sp>
        <p:nvSpPr>
          <p:cNvPr id="23" name="Text 20"/>
          <p:cNvSpPr/>
          <p:nvPr/>
        </p:nvSpPr>
        <p:spPr>
          <a:xfrm>
            <a:off x="3396996"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H</a:t>
            </a:r>
            <a:endParaRPr lang="en-US" sz="1050" dirty="0"/>
          </a:p>
        </p:txBody>
      </p:sp>
      <p:sp>
        <p:nvSpPr>
          <p:cNvPr id="24" name="Shape 21"/>
          <p:cNvSpPr/>
          <p:nvPr/>
        </p:nvSpPr>
        <p:spPr>
          <a:xfrm>
            <a:off x="3803904" y="2240280"/>
            <a:ext cx="379476" cy="438912"/>
          </a:xfrm>
          <a:prstGeom prst="rect">
            <a:avLst/>
          </a:prstGeom>
          <a:solidFill>
            <a:srgbClr val="FFFFFF"/>
          </a:solidFill>
          <a:ln w="12700">
            <a:solidFill>
              <a:srgbClr val="0B2545"/>
            </a:solidFill>
            <a:prstDash val="solid"/>
          </a:ln>
        </p:spPr>
      </p:sp>
      <p:sp>
        <p:nvSpPr>
          <p:cNvPr id="25" name="Text 22"/>
          <p:cNvSpPr/>
          <p:nvPr/>
        </p:nvSpPr>
        <p:spPr>
          <a:xfrm>
            <a:off x="3803904"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I</a:t>
            </a:r>
            <a:endParaRPr lang="en-US" sz="1050" dirty="0"/>
          </a:p>
        </p:txBody>
      </p:sp>
      <p:sp>
        <p:nvSpPr>
          <p:cNvPr id="26" name="Shape 23"/>
          <p:cNvSpPr/>
          <p:nvPr/>
        </p:nvSpPr>
        <p:spPr>
          <a:xfrm>
            <a:off x="4210812" y="2240280"/>
            <a:ext cx="379476" cy="438912"/>
          </a:xfrm>
          <a:prstGeom prst="rect">
            <a:avLst/>
          </a:prstGeom>
          <a:solidFill>
            <a:srgbClr val="FFFFFF"/>
          </a:solidFill>
          <a:ln w="12700">
            <a:solidFill>
              <a:srgbClr val="0B2545"/>
            </a:solidFill>
            <a:prstDash val="solid"/>
          </a:ln>
        </p:spPr>
      </p:sp>
      <p:sp>
        <p:nvSpPr>
          <p:cNvPr id="27" name="Text 24"/>
          <p:cNvSpPr/>
          <p:nvPr/>
        </p:nvSpPr>
        <p:spPr>
          <a:xfrm>
            <a:off x="4210812"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J</a:t>
            </a:r>
            <a:endParaRPr lang="en-US" sz="1050" dirty="0"/>
          </a:p>
        </p:txBody>
      </p:sp>
      <p:sp>
        <p:nvSpPr>
          <p:cNvPr id="28" name="Shape 25"/>
          <p:cNvSpPr/>
          <p:nvPr/>
        </p:nvSpPr>
        <p:spPr>
          <a:xfrm>
            <a:off x="4617720" y="2240280"/>
            <a:ext cx="379476" cy="438912"/>
          </a:xfrm>
          <a:prstGeom prst="rect">
            <a:avLst/>
          </a:prstGeom>
          <a:solidFill>
            <a:srgbClr val="FFFFFF"/>
          </a:solidFill>
          <a:ln w="12700">
            <a:solidFill>
              <a:srgbClr val="0B2545"/>
            </a:solidFill>
            <a:prstDash val="solid"/>
          </a:ln>
        </p:spPr>
      </p:sp>
      <p:sp>
        <p:nvSpPr>
          <p:cNvPr id="29" name="Text 26"/>
          <p:cNvSpPr/>
          <p:nvPr/>
        </p:nvSpPr>
        <p:spPr>
          <a:xfrm>
            <a:off x="4617720"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K</a:t>
            </a:r>
            <a:endParaRPr lang="en-US" sz="1050" dirty="0"/>
          </a:p>
        </p:txBody>
      </p:sp>
      <p:sp>
        <p:nvSpPr>
          <p:cNvPr id="30" name="Shape 27"/>
          <p:cNvSpPr/>
          <p:nvPr/>
        </p:nvSpPr>
        <p:spPr>
          <a:xfrm>
            <a:off x="5024628" y="2240280"/>
            <a:ext cx="379476" cy="438912"/>
          </a:xfrm>
          <a:prstGeom prst="rect">
            <a:avLst/>
          </a:prstGeom>
          <a:solidFill>
            <a:srgbClr val="FFFFFF"/>
          </a:solidFill>
          <a:ln w="12700">
            <a:solidFill>
              <a:srgbClr val="0B2545"/>
            </a:solidFill>
            <a:prstDash val="solid"/>
          </a:ln>
        </p:spPr>
      </p:sp>
      <p:sp>
        <p:nvSpPr>
          <p:cNvPr id="31" name="Text 28"/>
          <p:cNvSpPr/>
          <p:nvPr/>
        </p:nvSpPr>
        <p:spPr>
          <a:xfrm>
            <a:off x="5024628"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L</a:t>
            </a:r>
            <a:endParaRPr lang="en-US" sz="1050" dirty="0"/>
          </a:p>
        </p:txBody>
      </p:sp>
      <p:sp>
        <p:nvSpPr>
          <p:cNvPr id="32" name="Shape 29"/>
          <p:cNvSpPr/>
          <p:nvPr/>
        </p:nvSpPr>
        <p:spPr>
          <a:xfrm>
            <a:off x="5431536" y="2240280"/>
            <a:ext cx="379476" cy="438912"/>
          </a:xfrm>
          <a:prstGeom prst="rect">
            <a:avLst/>
          </a:prstGeom>
          <a:solidFill>
            <a:srgbClr val="FFFFFF"/>
          </a:solidFill>
          <a:ln w="12700">
            <a:solidFill>
              <a:srgbClr val="0B2545"/>
            </a:solidFill>
            <a:prstDash val="solid"/>
          </a:ln>
        </p:spPr>
      </p:sp>
      <p:sp>
        <p:nvSpPr>
          <p:cNvPr id="33" name="Text 30"/>
          <p:cNvSpPr/>
          <p:nvPr/>
        </p:nvSpPr>
        <p:spPr>
          <a:xfrm>
            <a:off x="5431536"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M</a:t>
            </a:r>
            <a:endParaRPr lang="en-US" sz="1050" dirty="0"/>
          </a:p>
        </p:txBody>
      </p:sp>
      <p:sp>
        <p:nvSpPr>
          <p:cNvPr id="34" name="Shape 31"/>
          <p:cNvSpPr/>
          <p:nvPr/>
        </p:nvSpPr>
        <p:spPr>
          <a:xfrm>
            <a:off x="5838444" y="2240280"/>
            <a:ext cx="379476" cy="438912"/>
          </a:xfrm>
          <a:prstGeom prst="rect">
            <a:avLst/>
          </a:prstGeom>
          <a:solidFill>
            <a:srgbClr val="FFFFFF"/>
          </a:solidFill>
          <a:ln w="12700">
            <a:solidFill>
              <a:srgbClr val="0B2545"/>
            </a:solidFill>
            <a:prstDash val="solid"/>
          </a:ln>
        </p:spPr>
      </p:sp>
      <p:sp>
        <p:nvSpPr>
          <p:cNvPr id="35" name="Text 32"/>
          <p:cNvSpPr/>
          <p:nvPr/>
        </p:nvSpPr>
        <p:spPr>
          <a:xfrm>
            <a:off x="5838444"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N</a:t>
            </a:r>
            <a:endParaRPr lang="en-US" sz="1050" dirty="0"/>
          </a:p>
        </p:txBody>
      </p:sp>
      <p:sp>
        <p:nvSpPr>
          <p:cNvPr id="36" name="Shape 33"/>
          <p:cNvSpPr/>
          <p:nvPr/>
        </p:nvSpPr>
        <p:spPr>
          <a:xfrm>
            <a:off x="6245352" y="2240280"/>
            <a:ext cx="379476" cy="438912"/>
          </a:xfrm>
          <a:prstGeom prst="rect">
            <a:avLst/>
          </a:prstGeom>
          <a:solidFill>
            <a:srgbClr val="FFFFFF"/>
          </a:solidFill>
          <a:ln w="12700">
            <a:solidFill>
              <a:srgbClr val="0B2545"/>
            </a:solidFill>
            <a:prstDash val="solid"/>
          </a:ln>
        </p:spPr>
      </p:sp>
      <p:sp>
        <p:nvSpPr>
          <p:cNvPr id="37" name="Text 34"/>
          <p:cNvSpPr/>
          <p:nvPr/>
        </p:nvSpPr>
        <p:spPr>
          <a:xfrm>
            <a:off x="6245352"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O</a:t>
            </a:r>
            <a:endParaRPr lang="en-US" sz="1050" dirty="0"/>
          </a:p>
        </p:txBody>
      </p:sp>
      <p:sp>
        <p:nvSpPr>
          <p:cNvPr id="38" name="Shape 35"/>
          <p:cNvSpPr/>
          <p:nvPr/>
        </p:nvSpPr>
        <p:spPr>
          <a:xfrm>
            <a:off x="6652260" y="2240280"/>
            <a:ext cx="379476" cy="438912"/>
          </a:xfrm>
          <a:prstGeom prst="rect">
            <a:avLst/>
          </a:prstGeom>
          <a:solidFill>
            <a:srgbClr val="FFFFFF"/>
          </a:solidFill>
          <a:ln w="12700">
            <a:solidFill>
              <a:srgbClr val="0B2545"/>
            </a:solidFill>
            <a:prstDash val="solid"/>
          </a:ln>
        </p:spPr>
      </p:sp>
      <p:sp>
        <p:nvSpPr>
          <p:cNvPr id="39" name="Text 36"/>
          <p:cNvSpPr/>
          <p:nvPr/>
        </p:nvSpPr>
        <p:spPr>
          <a:xfrm>
            <a:off x="6652260"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P</a:t>
            </a:r>
            <a:endParaRPr lang="en-US" sz="1050" dirty="0"/>
          </a:p>
        </p:txBody>
      </p:sp>
      <p:sp>
        <p:nvSpPr>
          <p:cNvPr id="40" name="Shape 37"/>
          <p:cNvSpPr/>
          <p:nvPr/>
        </p:nvSpPr>
        <p:spPr>
          <a:xfrm>
            <a:off x="7059168" y="2240280"/>
            <a:ext cx="379476" cy="438912"/>
          </a:xfrm>
          <a:prstGeom prst="rect">
            <a:avLst/>
          </a:prstGeom>
          <a:solidFill>
            <a:srgbClr val="FFFFFF"/>
          </a:solidFill>
          <a:ln w="12700">
            <a:solidFill>
              <a:srgbClr val="0B2545"/>
            </a:solidFill>
            <a:prstDash val="solid"/>
          </a:ln>
        </p:spPr>
      </p:sp>
      <p:sp>
        <p:nvSpPr>
          <p:cNvPr id="41" name="Text 38"/>
          <p:cNvSpPr/>
          <p:nvPr/>
        </p:nvSpPr>
        <p:spPr>
          <a:xfrm>
            <a:off x="7059168"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Q</a:t>
            </a:r>
            <a:endParaRPr lang="en-US" sz="1050" dirty="0"/>
          </a:p>
        </p:txBody>
      </p:sp>
      <p:sp>
        <p:nvSpPr>
          <p:cNvPr id="42" name="Shape 39"/>
          <p:cNvSpPr/>
          <p:nvPr/>
        </p:nvSpPr>
        <p:spPr>
          <a:xfrm>
            <a:off x="7466076" y="2240280"/>
            <a:ext cx="379476" cy="438912"/>
          </a:xfrm>
          <a:prstGeom prst="rect">
            <a:avLst/>
          </a:prstGeom>
          <a:solidFill>
            <a:srgbClr val="FFFFFF"/>
          </a:solidFill>
          <a:ln w="12700">
            <a:solidFill>
              <a:srgbClr val="0B2545"/>
            </a:solidFill>
            <a:prstDash val="solid"/>
          </a:ln>
        </p:spPr>
      </p:sp>
      <p:sp>
        <p:nvSpPr>
          <p:cNvPr id="43" name="Text 40"/>
          <p:cNvSpPr/>
          <p:nvPr/>
        </p:nvSpPr>
        <p:spPr>
          <a:xfrm>
            <a:off x="7466076"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R</a:t>
            </a:r>
            <a:endParaRPr lang="en-US" sz="1050" dirty="0"/>
          </a:p>
        </p:txBody>
      </p:sp>
      <p:sp>
        <p:nvSpPr>
          <p:cNvPr id="44" name="Shape 41"/>
          <p:cNvSpPr/>
          <p:nvPr/>
        </p:nvSpPr>
        <p:spPr>
          <a:xfrm>
            <a:off x="7872984" y="2240280"/>
            <a:ext cx="379476" cy="438912"/>
          </a:xfrm>
          <a:prstGeom prst="rect">
            <a:avLst/>
          </a:prstGeom>
          <a:solidFill>
            <a:srgbClr val="FFFFFF"/>
          </a:solidFill>
          <a:ln w="12700">
            <a:solidFill>
              <a:srgbClr val="0B2545"/>
            </a:solidFill>
            <a:prstDash val="solid"/>
          </a:ln>
        </p:spPr>
      </p:sp>
      <p:sp>
        <p:nvSpPr>
          <p:cNvPr id="45" name="Text 42"/>
          <p:cNvSpPr/>
          <p:nvPr/>
        </p:nvSpPr>
        <p:spPr>
          <a:xfrm>
            <a:off x="7872984"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S</a:t>
            </a:r>
            <a:endParaRPr lang="en-US" sz="1050" dirty="0"/>
          </a:p>
        </p:txBody>
      </p:sp>
      <p:sp>
        <p:nvSpPr>
          <p:cNvPr id="46" name="Shape 43"/>
          <p:cNvSpPr/>
          <p:nvPr/>
        </p:nvSpPr>
        <p:spPr>
          <a:xfrm>
            <a:off x="8279892" y="2240280"/>
            <a:ext cx="379476" cy="438912"/>
          </a:xfrm>
          <a:prstGeom prst="rect">
            <a:avLst/>
          </a:prstGeom>
          <a:solidFill>
            <a:srgbClr val="FFFFFF"/>
          </a:solidFill>
          <a:ln w="12700">
            <a:solidFill>
              <a:srgbClr val="0B2545"/>
            </a:solidFill>
            <a:prstDash val="solid"/>
          </a:ln>
        </p:spPr>
      </p:sp>
      <p:sp>
        <p:nvSpPr>
          <p:cNvPr id="47" name="Text 44"/>
          <p:cNvSpPr/>
          <p:nvPr/>
        </p:nvSpPr>
        <p:spPr>
          <a:xfrm>
            <a:off x="8279892"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T</a:t>
            </a:r>
            <a:endParaRPr lang="en-US" sz="1050" dirty="0"/>
          </a:p>
        </p:txBody>
      </p:sp>
      <p:sp>
        <p:nvSpPr>
          <p:cNvPr id="48" name="Shape 45"/>
          <p:cNvSpPr/>
          <p:nvPr/>
        </p:nvSpPr>
        <p:spPr>
          <a:xfrm>
            <a:off x="8686800" y="2240280"/>
            <a:ext cx="379476" cy="438912"/>
          </a:xfrm>
          <a:prstGeom prst="rect">
            <a:avLst/>
          </a:prstGeom>
          <a:solidFill>
            <a:srgbClr val="FFFFFF"/>
          </a:solidFill>
          <a:ln w="12700">
            <a:solidFill>
              <a:srgbClr val="0B2545"/>
            </a:solidFill>
            <a:prstDash val="solid"/>
          </a:ln>
        </p:spPr>
      </p:sp>
      <p:sp>
        <p:nvSpPr>
          <p:cNvPr id="49" name="Text 46"/>
          <p:cNvSpPr/>
          <p:nvPr/>
        </p:nvSpPr>
        <p:spPr>
          <a:xfrm>
            <a:off x="8686800"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U</a:t>
            </a:r>
            <a:endParaRPr lang="en-US" sz="1050" dirty="0"/>
          </a:p>
        </p:txBody>
      </p:sp>
      <p:sp>
        <p:nvSpPr>
          <p:cNvPr id="50" name="Shape 47"/>
          <p:cNvSpPr/>
          <p:nvPr/>
        </p:nvSpPr>
        <p:spPr>
          <a:xfrm>
            <a:off x="9093708" y="2240280"/>
            <a:ext cx="379476" cy="438912"/>
          </a:xfrm>
          <a:prstGeom prst="rect">
            <a:avLst/>
          </a:prstGeom>
          <a:solidFill>
            <a:srgbClr val="FFFFFF"/>
          </a:solidFill>
          <a:ln w="12700">
            <a:solidFill>
              <a:srgbClr val="0B2545"/>
            </a:solidFill>
            <a:prstDash val="solid"/>
          </a:ln>
        </p:spPr>
      </p:sp>
      <p:sp>
        <p:nvSpPr>
          <p:cNvPr id="51" name="Text 48"/>
          <p:cNvSpPr/>
          <p:nvPr/>
        </p:nvSpPr>
        <p:spPr>
          <a:xfrm>
            <a:off x="9093708"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V</a:t>
            </a:r>
            <a:endParaRPr lang="en-US" sz="1050" dirty="0"/>
          </a:p>
        </p:txBody>
      </p:sp>
      <p:sp>
        <p:nvSpPr>
          <p:cNvPr id="52" name="Shape 49"/>
          <p:cNvSpPr/>
          <p:nvPr/>
        </p:nvSpPr>
        <p:spPr>
          <a:xfrm>
            <a:off x="9500616" y="2240280"/>
            <a:ext cx="379476" cy="438912"/>
          </a:xfrm>
          <a:prstGeom prst="rect">
            <a:avLst/>
          </a:prstGeom>
          <a:solidFill>
            <a:srgbClr val="FFFFFF"/>
          </a:solidFill>
          <a:ln w="12700">
            <a:solidFill>
              <a:srgbClr val="0B2545"/>
            </a:solidFill>
            <a:prstDash val="solid"/>
          </a:ln>
        </p:spPr>
      </p:sp>
      <p:sp>
        <p:nvSpPr>
          <p:cNvPr id="53" name="Text 50"/>
          <p:cNvSpPr/>
          <p:nvPr/>
        </p:nvSpPr>
        <p:spPr>
          <a:xfrm>
            <a:off x="9500616"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W</a:t>
            </a:r>
            <a:endParaRPr lang="en-US" sz="1050" dirty="0"/>
          </a:p>
        </p:txBody>
      </p:sp>
      <p:sp>
        <p:nvSpPr>
          <p:cNvPr id="54" name="Shape 51"/>
          <p:cNvSpPr/>
          <p:nvPr/>
        </p:nvSpPr>
        <p:spPr>
          <a:xfrm>
            <a:off x="9907524" y="2240280"/>
            <a:ext cx="379476" cy="438912"/>
          </a:xfrm>
          <a:prstGeom prst="rect">
            <a:avLst/>
          </a:prstGeom>
          <a:solidFill>
            <a:srgbClr val="FFFFFF"/>
          </a:solidFill>
          <a:ln w="12700">
            <a:solidFill>
              <a:srgbClr val="0B2545"/>
            </a:solidFill>
            <a:prstDash val="solid"/>
          </a:ln>
        </p:spPr>
      </p:sp>
      <p:sp>
        <p:nvSpPr>
          <p:cNvPr id="55" name="Text 52"/>
          <p:cNvSpPr/>
          <p:nvPr/>
        </p:nvSpPr>
        <p:spPr>
          <a:xfrm>
            <a:off x="9907524"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X</a:t>
            </a:r>
            <a:endParaRPr lang="en-US" sz="1050" dirty="0"/>
          </a:p>
        </p:txBody>
      </p:sp>
      <p:sp>
        <p:nvSpPr>
          <p:cNvPr id="56" name="Shape 53"/>
          <p:cNvSpPr/>
          <p:nvPr/>
        </p:nvSpPr>
        <p:spPr>
          <a:xfrm>
            <a:off x="10314432" y="2240280"/>
            <a:ext cx="379476" cy="438912"/>
          </a:xfrm>
          <a:prstGeom prst="rect">
            <a:avLst/>
          </a:prstGeom>
          <a:solidFill>
            <a:srgbClr val="FFFFFF"/>
          </a:solidFill>
          <a:ln w="12700">
            <a:solidFill>
              <a:srgbClr val="0B2545"/>
            </a:solidFill>
            <a:prstDash val="solid"/>
          </a:ln>
        </p:spPr>
      </p:sp>
      <p:sp>
        <p:nvSpPr>
          <p:cNvPr id="57" name="Text 54"/>
          <p:cNvSpPr/>
          <p:nvPr/>
        </p:nvSpPr>
        <p:spPr>
          <a:xfrm>
            <a:off x="10314432"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Y</a:t>
            </a:r>
            <a:endParaRPr lang="en-US" sz="1050" dirty="0"/>
          </a:p>
        </p:txBody>
      </p:sp>
      <p:sp>
        <p:nvSpPr>
          <p:cNvPr id="58" name="Shape 55"/>
          <p:cNvSpPr/>
          <p:nvPr/>
        </p:nvSpPr>
        <p:spPr>
          <a:xfrm>
            <a:off x="10721340" y="2240280"/>
            <a:ext cx="379476" cy="438912"/>
          </a:xfrm>
          <a:prstGeom prst="rect">
            <a:avLst/>
          </a:prstGeom>
          <a:solidFill>
            <a:srgbClr val="FFFFFF"/>
          </a:solidFill>
          <a:ln w="12700">
            <a:solidFill>
              <a:srgbClr val="0B2545"/>
            </a:solidFill>
            <a:prstDash val="solid"/>
          </a:ln>
        </p:spPr>
      </p:sp>
      <p:sp>
        <p:nvSpPr>
          <p:cNvPr id="59" name="Text 56"/>
          <p:cNvSpPr/>
          <p:nvPr/>
        </p:nvSpPr>
        <p:spPr>
          <a:xfrm>
            <a:off x="10721340" y="2240280"/>
            <a:ext cx="379476" cy="438912"/>
          </a:xfrm>
          <a:prstGeom prst="rect">
            <a:avLst/>
          </a:prstGeom>
          <a:noFill/>
          <a:ln/>
        </p:spPr>
        <p:txBody>
          <a:bodyPr wrap="square" rtlCol="0" anchor="ctr"/>
          <a:lstStyle/>
          <a:p>
            <a:pPr marL="0" indent="0" algn="ctr">
              <a:buNone/>
            </a:pPr>
            <a:r>
              <a:rPr lang="en-US" sz="1050" b="1" dirty="0">
                <a:solidFill>
                  <a:srgbClr val="16232E"/>
                </a:solidFill>
                <a:latin typeface="Courier New" pitchFamily="34" charset="0"/>
                <a:ea typeface="Courier New" pitchFamily="34" charset="-122"/>
                <a:cs typeface="Courier New" pitchFamily="34" charset="-120"/>
              </a:rPr>
              <a:t>Z</a:t>
            </a:r>
            <a:endParaRPr lang="en-US" sz="1050" dirty="0"/>
          </a:p>
        </p:txBody>
      </p:sp>
      <p:sp>
        <p:nvSpPr>
          <p:cNvPr id="60" name="Text 57"/>
          <p:cNvSpPr/>
          <p:nvPr/>
        </p:nvSpPr>
        <p:spPr>
          <a:xfrm>
            <a:off x="548640" y="2715768"/>
            <a:ext cx="2743200" cy="201168"/>
          </a:xfrm>
          <a:prstGeom prst="rect">
            <a:avLst/>
          </a:prstGeom>
          <a:noFill/>
          <a:ln/>
        </p:spPr>
        <p:txBody>
          <a:bodyPr wrap="square" rtlCol="0" anchor="ctr"/>
          <a:lstStyle/>
          <a:p>
            <a:pPr marL="0" indent="0">
              <a:buNone/>
            </a:pPr>
            <a:r>
              <a:rPr lang="en-US" sz="950" dirty="0">
                <a:solidFill>
                  <a:srgbClr val="5A6B7B"/>
                </a:solidFill>
                <a:latin typeface="Calibri" pitchFamily="34" charset="0"/>
                <a:ea typeface="Calibri" pitchFamily="34" charset="-122"/>
                <a:cs typeface="Calibri" pitchFamily="34" charset="-120"/>
              </a:rPr>
              <a:t>cipher alphabet</a:t>
            </a:r>
            <a:endParaRPr lang="en-US" sz="950" dirty="0"/>
          </a:p>
        </p:txBody>
      </p:sp>
      <p:sp>
        <p:nvSpPr>
          <p:cNvPr id="61" name="Shape 58"/>
          <p:cNvSpPr/>
          <p:nvPr/>
        </p:nvSpPr>
        <p:spPr>
          <a:xfrm>
            <a:off x="548640" y="2944368"/>
            <a:ext cx="379476" cy="438912"/>
          </a:xfrm>
          <a:prstGeom prst="rect">
            <a:avLst/>
          </a:prstGeom>
          <a:solidFill>
            <a:srgbClr val="0B2545"/>
          </a:solidFill>
          <a:ln w="12700">
            <a:solidFill>
              <a:srgbClr val="0B2545"/>
            </a:solidFill>
            <a:prstDash val="solid"/>
          </a:ln>
        </p:spPr>
      </p:sp>
      <p:sp>
        <p:nvSpPr>
          <p:cNvPr id="62" name="Text 59"/>
          <p:cNvSpPr/>
          <p:nvPr/>
        </p:nvSpPr>
        <p:spPr>
          <a:xfrm>
            <a:off x="548640"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K</a:t>
            </a:r>
            <a:endParaRPr lang="en-US" sz="1050" dirty="0"/>
          </a:p>
        </p:txBody>
      </p:sp>
      <p:sp>
        <p:nvSpPr>
          <p:cNvPr id="63" name="Shape 60"/>
          <p:cNvSpPr/>
          <p:nvPr/>
        </p:nvSpPr>
        <p:spPr>
          <a:xfrm>
            <a:off x="955548" y="2944368"/>
            <a:ext cx="379476" cy="438912"/>
          </a:xfrm>
          <a:prstGeom prst="rect">
            <a:avLst/>
          </a:prstGeom>
          <a:solidFill>
            <a:srgbClr val="0B2545"/>
          </a:solidFill>
          <a:ln w="12700">
            <a:solidFill>
              <a:srgbClr val="0B2545"/>
            </a:solidFill>
            <a:prstDash val="solid"/>
          </a:ln>
        </p:spPr>
      </p:sp>
      <p:sp>
        <p:nvSpPr>
          <p:cNvPr id="64" name="Text 61"/>
          <p:cNvSpPr/>
          <p:nvPr/>
        </p:nvSpPr>
        <p:spPr>
          <a:xfrm>
            <a:off x="955548"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E</a:t>
            </a:r>
            <a:endParaRPr lang="en-US" sz="1050" dirty="0"/>
          </a:p>
        </p:txBody>
      </p:sp>
      <p:sp>
        <p:nvSpPr>
          <p:cNvPr id="65" name="Shape 62"/>
          <p:cNvSpPr/>
          <p:nvPr/>
        </p:nvSpPr>
        <p:spPr>
          <a:xfrm>
            <a:off x="1362456" y="2944368"/>
            <a:ext cx="379476" cy="438912"/>
          </a:xfrm>
          <a:prstGeom prst="rect">
            <a:avLst/>
          </a:prstGeom>
          <a:solidFill>
            <a:srgbClr val="0B2545"/>
          </a:solidFill>
          <a:ln w="12700">
            <a:solidFill>
              <a:srgbClr val="0B2545"/>
            </a:solidFill>
            <a:prstDash val="solid"/>
          </a:ln>
        </p:spPr>
      </p:sp>
      <p:sp>
        <p:nvSpPr>
          <p:cNvPr id="66" name="Text 63"/>
          <p:cNvSpPr/>
          <p:nvPr/>
        </p:nvSpPr>
        <p:spPr>
          <a:xfrm>
            <a:off x="1362456"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Y</a:t>
            </a:r>
            <a:endParaRPr lang="en-US" sz="1050" dirty="0"/>
          </a:p>
        </p:txBody>
      </p:sp>
      <p:sp>
        <p:nvSpPr>
          <p:cNvPr id="67" name="Shape 64"/>
          <p:cNvSpPr/>
          <p:nvPr/>
        </p:nvSpPr>
        <p:spPr>
          <a:xfrm>
            <a:off x="1769364" y="2944368"/>
            <a:ext cx="379476" cy="438912"/>
          </a:xfrm>
          <a:prstGeom prst="rect">
            <a:avLst/>
          </a:prstGeom>
          <a:solidFill>
            <a:srgbClr val="0B2545"/>
          </a:solidFill>
          <a:ln w="12700">
            <a:solidFill>
              <a:srgbClr val="0B2545"/>
            </a:solidFill>
            <a:prstDash val="solid"/>
          </a:ln>
        </p:spPr>
      </p:sp>
      <p:sp>
        <p:nvSpPr>
          <p:cNvPr id="68" name="Text 65"/>
          <p:cNvSpPr/>
          <p:nvPr/>
        </p:nvSpPr>
        <p:spPr>
          <a:xfrm>
            <a:off x="1769364"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W</a:t>
            </a:r>
            <a:endParaRPr lang="en-US" sz="1050" dirty="0"/>
          </a:p>
        </p:txBody>
      </p:sp>
      <p:sp>
        <p:nvSpPr>
          <p:cNvPr id="69" name="Shape 66"/>
          <p:cNvSpPr/>
          <p:nvPr/>
        </p:nvSpPr>
        <p:spPr>
          <a:xfrm>
            <a:off x="2176272" y="2944368"/>
            <a:ext cx="379476" cy="438912"/>
          </a:xfrm>
          <a:prstGeom prst="rect">
            <a:avLst/>
          </a:prstGeom>
          <a:solidFill>
            <a:srgbClr val="0B2545"/>
          </a:solidFill>
          <a:ln w="12700">
            <a:solidFill>
              <a:srgbClr val="0B2545"/>
            </a:solidFill>
            <a:prstDash val="solid"/>
          </a:ln>
        </p:spPr>
      </p:sp>
      <p:sp>
        <p:nvSpPr>
          <p:cNvPr id="70" name="Text 67"/>
          <p:cNvSpPr/>
          <p:nvPr/>
        </p:nvSpPr>
        <p:spPr>
          <a:xfrm>
            <a:off x="2176272"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O</a:t>
            </a:r>
            <a:endParaRPr lang="en-US" sz="1050" dirty="0"/>
          </a:p>
        </p:txBody>
      </p:sp>
      <p:sp>
        <p:nvSpPr>
          <p:cNvPr id="71" name="Shape 68"/>
          <p:cNvSpPr/>
          <p:nvPr/>
        </p:nvSpPr>
        <p:spPr>
          <a:xfrm>
            <a:off x="2583180" y="2944368"/>
            <a:ext cx="379476" cy="438912"/>
          </a:xfrm>
          <a:prstGeom prst="rect">
            <a:avLst/>
          </a:prstGeom>
          <a:solidFill>
            <a:srgbClr val="0B2545"/>
          </a:solidFill>
          <a:ln w="12700">
            <a:solidFill>
              <a:srgbClr val="0B2545"/>
            </a:solidFill>
            <a:prstDash val="solid"/>
          </a:ln>
        </p:spPr>
      </p:sp>
      <p:sp>
        <p:nvSpPr>
          <p:cNvPr id="72" name="Text 69"/>
          <p:cNvSpPr/>
          <p:nvPr/>
        </p:nvSpPr>
        <p:spPr>
          <a:xfrm>
            <a:off x="2583180"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R</a:t>
            </a:r>
            <a:endParaRPr lang="en-US" sz="1050" dirty="0"/>
          </a:p>
        </p:txBody>
      </p:sp>
      <p:sp>
        <p:nvSpPr>
          <p:cNvPr id="73" name="Shape 70"/>
          <p:cNvSpPr/>
          <p:nvPr/>
        </p:nvSpPr>
        <p:spPr>
          <a:xfrm>
            <a:off x="2990088" y="2944368"/>
            <a:ext cx="379476" cy="438912"/>
          </a:xfrm>
          <a:prstGeom prst="rect">
            <a:avLst/>
          </a:prstGeom>
          <a:solidFill>
            <a:srgbClr val="0B2545"/>
          </a:solidFill>
          <a:ln w="12700">
            <a:solidFill>
              <a:srgbClr val="0B2545"/>
            </a:solidFill>
            <a:prstDash val="solid"/>
          </a:ln>
        </p:spPr>
      </p:sp>
      <p:sp>
        <p:nvSpPr>
          <p:cNvPr id="74" name="Text 71"/>
          <p:cNvSpPr/>
          <p:nvPr/>
        </p:nvSpPr>
        <p:spPr>
          <a:xfrm>
            <a:off x="2990088"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D</a:t>
            </a:r>
            <a:endParaRPr lang="en-US" sz="1050" dirty="0"/>
          </a:p>
        </p:txBody>
      </p:sp>
      <p:sp>
        <p:nvSpPr>
          <p:cNvPr id="75" name="Shape 72"/>
          <p:cNvSpPr/>
          <p:nvPr/>
        </p:nvSpPr>
        <p:spPr>
          <a:xfrm>
            <a:off x="3396996" y="2944368"/>
            <a:ext cx="379476" cy="438912"/>
          </a:xfrm>
          <a:prstGeom prst="rect">
            <a:avLst/>
          </a:prstGeom>
          <a:solidFill>
            <a:srgbClr val="0B2545"/>
          </a:solidFill>
          <a:ln w="12700">
            <a:solidFill>
              <a:srgbClr val="0B2545"/>
            </a:solidFill>
            <a:prstDash val="solid"/>
          </a:ln>
        </p:spPr>
      </p:sp>
      <p:sp>
        <p:nvSpPr>
          <p:cNvPr id="76" name="Text 73"/>
          <p:cNvSpPr/>
          <p:nvPr/>
        </p:nvSpPr>
        <p:spPr>
          <a:xfrm>
            <a:off x="3396996"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A</a:t>
            </a:r>
            <a:endParaRPr lang="en-US" sz="1050" dirty="0"/>
          </a:p>
        </p:txBody>
      </p:sp>
      <p:sp>
        <p:nvSpPr>
          <p:cNvPr id="77" name="Shape 74"/>
          <p:cNvSpPr/>
          <p:nvPr/>
        </p:nvSpPr>
        <p:spPr>
          <a:xfrm>
            <a:off x="3803904" y="2944368"/>
            <a:ext cx="379476" cy="438912"/>
          </a:xfrm>
          <a:prstGeom prst="rect">
            <a:avLst/>
          </a:prstGeom>
          <a:solidFill>
            <a:srgbClr val="0B2545"/>
          </a:solidFill>
          <a:ln w="12700">
            <a:solidFill>
              <a:srgbClr val="0B2545"/>
            </a:solidFill>
            <a:prstDash val="solid"/>
          </a:ln>
        </p:spPr>
      </p:sp>
      <p:sp>
        <p:nvSpPr>
          <p:cNvPr id="78" name="Text 75"/>
          <p:cNvSpPr/>
          <p:nvPr/>
        </p:nvSpPr>
        <p:spPr>
          <a:xfrm>
            <a:off x="3803904"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B</a:t>
            </a:r>
            <a:endParaRPr lang="en-US" sz="1050" dirty="0"/>
          </a:p>
        </p:txBody>
      </p:sp>
      <p:sp>
        <p:nvSpPr>
          <p:cNvPr id="79" name="Shape 76"/>
          <p:cNvSpPr/>
          <p:nvPr/>
        </p:nvSpPr>
        <p:spPr>
          <a:xfrm>
            <a:off x="4210812" y="2944368"/>
            <a:ext cx="379476" cy="438912"/>
          </a:xfrm>
          <a:prstGeom prst="rect">
            <a:avLst/>
          </a:prstGeom>
          <a:solidFill>
            <a:srgbClr val="0B2545"/>
          </a:solidFill>
          <a:ln w="12700">
            <a:solidFill>
              <a:srgbClr val="0B2545"/>
            </a:solidFill>
            <a:prstDash val="solid"/>
          </a:ln>
        </p:spPr>
      </p:sp>
      <p:sp>
        <p:nvSpPr>
          <p:cNvPr id="80" name="Text 77"/>
          <p:cNvSpPr/>
          <p:nvPr/>
        </p:nvSpPr>
        <p:spPr>
          <a:xfrm>
            <a:off x="4210812"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C</a:t>
            </a:r>
            <a:endParaRPr lang="en-US" sz="1050" dirty="0"/>
          </a:p>
        </p:txBody>
      </p:sp>
      <p:sp>
        <p:nvSpPr>
          <p:cNvPr id="81" name="Shape 78"/>
          <p:cNvSpPr/>
          <p:nvPr/>
        </p:nvSpPr>
        <p:spPr>
          <a:xfrm>
            <a:off x="4617720" y="2944368"/>
            <a:ext cx="379476" cy="438912"/>
          </a:xfrm>
          <a:prstGeom prst="rect">
            <a:avLst/>
          </a:prstGeom>
          <a:solidFill>
            <a:srgbClr val="0B2545"/>
          </a:solidFill>
          <a:ln w="12700">
            <a:solidFill>
              <a:srgbClr val="0B2545"/>
            </a:solidFill>
            <a:prstDash val="solid"/>
          </a:ln>
        </p:spPr>
      </p:sp>
      <p:sp>
        <p:nvSpPr>
          <p:cNvPr id="82" name="Text 79"/>
          <p:cNvSpPr/>
          <p:nvPr/>
        </p:nvSpPr>
        <p:spPr>
          <a:xfrm>
            <a:off x="4617720"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F</a:t>
            </a:r>
            <a:endParaRPr lang="en-US" sz="1050" dirty="0"/>
          </a:p>
        </p:txBody>
      </p:sp>
      <p:sp>
        <p:nvSpPr>
          <p:cNvPr id="83" name="Shape 80"/>
          <p:cNvSpPr/>
          <p:nvPr/>
        </p:nvSpPr>
        <p:spPr>
          <a:xfrm>
            <a:off x="5024628" y="2944368"/>
            <a:ext cx="379476" cy="438912"/>
          </a:xfrm>
          <a:prstGeom prst="rect">
            <a:avLst/>
          </a:prstGeom>
          <a:solidFill>
            <a:srgbClr val="0B2545"/>
          </a:solidFill>
          <a:ln w="12700">
            <a:solidFill>
              <a:srgbClr val="0B2545"/>
            </a:solidFill>
            <a:prstDash val="solid"/>
          </a:ln>
        </p:spPr>
      </p:sp>
      <p:sp>
        <p:nvSpPr>
          <p:cNvPr id="84" name="Text 81"/>
          <p:cNvSpPr/>
          <p:nvPr/>
        </p:nvSpPr>
        <p:spPr>
          <a:xfrm>
            <a:off x="5024628"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G</a:t>
            </a:r>
            <a:endParaRPr lang="en-US" sz="1050" dirty="0"/>
          </a:p>
        </p:txBody>
      </p:sp>
      <p:sp>
        <p:nvSpPr>
          <p:cNvPr id="85" name="Shape 82"/>
          <p:cNvSpPr/>
          <p:nvPr/>
        </p:nvSpPr>
        <p:spPr>
          <a:xfrm>
            <a:off x="5431536" y="2944368"/>
            <a:ext cx="379476" cy="438912"/>
          </a:xfrm>
          <a:prstGeom prst="rect">
            <a:avLst/>
          </a:prstGeom>
          <a:solidFill>
            <a:srgbClr val="0B2545"/>
          </a:solidFill>
          <a:ln w="12700">
            <a:solidFill>
              <a:srgbClr val="0B2545"/>
            </a:solidFill>
            <a:prstDash val="solid"/>
          </a:ln>
        </p:spPr>
      </p:sp>
      <p:sp>
        <p:nvSpPr>
          <p:cNvPr id="86" name="Text 83"/>
          <p:cNvSpPr/>
          <p:nvPr/>
        </p:nvSpPr>
        <p:spPr>
          <a:xfrm>
            <a:off x="5431536"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H</a:t>
            </a:r>
            <a:endParaRPr lang="en-US" sz="1050" dirty="0"/>
          </a:p>
        </p:txBody>
      </p:sp>
      <p:sp>
        <p:nvSpPr>
          <p:cNvPr id="87" name="Shape 84"/>
          <p:cNvSpPr/>
          <p:nvPr/>
        </p:nvSpPr>
        <p:spPr>
          <a:xfrm>
            <a:off x="5838444" y="2944368"/>
            <a:ext cx="379476" cy="438912"/>
          </a:xfrm>
          <a:prstGeom prst="rect">
            <a:avLst/>
          </a:prstGeom>
          <a:solidFill>
            <a:srgbClr val="0B2545"/>
          </a:solidFill>
          <a:ln w="12700">
            <a:solidFill>
              <a:srgbClr val="0B2545"/>
            </a:solidFill>
            <a:prstDash val="solid"/>
          </a:ln>
        </p:spPr>
      </p:sp>
      <p:sp>
        <p:nvSpPr>
          <p:cNvPr id="88" name="Text 85"/>
          <p:cNvSpPr/>
          <p:nvPr/>
        </p:nvSpPr>
        <p:spPr>
          <a:xfrm>
            <a:off x="5838444"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I</a:t>
            </a:r>
            <a:endParaRPr lang="en-US" sz="1050" dirty="0"/>
          </a:p>
        </p:txBody>
      </p:sp>
      <p:sp>
        <p:nvSpPr>
          <p:cNvPr id="89" name="Shape 86"/>
          <p:cNvSpPr/>
          <p:nvPr/>
        </p:nvSpPr>
        <p:spPr>
          <a:xfrm>
            <a:off x="6245352" y="2944368"/>
            <a:ext cx="379476" cy="438912"/>
          </a:xfrm>
          <a:prstGeom prst="rect">
            <a:avLst/>
          </a:prstGeom>
          <a:solidFill>
            <a:srgbClr val="0B2545"/>
          </a:solidFill>
          <a:ln w="12700">
            <a:solidFill>
              <a:srgbClr val="0B2545"/>
            </a:solidFill>
            <a:prstDash val="solid"/>
          </a:ln>
        </p:spPr>
      </p:sp>
      <p:sp>
        <p:nvSpPr>
          <p:cNvPr id="90" name="Text 87"/>
          <p:cNvSpPr/>
          <p:nvPr/>
        </p:nvSpPr>
        <p:spPr>
          <a:xfrm>
            <a:off x="6245352"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J</a:t>
            </a:r>
            <a:endParaRPr lang="en-US" sz="1050" dirty="0"/>
          </a:p>
        </p:txBody>
      </p:sp>
      <p:sp>
        <p:nvSpPr>
          <p:cNvPr id="91" name="Shape 88"/>
          <p:cNvSpPr/>
          <p:nvPr/>
        </p:nvSpPr>
        <p:spPr>
          <a:xfrm>
            <a:off x="6652260" y="2944368"/>
            <a:ext cx="379476" cy="438912"/>
          </a:xfrm>
          <a:prstGeom prst="rect">
            <a:avLst/>
          </a:prstGeom>
          <a:solidFill>
            <a:srgbClr val="0B2545"/>
          </a:solidFill>
          <a:ln w="12700">
            <a:solidFill>
              <a:srgbClr val="0B2545"/>
            </a:solidFill>
            <a:prstDash val="solid"/>
          </a:ln>
        </p:spPr>
      </p:sp>
      <p:sp>
        <p:nvSpPr>
          <p:cNvPr id="92" name="Text 89"/>
          <p:cNvSpPr/>
          <p:nvPr/>
        </p:nvSpPr>
        <p:spPr>
          <a:xfrm>
            <a:off x="6652260"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L</a:t>
            </a:r>
            <a:endParaRPr lang="en-US" sz="1050" dirty="0"/>
          </a:p>
        </p:txBody>
      </p:sp>
      <p:sp>
        <p:nvSpPr>
          <p:cNvPr id="93" name="Shape 90"/>
          <p:cNvSpPr/>
          <p:nvPr/>
        </p:nvSpPr>
        <p:spPr>
          <a:xfrm>
            <a:off x="7059168" y="2944368"/>
            <a:ext cx="379476" cy="438912"/>
          </a:xfrm>
          <a:prstGeom prst="rect">
            <a:avLst/>
          </a:prstGeom>
          <a:solidFill>
            <a:srgbClr val="0B2545"/>
          </a:solidFill>
          <a:ln w="12700">
            <a:solidFill>
              <a:srgbClr val="0B2545"/>
            </a:solidFill>
            <a:prstDash val="solid"/>
          </a:ln>
        </p:spPr>
      </p:sp>
      <p:sp>
        <p:nvSpPr>
          <p:cNvPr id="94" name="Text 91"/>
          <p:cNvSpPr/>
          <p:nvPr/>
        </p:nvSpPr>
        <p:spPr>
          <a:xfrm>
            <a:off x="7059168"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M</a:t>
            </a:r>
            <a:endParaRPr lang="en-US" sz="1050" dirty="0"/>
          </a:p>
        </p:txBody>
      </p:sp>
      <p:sp>
        <p:nvSpPr>
          <p:cNvPr id="95" name="Shape 92"/>
          <p:cNvSpPr/>
          <p:nvPr/>
        </p:nvSpPr>
        <p:spPr>
          <a:xfrm>
            <a:off x="7466076" y="2944368"/>
            <a:ext cx="379476" cy="438912"/>
          </a:xfrm>
          <a:prstGeom prst="rect">
            <a:avLst/>
          </a:prstGeom>
          <a:solidFill>
            <a:srgbClr val="0B2545"/>
          </a:solidFill>
          <a:ln w="12700">
            <a:solidFill>
              <a:srgbClr val="0B2545"/>
            </a:solidFill>
            <a:prstDash val="solid"/>
          </a:ln>
        </p:spPr>
      </p:sp>
      <p:sp>
        <p:nvSpPr>
          <p:cNvPr id="96" name="Text 93"/>
          <p:cNvSpPr/>
          <p:nvPr/>
        </p:nvSpPr>
        <p:spPr>
          <a:xfrm>
            <a:off x="7466076"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N</a:t>
            </a:r>
            <a:endParaRPr lang="en-US" sz="1050" dirty="0"/>
          </a:p>
        </p:txBody>
      </p:sp>
      <p:sp>
        <p:nvSpPr>
          <p:cNvPr id="97" name="Shape 94"/>
          <p:cNvSpPr/>
          <p:nvPr/>
        </p:nvSpPr>
        <p:spPr>
          <a:xfrm>
            <a:off x="7872984" y="2944368"/>
            <a:ext cx="379476" cy="438912"/>
          </a:xfrm>
          <a:prstGeom prst="rect">
            <a:avLst/>
          </a:prstGeom>
          <a:solidFill>
            <a:srgbClr val="0B2545"/>
          </a:solidFill>
          <a:ln w="12700">
            <a:solidFill>
              <a:srgbClr val="0B2545"/>
            </a:solidFill>
            <a:prstDash val="solid"/>
          </a:ln>
        </p:spPr>
      </p:sp>
      <p:sp>
        <p:nvSpPr>
          <p:cNvPr id="98" name="Text 95"/>
          <p:cNvSpPr/>
          <p:nvPr/>
        </p:nvSpPr>
        <p:spPr>
          <a:xfrm>
            <a:off x="7872984"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P</a:t>
            </a:r>
            <a:endParaRPr lang="en-US" sz="1050" dirty="0"/>
          </a:p>
        </p:txBody>
      </p:sp>
      <p:sp>
        <p:nvSpPr>
          <p:cNvPr id="99" name="Shape 96"/>
          <p:cNvSpPr/>
          <p:nvPr/>
        </p:nvSpPr>
        <p:spPr>
          <a:xfrm>
            <a:off x="8279892" y="2944368"/>
            <a:ext cx="379476" cy="438912"/>
          </a:xfrm>
          <a:prstGeom prst="rect">
            <a:avLst/>
          </a:prstGeom>
          <a:solidFill>
            <a:srgbClr val="0B2545"/>
          </a:solidFill>
          <a:ln w="12700">
            <a:solidFill>
              <a:srgbClr val="0B2545"/>
            </a:solidFill>
            <a:prstDash val="solid"/>
          </a:ln>
        </p:spPr>
      </p:sp>
      <p:sp>
        <p:nvSpPr>
          <p:cNvPr id="100" name="Text 97"/>
          <p:cNvSpPr/>
          <p:nvPr/>
        </p:nvSpPr>
        <p:spPr>
          <a:xfrm>
            <a:off x="8279892"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Q</a:t>
            </a:r>
            <a:endParaRPr lang="en-US" sz="1050" dirty="0"/>
          </a:p>
        </p:txBody>
      </p:sp>
      <p:sp>
        <p:nvSpPr>
          <p:cNvPr id="101" name="Shape 98"/>
          <p:cNvSpPr/>
          <p:nvPr/>
        </p:nvSpPr>
        <p:spPr>
          <a:xfrm>
            <a:off x="8686800" y="2944368"/>
            <a:ext cx="379476" cy="438912"/>
          </a:xfrm>
          <a:prstGeom prst="rect">
            <a:avLst/>
          </a:prstGeom>
          <a:solidFill>
            <a:srgbClr val="0B2545"/>
          </a:solidFill>
          <a:ln w="12700">
            <a:solidFill>
              <a:srgbClr val="0B2545"/>
            </a:solidFill>
            <a:prstDash val="solid"/>
          </a:ln>
        </p:spPr>
      </p:sp>
      <p:sp>
        <p:nvSpPr>
          <p:cNvPr id="102" name="Text 99"/>
          <p:cNvSpPr/>
          <p:nvPr/>
        </p:nvSpPr>
        <p:spPr>
          <a:xfrm>
            <a:off x="8686800"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S</a:t>
            </a:r>
            <a:endParaRPr lang="en-US" sz="1050" dirty="0"/>
          </a:p>
        </p:txBody>
      </p:sp>
      <p:sp>
        <p:nvSpPr>
          <p:cNvPr id="103" name="Shape 100"/>
          <p:cNvSpPr/>
          <p:nvPr/>
        </p:nvSpPr>
        <p:spPr>
          <a:xfrm>
            <a:off x="9093708" y="2944368"/>
            <a:ext cx="379476" cy="438912"/>
          </a:xfrm>
          <a:prstGeom prst="rect">
            <a:avLst/>
          </a:prstGeom>
          <a:solidFill>
            <a:srgbClr val="0B2545"/>
          </a:solidFill>
          <a:ln w="12700">
            <a:solidFill>
              <a:srgbClr val="0B2545"/>
            </a:solidFill>
            <a:prstDash val="solid"/>
          </a:ln>
        </p:spPr>
      </p:sp>
      <p:sp>
        <p:nvSpPr>
          <p:cNvPr id="104" name="Text 101"/>
          <p:cNvSpPr/>
          <p:nvPr/>
        </p:nvSpPr>
        <p:spPr>
          <a:xfrm>
            <a:off x="9093708"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T</a:t>
            </a:r>
            <a:endParaRPr lang="en-US" sz="1050" dirty="0"/>
          </a:p>
        </p:txBody>
      </p:sp>
      <p:sp>
        <p:nvSpPr>
          <p:cNvPr id="105" name="Shape 102"/>
          <p:cNvSpPr/>
          <p:nvPr/>
        </p:nvSpPr>
        <p:spPr>
          <a:xfrm>
            <a:off x="9500616" y="2944368"/>
            <a:ext cx="379476" cy="438912"/>
          </a:xfrm>
          <a:prstGeom prst="rect">
            <a:avLst/>
          </a:prstGeom>
          <a:solidFill>
            <a:srgbClr val="0B2545"/>
          </a:solidFill>
          <a:ln w="12700">
            <a:solidFill>
              <a:srgbClr val="0B2545"/>
            </a:solidFill>
            <a:prstDash val="solid"/>
          </a:ln>
        </p:spPr>
      </p:sp>
      <p:sp>
        <p:nvSpPr>
          <p:cNvPr id="106" name="Text 103"/>
          <p:cNvSpPr/>
          <p:nvPr/>
        </p:nvSpPr>
        <p:spPr>
          <a:xfrm>
            <a:off x="9500616"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U</a:t>
            </a:r>
            <a:endParaRPr lang="en-US" sz="1050" dirty="0"/>
          </a:p>
        </p:txBody>
      </p:sp>
      <p:sp>
        <p:nvSpPr>
          <p:cNvPr id="107" name="Shape 104"/>
          <p:cNvSpPr/>
          <p:nvPr/>
        </p:nvSpPr>
        <p:spPr>
          <a:xfrm>
            <a:off x="9907524" y="2944368"/>
            <a:ext cx="379476" cy="438912"/>
          </a:xfrm>
          <a:prstGeom prst="rect">
            <a:avLst/>
          </a:prstGeom>
          <a:solidFill>
            <a:srgbClr val="0B2545"/>
          </a:solidFill>
          <a:ln w="12700">
            <a:solidFill>
              <a:srgbClr val="0B2545"/>
            </a:solidFill>
            <a:prstDash val="solid"/>
          </a:ln>
        </p:spPr>
      </p:sp>
      <p:sp>
        <p:nvSpPr>
          <p:cNvPr id="108" name="Text 105"/>
          <p:cNvSpPr/>
          <p:nvPr/>
        </p:nvSpPr>
        <p:spPr>
          <a:xfrm>
            <a:off x="9907524"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V</a:t>
            </a:r>
            <a:endParaRPr lang="en-US" sz="1050" dirty="0"/>
          </a:p>
        </p:txBody>
      </p:sp>
      <p:sp>
        <p:nvSpPr>
          <p:cNvPr id="109" name="Shape 106"/>
          <p:cNvSpPr/>
          <p:nvPr/>
        </p:nvSpPr>
        <p:spPr>
          <a:xfrm>
            <a:off x="10314432" y="2944368"/>
            <a:ext cx="379476" cy="438912"/>
          </a:xfrm>
          <a:prstGeom prst="rect">
            <a:avLst/>
          </a:prstGeom>
          <a:solidFill>
            <a:srgbClr val="0B2545"/>
          </a:solidFill>
          <a:ln w="12700">
            <a:solidFill>
              <a:srgbClr val="0B2545"/>
            </a:solidFill>
            <a:prstDash val="solid"/>
          </a:ln>
        </p:spPr>
      </p:sp>
      <p:sp>
        <p:nvSpPr>
          <p:cNvPr id="110" name="Text 107"/>
          <p:cNvSpPr/>
          <p:nvPr/>
        </p:nvSpPr>
        <p:spPr>
          <a:xfrm>
            <a:off x="10314432"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X</a:t>
            </a:r>
            <a:endParaRPr lang="en-US" sz="1050" dirty="0"/>
          </a:p>
        </p:txBody>
      </p:sp>
      <p:sp>
        <p:nvSpPr>
          <p:cNvPr id="111" name="Shape 108"/>
          <p:cNvSpPr/>
          <p:nvPr/>
        </p:nvSpPr>
        <p:spPr>
          <a:xfrm>
            <a:off x="10721340" y="2944368"/>
            <a:ext cx="379476" cy="438912"/>
          </a:xfrm>
          <a:prstGeom prst="rect">
            <a:avLst/>
          </a:prstGeom>
          <a:solidFill>
            <a:srgbClr val="0B2545"/>
          </a:solidFill>
          <a:ln w="12700">
            <a:solidFill>
              <a:srgbClr val="0B2545"/>
            </a:solidFill>
            <a:prstDash val="solid"/>
          </a:ln>
        </p:spPr>
      </p:sp>
      <p:sp>
        <p:nvSpPr>
          <p:cNvPr id="112" name="Text 109"/>
          <p:cNvSpPr/>
          <p:nvPr/>
        </p:nvSpPr>
        <p:spPr>
          <a:xfrm>
            <a:off x="10721340" y="2944368"/>
            <a:ext cx="379476" cy="438912"/>
          </a:xfrm>
          <a:prstGeom prst="rect">
            <a:avLst/>
          </a:prstGeom>
          <a:noFill/>
          <a:ln/>
        </p:spPr>
        <p:txBody>
          <a:bodyPr wrap="square"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Z</a:t>
            </a:r>
            <a:endParaRPr lang="en-US" sz="1050" dirty="0"/>
          </a:p>
        </p:txBody>
      </p:sp>
      <p:graphicFrame>
        <p:nvGraphicFramePr>
          <p:cNvPr id="113" name="Table 0"/>
          <p:cNvGraphicFramePr>
            <a:graphicFrameLocks noGrp="1"/>
          </p:cNvGraphicFramePr>
          <p:nvPr/>
        </p:nvGraphicFramePr>
        <p:xfrm>
          <a:off x="548640" y="3611880"/>
          <a:ext cx="10881360" cy="914400"/>
        </p:xfrm>
        <a:graphic>
          <a:graphicData uri="http://schemas.openxmlformats.org/drawingml/2006/table">
            <a:tbl>
              <a:tblPr/>
              <a:tblGrid>
                <a:gridCol w="2121408">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52728">
                  <a:extLst>
                    <a:ext uri="{9D8B030D-6E8A-4147-A177-3AD203B41FA5}">
                      <a16:colId xmlns:a16="http://schemas.microsoft.com/office/drawing/2014/main" val="20005"/>
                    </a:ext>
                  </a:extLst>
                </a:gridCol>
                <a:gridCol w="1252728">
                  <a:extLst>
                    <a:ext uri="{9D8B030D-6E8A-4147-A177-3AD203B41FA5}">
                      <a16:colId xmlns:a16="http://schemas.microsoft.com/office/drawing/2014/main" val="20006"/>
                    </a:ext>
                  </a:extLst>
                </a:gridCol>
                <a:gridCol w="1243584">
                  <a:extLst>
                    <a:ext uri="{9D8B030D-6E8A-4147-A177-3AD203B41FA5}">
                      <a16:colId xmlns:a16="http://schemas.microsoft.com/office/drawing/2014/main" val="20007"/>
                    </a:ext>
                  </a:extLst>
                </a:gridCol>
              </a:tblGrid>
              <a:tr h="457200">
                <a:tc>
                  <a:txBody>
                    <a:bodyPr/>
                    <a:lstStyle/>
                    <a:p>
                      <a:pPr marL="0" indent="0" algn="ctr">
                        <a:buNone/>
                      </a:pPr>
                      <a:r>
                        <a:rPr lang="en-US" sz="1200" b="1" dirty="0">
                          <a:solidFill>
                            <a:srgbClr val="FFFFFF"/>
                          </a:solidFill>
                        </a:rPr>
                        <a:t>Plaintext letter</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A</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L</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K</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I</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N</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D</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I</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57200">
                <a:tc>
                  <a:txBody>
                    <a:bodyPr/>
                    <a:lstStyle/>
                    <a:p>
                      <a:pPr marL="0" indent="0" algn="ctr">
                        <a:buNone/>
                      </a:pPr>
                      <a:r>
                        <a:rPr lang="en-US" sz="1200" b="1" dirty="0">
                          <a:solidFill>
                            <a:srgbClr val="16232E"/>
                          </a:solidFill>
                          <a:latin typeface="Calibri" pitchFamily="34" charset="0"/>
                          <a:ea typeface="Calibri" pitchFamily="34" charset="-122"/>
                          <a:cs typeface="Calibri" pitchFamily="34" charset="-120"/>
                        </a:rPr>
                        <a:t>Cipher letter</a:t>
                      </a:r>
                      <a:endParaRPr lang="en-US" sz="12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K</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G</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F</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I</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W</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6232E"/>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14" name="Shape 110"/>
          <p:cNvSpPr/>
          <p:nvPr/>
        </p:nvSpPr>
        <p:spPr>
          <a:xfrm>
            <a:off x="548640" y="4709160"/>
            <a:ext cx="10881360" cy="502920"/>
          </a:xfrm>
          <a:prstGeom prst="roundRect">
            <a:avLst>
              <a:gd name="adj" fmla="val 10909"/>
            </a:avLst>
          </a:prstGeom>
          <a:solidFill>
            <a:srgbClr val="0B2545"/>
          </a:solidFill>
          <a:ln/>
        </p:spPr>
      </p:sp>
      <p:sp>
        <p:nvSpPr>
          <p:cNvPr id="115" name="Text 111"/>
          <p:cNvSpPr/>
          <p:nvPr/>
        </p:nvSpPr>
        <p:spPr>
          <a:xfrm>
            <a:off x="685800" y="4709160"/>
            <a:ext cx="1060704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Result:  ALKINDI  →  KGFBIWB</a:t>
            </a:r>
            <a:endParaRPr lang="en-US" sz="1400" dirty="0"/>
          </a:p>
        </p:txBody>
      </p:sp>
      <p:sp>
        <p:nvSpPr>
          <p:cNvPr id="116" name="Shape 112"/>
          <p:cNvSpPr/>
          <p:nvPr/>
        </p:nvSpPr>
        <p:spPr>
          <a:xfrm>
            <a:off x="548640" y="5349240"/>
            <a:ext cx="10881360" cy="1051560"/>
          </a:xfrm>
          <a:prstGeom prst="roundRect">
            <a:avLst>
              <a:gd name="adj" fmla="val 6957"/>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17" name="Text 113"/>
          <p:cNvSpPr/>
          <p:nvPr/>
        </p:nvSpPr>
        <p:spPr>
          <a:xfrm>
            <a:off x="777240" y="5513832"/>
            <a:ext cx="10424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Strengths and weaknesses</a:t>
            </a:r>
            <a:endParaRPr lang="en-US" sz="1500" dirty="0"/>
          </a:p>
        </p:txBody>
      </p:sp>
      <p:sp>
        <p:nvSpPr>
          <p:cNvPr id="118" name="Text 114"/>
          <p:cNvSpPr/>
          <p:nvPr/>
        </p:nvSpPr>
        <p:spPr>
          <a:xfrm>
            <a:off x="777240" y="5879592"/>
            <a:ext cx="10424160" cy="32004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A keyword-derived alphabet is easy to memorize and reconstruct, and the full 26! possible permutations of the alphabet dwarf the tiny key spaces of Caesar or Affine. It remains a monoalphabetic substitution, however, so it is still fully vulnerable to standard frequency analysis.</a:t>
            </a:r>
            <a:endParaRPr lang="en-US" sz="1200" dirty="0"/>
          </a:p>
        </p:txBody>
      </p:sp>
      <p:sp>
        <p:nvSpPr>
          <p:cNvPr id="119" name="Text 115"/>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20" name="Text 116"/>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spTree>
    <p:extLst>
      <p:ext uri="{BB962C8B-B14F-4D97-AF65-F5344CB8AC3E}">
        <p14:creationId xmlns:p14="http://schemas.microsoft.com/office/powerpoint/2010/main" val="1943210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04 · SUPPLEMENT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Polyalphabetic Cipher — Introduction</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layergroup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40080" y="1737360"/>
            <a:ext cx="10515600" cy="3017520"/>
          </a:xfrm>
          <a:prstGeom prst="rect">
            <a:avLst/>
          </a:prstGeom>
          <a:noFill/>
          <a:ln/>
        </p:spPr>
        <p:txBody>
          <a:bodyPr wrap="square" rtlCol="0" anchor="t"/>
          <a:lstStyle/>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The Polyalphabetic Cipher is a method of encrypting alphabetic text by using a repeating keyword.</a:t>
            </a:r>
            <a:endParaRPr lang="en-US" sz="1500" dirty="0"/>
          </a:p>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This cipher uses multiple one-character keys.</a:t>
            </a:r>
            <a:endParaRPr lang="en-US" sz="1500" dirty="0"/>
          </a:p>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Each letter of the keyword determines the Caesar shift for the corresponding letter in the plaintext.</a:t>
            </a:r>
            <a:endParaRPr lang="en-US" sz="1500" dirty="0"/>
          </a:p>
        </p:txBody>
      </p:sp>
      <p:sp>
        <p:nvSpPr>
          <p:cNvPr id="7" name="Shape 4"/>
          <p:cNvSpPr/>
          <p:nvPr/>
        </p:nvSpPr>
        <p:spPr>
          <a:xfrm>
            <a:off x="548640" y="5029200"/>
            <a:ext cx="10881360" cy="1325880"/>
          </a:xfrm>
          <a:prstGeom prst="roundRect">
            <a:avLst>
              <a:gd name="adj" fmla="val 5517"/>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8" name="Text 5"/>
          <p:cNvSpPr/>
          <p:nvPr/>
        </p:nvSpPr>
        <p:spPr>
          <a:xfrm>
            <a:off x="777240" y="5193792"/>
            <a:ext cx="1042416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Worked example in this section</a:t>
            </a:r>
            <a:endParaRPr lang="en-US" sz="1500" dirty="0"/>
          </a:p>
        </p:txBody>
      </p:sp>
      <p:sp>
        <p:nvSpPr>
          <p:cNvPr id="9" name="Text 6"/>
          <p:cNvSpPr/>
          <p:nvPr/>
        </p:nvSpPr>
        <p:spPr>
          <a:xfrm>
            <a:off x="777240" y="5559552"/>
            <a:ext cx="10424160" cy="59436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The following slides work through a second, fully numeric worked example of the same underlying method shown earlier — plaintext "ATTACKATDAWN" with keyword "LEMON" — using an explicit letter-to-number, apply-formula, number-to-letter procedure.</a:t>
            </a:r>
            <a:endParaRPr lang="en-US" sz="1200" dirty="0"/>
          </a:p>
        </p:txBody>
      </p:sp>
      <p:sp>
        <p:nvSpPr>
          <p:cNvPr id="10" name="Text 7"/>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1" name="Text 8"/>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04 · SUPPLEMENT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Polyalphabetic Cipher — Problem Setup</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usersecret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10881360" cy="1234440"/>
          </a:xfrm>
          <a:prstGeom prst="rect">
            <a:avLst/>
          </a:prstGeom>
          <a:noFill/>
          <a:ln/>
        </p:spPr>
        <p:txBody>
          <a:bodyPr wrap="square" rtlCol="0" anchor="t"/>
          <a:lstStyle/>
          <a:p>
            <a:pPr marL="0" indent="0">
              <a:spcAft>
                <a:spcPts val="800"/>
              </a:spcAft>
              <a:buNone/>
            </a:pPr>
            <a:r>
              <a:rPr lang="en-US" sz="1300" dirty="0">
                <a:solidFill>
                  <a:srgbClr val="16232E"/>
                </a:solidFill>
                <a:latin typeface="Calibri" pitchFamily="34" charset="0"/>
                <a:ea typeface="Calibri" pitchFamily="34" charset="-122"/>
                <a:cs typeface="Calibri" pitchFamily="34" charset="-120"/>
              </a:rPr>
              <a:t>Let's take an example to understand the Polyalphabetic Cipher.</a:t>
            </a:r>
            <a:endParaRPr lang="en-US" sz="1300" dirty="0"/>
          </a:p>
          <a:p>
            <a:pPr marL="0" indent="0">
              <a:spcAft>
                <a:spcPts val="600"/>
              </a:spcAft>
              <a:buNone/>
            </a:pPr>
            <a:r>
              <a:rPr lang="en-US" sz="1400" b="1" dirty="0">
                <a:solidFill>
                  <a:srgbClr val="0B2545"/>
                </a:solidFill>
                <a:latin typeface="Calibri" pitchFamily="34" charset="0"/>
                <a:ea typeface="Calibri" pitchFamily="34" charset="-122"/>
                <a:cs typeface="Calibri" pitchFamily="34" charset="-120"/>
              </a:rPr>
              <a:t>Encrypt plaintext: ATTACKATDAWN</a:t>
            </a:r>
            <a:endParaRPr lang="en-US" sz="1300" dirty="0"/>
          </a:p>
          <a:p>
            <a:pPr marL="0" indent="0">
              <a:buNone/>
            </a:pPr>
            <a:r>
              <a:rPr lang="en-US" sz="1400" b="1" dirty="0">
                <a:solidFill>
                  <a:srgbClr val="0B2545"/>
                </a:solidFill>
                <a:latin typeface="Calibri" pitchFamily="34" charset="0"/>
                <a:ea typeface="Calibri" pitchFamily="34" charset="-122"/>
                <a:cs typeface="Calibri" pitchFamily="34" charset="-120"/>
              </a:rPr>
              <a:t>Using the keyword: LEMON</a:t>
            </a:r>
            <a:endParaRPr lang="en-US" sz="1300" dirty="0"/>
          </a:p>
        </p:txBody>
      </p:sp>
      <p:sp>
        <p:nvSpPr>
          <p:cNvPr id="7" name="Text 4"/>
          <p:cNvSpPr/>
          <p:nvPr/>
        </p:nvSpPr>
        <p:spPr>
          <a:xfrm>
            <a:off x="548640" y="2880360"/>
            <a:ext cx="10881360" cy="274320"/>
          </a:xfrm>
          <a:prstGeom prst="rect">
            <a:avLst/>
          </a:prstGeom>
          <a:noFill/>
          <a:ln/>
        </p:spPr>
        <p:txBody>
          <a:bodyPr wrap="square" rtlCol="0" anchor="ctr"/>
          <a:lstStyle/>
          <a:p>
            <a:pPr marL="0" indent="0">
              <a:buNone/>
            </a:pPr>
            <a:r>
              <a:rPr lang="en-US" sz="1150" i="1" dirty="0">
                <a:solidFill>
                  <a:srgbClr val="5A6B7B"/>
                </a:solidFill>
                <a:latin typeface="Calibri" pitchFamily="34" charset="0"/>
                <a:ea typeface="Calibri" pitchFamily="34" charset="-122"/>
                <a:cs typeface="Calibri" pitchFamily="34" charset="-120"/>
              </a:rPr>
              <a:t>Reference substitution table (reproduced as presented in the source material):</a:t>
            </a:r>
            <a:endParaRPr lang="en-US" sz="1150" dirty="0"/>
          </a:p>
        </p:txBody>
      </p:sp>
      <p:sp>
        <p:nvSpPr>
          <p:cNvPr id="8" name="Text 5"/>
          <p:cNvSpPr/>
          <p:nvPr/>
        </p:nvSpPr>
        <p:spPr>
          <a:xfrm>
            <a:off x="548640" y="3246120"/>
            <a:ext cx="2011680" cy="438912"/>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Plaintext Alphabet</a:t>
            </a:r>
            <a:endParaRPr lang="en-US" sz="1000" dirty="0"/>
          </a:p>
        </p:txBody>
      </p:sp>
      <p:sp>
        <p:nvSpPr>
          <p:cNvPr id="9" name="Shape 6"/>
          <p:cNvSpPr/>
          <p:nvPr/>
        </p:nvSpPr>
        <p:spPr>
          <a:xfrm>
            <a:off x="2651760" y="3246120"/>
            <a:ext cx="658368" cy="438912"/>
          </a:xfrm>
          <a:prstGeom prst="rect">
            <a:avLst/>
          </a:prstGeom>
          <a:solidFill>
            <a:srgbClr val="FFFFFF"/>
          </a:solidFill>
          <a:ln w="12700">
            <a:solidFill>
              <a:srgbClr val="0B2545"/>
            </a:solidFill>
            <a:prstDash val="solid"/>
          </a:ln>
        </p:spPr>
      </p:sp>
      <p:sp>
        <p:nvSpPr>
          <p:cNvPr id="10" name="Text 7"/>
          <p:cNvSpPr/>
          <p:nvPr/>
        </p:nvSpPr>
        <p:spPr>
          <a:xfrm>
            <a:off x="26517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A</a:t>
            </a:r>
            <a:endParaRPr lang="en-US" sz="1200" dirty="0"/>
          </a:p>
        </p:txBody>
      </p:sp>
      <p:sp>
        <p:nvSpPr>
          <p:cNvPr id="11" name="Shape 8"/>
          <p:cNvSpPr/>
          <p:nvPr/>
        </p:nvSpPr>
        <p:spPr>
          <a:xfrm>
            <a:off x="3337560" y="3246120"/>
            <a:ext cx="658368" cy="438912"/>
          </a:xfrm>
          <a:prstGeom prst="rect">
            <a:avLst/>
          </a:prstGeom>
          <a:solidFill>
            <a:srgbClr val="FFFFFF"/>
          </a:solidFill>
          <a:ln w="12700">
            <a:solidFill>
              <a:srgbClr val="0B2545"/>
            </a:solidFill>
            <a:prstDash val="solid"/>
          </a:ln>
        </p:spPr>
      </p:sp>
      <p:sp>
        <p:nvSpPr>
          <p:cNvPr id="12" name="Text 9"/>
          <p:cNvSpPr/>
          <p:nvPr/>
        </p:nvSpPr>
        <p:spPr>
          <a:xfrm>
            <a:off x="33375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B</a:t>
            </a:r>
            <a:endParaRPr lang="en-US" sz="1200" dirty="0"/>
          </a:p>
        </p:txBody>
      </p:sp>
      <p:sp>
        <p:nvSpPr>
          <p:cNvPr id="13" name="Shape 10"/>
          <p:cNvSpPr/>
          <p:nvPr/>
        </p:nvSpPr>
        <p:spPr>
          <a:xfrm>
            <a:off x="4023360" y="3246120"/>
            <a:ext cx="658368" cy="438912"/>
          </a:xfrm>
          <a:prstGeom prst="rect">
            <a:avLst/>
          </a:prstGeom>
          <a:solidFill>
            <a:srgbClr val="FFFFFF"/>
          </a:solidFill>
          <a:ln w="12700">
            <a:solidFill>
              <a:srgbClr val="0B2545"/>
            </a:solidFill>
            <a:prstDash val="solid"/>
          </a:ln>
        </p:spPr>
      </p:sp>
      <p:sp>
        <p:nvSpPr>
          <p:cNvPr id="14" name="Text 11"/>
          <p:cNvSpPr/>
          <p:nvPr/>
        </p:nvSpPr>
        <p:spPr>
          <a:xfrm>
            <a:off x="40233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C</a:t>
            </a:r>
            <a:endParaRPr lang="en-US" sz="1200" dirty="0"/>
          </a:p>
        </p:txBody>
      </p:sp>
      <p:sp>
        <p:nvSpPr>
          <p:cNvPr id="15" name="Shape 12"/>
          <p:cNvSpPr/>
          <p:nvPr/>
        </p:nvSpPr>
        <p:spPr>
          <a:xfrm>
            <a:off x="4709160" y="3246120"/>
            <a:ext cx="658368" cy="438912"/>
          </a:xfrm>
          <a:prstGeom prst="rect">
            <a:avLst/>
          </a:prstGeom>
          <a:solidFill>
            <a:srgbClr val="FFFFFF"/>
          </a:solidFill>
          <a:ln w="12700">
            <a:solidFill>
              <a:srgbClr val="0B2545"/>
            </a:solidFill>
            <a:prstDash val="solid"/>
          </a:ln>
        </p:spPr>
      </p:sp>
      <p:sp>
        <p:nvSpPr>
          <p:cNvPr id="16" name="Text 13"/>
          <p:cNvSpPr/>
          <p:nvPr/>
        </p:nvSpPr>
        <p:spPr>
          <a:xfrm>
            <a:off x="47091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D</a:t>
            </a:r>
            <a:endParaRPr lang="en-US" sz="1200" dirty="0"/>
          </a:p>
        </p:txBody>
      </p:sp>
      <p:sp>
        <p:nvSpPr>
          <p:cNvPr id="17" name="Shape 14"/>
          <p:cNvSpPr/>
          <p:nvPr/>
        </p:nvSpPr>
        <p:spPr>
          <a:xfrm>
            <a:off x="5394960" y="3246120"/>
            <a:ext cx="658368" cy="438912"/>
          </a:xfrm>
          <a:prstGeom prst="rect">
            <a:avLst/>
          </a:prstGeom>
          <a:solidFill>
            <a:srgbClr val="FFFFFF"/>
          </a:solidFill>
          <a:ln w="12700">
            <a:solidFill>
              <a:srgbClr val="0B2545"/>
            </a:solidFill>
            <a:prstDash val="solid"/>
          </a:ln>
        </p:spPr>
      </p:sp>
      <p:sp>
        <p:nvSpPr>
          <p:cNvPr id="18" name="Text 15"/>
          <p:cNvSpPr/>
          <p:nvPr/>
        </p:nvSpPr>
        <p:spPr>
          <a:xfrm>
            <a:off x="53949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E</a:t>
            </a:r>
            <a:endParaRPr lang="en-US" sz="1200" dirty="0"/>
          </a:p>
        </p:txBody>
      </p:sp>
      <p:sp>
        <p:nvSpPr>
          <p:cNvPr id="19" name="Shape 16"/>
          <p:cNvSpPr/>
          <p:nvPr/>
        </p:nvSpPr>
        <p:spPr>
          <a:xfrm>
            <a:off x="6080760" y="3246120"/>
            <a:ext cx="658368" cy="438912"/>
          </a:xfrm>
          <a:prstGeom prst="rect">
            <a:avLst/>
          </a:prstGeom>
          <a:solidFill>
            <a:srgbClr val="FFFFFF"/>
          </a:solidFill>
          <a:ln w="12700">
            <a:solidFill>
              <a:srgbClr val="0B2545"/>
            </a:solidFill>
            <a:prstDash val="solid"/>
          </a:ln>
        </p:spPr>
      </p:sp>
      <p:sp>
        <p:nvSpPr>
          <p:cNvPr id="20" name="Text 17"/>
          <p:cNvSpPr/>
          <p:nvPr/>
        </p:nvSpPr>
        <p:spPr>
          <a:xfrm>
            <a:off x="60807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F</a:t>
            </a:r>
            <a:endParaRPr lang="en-US" sz="1200" dirty="0"/>
          </a:p>
        </p:txBody>
      </p:sp>
      <p:sp>
        <p:nvSpPr>
          <p:cNvPr id="21" name="Shape 18"/>
          <p:cNvSpPr/>
          <p:nvPr/>
        </p:nvSpPr>
        <p:spPr>
          <a:xfrm>
            <a:off x="6766560" y="3246120"/>
            <a:ext cx="658368" cy="438912"/>
          </a:xfrm>
          <a:prstGeom prst="rect">
            <a:avLst/>
          </a:prstGeom>
          <a:solidFill>
            <a:srgbClr val="FFFFFF"/>
          </a:solidFill>
          <a:ln w="12700">
            <a:solidFill>
              <a:srgbClr val="0B2545"/>
            </a:solidFill>
            <a:prstDash val="solid"/>
          </a:ln>
        </p:spPr>
      </p:sp>
      <p:sp>
        <p:nvSpPr>
          <p:cNvPr id="22" name="Text 19"/>
          <p:cNvSpPr/>
          <p:nvPr/>
        </p:nvSpPr>
        <p:spPr>
          <a:xfrm>
            <a:off x="67665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G</a:t>
            </a:r>
            <a:endParaRPr lang="en-US" sz="1200" dirty="0"/>
          </a:p>
        </p:txBody>
      </p:sp>
      <p:sp>
        <p:nvSpPr>
          <p:cNvPr id="23" name="Shape 20"/>
          <p:cNvSpPr/>
          <p:nvPr/>
        </p:nvSpPr>
        <p:spPr>
          <a:xfrm>
            <a:off x="7452360" y="3246120"/>
            <a:ext cx="658368" cy="438912"/>
          </a:xfrm>
          <a:prstGeom prst="rect">
            <a:avLst/>
          </a:prstGeom>
          <a:solidFill>
            <a:srgbClr val="FFFFFF"/>
          </a:solidFill>
          <a:ln w="12700">
            <a:solidFill>
              <a:srgbClr val="0B2545"/>
            </a:solidFill>
            <a:prstDash val="solid"/>
          </a:ln>
        </p:spPr>
      </p:sp>
      <p:sp>
        <p:nvSpPr>
          <p:cNvPr id="24" name="Text 21"/>
          <p:cNvSpPr/>
          <p:nvPr/>
        </p:nvSpPr>
        <p:spPr>
          <a:xfrm>
            <a:off x="74523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H</a:t>
            </a:r>
            <a:endParaRPr lang="en-US" sz="1200" dirty="0"/>
          </a:p>
        </p:txBody>
      </p:sp>
      <p:sp>
        <p:nvSpPr>
          <p:cNvPr id="25" name="Shape 22"/>
          <p:cNvSpPr/>
          <p:nvPr/>
        </p:nvSpPr>
        <p:spPr>
          <a:xfrm>
            <a:off x="8138160" y="3246120"/>
            <a:ext cx="658368" cy="438912"/>
          </a:xfrm>
          <a:prstGeom prst="rect">
            <a:avLst/>
          </a:prstGeom>
          <a:solidFill>
            <a:srgbClr val="FFFFFF"/>
          </a:solidFill>
          <a:ln w="12700">
            <a:solidFill>
              <a:srgbClr val="0B2545"/>
            </a:solidFill>
            <a:prstDash val="solid"/>
          </a:ln>
        </p:spPr>
      </p:sp>
      <p:sp>
        <p:nvSpPr>
          <p:cNvPr id="26" name="Text 23"/>
          <p:cNvSpPr/>
          <p:nvPr/>
        </p:nvSpPr>
        <p:spPr>
          <a:xfrm>
            <a:off x="81381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I</a:t>
            </a:r>
            <a:endParaRPr lang="en-US" sz="1200" dirty="0"/>
          </a:p>
        </p:txBody>
      </p:sp>
      <p:sp>
        <p:nvSpPr>
          <p:cNvPr id="27" name="Shape 24"/>
          <p:cNvSpPr/>
          <p:nvPr/>
        </p:nvSpPr>
        <p:spPr>
          <a:xfrm>
            <a:off x="8823960" y="3246120"/>
            <a:ext cx="658368" cy="438912"/>
          </a:xfrm>
          <a:prstGeom prst="rect">
            <a:avLst/>
          </a:prstGeom>
          <a:solidFill>
            <a:srgbClr val="FFFFFF"/>
          </a:solidFill>
          <a:ln w="12700">
            <a:solidFill>
              <a:srgbClr val="0B2545"/>
            </a:solidFill>
            <a:prstDash val="solid"/>
          </a:ln>
        </p:spPr>
      </p:sp>
      <p:sp>
        <p:nvSpPr>
          <p:cNvPr id="28" name="Text 25"/>
          <p:cNvSpPr/>
          <p:nvPr/>
        </p:nvSpPr>
        <p:spPr>
          <a:xfrm>
            <a:off x="88239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J</a:t>
            </a:r>
            <a:endParaRPr lang="en-US" sz="1200" dirty="0"/>
          </a:p>
        </p:txBody>
      </p:sp>
      <p:sp>
        <p:nvSpPr>
          <p:cNvPr id="29" name="Shape 26"/>
          <p:cNvSpPr/>
          <p:nvPr/>
        </p:nvSpPr>
        <p:spPr>
          <a:xfrm>
            <a:off x="9509760" y="3246120"/>
            <a:ext cx="658368" cy="438912"/>
          </a:xfrm>
          <a:prstGeom prst="rect">
            <a:avLst/>
          </a:prstGeom>
          <a:solidFill>
            <a:srgbClr val="FFFFFF"/>
          </a:solidFill>
          <a:ln w="12700">
            <a:solidFill>
              <a:srgbClr val="0B2545"/>
            </a:solidFill>
            <a:prstDash val="solid"/>
          </a:ln>
        </p:spPr>
      </p:sp>
      <p:sp>
        <p:nvSpPr>
          <p:cNvPr id="30" name="Text 27"/>
          <p:cNvSpPr/>
          <p:nvPr/>
        </p:nvSpPr>
        <p:spPr>
          <a:xfrm>
            <a:off x="95097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K</a:t>
            </a:r>
            <a:endParaRPr lang="en-US" sz="1200" dirty="0"/>
          </a:p>
        </p:txBody>
      </p:sp>
      <p:sp>
        <p:nvSpPr>
          <p:cNvPr id="31" name="Shape 28"/>
          <p:cNvSpPr/>
          <p:nvPr/>
        </p:nvSpPr>
        <p:spPr>
          <a:xfrm>
            <a:off x="10195560" y="3246120"/>
            <a:ext cx="658368" cy="438912"/>
          </a:xfrm>
          <a:prstGeom prst="rect">
            <a:avLst/>
          </a:prstGeom>
          <a:solidFill>
            <a:srgbClr val="FFFFFF"/>
          </a:solidFill>
          <a:ln w="12700">
            <a:solidFill>
              <a:srgbClr val="0B2545"/>
            </a:solidFill>
            <a:prstDash val="solid"/>
          </a:ln>
        </p:spPr>
      </p:sp>
      <p:sp>
        <p:nvSpPr>
          <p:cNvPr id="32" name="Text 29"/>
          <p:cNvSpPr/>
          <p:nvPr/>
        </p:nvSpPr>
        <p:spPr>
          <a:xfrm>
            <a:off x="101955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L</a:t>
            </a:r>
            <a:endParaRPr lang="en-US" sz="1200" dirty="0"/>
          </a:p>
        </p:txBody>
      </p:sp>
      <p:sp>
        <p:nvSpPr>
          <p:cNvPr id="33" name="Shape 30"/>
          <p:cNvSpPr/>
          <p:nvPr/>
        </p:nvSpPr>
        <p:spPr>
          <a:xfrm>
            <a:off x="10881360" y="3246120"/>
            <a:ext cx="658368" cy="438912"/>
          </a:xfrm>
          <a:prstGeom prst="rect">
            <a:avLst/>
          </a:prstGeom>
          <a:solidFill>
            <a:srgbClr val="FFFFFF"/>
          </a:solidFill>
          <a:ln w="12700">
            <a:solidFill>
              <a:srgbClr val="0B2545"/>
            </a:solidFill>
            <a:prstDash val="solid"/>
          </a:ln>
        </p:spPr>
      </p:sp>
      <p:sp>
        <p:nvSpPr>
          <p:cNvPr id="34" name="Text 31"/>
          <p:cNvSpPr/>
          <p:nvPr/>
        </p:nvSpPr>
        <p:spPr>
          <a:xfrm>
            <a:off x="10881360" y="32461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M</a:t>
            </a:r>
            <a:endParaRPr lang="en-US" sz="1200" dirty="0"/>
          </a:p>
        </p:txBody>
      </p:sp>
      <p:sp>
        <p:nvSpPr>
          <p:cNvPr id="35" name="Text 32"/>
          <p:cNvSpPr/>
          <p:nvPr/>
        </p:nvSpPr>
        <p:spPr>
          <a:xfrm>
            <a:off x="548640" y="3703320"/>
            <a:ext cx="2011680" cy="438912"/>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Ciphertext Alphabet</a:t>
            </a:r>
            <a:endParaRPr lang="en-US" sz="1000" dirty="0"/>
          </a:p>
        </p:txBody>
      </p:sp>
      <p:sp>
        <p:nvSpPr>
          <p:cNvPr id="36" name="Shape 33"/>
          <p:cNvSpPr/>
          <p:nvPr/>
        </p:nvSpPr>
        <p:spPr>
          <a:xfrm>
            <a:off x="2651760" y="3703320"/>
            <a:ext cx="658368" cy="438912"/>
          </a:xfrm>
          <a:prstGeom prst="rect">
            <a:avLst/>
          </a:prstGeom>
          <a:solidFill>
            <a:srgbClr val="EAF0F6"/>
          </a:solidFill>
          <a:ln w="12700">
            <a:solidFill>
              <a:srgbClr val="0B2545"/>
            </a:solidFill>
            <a:prstDash val="solid"/>
          </a:ln>
        </p:spPr>
      </p:sp>
      <p:sp>
        <p:nvSpPr>
          <p:cNvPr id="37" name="Text 34"/>
          <p:cNvSpPr/>
          <p:nvPr/>
        </p:nvSpPr>
        <p:spPr>
          <a:xfrm>
            <a:off x="26517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Q</a:t>
            </a:r>
            <a:endParaRPr lang="en-US" sz="1200" dirty="0"/>
          </a:p>
        </p:txBody>
      </p:sp>
      <p:sp>
        <p:nvSpPr>
          <p:cNvPr id="38" name="Shape 35"/>
          <p:cNvSpPr/>
          <p:nvPr/>
        </p:nvSpPr>
        <p:spPr>
          <a:xfrm>
            <a:off x="3337560" y="3703320"/>
            <a:ext cx="658368" cy="438912"/>
          </a:xfrm>
          <a:prstGeom prst="rect">
            <a:avLst/>
          </a:prstGeom>
          <a:solidFill>
            <a:srgbClr val="EAF0F6"/>
          </a:solidFill>
          <a:ln w="12700">
            <a:solidFill>
              <a:srgbClr val="0B2545"/>
            </a:solidFill>
            <a:prstDash val="solid"/>
          </a:ln>
        </p:spPr>
      </p:sp>
      <p:sp>
        <p:nvSpPr>
          <p:cNvPr id="39" name="Text 36"/>
          <p:cNvSpPr/>
          <p:nvPr/>
        </p:nvSpPr>
        <p:spPr>
          <a:xfrm>
            <a:off x="33375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W</a:t>
            </a:r>
            <a:endParaRPr lang="en-US" sz="1200" dirty="0"/>
          </a:p>
        </p:txBody>
      </p:sp>
      <p:sp>
        <p:nvSpPr>
          <p:cNvPr id="40" name="Shape 37"/>
          <p:cNvSpPr/>
          <p:nvPr/>
        </p:nvSpPr>
        <p:spPr>
          <a:xfrm>
            <a:off x="4023360" y="3703320"/>
            <a:ext cx="658368" cy="438912"/>
          </a:xfrm>
          <a:prstGeom prst="rect">
            <a:avLst/>
          </a:prstGeom>
          <a:solidFill>
            <a:srgbClr val="EAF0F6"/>
          </a:solidFill>
          <a:ln w="12700">
            <a:solidFill>
              <a:srgbClr val="0B2545"/>
            </a:solidFill>
            <a:prstDash val="solid"/>
          </a:ln>
        </p:spPr>
      </p:sp>
      <p:sp>
        <p:nvSpPr>
          <p:cNvPr id="41" name="Text 38"/>
          <p:cNvSpPr/>
          <p:nvPr/>
        </p:nvSpPr>
        <p:spPr>
          <a:xfrm>
            <a:off x="40233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E</a:t>
            </a:r>
            <a:endParaRPr lang="en-US" sz="1200" dirty="0"/>
          </a:p>
        </p:txBody>
      </p:sp>
      <p:sp>
        <p:nvSpPr>
          <p:cNvPr id="42" name="Shape 39"/>
          <p:cNvSpPr/>
          <p:nvPr/>
        </p:nvSpPr>
        <p:spPr>
          <a:xfrm>
            <a:off x="4709160" y="3703320"/>
            <a:ext cx="658368" cy="438912"/>
          </a:xfrm>
          <a:prstGeom prst="rect">
            <a:avLst/>
          </a:prstGeom>
          <a:solidFill>
            <a:srgbClr val="EAF0F6"/>
          </a:solidFill>
          <a:ln w="12700">
            <a:solidFill>
              <a:srgbClr val="0B2545"/>
            </a:solidFill>
            <a:prstDash val="solid"/>
          </a:ln>
        </p:spPr>
      </p:sp>
      <p:sp>
        <p:nvSpPr>
          <p:cNvPr id="43" name="Text 40"/>
          <p:cNvSpPr/>
          <p:nvPr/>
        </p:nvSpPr>
        <p:spPr>
          <a:xfrm>
            <a:off x="47091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R</a:t>
            </a:r>
            <a:endParaRPr lang="en-US" sz="1200" dirty="0"/>
          </a:p>
        </p:txBody>
      </p:sp>
      <p:sp>
        <p:nvSpPr>
          <p:cNvPr id="44" name="Shape 41"/>
          <p:cNvSpPr/>
          <p:nvPr/>
        </p:nvSpPr>
        <p:spPr>
          <a:xfrm>
            <a:off x="5394960" y="3703320"/>
            <a:ext cx="658368" cy="438912"/>
          </a:xfrm>
          <a:prstGeom prst="rect">
            <a:avLst/>
          </a:prstGeom>
          <a:solidFill>
            <a:srgbClr val="EAF0F6"/>
          </a:solidFill>
          <a:ln w="12700">
            <a:solidFill>
              <a:srgbClr val="0B2545"/>
            </a:solidFill>
            <a:prstDash val="solid"/>
          </a:ln>
        </p:spPr>
      </p:sp>
      <p:sp>
        <p:nvSpPr>
          <p:cNvPr id="45" name="Text 42"/>
          <p:cNvSpPr/>
          <p:nvPr/>
        </p:nvSpPr>
        <p:spPr>
          <a:xfrm>
            <a:off x="53949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T</a:t>
            </a:r>
            <a:endParaRPr lang="en-US" sz="1200" dirty="0"/>
          </a:p>
        </p:txBody>
      </p:sp>
      <p:sp>
        <p:nvSpPr>
          <p:cNvPr id="46" name="Shape 43"/>
          <p:cNvSpPr/>
          <p:nvPr/>
        </p:nvSpPr>
        <p:spPr>
          <a:xfrm>
            <a:off x="6080760" y="3703320"/>
            <a:ext cx="658368" cy="438912"/>
          </a:xfrm>
          <a:prstGeom prst="rect">
            <a:avLst/>
          </a:prstGeom>
          <a:solidFill>
            <a:srgbClr val="EAF0F6"/>
          </a:solidFill>
          <a:ln w="12700">
            <a:solidFill>
              <a:srgbClr val="0B2545"/>
            </a:solidFill>
            <a:prstDash val="solid"/>
          </a:ln>
        </p:spPr>
      </p:sp>
      <p:sp>
        <p:nvSpPr>
          <p:cNvPr id="47" name="Text 44"/>
          <p:cNvSpPr/>
          <p:nvPr/>
        </p:nvSpPr>
        <p:spPr>
          <a:xfrm>
            <a:off x="60807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Y</a:t>
            </a:r>
            <a:endParaRPr lang="en-US" sz="1200" dirty="0"/>
          </a:p>
        </p:txBody>
      </p:sp>
      <p:sp>
        <p:nvSpPr>
          <p:cNvPr id="48" name="Shape 45"/>
          <p:cNvSpPr/>
          <p:nvPr/>
        </p:nvSpPr>
        <p:spPr>
          <a:xfrm>
            <a:off x="6766560" y="3703320"/>
            <a:ext cx="658368" cy="438912"/>
          </a:xfrm>
          <a:prstGeom prst="rect">
            <a:avLst/>
          </a:prstGeom>
          <a:solidFill>
            <a:srgbClr val="EAF0F6"/>
          </a:solidFill>
          <a:ln w="12700">
            <a:solidFill>
              <a:srgbClr val="0B2545"/>
            </a:solidFill>
            <a:prstDash val="solid"/>
          </a:ln>
        </p:spPr>
      </p:sp>
      <p:sp>
        <p:nvSpPr>
          <p:cNvPr id="49" name="Text 46"/>
          <p:cNvSpPr/>
          <p:nvPr/>
        </p:nvSpPr>
        <p:spPr>
          <a:xfrm>
            <a:off x="67665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U</a:t>
            </a:r>
            <a:endParaRPr lang="en-US" sz="1200" dirty="0"/>
          </a:p>
        </p:txBody>
      </p:sp>
      <p:sp>
        <p:nvSpPr>
          <p:cNvPr id="50" name="Shape 47"/>
          <p:cNvSpPr/>
          <p:nvPr/>
        </p:nvSpPr>
        <p:spPr>
          <a:xfrm>
            <a:off x="7452360" y="3703320"/>
            <a:ext cx="658368" cy="438912"/>
          </a:xfrm>
          <a:prstGeom prst="rect">
            <a:avLst/>
          </a:prstGeom>
          <a:solidFill>
            <a:srgbClr val="EAF0F6"/>
          </a:solidFill>
          <a:ln w="12700">
            <a:solidFill>
              <a:srgbClr val="0B2545"/>
            </a:solidFill>
            <a:prstDash val="solid"/>
          </a:ln>
        </p:spPr>
      </p:sp>
      <p:sp>
        <p:nvSpPr>
          <p:cNvPr id="51" name="Text 48"/>
          <p:cNvSpPr/>
          <p:nvPr/>
        </p:nvSpPr>
        <p:spPr>
          <a:xfrm>
            <a:off x="74523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I</a:t>
            </a:r>
            <a:endParaRPr lang="en-US" sz="1200" dirty="0"/>
          </a:p>
        </p:txBody>
      </p:sp>
      <p:sp>
        <p:nvSpPr>
          <p:cNvPr id="52" name="Shape 49"/>
          <p:cNvSpPr/>
          <p:nvPr/>
        </p:nvSpPr>
        <p:spPr>
          <a:xfrm>
            <a:off x="8138160" y="3703320"/>
            <a:ext cx="658368" cy="438912"/>
          </a:xfrm>
          <a:prstGeom prst="rect">
            <a:avLst/>
          </a:prstGeom>
          <a:solidFill>
            <a:srgbClr val="EAF0F6"/>
          </a:solidFill>
          <a:ln w="12700">
            <a:solidFill>
              <a:srgbClr val="0B2545"/>
            </a:solidFill>
            <a:prstDash val="solid"/>
          </a:ln>
        </p:spPr>
      </p:sp>
      <p:sp>
        <p:nvSpPr>
          <p:cNvPr id="53" name="Text 50"/>
          <p:cNvSpPr/>
          <p:nvPr/>
        </p:nvSpPr>
        <p:spPr>
          <a:xfrm>
            <a:off x="81381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O</a:t>
            </a:r>
            <a:endParaRPr lang="en-US" sz="1200" dirty="0"/>
          </a:p>
        </p:txBody>
      </p:sp>
      <p:sp>
        <p:nvSpPr>
          <p:cNvPr id="54" name="Shape 51"/>
          <p:cNvSpPr/>
          <p:nvPr/>
        </p:nvSpPr>
        <p:spPr>
          <a:xfrm>
            <a:off x="8823960" y="3703320"/>
            <a:ext cx="658368" cy="438912"/>
          </a:xfrm>
          <a:prstGeom prst="rect">
            <a:avLst/>
          </a:prstGeom>
          <a:solidFill>
            <a:srgbClr val="EAF0F6"/>
          </a:solidFill>
          <a:ln w="12700">
            <a:solidFill>
              <a:srgbClr val="0B2545"/>
            </a:solidFill>
            <a:prstDash val="solid"/>
          </a:ln>
        </p:spPr>
      </p:sp>
      <p:sp>
        <p:nvSpPr>
          <p:cNvPr id="55" name="Text 52"/>
          <p:cNvSpPr/>
          <p:nvPr/>
        </p:nvSpPr>
        <p:spPr>
          <a:xfrm>
            <a:off x="88239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P</a:t>
            </a:r>
            <a:endParaRPr lang="en-US" sz="1200" dirty="0"/>
          </a:p>
        </p:txBody>
      </p:sp>
      <p:sp>
        <p:nvSpPr>
          <p:cNvPr id="56" name="Shape 53"/>
          <p:cNvSpPr/>
          <p:nvPr/>
        </p:nvSpPr>
        <p:spPr>
          <a:xfrm>
            <a:off x="9509760" y="3703320"/>
            <a:ext cx="658368" cy="438912"/>
          </a:xfrm>
          <a:prstGeom prst="rect">
            <a:avLst/>
          </a:prstGeom>
          <a:solidFill>
            <a:srgbClr val="EAF0F6"/>
          </a:solidFill>
          <a:ln w="12700">
            <a:solidFill>
              <a:srgbClr val="0B2545"/>
            </a:solidFill>
            <a:prstDash val="solid"/>
          </a:ln>
        </p:spPr>
      </p:sp>
      <p:sp>
        <p:nvSpPr>
          <p:cNvPr id="57" name="Text 54"/>
          <p:cNvSpPr/>
          <p:nvPr/>
        </p:nvSpPr>
        <p:spPr>
          <a:xfrm>
            <a:off x="95097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A</a:t>
            </a:r>
            <a:endParaRPr lang="en-US" sz="1200" dirty="0"/>
          </a:p>
        </p:txBody>
      </p:sp>
      <p:sp>
        <p:nvSpPr>
          <p:cNvPr id="58" name="Shape 55"/>
          <p:cNvSpPr/>
          <p:nvPr/>
        </p:nvSpPr>
        <p:spPr>
          <a:xfrm>
            <a:off x="10195560" y="3703320"/>
            <a:ext cx="658368" cy="438912"/>
          </a:xfrm>
          <a:prstGeom prst="rect">
            <a:avLst/>
          </a:prstGeom>
          <a:solidFill>
            <a:srgbClr val="EAF0F6"/>
          </a:solidFill>
          <a:ln w="12700">
            <a:solidFill>
              <a:srgbClr val="0B2545"/>
            </a:solidFill>
            <a:prstDash val="solid"/>
          </a:ln>
        </p:spPr>
      </p:sp>
      <p:sp>
        <p:nvSpPr>
          <p:cNvPr id="59" name="Text 56"/>
          <p:cNvSpPr/>
          <p:nvPr/>
        </p:nvSpPr>
        <p:spPr>
          <a:xfrm>
            <a:off x="101955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S</a:t>
            </a:r>
            <a:endParaRPr lang="en-US" sz="1200" dirty="0"/>
          </a:p>
        </p:txBody>
      </p:sp>
      <p:sp>
        <p:nvSpPr>
          <p:cNvPr id="60" name="Shape 57"/>
          <p:cNvSpPr/>
          <p:nvPr/>
        </p:nvSpPr>
        <p:spPr>
          <a:xfrm>
            <a:off x="10881360" y="3703320"/>
            <a:ext cx="658368" cy="438912"/>
          </a:xfrm>
          <a:prstGeom prst="rect">
            <a:avLst/>
          </a:prstGeom>
          <a:solidFill>
            <a:srgbClr val="EAF0F6"/>
          </a:solidFill>
          <a:ln w="12700">
            <a:solidFill>
              <a:srgbClr val="0B2545"/>
            </a:solidFill>
            <a:prstDash val="solid"/>
          </a:ln>
        </p:spPr>
      </p:sp>
      <p:sp>
        <p:nvSpPr>
          <p:cNvPr id="61" name="Text 58"/>
          <p:cNvSpPr/>
          <p:nvPr/>
        </p:nvSpPr>
        <p:spPr>
          <a:xfrm>
            <a:off x="10881360" y="370332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D</a:t>
            </a:r>
            <a:endParaRPr lang="en-US" sz="1200" dirty="0"/>
          </a:p>
        </p:txBody>
      </p:sp>
      <p:sp>
        <p:nvSpPr>
          <p:cNvPr id="62" name="Text 59"/>
          <p:cNvSpPr/>
          <p:nvPr/>
        </p:nvSpPr>
        <p:spPr>
          <a:xfrm>
            <a:off x="548640" y="4251960"/>
            <a:ext cx="2011680" cy="438912"/>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Plaintext Alphabet</a:t>
            </a:r>
            <a:endParaRPr lang="en-US" sz="1000" dirty="0"/>
          </a:p>
        </p:txBody>
      </p:sp>
      <p:sp>
        <p:nvSpPr>
          <p:cNvPr id="63" name="Shape 60"/>
          <p:cNvSpPr/>
          <p:nvPr/>
        </p:nvSpPr>
        <p:spPr>
          <a:xfrm>
            <a:off x="2651760" y="4251960"/>
            <a:ext cx="658368" cy="438912"/>
          </a:xfrm>
          <a:prstGeom prst="rect">
            <a:avLst/>
          </a:prstGeom>
          <a:solidFill>
            <a:srgbClr val="FFFFFF"/>
          </a:solidFill>
          <a:ln w="12700">
            <a:solidFill>
              <a:srgbClr val="0B2545"/>
            </a:solidFill>
            <a:prstDash val="solid"/>
          </a:ln>
        </p:spPr>
      </p:sp>
      <p:sp>
        <p:nvSpPr>
          <p:cNvPr id="64" name="Text 61"/>
          <p:cNvSpPr/>
          <p:nvPr/>
        </p:nvSpPr>
        <p:spPr>
          <a:xfrm>
            <a:off x="26517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N</a:t>
            </a:r>
            <a:endParaRPr lang="en-US" sz="1200" dirty="0"/>
          </a:p>
        </p:txBody>
      </p:sp>
      <p:sp>
        <p:nvSpPr>
          <p:cNvPr id="65" name="Shape 62"/>
          <p:cNvSpPr/>
          <p:nvPr/>
        </p:nvSpPr>
        <p:spPr>
          <a:xfrm>
            <a:off x="3337560" y="4251960"/>
            <a:ext cx="658368" cy="438912"/>
          </a:xfrm>
          <a:prstGeom prst="rect">
            <a:avLst/>
          </a:prstGeom>
          <a:solidFill>
            <a:srgbClr val="FFFFFF"/>
          </a:solidFill>
          <a:ln w="12700">
            <a:solidFill>
              <a:srgbClr val="0B2545"/>
            </a:solidFill>
            <a:prstDash val="solid"/>
          </a:ln>
        </p:spPr>
      </p:sp>
      <p:sp>
        <p:nvSpPr>
          <p:cNvPr id="66" name="Text 63"/>
          <p:cNvSpPr/>
          <p:nvPr/>
        </p:nvSpPr>
        <p:spPr>
          <a:xfrm>
            <a:off x="33375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O</a:t>
            </a:r>
            <a:endParaRPr lang="en-US" sz="1200" dirty="0"/>
          </a:p>
        </p:txBody>
      </p:sp>
      <p:sp>
        <p:nvSpPr>
          <p:cNvPr id="67" name="Shape 64"/>
          <p:cNvSpPr/>
          <p:nvPr/>
        </p:nvSpPr>
        <p:spPr>
          <a:xfrm>
            <a:off x="4023360" y="4251960"/>
            <a:ext cx="658368" cy="438912"/>
          </a:xfrm>
          <a:prstGeom prst="rect">
            <a:avLst/>
          </a:prstGeom>
          <a:solidFill>
            <a:srgbClr val="FFFFFF"/>
          </a:solidFill>
          <a:ln w="12700">
            <a:solidFill>
              <a:srgbClr val="0B2545"/>
            </a:solidFill>
            <a:prstDash val="solid"/>
          </a:ln>
        </p:spPr>
      </p:sp>
      <p:sp>
        <p:nvSpPr>
          <p:cNvPr id="68" name="Text 65"/>
          <p:cNvSpPr/>
          <p:nvPr/>
        </p:nvSpPr>
        <p:spPr>
          <a:xfrm>
            <a:off x="40233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P</a:t>
            </a:r>
            <a:endParaRPr lang="en-US" sz="1200" dirty="0"/>
          </a:p>
        </p:txBody>
      </p:sp>
      <p:sp>
        <p:nvSpPr>
          <p:cNvPr id="69" name="Shape 66"/>
          <p:cNvSpPr/>
          <p:nvPr/>
        </p:nvSpPr>
        <p:spPr>
          <a:xfrm>
            <a:off x="4709160" y="4251960"/>
            <a:ext cx="658368" cy="438912"/>
          </a:xfrm>
          <a:prstGeom prst="rect">
            <a:avLst/>
          </a:prstGeom>
          <a:solidFill>
            <a:srgbClr val="FFFFFF"/>
          </a:solidFill>
          <a:ln w="12700">
            <a:solidFill>
              <a:srgbClr val="0B2545"/>
            </a:solidFill>
            <a:prstDash val="solid"/>
          </a:ln>
        </p:spPr>
      </p:sp>
      <p:sp>
        <p:nvSpPr>
          <p:cNvPr id="70" name="Text 67"/>
          <p:cNvSpPr/>
          <p:nvPr/>
        </p:nvSpPr>
        <p:spPr>
          <a:xfrm>
            <a:off x="47091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Q</a:t>
            </a:r>
            <a:endParaRPr lang="en-US" sz="1200" dirty="0"/>
          </a:p>
        </p:txBody>
      </p:sp>
      <p:sp>
        <p:nvSpPr>
          <p:cNvPr id="71" name="Shape 68"/>
          <p:cNvSpPr/>
          <p:nvPr/>
        </p:nvSpPr>
        <p:spPr>
          <a:xfrm>
            <a:off x="5394960" y="4251960"/>
            <a:ext cx="658368" cy="438912"/>
          </a:xfrm>
          <a:prstGeom prst="rect">
            <a:avLst/>
          </a:prstGeom>
          <a:solidFill>
            <a:srgbClr val="FFFFFF"/>
          </a:solidFill>
          <a:ln w="12700">
            <a:solidFill>
              <a:srgbClr val="0B2545"/>
            </a:solidFill>
            <a:prstDash val="solid"/>
          </a:ln>
        </p:spPr>
      </p:sp>
      <p:sp>
        <p:nvSpPr>
          <p:cNvPr id="72" name="Text 69"/>
          <p:cNvSpPr/>
          <p:nvPr/>
        </p:nvSpPr>
        <p:spPr>
          <a:xfrm>
            <a:off x="53949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R</a:t>
            </a:r>
            <a:endParaRPr lang="en-US" sz="1200" dirty="0"/>
          </a:p>
        </p:txBody>
      </p:sp>
      <p:sp>
        <p:nvSpPr>
          <p:cNvPr id="73" name="Shape 70"/>
          <p:cNvSpPr/>
          <p:nvPr/>
        </p:nvSpPr>
        <p:spPr>
          <a:xfrm>
            <a:off x="6080760" y="4251960"/>
            <a:ext cx="658368" cy="438912"/>
          </a:xfrm>
          <a:prstGeom prst="rect">
            <a:avLst/>
          </a:prstGeom>
          <a:solidFill>
            <a:srgbClr val="FFFFFF"/>
          </a:solidFill>
          <a:ln w="12700">
            <a:solidFill>
              <a:srgbClr val="0B2545"/>
            </a:solidFill>
            <a:prstDash val="solid"/>
          </a:ln>
        </p:spPr>
      </p:sp>
      <p:sp>
        <p:nvSpPr>
          <p:cNvPr id="74" name="Text 71"/>
          <p:cNvSpPr/>
          <p:nvPr/>
        </p:nvSpPr>
        <p:spPr>
          <a:xfrm>
            <a:off x="60807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S</a:t>
            </a:r>
            <a:endParaRPr lang="en-US" sz="1200" dirty="0"/>
          </a:p>
        </p:txBody>
      </p:sp>
      <p:sp>
        <p:nvSpPr>
          <p:cNvPr id="75" name="Shape 72"/>
          <p:cNvSpPr/>
          <p:nvPr/>
        </p:nvSpPr>
        <p:spPr>
          <a:xfrm>
            <a:off x="6766560" y="4251960"/>
            <a:ext cx="658368" cy="438912"/>
          </a:xfrm>
          <a:prstGeom prst="rect">
            <a:avLst/>
          </a:prstGeom>
          <a:solidFill>
            <a:srgbClr val="FFFFFF"/>
          </a:solidFill>
          <a:ln w="12700">
            <a:solidFill>
              <a:srgbClr val="0B2545"/>
            </a:solidFill>
            <a:prstDash val="solid"/>
          </a:ln>
        </p:spPr>
      </p:sp>
      <p:sp>
        <p:nvSpPr>
          <p:cNvPr id="76" name="Text 73"/>
          <p:cNvSpPr/>
          <p:nvPr/>
        </p:nvSpPr>
        <p:spPr>
          <a:xfrm>
            <a:off x="67665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T</a:t>
            </a:r>
            <a:endParaRPr lang="en-US" sz="1200" dirty="0"/>
          </a:p>
        </p:txBody>
      </p:sp>
      <p:sp>
        <p:nvSpPr>
          <p:cNvPr id="77" name="Shape 74"/>
          <p:cNvSpPr/>
          <p:nvPr/>
        </p:nvSpPr>
        <p:spPr>
          <a:xfrm>
            <a:off x="7452360" y="4251960"/>
            <a:ext cx="658368" cy="438912"/>
          </a:xfrm>
          <a:prstGeom prst="rect">
            <a:avLst/>
          </a:prstGeom>
          <a:solidFill>
            <a:srgbClr val="FFFFFF"/>
          </a:solidFill>
          <a:ln w="12700">
            <a:solidFill>
              <a:srgbClr val="0B2545"/>
            </a:solidFill>
            <a:prstDash val="solid"/>
          </a:ln>
        </p:spPr>
      </p:sp>
      <p:sp>
        <p:nvSpPr>
          <p:cNvPr id="78" name="Text 75"/>
          <p:cNvSpPr/>
          <p:nvPr/>
        </p:nvSpPr>
        <p:spPr>
          <a:xfrm>
            <a:off x="74523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U</a:t>
            </a:r>
            <a:endParaRPr lang="en-US" sz="1200" dirty="0"/>
          </a:p>
        </p:txBody>
      </p:sp>
      <p:sp>
        <p:nvSpPr>
          <p:cNvPr id="79" name="Shape 76"/>
          <p:cNvSpPr/>
          <p:nvPr/>
        </p:nvSpPr>
        <p:spPr>
          <a:xfrm>
            <a:off x="8138160" y="4251960"/>
            <a:ext cx="658368" cy="438912"/>
          </a:xfrm>
          <a:prstGeom prst="rect">
            <a:avLst/>
          </a:prstGeom>
          <a:solidFill>
            <a:srgbClr val="FFFFFF"/>
          </a:solidFill>
          <a:ln w="12700">
            <a:solidFill>
              <a:srgbClr val="0B2545"/>
            </a:solidFill>
            <a:prstDash val="solid"/>
          </a:ln>
        </p:spPr>
      </p:sp>
      <p:sp>
        <p:nvSpPr>
          <p:cNvPr id="80" name="Text 77"/>
          <p:cNvSpPr/>
          <p:nvPr/>
        </p:nvSpPr>
        <p:spPr>
          <a:xfrm>
            <a:off x="81381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V</a:t>
            </a:r>
            <a:endParaRPr lang="en-US" sz="1200" dirty="0"/>
          </a:p>
        </p:txBody>
      </p:sp>
      <p:sp>
        <p:nvSpPr>
          <p:cNvPr id="81" name="Shape 78"/>
          <p:cNvSpPr/>
          <p:nvPr/>
        </p:nvSpPr>
        <p:spPr>
          <a:xfrm>
            <a:off x="8823960" y="4251960"/>
            <a:ext cx="658368" cy="438912"/>
          </a:xfrm>
          <a:prstGeom prst="rect">
            <a:avLst/>
          </a:prstGeom>
          <a:solidFill>
            <a:srgbClr val="FFFFFF"/>
          </a:solidFill>
          <a:ln w="12700">
            <a:solidFill>
              <a:srgbClr val="0B2545"/>
            </a:solidFill>
            <a:prstDash val="solid"/>
          </a:ln>
        </p:spPr>
      </p:sp>
      <p:sp>
        <p:nvSpPr>
          <p:cNvPr id="82" name="Text 79"/>
          <p:cNvSpPr/>
          <p:nvPr/>
        </p:nvSpPr>
        <p:spPr>
          <a:xfrm>
            <a:off x="88239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W</a:t>
            </a:r>
            <a:endParaRPr lang="en-US" sz="1200" dirty="0"/>
          </a:p>
        </p:txBody>
      </p:sp>
      <p:sp>
        <p:nvSpPr>
          <p:cNvPr id="83" name="Shape 80"/>
          <p:cNvSpPr/>
          <p:nvPr/>
        </p:nvSpPr>
        <p:spPr>
          <a:xfrm>
            <a:off x="9509760" y="4251960"/>
            <a:ext cx="658368" cy="438912"/>
          </a:xfrm>
          <a:prstGeom prst="rect">
            <a:avLst/>
          </a:prstGeom>
          <a:solidFill>
            <a:srgbClr val="FFFFFF"/>
          </a:solidFill>
          <a:ln w="12700">
            <a:solidFill>
              <a:srgbClr val="0B2545"/>
            </a:solidFill>
            <a:prstDash val="solid"/>
          </a:ln>
        </p:spPr>
      </p:sp>
      <p:sp>
        <p:nvSpPr>
          <p:cNvPr id="84" name="Text 81"/>
          <p:cNvSpPr/>
          <p:nvPr/>
        </p:nvSpPr>
        <p:spPr>
          <a:xfrm>
            <a:off x="95097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X</a:t>
            </a:r>
            <a:endParaRPr lang="en-US" sz="1200" dirty="0"/>
          </a:p>
        </p:txBody>
      </p:sp>
      <p:sp>
        <p:nvSpPr>
          <p:cNvPr id="85" name="Shape 82"/>
          <p:cNvSpPr/>
          <p:nvPr/>
        </p:nvSpPr>
        <p:spPr>
          <a:xfrm>
            <a:off x="10195560" y="4251960"/>
            <a:ext cx="658368" cy="438912"/>
          </a:xfrm>
          <a:prstGeom prst="rect">
            <a:avLst/>
          </a:prstGeom>
          <a:solidFill>
            <a:srgbClr val="FFFFFF"/>
          </a:solidFill>
          <a:ln w="12700">
            <a:solidFill>
              <a:srgbClr val="0B2545"/>
            </a:solidFill>
            <a:prstDash val="solid"/>
          </a:ln>
        </p:spPr>
      </p:sp>
      <p:sp>
        <p:nvSpPr>
          <p:cNvPr id="86" name="Text 83"/>
          <p:cNvSpPr/>
          <p:nvPr/>
        </p:nvSpPr>
        <p:spPr>
          <a:xfrm>
            <a:off x="101955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Y</a:t>
            </a:r>
            <a:endParaRPr lang="en-US" sz="1200" dirty="0"/>
          </a:p>
        </p:txBody>
      </p:sp>
      <p:sp>
        <p:nvSpPr>
          <p:cNvPr id="87" name="Shape 84"/>
          <p:cNvSpPr/>
          <p:nvPr/>
        </p:nvSpPr>
        <p:spPr>
          <a:xfrm>
            <a:off x="10881360" y="4251960"/>
            <a:ext cx="658368" cy="438912"/>
          </a:xfrm>
          <a:prstGeom prst="rect">
            <a:avLst/>
          </a:prstGeom>
          <a:solidFill>
            <a:srgbClr val="FFFFFF"/>
          </a:solidFill>
          <a:ln w="12700">
            <a:solidFill>
              <a:srgbClr val="0B2545"/>
            </a:solidFill>
            <a:prstDash val="solid"/>
          </a:ln>
        </p:spPr>
      </p:sp>
      <p:sp>
        <p:nvSpPr>
          <p:cNvPr id="88" name="Text 85"/>
          <p:cNvSpPr/>
          <p:nvPr/>
        </p:nvSpPr>
        <p:spPr>
          <a:xfrm>
            <a:off x="10881360" y="42519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Z</a:t>
            </a:r>
            <a:endParaRPr lang="en-US" sz="1200" dirty="0"/>
          </a:p>
        </p:txBody>
      </p:sp>
      <p:sp>
        <p:nvSpPr>
          <p:cNvPr id="89" name="Text 86"/>
          <p:cNvSpPr/>
          <p:nvPr/>
        </p:nvSpPr>
        <p:spPr>
          <a:xfrm>
            <a:off x="548640" y="4709160"/>
            <a:ext cx="2011680" cy="438912"/>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Ciphertext Alphabet</a:t>
            </a:r>
            <a:endParaRPr lang="en-US" sz="1000" dirty="0"/>
          </a:p>
        </p:txBody>
      </p:sp>
      <p:sp>
        <p:nvSpPr>
          <p:cNvPr id="90" name="Shape 87"/>
          <p:cNvSpPr/>
          <p:nvPr/>
        </p:nvSpPr>
        <p:spPr>
          <a:xfrm>
            <a:off x="2651760" y="4709160"/>
            <a:ext cx="658368" cy="438912"/>
          </a:xfrm>
          <a:prstGeom prst="rect">
            <a:avLst/>
          </a:prstGeom>
          <a:solidFill>
            <a:srgbClr val="EAF0F6"/>
          </a:solidFill>
          <a:ln w="12700">
            <a:solidFill>
              <a:srgbClr val="0B2545"/>
            </a:solidFill>
            <a:prstDash val="solid"/>
          </a:ln>
        </p:spPr>
      </p:sp>
      <p:sp>
        <p:nvSpPr>
          <p:cNvPr id="91" name="Text 88"/>
          <p:cNvSpPr/>
          <p:nvPr/>
        </p:nvSpPr>
        <p:spPr>
          <a:xfrm>
            <a:off x="26517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F</a:t>
            </a:r>
            <a:endParaRPr lang="en-US" sz="1200" dirty="0"/>
          </a:p>
        </p:txBody>
      </p:sp>
      <p:sp>
        <p:nvSpPr>
          <p:cNvPr id="92" name="Shape 89"/>
          <p:cNvSpPr/>
          <p:nvPr/>
        </p:nvSpPr>
        <p:spPr>
          <a:xfrm>
            <a:off x="3337560" y="4709160"/>
            <a:ext cx="658368" cy="438912"/>
          </a:xfrm>
          <a:prstGeom prst="rect">
            <a:avLst/>
          </a:prstGeom>
          <a:solidFill>
            <a:srgbClr val="EAF0F6"/>
          </a:solidFill>
          <a:ln w="12700">
            <a:solidFill>
              <a:srgbClr val="0B2545"/>
            </a:solidFill>
            <a:prstDash val="solid"/>
          </a:ln>
        </p:spPr>
      </p:sp>
      <p:sp>
        <p:nvSpPr>
          <p:cNvPr id="93" name="Text 90"/>
          <p:cNvSpPr/>
          <p:nvPr/>
        </p:nvSpPr>
        <p:spPr>
          <a:xfrm>
            <a:off x="33375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G</a:t>
            </a:r>
            <a:endParaRPr lang="en-US" sz="1200" dirty="0"/>
          </a:p>
        </p:txBody>
      </p:sp>
      <p:sp>
        <p:nvSpPr>
          <p:cNvPr id="94" name="Shape 91"/>
          <p:cNvSpPr/>
          <p:nvPr/>
        </p:nvSpPr>
        <p:spPr>
          <a:xfrm>
            <a:off x="4023360" y="4709160"/>
            <a:ext cx="658368" cy="438912"/>
          </a:xfrm>
          <a:prstGeom prst="rect">
            <a:avLst/>
          </a:prstGeom>
          <a:solidFill>
            <a:srgbClr val="EAF0F6"/>
          </a:solidFill>
          <a:ln w="12700">
            <a:solidFill>
              <a:srgbClr val="0B2545"/>
            </a:solidFill>
            <a:prstDash val="solid"/>
          </a:ln>
        </p:spPr>
      </p:sp>
      <p:sp>
        <p:nvSpPr>
          <p:cNvPr id="95" name="Text 92"/>
          <p:cNvSpPr/>
          <p:nvPr/>
        </p:nvSpPr>
        <p:spPr>
          <a:xfrm>
            <a:off x="40233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H</a:t>
            </a:r>
            <a:endParaRPr lang="en-US" sz="1200" dirty="0"/>
          </a:p>
        </p:txBody>
      </p:sp>
      <p:sp>
        <p:nvSpPr>
          <p:cNvPr id="96" name="Shape 93"/>
          <p:cNvSpPr/>
          <p:nvPr/>
        </p:nvSpPr>
        <p:spPr>
          <a:xfrm>
            <a:off x="4709160" y="4709160"/>
            <a:ext cx="658368" cy="438912"/>
          </a:xfrm>
          <a:prstGeom prst="rect">
            <a:avLst/>
          </a:prstGeom>
          <a:solidFill>
            <a:srgbClr val="EAF0F6"/>
          </a:solidFill>
          <a:ln w="12700">
            <a:solidFill>
              <a:srgbClr val="0B2545"/>
            </a:solidFill>
            <a:prstDash val="solid"/>
          </a:ln>
        </p:spPr>
      </p:sp>
      <p:sp>
        <p:nvSpPr>
          <p:cNvPr id="97" name="Text 94"/>
          <p:cNvSpPr/>
          <p:nvPr/>
        </p:nvSpPr>
        <p:spPr>
          <a:xfrm>
            <a:off x="47091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J</a:t>
            </a:r>
            <a:endParaRPr lang="en-US" sz="1200" dirty="0"/>
          </a:p>
        </p:txBody>
      </p:sp>
      <p:sp>
        <p:nvSpPr>
          <p:cNvPr id="98" name="Shape 95"/>
          <p:cNvSpPr/>
          <p:nvPr/>
        </p:nvSpPr>
        <p:spPr>
          <a:xfrm>
            <a:off x="5394960" y="4709160"/>
            <a:ext cx="658368" cy="438912"/>
          </a:xfrm>
          <a:prstGeom prst="rect">
            <a:avLst/>
          </a:prstGeom>
          <a:solidFill>
            <a:srgbClr val="EAF0F6"/>
          </a:solidFill>
          <a:ln w="12700">
            <a:solidFill>
              <a:srgbClr val="0B2545"/>
            </a:solidFill>
            <a:prstDash val="solid"/>
          </a:ln>
        </p:spPr>
      </p:sp>
      <p:sp>
        <p:nvSpPr>
          <p:cNvPr id="99" name="Text 96"/>
          <p:cNvSpPr/>
          <p:nvPr/>
        </p:nvSpPr>
        <p:spPr>
          <a:xfrm>
            <a:off x="53949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K</a:t>
            </a:r>
            <a:endParaRPr lang="en-US" sz="1200" dirty="0"/>
          </a:p>
        </p:txBody>
      </p:sp>
      <p:sp>
        <p:nvSpPr>
          <p:cNvPr id="100" name="Shape 97"/>
          <p:cNvSpPr/>
          <p:nvPr/>
        </p:nvSpPr>
        <p:spPr>
          <a:xfrm>
            <a:off x="6080760" y="4709160"/>
            <a:ext cx="658368" cy="438912"/>
          </a:xfrm>
          <a:prstGeom prst="rect">
            <a:avLst/>
          </a:prstGeom>
          <a:solidFill>
            <a:srgbClr val="EAF0F6"/>
          </a:solidFill>
          <a:ln w="12700">
            <a:solidFill>
              <a:srgbClr val="0B2545"/>
            </a:solidFill>
            <a:prstDash val="solid"/>
          </a:ln>
        </p:spPr>
      </p:sp>
      <p:sp>
        <p:nvSpPr>
          <p:cNvPr id="101" name="Text 98"/>
          <p:cNvSpPr/>
          <p:nvPr/>
        </p:nvSpPr>
        <p:spPr>
          <a:xfrm>
            <a:off x="60807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L</a:t>
            </a:r>
            <a:endParaRPr lang="en-US" sz="1200" dirty="0"/>
          </a:p>
        </p:txBody>
      </p:sp>
      <p:sp>
        <p:nvSpPr>
          <p:cNvPr id="102" name="Shape 99"/>
          <p:cNvSpPr/>
          <p:nvPr/>
        </p:nvSpPr>
        <p:spPr>
          <a:xfrm>
            <a:off x="6766560" y="4709160"/>
            <a:ext cx="658368" cy="438912"/>
          </a:xfrm>
          <a:prstGeom prst="rect">
            <a:avLst/>
          </a:prstGeom>
          <a:solidFill>
            <a:srgbClr val="EAF0F6"/>
          </a:solidFill>
          <a:ln w="12700">
            <a:solidFill>
              <a:srgbClr val="0B2545"/>
            </a:solidFill>
            <a:prstDash val="solid"/>
          </a:ln>
        </p:spPr>
      </p:sp>
      <p:sp>
        <p:nvSpPr>
          <p:cNvPr id="103" name="Text 100"/>
          <p:cNvSpPr/>
          <p:nvPr/>
        </p:nvSpPr>
        <p:spPr>
          <a:xfrm>
            <a:off x="67665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Z</a:t>
            </a:r>
            <a:endParaRPr lang="en-US" sz="1200" dirty="0"/>
          </a:p>
        </p:txBody>
      </p:sp>
      <p:sp>
        <p:nvSpPr>
          <p:cNvPr id="104" name="Shape 101"/>
          <p:cNvSpPr/>
          <p:nvPr/>
        </p:nvSpPr>
        <p:spPr>
          <a:xfrm>
            <a:off x="7452360" y="4709160"/>
            <a:ext cx="658368" cy="438912"/>
          </a:xfrm>
          <a:prstGeom prst="rect">
            <a:avLst/>
          </a:prstGeom>
          <a:solidFill>
            <a:srgbClr val="EAF0F6"/>
          </a:solidFill>
          <a:ln w="12700">
            <a:solidFill>
              <a:srgbClr val="0B2545"/>
            </a:solidFill>
            <a:prstDash val="solid"/>
          </a:ln>
        </p:spPr>
      </p:sp>
      <p:sp>
        <p:nvSpPr>
          <p:cNvPr id="105" name="Text 102"/>
          <p:cNvSpPr/>
          <p:nvPr/>
        </p:nvSpPr>
        <p:spPr>
          <a:xfrm>
            <a:off x="74523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X</a:t>
            </a:r>
            <a:endParaRPr lang="en-US" sz="1200" dirty="0"/>
          </a:p>
        </p:txBody>
      </p:sp>
      <p:sp>
        <p:nvSpPr>
          <p:cNvPr id="106" name="Shape 103"/>
          <p:cNvSpPr/>
          <p:nvPr/>
        </p:nvSpPr>
        <p:spPr>
          <a:xfrm>
            <a:off x="8138160" y="4709160"/>
            <a:ext cx="658368" cy="438912"/>
          </a:xfrm>
          <a:prstGeom prst="rect">
            <a:avLst/>
          </a:prstGeom>
          <a:solidFill>
            <a:srgbClr val="EAF0F6"/>
          </a:solidFill>
          <a:ln w="12700">
            <a:solidFill>
              <a:srgbClr val="0B2545"/>
            </a:solidFill>
            <a:prstDash val="solid"/>
          </a:ln>
        </p:spPr>
      </p:sp>
      <p:sp>
        <p:nvSpPr>
          <p:cNvPr id="107" name="Text 104"/>
          <p:cNvSpPr/>
          <p:nvPr/>
        </p:nvSpPr>
        <p:spPr>
          <a:xfrm>
            <a:off x="81381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C</a:t>
            </a:r>
            <a:endParaRPr lang="en-US" sz="1200" dirty="0"/>
          </a:p>
        </p:txBody>
      </p:sp>
      <p:sp>
        <p:nvSpPr>
          <p:cNvPr id="108" name="Shape 105"/>
          <p:cNvSpPr/>
          <p:nvPr/>
        </p:nvSpPr>
        <p:spPr>
          <a:xfrm>
            <a:off x="8823960" y="4709160"/>
            <a:ext cx="658368" cy="438912"/>
          </a:xfrm>
          <a:prstGeom prst="rect">
            <a:avLst/>
          </a:prstGeom>
          <a:solidFill>
            <a:srgbClr val="EAF0F6"/>
          </a:solidFill>
          <a:ln w="12700">
            <a:solidFill>
              <a:srgbClr val="0B2545"/>
            </a:solidFill>
            <a:prstDash val="solid"/>
          </a:ln>
        </p:spPr>
      </p:sp>
      <p:sp>
        <p:nvSpPr>
          <p:cNvPr id="109" name="Text 106"/>
          <p:cNvSpPr/>
          <p:nvPr/>
        </p:nvSpPr>
        <p:spPr>
          <a:xfrm>
            <a:off x="88239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V</a:t>
            </a:r>
            <a:endParaRPr lang="en-US" sz="1200" dirty="0"/>
          </a:p>
        </p:txBody>
      </p:sp>
      <p:sp>
        <p:nvSpPr>
          <p:cNvPr id="110" name="Shape 107"/>
          <p:cNvSpPr/>
          <p:nvPr/>
        </p:nvSpPr>
        <p:spPr>
          <a:xfrm>
            <a:off x="9509760" y="4709160"/>
            <a:ext cx="658368" cy="438912"/>
          </a:xfrm>
          <a:prstGeom prst="rect">
            <a:avLst/>
          </a:prstGeom>
          <a:solidFill>
            <a:srgbClr val="EAF0F6"/>
          </a:solidFill>
          <a:ln w="12700">
            <a:solidFill>
              <a:srgbClr val="0B2545"/>
            </a:solidFill>
            <a:prstDash val="solid"/>
          </a:ln>
        </p:spPr>
      </p:sp>
      <p:sp>
        <p:nvSpPr>
          <p:cNvPr id="111" name="Text 108"/>
          <p:cNvSpPr/>
          <p:nvPr/>
        </p:nvSpPr>
        <p:spPr>
          <a:xfrm>
            <a:off x="95097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B</a:t>
            </a:r>
            <a:endParaRPr lang="en-US" sz="1200" dirty="0"/>
          </a:p>
        </p:txBody>
      </p:sp>
      <p:sp>
        <p:nvSpPr>
          <p:cNvPr id="112" name="Shape 109"/>
          <p:cNvSpPr/>
          <p:nvPr/>
        </p:nvSpPr>
        <p:spPr>
          <a:xfrm>
            <a:off x="10195560" y="4709160"/>
            <a:ext cx="658368" cy="438912"/>
          </a:xfrm>
          <a:prstGeom prst="rect">
            <a:avLst/>
          </a:prstGeom>
          <a:solidFill>
            <a:srgbClr val="EAF0F6"/>
          </a:solidFill>
          <a:ln w="12700">
            <a:solidFill>
              <a:srgbClr val="0B2545"/>
            </a:solidFill>
            <a:prstDash val="solid"/>
          </a:ln>
        </p:spPr>
      </p:sp>
      <p:sp>
        <p:nvSpPr>
          <p:cNvPr id="113" name="Text 110"/>
          <p:cNvSpPr/>
          <p:nvPr/>
        </p:nvSpPr>
        <p:spPr>
          <a:xfrm>
            <a:off x="101955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N</a:t>
            </a:r>
            <a:endParaRPr lang="en-US" sz="1200" dirty="0"/>
          </a:p>
        </p:txBody>
      </p:sp>
      <p:sp>
        <p:nvSpPr>
          <p:cNvPr id="114" name="Shape 111"/>
          <p:cNvSpPr/>
          <p:nvPr/>
        </p:nvSpPr>
        <p:spPr>
          <a:xfrm>
            <a:off x="10881360" y="4709160"/>
            <a:ext cx="658368" cy="438912"/>
          </a:xfrm>
          <a:prstGeom prst="rect">
            <a:avLst/>
          </a:prstGeom>
          <a:solidFill>
            <a:srgbClr val="EAF0F6"/>
          </a:solidFill>
          <a:ln w="12700">
            <a:solidFill>
              <a:srgbClr val="0B2545"/>
            </a:solidFill>
            <a:prstDash val="solid"/>
          </a:ln>
        </p:spPr>
      </p:sp>
      <p:sp>
        <p:nvSpPr>
          <p:cNvPr id="115" name="Text 112"/>
          <p:cNvSpPr/>
          <p:nvPr/>
        </p:nvSpPr>
        <p:spPr>
          <a:xfrm>
            <a:off x="10881360" y="4709160"/>
            <a:ext cx="658368" cy="438912"/>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M</a:t>
            </a:r>
            <a:endParaRPr lang="en-US" sz="1200" dirty="0"/>
          </a:p>
        </p:txBody>
      </p:sp>
      <p:sp>
        <p:nvSpPr>
          <p:cNvPr id="116" name="Shape 113"/>
          <p:cNvSpPr/>
          <p:nvPr/>
        </p:nvSpPr>
        <p:spPr>
          <a:xfrm>
            <a:off x="548640" y="5349240"/>
            <a:ext cx="10881360" cy="1051560"/>
          </a:xfrm>
          <a:prstGeom prst="roundRect">
            <a:avLst>
              <a:gd name="adj" fmla="val 6957"/>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17" name="Text 114"/>
          <p:cNvSpPr/>
          <p:nvPr/>
        </p:nvSpPr>
        <p:spPr>
          <a:xfrm>
            <a:off x="777240" y="5513832"/>
            <a:ext cx="10424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Note</a:t>
            </a:r>
            <a:endParaRPr lang="en-US" sz="1500" dirty="0"/>
          </a:p>
        </p:txBody>
      </p:sp>
      <p:sp>
        <p:nvSpPr>
          <p:cNvPr id="118" name="Text 115"/>
          <p:cNvSpPr/>
          <p:nvPr/>
        </p:nvSpPr>
        <p:spPr>
          <a:xfrm>
            <a:off x="777240" y="5879592"/>
            <a:ext cx="10424160" cy="32004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This reference table is reproduced exactly as it appeared in the source slide. The worked numeric method on the following slides applies the LEMON keyword shift directly via the mod-26 formula and does not depend on this table.</a:t>
            </a:r>
            <a:endParaRPr lang="en-US" sz="1200" dirty="0"/>
          </a:p>
        </p:txBody>
      </p:sp>
      <p:sp>
        <p:nvSpPr>
          <p:cNvPr id="119" name="Text 11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20" name="Text 117"/>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04 · SUPPLEMENT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Polyalphabetic Cipher — Step 1: Convert Letters to Numbers</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45920"/>
            <a:ext cx="914400" cy="365760"/>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Alphabet</a:t>
            </a:r>
            <a:endParaRPr lang="en-US" sz="1000" dirty="0"/>
          </a:p>
        </p:txBody>
      </p:sp>
      <p:sp>
        <p:nvSpPr>
          <p:cNvPr id="7" name="Shape 4"/>
          <p:cNvSpPr/>
          <p:nvPr/>
        </p:nvSpPr>
        <p:spPr>
          <a:xfrm>
            <a:off x="1508760" y="1645920"/>
            <a:ext cx="749808" cy="365760"/>
          </a:xfrm>
          <a:prstGeom prst="rect">
            <a:avLst/>
          </a:prstGeom>
          <a:solidFill>
            <a:srgbClr val="FFFFFF"/>
          </a:solidFill>
          <a:ln w="12700">
            <a:solidFill>
              <a:srgbClr val="0B2545"/>
            </a:solidFill>
            <a:prstDash val="solid"/>
          </a:ln>
        </p:spPr>
      </p:sp>
      <p:sp>
        <p:nvSpPr>
          <p:cNvPr id="8" name="Text 5"/>
          <p:cNvSpPr/>
          <p:nvPr/>
        </p:nvSpPr>
        <p:spPr>
          <a:xfrm>
            <a:off x="150876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A</a:t>
            </a:r>
            <a:endParaRPr lang="en-US" sz="1200" dirty="0"/>
          </a:p>
        </p:txBody>
      </p:sp>
      <p:sp>
        <p:nvSpPr>
          <p:cNvPr id="9" name="Shape 6"/>
          <p:cNvSpPr/>
          <p:nvPr/>
        </p:nvSpPr>
        <p:spPr>
          <a:xfrm>
            <a:off x="2286000" y="1645920"/>
            <a:ext cx="749808" cy="365760"/>
          </a:xfrm>
          <a:prstGeom prst="rect">
            <a:avLst/>
          </a:prstGeom>
          <a:solidFill>
            <a:srgbClr val="FFFFFF"/>
          </a:solidFill>
          <a:ln w="12700">
            <a:solidFill>
              <a:srgbClr val="0B2545"/>
            </a:solidFill>
            <a:prstDash val="solid"/>
          </a:ln>
        </p:spPr>
      </p:sp>
      <p:sp>
        <p:nvSpPr>
          <p:cNvPr id="10" name="Text 7"/>
          <p:cNvSpPr/>
          <p:nvPr/>
        </p:nvSpPr>
        <p:spPr>
          <a:xfrm>
            <a:off x="228600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B</a:t>
            </a:r>
            <a:endParaRPr lang="en-US" sz="1200" dirty="0"/>
          </a:p>
        </p:txBody>
      </p:sp>
      <p:sp>
        <p:nvSpPr>
          <p:cNvPr id="11" name="Shape 8"/>
          <p:cNvSpPr/>
          <p:nvPr/>
        </p:nvSpPr>
        <p:spPr>
          <a:xfrm>
            <a:off x="3063240" y="1645920"/>
            <a:ext cx="749808" cy="365760"/>
          </a:xfrm>
          <a:prstGeom prst="rect">
            <a:avLst/>
          </a:prstGeom>
          <a:solidFill>
            <a:srgbClr val="FFFFFF"/>
          </a:solidFill>
          <a:ln w="12700">
            <a:solidFill>
              <a:srgbClr val="0B2545"/>
            </a:solidFill>
            <a:prstDash val="solid"/>
          </a:ln>
        </p:spPr>
      </p:sp>
      <p:sp>
        <p:nvSpPr>
          <p:cNvPr id="12" name="Text 9"/>
          <p:cNvSpPr/>
          <p:nvPr/>
        </p:nvSpPr>
        <p:spPr>
          <a:xfrm>
            <a:off x="306324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C</a:t>
            </a:r>
            <a:endParaRPr lang="en-US" sz="1200" dirty="0"/>
          </a:p>
        </p:txBody>
      </p:sp>
      <p:sp>
        <p:nvSpPr>
          <p:cNvPr id="13" name="Shape 10"/>
          <p:cNvSpPr/>
          <p:nvPr/>
        </p:nvSpPr>
        <p:spPr>
          <a:xfrm>
            <a:off x="3840480" y="1645920"/>
            <a:ext cx="749808" cy="365760"/>
          </a:xfrm>
          <a:prstGeom prst="rect">
            <a:avLst/>
          </a:prstGeom>
          <a:solidFill>
            <a:srgbClr val="FFFFFF"/>
          </a:solidFill>
          <a:ln w="12700">
            <a:solidFill>
              <a:srgbClr val="0B2545"/>
            </a:solidFill>
            <a:prstDash val="solid"/>
          </a:ln>
        </p:spPr>
      </p:sp>
      <p:sp>
        <p:nvSpPr>
          <p:cNvPr id="14" name="Text 11"/>
          <p:cNvSpPr/>
          <p:nvPr/>
        </p:nvSpPr>
        <p:spPr>
          <a:xfrm>
            <a:off x="384048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D</a:t>
            </a:r>
            <a:endParaRPr lang="en-US" sz="1200" dirty="0"/>
          </a:p>
        </p:txBody>
      </p:sp>
      <p:sp>
        <p:nvSpPr>
          <p:cNvPr id="15" name="Shape 12"/>
          <p:cNvSpPr/>
          <p:nvPr/>
        </p:nvSpPr>
        <p:spPr>
          <a:xfrm>
            <a:off x="4617720" y="1645920"/>
            <a:ext cx="749808" cy="365760"/>
          </a:xfrm>
          <a:prstGeom prst="rect">
            <a:avLst/>
          </a:prstGeom>
          <a:solidFill>
            <a:srgbClr val="FFFFFF"/>
          </a:solidFill>
          <a:ln w="12700">
            <a:solidFill>
              <a:srgbClr val="0B2545"/>
            </a:solidFill>
            <a:prstDash val="solid"/>
          </a:ln>
        </p:spPr>
      </p:sp>
      <p:sp>
        <p:nvSpPr>
          <p:cNvPr id="16" name="Text 13"/>
          <p:cNvSpPr/>
          <p:nvPr/>
        </p:nvSpPr>
        <p:spPr>
          <a:xfrm>
            <a:off x="461772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E</a:t>
            </a:r>
            <a:endParaRPr lang="en-US" sz="1200" dirty="0"/>
          </a:p>
        </p:txBody>
      </p:sp>
      <p:sp>
        <p:nvSpPr>
          <p:cNvPr id="17" name="Shape 14"/>
          <p:cNvSpPr/>
          <p:nvPr/>
        </p:nvSpPr>
        <p:spPr>
          <a:xfrm>
            <a:off x="5394960" y="1645920"/>
            <a:ext cx="749808" cy="365760"/>
          </a:xfrm>
          <a:prstGeom prst="rect">
            <a:avLst/>
          </a:prstGeom>
          <a:solidFill>
            <a:srgbClr val="FFFFFF"/>
          </a:solidFill>
          <a:ln w="12700">
            <a:solidFill>
              <a:srgbClr val="0B2545"/>
            </a:solidFill>
            <a:prstDash val="solid"/>
          </a:ln>
        </p:spPr>
      </p:sp>
      <p:sp>
        <p:nvSpPr>
          <p:cNvPr id="18" name="Text 15"/>
          <p:cNvSpPr/>
          <p:nvPr/>
        </p:nvSpPr>
        <p:spPr>
          <a:xfrm>
            <a:off x="539496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F</a:t>
            </a:r>
            <a:endParaRPr lang="en-US" sz="1200" dirty="0"/>
          </a:p>
        </p:txBody>
      </p:sp>
      <p:sp>
        <p:nvSpPr>
          <p:cNvPr id="19" name="Shape 16"/>
          <p:cNvSpPr/>
          <p:nvPr/>
        </p:nvSpPr>
        <p:spPr>
          <a:xfrm>
            <a:off x="6172200" y="1645920"/>
            <a:ext cx="749808" cy="365760"/>
          </a:xfrm>
          <a:prstGeom prst="rect">
            <a:avLst/>
          </a:prstGeom>
          <a:solidFill>
            <a:srgbClr val="FFFFFF"/>
          </a:solidFill>
          <a:ln w="12700">
            <a:solidFill>
              <a:srgbClr val="0B2545"/>
            </a:solidFill>
            <a:prstDash val="solid"/>
          </a:ln>
        </p:spPr>
      </p:sp>
      <p:sp>
        <p:nvSpPr>
          <p:cNvPr id="20" name="Text 17"/>
          <p:cNvSpPr/>
          <p:nvPr/>
        </p:nvSpPr>
        <p:spPr>
          <a:xfrm>
            <a:off x="617220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G</a:t>
            </a:r>
            <a:endParaRPr lang="en-US" sz="1200" dirty="0"/>
          </a:p>
        </p:txBody>
      </p:sp>
      <p:sp>
        <p:nvSpPr>
          <p:cNvPr id="21" name="Shape 18"/>
          <p:cNvSpPr/>
          <p:nvPr/>
        </p:nvSpPr>
        <p:spPr>
          <a:xfrm>
            <a:off x="6949440" y="1645920"/>
            <a:ext cx="749808" cy="365760"/>
          </a:xfrm>
          <a:prstGeom prst="rect">
            <a:avLst/>
          </a:prstGeom>
          <a:solidFill>
            <a:srgbClr val="FFFFFF"/>
          </a:solidFill>
          <a:ln w="12700">
            <a:solidFill>
              <a:srgbClr val="0B2545"/>
            </a:solidFill>
            <a:prstDash val="solid"/>
          </a:ln>
        </p:spPr>
      </p:sp>
      <p:sp>
        <p:nvSpPr>
          <p:cNvPr id="22" name="Text 19"/>
          <p:cNvSpPr/>
          <p:nvPr/>
        </p:nvSpPr>
        <p:spPr>
          <a:xfrm>
            <a:off x="694944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H</a:t>
            </a:r>
            <a:endParaRPr lang="en-US" sz="1200" dirty="0"/>
          </a:p>
        </p:txBody>
      </p:sp>
      <p:sp>
        <p:nvSpPr>
          <p:cNvPr id="23" name="Shape 20"/>
          <p:cNvSpPr/>
          <p:nvPr/>
        </p:nvSpPr>
        <p:spPr>
          <a:xfrm>
            <a:off x="7726680" y="1645920"/>
            <a:ext cx="749808" cy="365760"/>
          </a:xfrm>
          <a:prstGeom prst="rect">
            <a:avLst/>
          </a:prstGeom>
          <a:solidFill>
            <a:srgbClr val="FFFFFF"/>
          </a:solidFill>
          <a:ln w="12700">
            <a:solidFill>
              <a:srgbClr val="0B2545"/>
            </a:solidFill>
            <a:prstDash val="solid"/>
          </a:ln>
        </p:spPr>
      </p:sp>
      <p:sp>
        <p:nvSpPr>
          <p:cNvPr id="24" name="Text 21"/>
          <p:cNvSpPr/>
          <p:nvPr/>
        </p:nvSpPr>
        <p:spPr>
          <a:xfrm>
            <a:off x="772668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I</a:t>
            </a:r>
            <a:endParaRPr lang="en-US" sz="1200" dirty="0"/>
          </a:p>
        </p:txBody>
      </p:sp>
      <p:sp>
        <p:nvSpPr>
          <p:cNvPr id="25" name="Shape 22"/>
          <p:cNvSpPr/>
          <p:nvPr/>
        </p:nvSpPr>
        <p:spPr>
          <a:xfrm>
            <a:off x="8503920" y="1645920"/>
            <a:ext cx="749808" cy="365760"/>
          </a:xfrm>
          <a:prstGeom prst="rect">
            <a:avLst/>
          </a:prstGeom>
          <a:solidFill>
            <a:srgbClr val="FFFFFF"/>
          </a:solidFill>
          <a:ln w="12700">
            <a:solidFill>
              <a:srgbClr val="0B2545"/>
            </a:solidFill>
            <a:prstDash val="solid"/>
          </a:ln>
        </p:spPr>
      </p:sp>
      <p:sp>
        <p:nvSpPr>
          <p:cNvPr id="26" name="Text 23"/>
          <p:cNvSpPr/>
          <p:nvPr/>
        </p:nvSpPr>
        <p:spPr>
          <a:xfrm>
            <a:off x="850392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J</a:t>
            </a:r>
            <a:endParaRPr lang="en-US" sz="1200" dirty="0"/>
          </a:p>
        </p:txBody>
      </p:sp>
      <p:sp>
        <p:nvSpPr>
          <p:cNvPr id="27" name="Shape 24"/>
          <p:cNvSpPr/>
          <p:nvPr/>
        </p:nvSpPr>
        <p:spPr>
          <a:xfrm>
            <a:off x="9281160" y="1645920"/>
            <a:ext cx="749808" cy="365760"/>
          </a:xfrm>
          <a:prstGeom prst="rect">
            <a:avLst/>
          </a:prstGeom>
          <a:solidFill>
            <a:srgbClr val="FFFFFF"/>
          </a:solidFill>
          <a:ln w="12700">
            <a:solidFill>
              <a:srgbClr val="0B2545"/>
            </a:solidFill>
            <a:prstDash val="solid"/>
          </a:ln>
        </p:spPr>
      </p:sp>
      <p:sp>
        <p:nvSpPr>
          <p:cNvPr id="28" name="Text 25"/>
          <p:cNvSpPr/>
          <p:nvPr/>
        </p:nvSpPr>
        <p:spPr>
          <a:xfrm>
            <a:off x="928116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K</a:t>
            </a:r>
            <a:endParaRPr lang="en-US" sz="1200" dirty="0"/>
          </a:p>
        </p:txBody>
      </p:sp>
      <p:sp>
        <p:nvSpPr>
          <p:cNvPr id="29" name="Shape 26"/>
          <p:cNvSpPr/>
          <p:nvPr/>
        </p:nvSpPr>
        <p:spPr>
          <a:xfrm>
            <a:off x="10058400" y="1645920"/>
            <a:ext cx="749808" cy="365760"/>
          </a:xfrm>
          <a:prstGeom prst="rect">
            <a:avLst/>
          </a:prstGeom>
          <a:solidFill>
            <a:srgbClr val="FFFFFF"/>
          </a:solidFill>
          <a:ln w="12700">
            <a:solidFill>
              <a:srgbClr val="0B2545"/>
            </a:solidFill>
            <a:prstDash val="solid"/>
          </a:ln>
        </p:spPr>
      </p:sp>
      <p:sp>
        <p:nvSpPr>
          <p:cNvPr id="30" name="Text 27"/>
          <p:cNvSpPr/>
          <p:nvPr/>
        </p:nvSpPr>
        <p:spPr>
          <a:xfrm>
            <a:off x="1005840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L</a:t>
            </a:r>
            <a:endParaRPr lang="en-US" sz="1200" dirty="0"/>
          </a:p>
        </p:txBody>
      </p:sp>
      <p:sp>
        <p:nvSpPr>
          <p:cNvPr id="31" name="Shape 28"/>
          <p:cNvSpPr/>
          <p:nvPr/>
        </p:nvSpPr>
        <p:spPr>
          <a:xfrm>
            <a:off x="10835640" y="1645920"/>
            <a:ext cx="749808" cy="365760"/>
          </a:xfrm>
          <a:prstGeom prst="rect">
            <a:avLst/>
          </a:prstGeom>
          <a:solidFill>
            <a:srgbClr val="FFFFFF"/>
          </a:solidFill>
          <a:ln w="12700">
            <a:solidFill>
              <a:srgbClr val="0B2545"/>
            </a:solidFill>
            <a:prstDash val="solid"/>
          </a:ln>
        </p:spPr>
      </p:sp>
      <p:sp>
        <p:nvSpPr>
          <p:cNvPr id="32" name="Text 29"/>
          <p:cNvSpPr/>
          <p:nvPr/>
        </p:nvSpPr>
        <p:spPr>
          <a:xfrm>
            <a:off x="10835640" y="1645920"/>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M</a:t>
            </a:r>
            <a:endParaRPr lang="en-US" sz="1200" dirty="0"/>
          </a:p>
        </p:txBody>
      </p:sp>
      <p:sp>
        <p:nvSpPr>
          <p:cNvPr id="33" name="Text 30"/>
          <p:cNvSpPr/>
          <p:nvPr/>
        </p:nvSpPr>
        <p:spPr>
          <a:xfrm>
            <a:off x="548640" y="2020824"/>
            <a:ext cx="914400" cy="365760"/>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Number</a:t>
            </a:r>
            <a:endParaRPr lang="en-US" sz="1000" dirty="0"/>
          </a:p>
        </p:txBody>
      </p:sp>
      <p:sp>
        <p:nvSpPr>
          <p:cNvPr id="34" name="Shape 31"/>
          <p:cNvSpPr/>
          <p:nvPr/>
        </p:nvSpPr>
        <p:spPr>
          <a:xfrm>
            <a:off x="1508760" y="2020824"/>
            <a:ext cx="749808" cy="365760"/>
          </a:xfrm>
          <a:prstGeom prst="rect">
            <a:avLst/>
          </a:prstGeom>
          <a:solidFill>
            <a:srgbClr val="EAF0F6"/>
          </a:solidFill>
          <a:ln w="12700">
            <a:solidFill>
              <a:srgbClr val="0B2545"/>
            </a:solidFill>
            <a:prstDash val="solid"/>
          </a:ln>
        </p:spPr>
      </p:sp>
      <p:sp>
        <p:nvSpPr>
          <p:cNvPr id="35" name="Text 32"/>
          <p:cNvSpPr/>
          <p:nvPr/>
        </p:nvSpPr>
        <p:spPr>
          <a:xfrm>
            <a:off x="150876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0</a:t>
            </a:r>
            <a:endParaRPr lang="en-US" sz="1100" dirty="0"/>
          </a:p>
        </p:txBody>
      </p:sp>
      <p:sp>
        <p:nvSpPr>
          <p:cNvPr id="36" name="Shape 33"/>
          <p:cNvSpPr/>
          <p:nvPr/>
        </p:nvSpPr>
        <p:spPr>
          <a:xfrm>
            <a:off x="2286000" y="2020824"/>
            <a:ext cx="749808" cy="365760"/>
          </a:xfrm>
          <a:prstGeom prst="rect">
            <a:avLst/>
          </a:prstGeom>
          <a:solidFill>
            <a:srgbClr val="EAF0F6"/>
          </a:solidFill>
          <a:ln w="12700">
            <a:solidFill>
              <a:srgbClr val="0B2545"/>
            </a:solidFill>
            <a:prstDash val="solid"/>
          </a:ln>
        </p:spPr>
      </p:sp>
      <p:sp>
        <p:nvSpPr>
          <p:cNvPr id="37" name="Text 34"/>
          <p:cNvSpPr/>
          <p:nvPr/>
        </p:nvSpPr>
        <p:spPr>
          <a:xfrm>
            <a:off x="228600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a:t>
            </a:r>
            <a:endParaRPr lang="en-US" sz="1100" dirty="0"/>
          </a:p>
        </p:txBody>
      </p:sp>
      <p:sp>
        <p:nvSpPr>
          <p:cNvPr id="38" name="Shape 35"/>
          <p:cNvSpPr/>
          <p:nvPr/>
        </p:nvSpPr>
        <p:spPr>
          <a:xfrm>
            <a:off x="3063240" y="2020824"/>
            <a:ext cx="749808" cy="365760"/>
          </a:xfrm>
          <a:prstGeom prst="rect">
            <a:avLst/>
          </a:prstGeom>
          <a:solidFill>
            <a:srgbClr val="EAF0F6"/>
          </a:solidFill>
          <a:ln w="12700">
            <a:solidFill>
              <a:srgbClr val="0B2545"/>
            </a:solidFill>
            <a:prstDash val="solid"/>
          </a:ln>
        </p:spPr>
      </p:sp>
      <p:sp>
        <p:nvSpPr>
          <p:cNvPr id="39" name="Text 36"/>
          <p:cNvSpPr/>
          <p:nvPr/>
        </p:nvSpPr>
        <p:spPr>
          <a:xfrm>
            <a:off x="306324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a:t>
            </a:r>
            <a:endParaRPr lang="en-US" sz="1100" dirty="0"/>
          </a:p>
        </p:txBody>
      </p:sp>
      <p:sp>
        <p:nvSpPr>
          <p:cNvPr id="40" name="Shape 37"/>
          <p:cNvSpPr/>
          <p:nvPr/>
        </p:nvSpPr>
        <p:spPr>
          <a:xfrm>
            <a:off x="3840480" y="2020824"/>
            <a:ext cx="749808" cy="365760"/>
          </a:xfrm>
          <a:prstGeom prst="rect">
            <a:avLst/>
          </a:prstGeom>
          <a:solidFill>
            <a:srgbClr val="EAF0F6"/>
          </a:solidFill>
          <a:ln w="12700">
            <a:solidFill>
              <a:srgbClr val="0B2545"/>
            </a:solidFill>
            <a:prstDash val="solid"/>
          </a:ln>
        </p:spPr>
      </p:sp>
      <p:sp>
        <p:nvSpPr>
          <p:cNvPr id="41" name="Text 38"/>
          <p:cNvSpPr/>
          <p:nvPr/>
        </p:nvSpPr>
        <p:spPr>
          <a:xfrm>
            <a:off x="384048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3</a:t>
            </a:r>
            <a:endParaRPr lang="en-US" sz="1100" dirty="0"/>
          </a:p>
        </p:txBody>
      </p:sp>
      <p:sp>
        <p:nvSpPr>
          <p:cNvPr id="42" name="Shape 39"/>
          <p:cNvSpPr/>
          <p:nvPr/>
        </p:nvSpPr>
        <p:spPr>
          <a:xfrm>
            <a:off x="4617720" y="2020824"/>
            <a:ext cx="749808" cy="365760"/>
          </a:xfrm>
          <a:prstGeom prst="rect">
            <a:avLst/>
          </a:prstGeom>
          <a:solidFill>
            <a:srgbClr val="EAF0F6"/>
          </a:solidFill>
          <a:ln w="12700">
            <a:solidFill>
              <a:srgbClr val="0B2545"/>
            </a:solidFill>
            <a:prstDash val="solid"/>
          </a:ln>
        </p:spPr>
      </p:sp>
      <p:sp>
        <p:nvSpPr>
          <p:cNvPr id="43" name="Text 40"/>
          <p:cNvSpPr/>
          <p:nvPr/>
        </p:nvSpPr>
        <p:spPr>
          <a:xfrm>
            <a:off x="461772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4</a:t>
            </a:r>
            <a:endParaRPr lang="en-US" sz="1100" dirty="0"/>
          </a:p>
        </p:txBody>
      </p:sp>
      <p:sp>
        <p:nvSpPr>
          <p:cNvPr id="44" name="Shape 41"/>
          <p:cNvSpPr/>
          <p:nvPr/>
        </p:nvSpPr>
        <p:spPr>
          <a:xfrm>
            <a:off x="5394960" y="2020824"/>
            <a:ext cx="749808" cy="365760"/>
          </a:xfrm>
          <a:prstGeom prst="rect">
            <a:avLst/>
          </a:prstGeom>
          <a:solidFill>
            <a:srgbClr val="EAF0F6"/>
          </a:solidFill>
          <a:ln w="12700">
            <a:solidFill>
              <a:srgbClr val="0B2545"/>
            </a:solidFill>
            <a:prstDash val="solid"/>
          </a:ln>
        </p:spPr>
      </p:sp>
      <p:sp>
        <p:nvSpPr>
          <p:cNvPr id="45" name="Text 42"/>
          <p:cNvSpPr/>
          <p:nvPr/>
        </p:nvSpPr>
        <p:spPr>
          <a:xfrm>
            <a:off x="539496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5</a:t>
            </a:r>
            <a:endParaRPr lang="en-US" sz="1100" dirty="0"/>
          </a:p>
        </p:txBody>
      </p:sp>
      <p:sp>
        <p:nvSpPr>
          <p:cNvPr id="46" name="Shape 43"/>
          <p:cNvSpPr/>
          <p:nvPr/>
        </p:nvSpPr>
        <p:spPr>
          <a:xfrm>
            <a:off x="6172200" y="2020824"/>
            <a:ext cx="749808" cy="365760"/>
          </a:xfrm>
          <a:prstGeom prst="rect">
            <a:avLst/>
          </a:prstGeom>
          <a:solidFill>
            <a:srgbClr val="EAF0F6"/>
          </a:solidFill>
          <a:ln w="12700">
            <a:solidFill>
              <a:srgbClr val="0B2545"/>
            </a:solidFill>
            <a:prstDash val="solid"/>
          </a:ln>
        </p:spPr>
      </p:sp>
      <p:sp>
        <p:nvSpPr>
          <p:cNvPr id="47" name="Text 44"/>
          <p:cNvSpPr/>
          <p:nvPr/>
        </p:nvSpPr>
        <p:spPr>
          <a:xfrm>
            <a:off x="617220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6</a:t>
            </a:r>
            <a:endParaRPr lang="en-US" sz="1100" dirty="0"/>
          </a:p>
        </p:txBody>
      </p:sp>
      <p:sp>
        <p:nvSpPr>
          <p:cNvPr id="48" name="Shape 45"/>
          <p:cNvSpPr/>
          <p:nvPr/>
        </p:nvSpPr>
        <p:spPr>
          <a:xfrm>
            <a:off x="6949440" y="2020824"/>
            <a:ext cx="749808" cy="365760"/>
          </a:xfrm>
          <a:prstGeom prst="rect">
            <a:avLst/>
          </a:prstGeom>
          <a:solidFill>
            <a:srgbClr val="EAF0F6"/>
          </a:solidFill>
          <a:ln w="12700">
            <a:solidFill>
              <a:srgbClr val="0B2545"/>
            </a:solidFill>
            <a:prstDash val="solid"/>
          </a:ln>
        </p:spPr>
      </p:sp>
      <p:sp>
        <p:nvSpPr>
          <p:cNvPr id="49" name="Text 46"/>
          <p:cNvSpPr/>
          <p:nvPr/>
        </p:nvSpPr>
        <p:spPr>
          <a:xfrm>
            <a:off x="694944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7</a:t>
            </a:r>
            <a:endParaRPr lang="en-US" sz="1100" dirty="0"/>
          </a:p>
        </p:txBody>
      </p:sp>
      <p:sp>
        <p:nvSpPr>
          <p:cNvPr id="50" name="Shape 47"/>
          <p:cNvSpPr/>
          <p:nvPr/>
        </p:nvSpPr>
        <p:spPr>
          <a:xfrm>
            <a:off x="7726680" y="2020824"/>
            <a:ext cx="749808" cy="365760"/>
          </a:xfrm>
          <a:prstGeom prst="rect">
            <a:avLst/>
          </a:prstGeom>
          <a:solidFill>
            <a:srgbClr val="EAF0F6"/>
          </a:solidFill>
          <a:ln w="12700">
            <a:solidFill>
              <a:srgbClr val="0B2545"/>
            </a:solidFill>
            <a:prstDash val="solid"/>
          </a:ln>
        </p:spPr>
      </p:sp>
      <p:sp>
        <p:nvSpPr>
          <p:cNvPr id="51" name="Text 48"/>
          <p:cNvSpPr/>
          <p:nvPr/>
        </p:nvSpPr>
        <p:spPr>
          <a:xfrm>
            <a:off x="772668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8</a:t>
            </a:r>
            <a:endParaRPr lang="en-US" sz="1100" dirty="0"/>
          </a:p>
        </p:txBody>
      </p:sp>
      <p:sp>
        <p:nvSpPr>
          <p:cNvPr id="52" name="Shape 49"/>
          <p:cNvSpPr/>
          <p:nvPr/>
        </p:nvSpPr>
        <p:spPr>
          <a:xfrm>
            <a:off x="8503920" y="2020824"/>
            <a:ext cx="749808" cy="365760"/>
          </a:xfrm>
          <a:prstGeom prst="rect">
            <a:avLst/>
          </a:prstGeom>
          <a:solidFill>
            <a:srgbClr val="EAF0F6"/>
          </a:solidFill>
          <a:ln w="12700">
            <a:solidFill>
              <a:srgbClr val="0B2545"/>
            </a:solidFill>
            <a:prstDash val="solid"/>
          </a:ln>
        </p:spPr>
      </p:sp>
      <p:sp>
        <p:nvSpPr>
          <p:cNvPr id="53" name="Text 50"/>
          <p:cNvSpPr/>
          <p:nvPr/>
        </p:nvSpPr>
        <p:spPr>
          <a:xfrm>
            <a:off x="850392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9</a:t>
            </a:r>
            <a:endParaRPr lang="en-US" sz="1100" dirty="0"/>
          </a:p>
        </p:txBody>
      </p:sp>
      <p:sp>
        <p:nvSpPr>
          <p:cNvPr id="54" name="Shape 51"/>
          <p:cNvSpPr/>
          <p:nvPr/>
        </p:nvSpPr>
        <p:spPr>
          <a:xfrm>
            <a:off x="9281160" y="2020824"/>
            <a:ext cx="749808" cy="365760"/>
          </a:xfrm>
          <a:prstGeom prst="rect">
            <a:avLst/>
          </a:prstGeom>
          <a:solidFill>
            <a:srgbClr val="EAF0F6"/>
          </a:solidFill>
          <a:ln w="12700">
            <a:solidFill>
              <a:srgbClr val="0B2545"/>
            </a:solidFill>
            <a:prstDash val="solid"/>
          </a:ln>
        </p:spPr>
      </p:sp>
      <p:sp>
        <p:nvSpPr>
          <p:cNvPr id="55" name="Text 52"/>
          <p:cNvSpPr/>
          <p:nvPr/>
        </p:nvSpPr>
        <p:spPr>
          <a:xfrm>
            <a:off x="928116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10</a:t>
            </a:r>
            <a:endParaRPr lang="en-US" sz="1100" dirty="0"/>
          </a:p>
        </p:txBody>
      </p:sp>
      <p:sp>
        <p:nvSpPr>
          <p:cNvPr id="56" name="Shape 53"/>
          <p:cNvSpPr/>
          <p:nvPr/>
        </p:nvSpPr>
        <p:spPr>
          <a:xfrm>
            <a:off x="10058400" y="2020824"/>
            <a:ext cx="749808" cy="365760"/>
          </a:xfrm>
          <a:prstGeom prst="rect">
            <a:avLst/>
          </a:prstGeom>
          <a:solidFill>
            <a:srgbClr val="EAF0F6"/>
          </a:solidFill>
          <a:ln w="12700">
            <a:solidFill>
              <a:srgbClr val="0B2545"/>
            </a:solidFill>
            <a:prstDash val="solid"/>
          </a:ln>
        </p:spPr>
      </p:sp>
      <p:sp>
        <p:nvSpPr>
          <p:cNvPr id="57" name="Text 54"/>
          <p:cNvSpPr/>
          <p:nvPr/>
        </p:nvSpPr>
        <p:spPr>
          <a:xfrm>
            <a:off x="1005840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11</a:t>
            </a:r>
            <a:endParaRPr lang="en-US" sz="1100" dirty="0"/>
          </a:p>
        </p:txBody>
      </p:sp>
      <p:sp>
        <p:nvSpPr>
          <p:cNvPr id="58" name="Shape 55"/>
          <p:cNvSpPr/>
          <p:nvPr/>
        </p:nvSpPr>
        <p:spPr>
          <a:xfrm>
            <a:off x="10835640" y="2020824"/>
            <a:ext cx="749808" cy="365760"/>
          </a:xfrm>
          <a:prstGeom prst="rect">
            <a:avLst/>
          </a:prstGeom>
          <a:solidFill>
            <a:srgbClr val="EAF0F6"/>
          </a:solidFill>
          <a:ln w="12700">
            <a:solidFill>
              <a:srgbClr val="0B2545"/>
            </a:solidFill>
            <a:prstDash val="solid"/>
          </a:ln>
        </p:spPr>
      </p:sp>
      <p:sp>
        <p:nvSpPr>
          <p:cNvPr id="59" name="Text 56"/>
          <p:cNvSpPr/>
          <p:nvPr/>
        </p:nvSpPr>
        <p:spPr>
          <a:xfrm>
            <a:off x="10835640" y="2020824"/>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12</a:t>
            </a:r>
            <a:endParaRPr lang="en-US" sz="1100" dirty="0"/>
          </a:p>
        </p:txBody>
      </p:sp>
      <p:sp>
        <p:nvSpPr>
          <p:cNvPr id="60" name="Text 57"/>
          <p:cNvSpPr/>
          <p:nvPr/>
        </p:nvSpPr>
        <p:spPr>
          <a:xfrm>
            <a:off x="548640" y="2450592"/>
            <a:ext cx="914400" cy="365760"/>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Alphabet</a:t>
            </a:r>
            <a:endParaRPr lang="en-US" sz="1000" dirty="0"/>
          </a:p>
        </p:txBody>
      </p:sp>
      <p:sp>
        <p:nvSpPr>
          <p:cNvPr id="61" name="Shape 58"/>
          <p:cNvSpPr/>
          <p:nvPr/>
        </p:nvSpPr>
        <p:spPr>
          <a:xfrm>
            <a:off x="1508760" y="2450592"/>
            <a:ext cx="749808" cy="365760"/>
          </a:xfrm>
          <a:prstGeom prst="rect">
            <a:avLst/>
          </a:prstGeom>
          <a:solidFill>
            <a:srgbClr val="FFFFFF"/>
          </a:solidFill>
          <a:ln w="12700">
            <a:solidFill>
              <a:srgbClr val="0B2545"/>
            </a:solidFill>
            <a:prstDash val="solid"/>
          </a:ln>
        </p:spPr>
      </p:sp>
      <p:sp>
        <p:nvSpPr>
          <p:cNvPr id="62" name="Text 59"/>
          <p:cNvSpPr/>
          <p:nvPr/>
        </p:nvSpPr>
        <p:spPr>
          <a:xfrm>
            <a:off x="150876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N</a:t>
            </a:r>
            <a:endParaRPr lang="en-US" sz="1200" dirty="0"/>
          </a:p>
        </p:txBody>
      </p:sp>
      <p:sp>
        <p:nvSpPr>
          <p:cNvPr id="63" name="Shape 60"/>
          <p:cNvSpPr/>
          <p:nvPr/>
        </p:nvSpPr>
        <p:spPr>
          <a:xfrm>
            <a:off x="2286000" y="2450592"/>
            <a:ext cx="749808" cy="365760"/>
          </a:xfrm>
          <a:prstGeom prst="rect">
            <a:avLst/>
          </a:prstGeom>
          <a:solidFill>
            <a:srgbClr val="FFFFFF"/>
          </a:solidFill>
          <a:ln w="12700">
            <a:solidFill>
              <a:srgbClr val="0B2545"/>
            </a:solidFill>
            <a:prstDash val="solid"/>
          </a:ln>
        </p:spPr>
      </p:sp>
      <p:sp>
        <p:nvSpPr>
          <p:cNvPr id="64" name="Text 61"/>
          <p:cNvSpPr/>
          <p:nvPr/>
        </p:nvSpPr>
        <p:spPr>
          <a:xfrm>
            <a:off x="228600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O</a:t>
            </a:r>
            <a:endParaRPr lang="en-US" sz="1200" dirty="0"/>
          </a:p>
        </p:txBody>
      </p:sp>
      <p:sp>
        <p:nvSpPr>
          <p:cNvPr id="65" name="Shape 62"/>
          <p:cNvSpPr/>
          <p:nvPr/>
        </p:nvSpPr>
        <p:spPr>
          <a:xfrm>
            <a:off x="3063240" y="2450592"/>
            <a:ext cx="749808" cy="365760"/>
          </a:xfrm>
          <a:prstGeom prst="rect">
            <a:avLst/>
          </a:prstGeom>
          <a:solidFill>
            <a:srgbClr val="FFFFFF"/>
          </a:solidFill>
          <a:ln w="12700">
            <a:solidFill>
              <a:srgbClr val="0B2545"/>
            </a:solidFill>
            <a:prstDash val="solid"/>
          </a:ln>
        </p:spPr>
      </p:sp>
      <p:sp>
        <p:nvSpPr>
          <p:cNvPr id="66" name="Text 63"/>
          <p:cNvSpPr/>
          <p:nvPr/>
        </p:nvSpPr>
        <p:spPr>
          <a:xfrm>
            <a:off x="306324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P</a:t>
            </a:r>
            <a:endParaRPr lang="en-US" sz="1200" dirty="0"/>
          </a:p>
        </p:txBody>
      </p:sp>
      <p:sp>
        <p:nvSpPr>
          <p:cNvPr id="67" name="Shape 64"/>
          <p:cNvSpPr/>
          <p:nvPr/>
        </p:nvSpPr>
        <p:spPr>
          <a:xfrm>
            <a:off x="3840480" y="2450592"/>
            <a:ext cx="749808" cy="365760"/>
          </a:xfrm>
          <a:prstGeom prst="rect">
            <a:avLst/>
          </a:prstGeom>
          <a:solidFill>
            <a:srgbClr val="FFFFFF"/>
          </a:solidFill>
          <a:ln w="12700">
            <a:solidFill>
              <a:srgbClr val="0B2545"/>
            </a:solidFill>
            <a:prstDash val="solid"/>
          </a:ln>
        </p:spPr>
      </p:sp>
      <p:sp>
        <p:nvSpPr>
          <p:cNvPr id="68" name="Text 65"/>
          <p:cNvSpPr/>
          <p:nvPr/>
        </p:nvSpPr>
        <p:spPr>
          <a:xfrm>
            <a:off x="384048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Q</a:t>
            </a:r>
            <a:endParaRPr lang="en-US" sz="1200" dirty="0"/>
          </a:p>
        </p:txBody>
      </p:sp>
      <p:sp>
        <p:nvSpPr>
          <p:cNvPr id="69" name="Shape 66"/>
          <p:cNvSpPr/>
          <p:nvPr/>
        </p:nvSpPr>
        <p:spPr>
          <a:xfrm>
            <a:off x="4617720" y="2450592"/>
            <a:ext cx="749808" cy="365760"/>
          </a:xfrm>
          <a:prstGeom prst="rect">
            <a:avLst/>
          </a:prstGeom>
          <a:solidFill>
            <a:srgbClr val="FFFFFF"/>
          </a:solidFill>
          <a:ln w="12700">
            <a:solidFill>
              <a:srgbClr val="0B2545"/>
            </a:solidFill>
            <a:prstDash val="solid"/>
          </a:ln>
        </p:spPr>
      </p:sp>
      <p:sp>
        <p:nvSpPr>
          <p:cNvPr id="70" name="Text 67"/>
          <p:cNvSpPr/>
          <p:nvPr/>
        </p:nvSpPr>
        <p:spPr>
          <a:xfrm>
            <a:off x="461772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R</a:t>
            </a:r>
            <a:endParaRPr lang="en-US" sz="1200" dirty="0"/>
          </a:p>
        </p:txBody>
      </p:sp>
      <p:sp>
        <p:nvSpPr>
          <p:cNvPr id="71" name="Shape 68"/>
          <p:cNvSpPr/>
          <p:nvPr/>
        </p:nvSpPr>
        <p:spPr>
          <a:xfrm>
            <a:off x="5394960" y="2450592"/>
            <a:ext cx="749808" cy="365760"/>
          </a:xfrm>
          <a:prstGeom prst="rect">
            <a:avLst/>
          </a:prstGeom>
          <a:solidFill>
            <a:srgbClr val="FFFFFF"/>
          </a:solidFill>
          <a:ln w="12700">
            <a:solidFill>
              <a:srgbClr val="0B2545"/>
            </a:solidFill>
            <a:prstDash val="solid"/>
          </a:ln>
        </p:spPr>
      </p:sp>
      <p:sp>
        <p:nvSpPr>
          <p:cNvPr id="72" name="Text 69"/>
          <p:cNvSpPr/>
          <p:nvPr/>
        </p:nvSpPr>
        <p:spPr>
          <a:xfrm>
            <a:off x="539496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S</a:t>
            </a:r>
            <a:endParaRPr lang="en-US" sz="1200" dirty="0"/>
          </a:p>
        </p:txBody>
      </p:sp>
      <p:sp>
        <p:nvSpPr>
          <p:cNvPr id="73" name="Shape 70"/>
          <p:cNvSpPr/>
          <p:nvPr/>
        </p:nvSpPr>
        <p:spPr>
          <a:xfrm>
            <a:off x="6172200" y="2450592"/>
            <a:ext cx="749808" cy="365760"/>
          </a:xfrm>
          <a:prstGeom prst="rect">
            <a:avLst/>
          </a:prstGeom>
          <a:solidFill>
            <a:srgbClr val="FFFFFF"/>
          </a:solidFill>
          <a:ln w="12700">
            <a:solidFill>
              <a:srgbClr val="0B2545"/>
            </a:solidFill>
            <a:prstDash val="solid"/>
          </a:ln>
        </p:spPr>
      </p:sp>
      <p:sp>
        <p:nvSpPr>
          <p:cNvPr id="74" name="Text 71"/>
          <p:cNvSpPr/>
          <p:nvPr/>
        </p:nvSpPr>
        <p:spPr>
          <a:xfrm>
            <a:off x="617220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T</a:t>
            </a:r>
            <a:endParaRPr lang="en-US" sz="1200" dirty="0"/>
          </a:p>
        </p:txBody>
      </p:sp>
      <p:sp>
        <p:nvSpPr>
          <p:cNvPr id="75" name="Shape 72"/>
          <p:cNvSpPr/>
          <p:nvPr/>
        </p:nvSpPr>
        <p:spPr>
          <a:xfrm>
            <a:off x="6949440" y="2450592"/>
            <a:ext cx="749808" cy="365760"/>
          </a:xfrm>
          <a:prstGeom prst="rect">
            <a:avLst/>
          </a:prstGeom>
          <a:solidFill>
            <a:srgbClr val="FFFFFF"/>
          </a:solidFill>
          <a:ln w="12700">
            <a:solidFill>
              <a:srgbClr val="0B2545"/>
            </a:solidFill>
            <a:prstDash val="solid"/>
          </a:ln>
        </p:spPr>
      </p:sp>
      <p:sp>
        <p:nvSpPr>
          <p:cNvPr id="76" name="Text 73"/>
          <p:cNvSpPr/>
          <p:nvPr/>
        </p:nvSpPr>
        <p:spPr>
          <a:xfrm>
            <a:off x="694944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U</a:t>
            </a:r>
            <a:endParaRPr lang="en-US" sz="1200" dirty="0"/>
          </a:p>
        </p:txBody>
      </p:sp>
      <p:sp>
        <p:nvSpPr>
          <p:cNvPr id="77" name="Shape 74"/>
          <p:cNvSpPr/>
          <p:nvPr/>
        </p:nvSpPr>
        <p:spPr>
          <a:xfrm>
            <a:off x="7726680" y="2450592"/>
            <a:ext cx="749808" cy="365760"/>
          </a:xfrm>
          <a:prstGeom prst="rect">
            <a:avLst/>
          </a:prstGeom>
          <a:solidFill>
            <a:srgbClr val="FFFFFF"/>
          </a:solidFill>
          <a:ln w="12700">
            <a:solidFill>
              <a:srgbClr val="0B2545"/>
            </a:solidFill>
            <a:prstDash val="solid"/>
          </a:ln>
        </p:spPr>
      </p:sp>
      <p:sp>
        <p:nvSpPr>
          <p:cNvPr id="78" name="Text 75"/>
          <p:cNvSpPr/>
          <p:nvPr/>
        </p:nvSpPr>
        <p:spPr>
          <a:xfrm>
            <a:off x="772668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V</a:t>
            </a:r>
            <a:endParaRPr lang="en-US" sz="1200" dirty="0"/>
          </a:p>
        </p:txBody>
      </p:sp>
      <p:sp>
        <p:nvSpPr>
          <p:cNvPr id="79" name="Shape 76"/>
          <p:cNvSpPr/>
          <p:nvPr/>
        </p:nvSpPr>
        <p:spPr>
          <a:xfrm>
            <a:off x="8503920" y="2450592"/>
            <a:ext cx="749808" cy="365760"/>
          </a:xfrm>
          <a:prstGeom prst="rect">
            <a:avLst/>
          </a:prstGeom>
          <a:solidFill>
            <a:srgbClr val="FFFFFF"/>
          </a:solidFill>
          <a:ln w="12700">
            <a:solidFill>
              <a:srgbClr val="0B2545"/>
            </a:solidFill>
            <a:prstDash val="solid"/>
          </a:ln>
        </p:spPr>
      </p:sp>
      <p:sp>
        <p:nvSpPr>
          <p:cNvPr id="80" name="Text 77"/>
          <p:cNvSpPr/>
          <p:nvPr/>
        </p:nvSpPr>
        <p:spPr>
          <a:xfrm>
            <a:off x="850392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W</a:t>
            </a:r>
            <a:endParaRPr lang="en-US" sz="1200" dirty="0"/>
          </a:p>
        </p:txBody>
      </p:sp>
      <p:sp>
        <p:nvSpPr>
          <p:cNvPr id="81" name="Shape 78"/>
          <p:cNvSpPr/>
          <p:nvPr/>
        </p:nvSpPr>
        <p:spPr>
          <a:xfrm>
            <a:off x="9281160" y="2450592"/>
            <a:ext cx="749808" cy="365760"/>
          </a:xfrm>
          <a:prstGeom prst="rect">
            <a:avLst/>
          </a:prstGeom>
          <a:solidFill>
            <a:srgbClr val="FFFFFF"/>
          </a:solidFill>
          <a:ln w="12700">
            <a:solidFill>
              <a:srgbClr val="0B2545"/>
            </a:solidFill>
            <a:prstDash val="solid"/>
          </a:ln>
        </p:spPr>
      </p:sp>
      <p:sp>
        <p:nvSpPr>
          <p:cNvPr id="82" name="Text 79"/>
          <p:cNvSpPr/>
          <p:nvPr/>
        </p:nvSpPr>
        <p:spPr>
          <a:xfrm>
            <a:off x="928116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X</a:t>
            </a:r>
            <a:endParaRPr lang="en-US" sz="1200" dirty="0"/>
          </a:p>
        </p:txBody>
      </p:sp>
      <p:sp>
        <p:nvSpPr>
          <p:cNvPr id="83" name="Shape 80"/>
          <p:cNvSpPr/>
          <p:nvPr/>
        </p:nvSpPr>
        <p:spPr>
          <a:xfrm>
            <a:off x="10058400" y="2450592"/>
            <a:ext cx="749808" cy="365760"/>
          </a:xfrm>
          <a:prstGeom prst="rect">
            <a:avLst/>
          </a:prstGeom>
          <a:solidFill>
            <a:srgbClr val="FFFFFF"/>
          </a:solidFill>
          <a:ln w="12700">
            <a:solidFill>
              <a:srgbClr val="0B2545"/>
            </a:solidFill>
            <a:prstDash val="solid"/>
          </a:ln>
        </p:spPr>
      </p:sp>
      <p:sp>
        <p:nvSpPr>
          <p:cNvPr id="84" name="Text 81"/>
          <p:cNvSpPr/>
          <p:nvPr/>
        </p:nvSpPr>
        <p:spPr>
          <a:xfrm>
            <a:off x="1005840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Y</a:t>
            </a:r>
            <a:endParaRPr lang="en-US" sz="1200" dirty="0"/>
          </a:p>
        </p:txBody>
      </p:sp>
      <p:sp>
        <p:nvSpPr>
          <p:cNvPr id="85" name="Shape 82"/>
          <p:cNvSpPr/>
          <p:nvPr/>
        </p:nvSpPr>
        <p:spPr>
          <a:xfrm>
            <a:off x="10835640" y="2450592"/>
            <a:ext cx="749808" cy="365760"/>
          </a:xfrm>
          <a:prstGeom prst="rect">
            <a:avLst/>
          </a:prstGeom>
          <a:solidFill>
            <a:srgbClr val="FFFFFF"/>
          </a:solidFill>
          <a:ln w="12700">
            <a:solidFill>
              <a:srgbClr val="0B2545"/>
            </a:solidFill>
            <a:prstDash val="solid"/>
          </a:ln>
        </p:spPr>
      </p:sp>
      <p:sp>
        <p:nvSpPr>
          <p:cNvPr id="86" name="Text 83"/>
          <p:cNvSpPr/>
          <p:nvPr/>
        </p:nvSpPr>
        <p:spPr>
          <a:xfrm>
            <a:off x="10835640" y="2450592"/>
            <a:ext cx="749808" cy="365760"/>
          </a:xfrm>
          <a:prstGeom prst="rect">
            <a:avLst/>
          </a:prstGeom>
          <a:noFill/>
          <a:ln/>
        </p:spPr>
        <p:txBody>
          <a:bodyPr wrap="square" rtlCol="0" anchor="ctr"/>
          <a:lstStyle/>
          <a:p>
            <a:pPr marL="0" indent="0" algn="ctr">
              <a:buNone/>
            </a:pPr>
            <a:r>
              <a:rPr lang="en-US" sz="1200" b="1" dirty="0">
                <a:solidFill>
                  <a:srgbClr val="16232E"/>
                </a:solidFill>
                <a:latin typeface="Courier New" pitchFamily="34" charset="0"/>
                <a:ea typeface="Courier New" pitchFamily="34" charset="-122"/>
                <a:cs typeface="Courier New" pitchFamily="34" charset="-120"/>
              </a:rPr>
              <a:t>Z</a:t>
            </a:r>
            <a:endParaRPr lang="en-US" sz="1200" dirty="0"/>
          </a:p>
        </p:txBody>
      </p:sp>
      <p:sp>
        <p:nvSpPr>
          <p:cNvPr id="87" name="Text 84"/>
          <p:cNvSpPr/>
          <p:nvPr/>
        </p:nvSpPr>
        <p:spPr>
          <a:xfrm>
            <a:off x="548640" y="2825496"/>
            <a:ext cx="914400" cy="365760"/>
          </a:xfrm>
          <a:prstGeom prst="rect">
            <a:avLst/>
          </a:prstGeom>
          <a:noFill/>
          <a:ln/>
        </p:spPr>
        <p:txBody>
          <a:bodyPr wrap="square"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Number</a:t>
            </a:r>
            <a:endParaRPr lang="en-US" sz="1000" dirty="0"/>
          </a:p>
        </p:txBody>
      </p:sp>
      <p:sp>
        <p:nvSpPr>
          <p:cNvPr id="88" name="Shape 85"/>
          <p:cNvSpPr/>
          <p:nvPr/>
        </p:nvSpPr>
        <p:spPr>
          <a:xfrm>
            <a:off x="1508760" y="2825496"/>
            <a:ext cx="749808" cy="365760"/>
          </a:xfrm>
          <a:prstGeom prst="rect">
            <a:avLst/>
          </a:prstGeom>
          <a:solidFill>
            <a:srgbClr val="EAF0F6"/>
          </a:solidFill>
          <a:ln w="12700">
            <a:solidFill>
              <a:srgbClr val="0B2545"/>
            </a:solidFill>
            <a:prstDash val="solid"/>
          </a:ln>
        </p:spPr>
      </p:sp>
      <p:sp>
        <p:nvSpPr>
          <p:cNvPr id="89" name="Text 86"/>
          <p:cNvSpPr/>
          <p:nvPr/>
        </p:nvSpPr>
        <p:spPr>
          <a:xfrm>
            <a:off x="150876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13</a:t>
            </a:r>
            <a:endParaRPr lang="en-US" sz="1100" dirty="0"/>
          </a:p>
        </p:txBody>
      </p:sp>
      <p:sp>
        <p:nvSpPr>
          <p:cNvPr id="90" name="Shape 87"/>
          <p:cNvSpPr/>
          <p:nvPr/>
        </p:nvSpPr>
        <p:spPr>
          <a:xfrm>
            <a:off x="2286000" y="2825496"/>
            <a:ext cx="749808" cy="365760"/>
          </a:xfrm>
          <a:prstGeom prst="rect">
            <a:avLst/>
          </a:prstGeom>
          <a:solidFill>
            <a:srgbClr val="EAF0F6"/>
          </a:solidFill>
          <a:ln w="12700">
            <a:solidFill>
              <a:srgbClr val="0B2545"/>
            </a:solidFill>
            <a:prstDash val="solid"/>
          </a:ln>
        </p:spPr>
      </p:sp>
      <p:sp>
        <p:nvSpPr>
          <p:cNvPr id="91" name="Text 88"/>
          <p:cNvSpPr/>
          <p:nvPr/>
        </p:nvSpPr>
        <p:spPr>
          <a:xfrm>
            <a:off x="228600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14</a:t>
            </a:r>
            <a:endParaRPr lang="en-US" sz="1100" dirty="0"/>
          </a:p>
        </p:txBody>
      </p:sp>
      <p:sp>
        <p:nvSpPr>
          <p:cNvPr id="92" name="Shape 89"/>
          <p:cNvSpPr/>
          <p:nvPr/>
        </p:nvSpPr>
        <p:spPr>
          <a:xfrm>
            <a:off x="3063240" y="2825496"/>
            <a:ext cx="749808" cy="365760"/>
          </a:xfrm>
          <a:prstGeom prst="rect">
            <a:avLst/>
          </a:prstGeom>
          <a:solidFill>
            <a:srgbClr val="EAF0F6"/>
          </a:solidFill>
          <a:ln w="12700">
            <a:solidFill>
              <a:srgbClr val="0B2545"/>
            </a:solidFill>
            <a:prstDash val="solid"/>
          </a:ln>
        </p:spPr>
      </p:sp>
      <p:sp>
        <p:nvSpPr>
          <p:cNvPr id="93" name="Text 90"/>
          <p:cNvSpPr/>
          <p:nvPr/>
        </p:nvSpPr>
        <p:spPr>
          <a:xfrm>
            <a:off x="306324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15</a:t>
            </a:r>
            <a:endParaRPr lang="en-US" sz="1100" dirty="0"/>
          </a:p>
        </p:txBody>
      </p:sp>
      <p:sp>
        <p:nvSpPr>
          <p:cNvPr id="94" name="Shape 91"/>
          <p:cNvSpPr/>
          <p:nvPr/>
        </p:nvSpPr>
        <p:spPr>
          <a:xfrm>
            <a:off x="3840480" y="2825496"/>
            <a:ext cx="749808" cy="365760"/>
          </a:xfrm>
          <a:prstGeom prst="rect">
            <a:avLst/>
          </a:prstGeom>
          <a:solidFill>
            <a:srgbClr val="EAF0F6"/>
          </a:solidFill>
          <a:ln w="12700">
            <a:solidFill>
              <a:srgbClr val="0B2545"/>
            </a:solidFill>
            <a:prstDash val="solid"/>
          </a:ln>
        </p:spPr>
      </p:sp>
      <p:sp>
        <p:nvSpPr>
          <p:cNvPr id="95" name="Text 92"/>
          <p:cNvSpPr/>
          <p:nvPr/>
        </p:nvSpPr>
        <p:spPr>
          <a:xfrm>
            <a:off x="384048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16</a:t>
            </a:r>
            <a:endParaRPr lang="en-US" sz="1100" dirty="0"/>
          </a:p>
        </p:txBody>
      </p:sp>
      <p:sp>
        <p:nvSpPr>
          <p:cNvPr id="96" name="Shape 93"/>
          <p:cNvSpPr/>
          <p:nvPr/>
        </p:nvSpPr>
        <p:spPr>
          <a:xfrm>
            <a:off x="4617720" y="2825496"/>
            <a:ext cx="749808" cy="365760"/>
          </a:xfrm>
          <a:prstGeom prst="rect">
            <a:avLst/>
          </a:prstGeom>
          <a:solidFill>
            <a:srgbClr val="EAF0F6"/>
          </a:solidFill>
          <a:ln w="12700">
            <a:solidFill>
              <a:srgbClr val="0B2545"/>
            </a:solidFill>
            <a:prstDash val="solid"/>
          </a:ln>
        </p:spPr>
      </p:sp>
      <p:sp>
        <p:nvSpPr>
          <p:cNvPr id="97" name="Text 94"/>
          <p:cNvSpPr/>
          <p:nvPr/>
        </p:nvSpPr>
        <p:spPr>
          <a:xfrm>
            <a:off x="461772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17</a:t>
            </a:r>
            <a:endParaRPr lang="en-US" sz="1100" dirty="0"/>
          </a:p>
        </p:txBody>
      </p:sp>
      <p:sp>
        <p:nvSpPr>
          <p:cNvPr id="98" name="Shape 95"/>
          <p:cNvSpPr/>
          <p:nvPr/>
        </p:nvSpPr>
        <p:spPr>
          <a:xfrm>
            <a:off x="5394960" y="2825496"/>
            <a:ext cx="749808" cy="365760"/>
          </a:xfrm>
          <a:prstGeom prst="rect">
            <a:avLst/>
          </a:prstGeom>
          <a:solidFill>
            <a:srgbClr val="EAF0F6"/>
          </a:solidFill>
          <a:ln w="12700">
            <a:solidFill>
              <a:srgbClr val="0B2545"/>
            </a:solidFill>
            <a:prstDash val="solid"/>
          </a:ln>
        </p:spPr>
      </p:sp>
      <p:sp>
        <p:nvSpPr>
          <p:cNvPr id="99" name="Text 96"/>
          <p:cNvSpPr/>
          <p:nvPr/>
        </p:nvSpPr>
        <p:spPr>
          <a:xfrm>
            <a:off x="539496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18</a:t>
            </a:r>
            <a:endParaRPr lang="en-US" sz="1100" dirty="0"/>
          </a:p>
        </p:txBody>
      </p:sp>
      <p:sp>
        <p:nvSpPr>
          <p:cNvPr id="100" name="Shape 97"/>
          <p:cNvSpPr/>
          <p:nvPr/>
        </p:nvSpPr>
        <p:spPr>
          <a:xfrm>
            <a:off x="6172200" y="2825496"/>
            <a:ext cx="749808" cy="365760"/>
          </a:xfrm>
          <a:prstGeom prst="rect">
            <a:avLst/>
          </a:prstGeom>
          <a:solidFill>
            <a:srgbClr val="EAF0F6"/>
          </a:solidFill>
          <a:ln w="12700">
            <a:solidFill>
              <a:srgbClr val="0B2545"/>
            </a:solidFill>
            <a:prstDash val="solid"/>
          </a:ln>
        </p:spPr>
      </p:sp>
      <p:sp>
        <p:nvSpPr>
          <p:cNvPr id="101" name="Text 98"/>
          <p:cNvSpPr/>
          <p:nvPr/>
        </p:nvSpPr>
        <p:spPr>
          <a:xfrm>
            <a:off x="617220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19</a:t>
            </a:r>
            <a:endParaRPr lang="en-US" sz="1100" dirty="0"/>
          </a:p>
        </p:txBody>
      </p:sp>
      <p:sp>
        <p:nvSpPr>
          <p:cNvPr id="102" name="Shape 99"/>
          <p:cNvSpPr/>
          <p:nvPr/>
        </p:nvSpPr>
        <p:spPr>
          <a:xfrm>
            <a:off x="6949440" y="2825496"/>
            <a:ext cx="749808" cy="365760"/>
          </a:xfrm>
          <a:prstGeom prst="rect">
            <a:avLst/>
          </a:prstGeom>
          <a:solidFill>
            <a:srgbClr val="EAF0F6"/>
          </a:solidFill>
          <a:ln w="12700">
            <a:solidFill>
              <a:srgbClr val="0B2545"/>
            </a:solidFill>
            <a:prstDash val="solid"/>
          </a:ln>
        </p:spPr>
      </p:sp>
      <p:sp>
        <p:nvSpPr>
          <p:cNvPr id="103" name="Text 100"/>
          <p:cNvSpPr/>
          <p:nvPr/>
        </p:nvSpPr>
        <p:spPr>
          <a:xfrm>
            <a:off x="694944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20</a:t>
            </a:r>
            <a:endParaRPr lang="en-US" sz="1100" dirty="0"/>
          </a:p>
        </p:txBody>
      </p:sp>
      <p:sp>
        <p:nvSpPr>
          <p:cNvPr id="104" name="Shape 101"/>
          <p:cNvSpPr/>
          <p:nvPr/>
        </p:nvSpPr>
        <p:spPr>
          <a:xfrm>
            <a:off x="7726680" y="2825496"/>
            <a:ext cx="749808" cy="365760"/>
          </a:xfrm>
          <a:prstGeom prst="rect">
            <a:avLst/>
          </a:prstGeom>
          <a:solidFill>
            <a:srgbClr val="EAF0F6"/>
          </a:solidFill>
          <a:ln w="12700">
            <a:solidFill>
              <a:srgbClr val="0B2545"/>
            </a:solidFill>
            <a:prstDash val="solid"/>
          </a:ln>
        </p:spPr>
      </p:sp>
      <p:sp>
        <p:nvSpPr>
          <p:cNvPr id="105" name="Text 102"/>
          <p:cNvSpPr/>
          <p:nvPr/>
        </p:nvSpPr>
        <p:spPr>
          <a:xfrm>
            <a:off x="772668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21</a:t>
            </a:r>
            <a:endParaRPr lang="en-US" sz="1100" dirty="0"/>
          </a:p>
        </p:txBody>
      </p:sp>
      <p:sp>
        <p:nvSpPr>
          <p:cNvPr id="106" name="Shape 103"/>
          <p:cNvSpPr/>
          <p:nvPr/>
        </p:nvSpPr>
        <p:spPr>
          <a:xfrm>
            <a:off x="8503920" y="2825496"/>
            <a:ext cx="749808" cy="365760"/>
          </a:xfrm>
          <a:prstGeom prst="rect">
            <a:avLst/>
          </a:prstGeom>
          <a:solidFill>
            <a:srgbClr val="EAF0F6"/>
          </a:solidFill>
          <a:ln w="12700">
            <a:solidFill>
              <a:srgbClr val="0B2545"/>
            </a:solidFill>
            <a:prstDash val="solid"/>
          </a:ln>
        </p:spPr>
      </p:sp>
      <p:sp>
        <p:nvSpPr>
          <p:cNvPr id="107" name="Text 104"/>
          <p:cNvSpPr/>
          <p:nvPr/>
        </p:nvSpPr>
        <p:spPr>
          <a:xfrm>
            <a:off x="850392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22</a:t>
            </a:r>
            <a:endParaRPr lang="en-US" sz="1100" dirty="0"/>
          </a:p>
        </p:txBody>
      </p:sp>
      <p:sp>
        <p:nvSpPr>
          <p:cNvPr id="108" name="Shape 105"/>
          <p:cNvSpPr/>
          <p:nvPr/>
        </p:nvSpPr>
        <p:spPr>
          <a:xfrm>
            <a:off x="9281160" y="2825496"/>
            <a:ext cx="749808" cy="365760"/>
          </a:xfrm>
          <a:prstGeom prst="rect">
            <a:avLst/>
          </a:prstGeom>
          <a:solidFill>
            <a:srgbClr val="EAF0F6"/>
          </a:solidFill>
          <a:ln w="12700">
            <a:solidFill>
              <a:srgbClr val="0B2545"/>
            </a:solidFill>
            <a:prstDash val="solid"/>
          </a:ln>
        </p:spPr>
      </p:sp>
      <p:sp>
        <p:nvSpPr>
          <p:cNvPr id="109" name="Text 106"/>
          <p:cNvSpPr/>
          <p:nvPr/>
        </p:nvSpPr>
        <p:spPr>
          <a:xfrm>
            <a:off x="928116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23</a:t>
            </a:r>
            <a:endParaRPr lang="en-US" sz="1100" dirty="0"/>
          </a:p>
        </p:txBody>
      </p:sp>
      <p:sp>
        <p:nvSpPr>
          <p:cNvPr id="110" name="Shape 107"/>
          <p:cNvSpPr/>
          <p:nvPr/>
        </p:nvSpPr>
        <p:spPr>
          <a:xfrm>
            <a:off x="10058400" y="2825496"/>
            <a:ext cx="749808" cy="365760"/>
          </a:xfrm>
          <a:prstGeom prst="rect">
            <a:avLst/>
          </a:prstGeom>
          <a:solidFill>
            <a:srgbClr val="EAF0F6"/>
          </a:solidFill>
          <a:ln w="12700">
            <a:solidFill>
              <a:srgbClr val="0B2545"/>
            </a:solidFill>
            <a:prstDash val="solid"/>
          </a:ln>
        </p:spPr>
      </p:sp>
      <p:sp>
        <p:nvSpPr>
          <p:cNvPr id="111" name="Text 108"/>
          <p:cNvSpPr/>
          <p:nvPr/>
        </p:nvSpPr>
        <p:spPr>
          <a:xfrm>
            <a:off x="1005840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24</a:t>
            </a:r>
            <a:endParaRPr lang="en-US" sz="1100" dirty="0"/>
          </a:p>
        </p:txBody>
      </p:sp>
      <p:sp>
        <p:nvSpPr>
          <p:cNvPr id="112" name="Shape 109"/>
          <p:cNvSpPr/>
          <p:nvPr/>
        </p:nvSpPr>
        <p:spPr>
          <a:xfrm>
            <a:off x="10835640" y="2825496"/>
            <a:ext cx="749808" cy="365760"/>
          </a:xfrm>
          <a:prstGeom prst="rect">
            <a:avLst/>
          </a:prstGeom>
          <a:solidFill>
            <a:srgbClr val="EAF0F6"/>
          </a:solidFill>
          <a:ln w="12700">
            <a:solidFill>
              <a:srgbClr val="0B2545"/>
            </a:solidFill>
            <a:prstDash val="solid"/>
          </a:ln>
        </p:spPr>
      </p:sp>
      <p:sp>
        <p:nvSpPr>
          <p:cNvPr id="113" name="Text 110"/>
          <p:cNvSpPr/>
          <p:nvPr/>
        </p:nvSpPr>
        <p:spPr>
          <a:xfrm>
            <a:off x="10835640" y="2825496"/>
            <a:ext cx="74980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25</a:t>
            </a:r>
            <a:endParaRPr lang="en-US" sz="1100" dirty="0"/>
          </a:p>
        </p:txBody>
      </p:sp>
      <p:sp>
        <p:nvSpPr>
          <p:cNvPr id="114" name="Text 111"/>
          <p:cNvSpPr/>
          <p:nvPr/>
        </p:nvSpPr>
        <p:spPr>
          <a:xfrm>
            <a:off x="548640" y="3429000"/>
            <a:ext cx="10881360" cy="27432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Plaintext:</a:t>
            </a:r>
            <a:endParaRPr lang="en-US" sz="1200" dirty="0"/>
          </a:p>
        </p:txBody>
      </p:sp>
      <p:sp>
        <p:nvSpPr>
          <p:cNvPr id="115" name="Shape 112"/>
          <p:cNvSpPr/>
          <p:nvPr/>
        </p:nvSpPr>
        <p:spPr>
          <a:xfrm>
            <a:off x="548640" y="3730752"/>
            <a:ext cx="841248" cy="411480"/>
          </a:xfrm>
          <a:prstGeom prst="rect">
            <a:avLst/>
          </a:prstGeom>
          <a:solidFill>
            <a:srgbClr val="0B2545"/>
          </a:solidFill>
          <a:ln w="12700">
            <a:solidFill>
              <a:srgbClr val="0B2545"/>
            </a:solidFill>
            <a:prstDash val="solid"/>
          </a:ln>
        </p:spPr>
      </p:sp>
      <p:sp>
        <p:nvSpPr>
          <p:cNvPr id="116" name="Text 113"/>
          <p:cNvSpPr/>
          <p:nvPr/>
        </p:nvSpPr>
        <p:spPr>
          <a:xfrm>
            <a:off x="54864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a:t>
            </a:r>
            <a:endParaRPr lang="en-US" sz="1300" dirty="0"/>
          </a:p>
        </p:txBody>
      </p:sp>
      <p:sp>
        <p:nvSpPr>
          <p:cNvPr id="117" name="Shape 114"/>
          <p:cNvSpPr/>
          <p:nvPr/>
        </p:nvSpPr>
        <p:spPr>
          <a:xfrm>
            <a:off x="1417320" y="3730752"/>
            <a:ext cx="841248" cy="411480"/>
          </a:xfrm>
          <a:prstGeom prst="rect">
            <a:avLst/>
          </a:prstGeom>
          <a:solidFill>
            <a:srgbClr val="0B2545"/>
          </a:solidFill>
          <a:ln w="12700">
            <a:solidFill>
              <a:srgbClr val="0B2545"/>
            </a:solidFill>
            <a:prstDash val="solid"/>
          </a:ln>
        </p:spPr>
      </p:sp>
      <p:sp>
        <p:nvSpPr>
          <p:cNvPr id="118" name="Text 115"/>
          <p:cNvSpPr/>
          <p:nvPr/>
        </p:nvSpPr>
        <p:spPr>
          <a:xfrm>
            <a:off x="141732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T</a:t>
            </a:r>
            <a:endParaRPr lang="en-US" sz="1300" dirty="0"/>
          </a:p>
        </p:txBody>
      </p:sp>
      <p:sp>
        <p:nvSpPr>
          <p:cNvPr id="119" name="Shape 116"/>
          <p:cNvSpPr/>
          <p:nvPr/>
        </p:nvSpPr>
        <p:spPr>
          <a:xfrm>
            <a:off x="2286000" y="3730752"/>
            <a:ext cx="841248" cy="411480"/>
          </a:xfrm>
          <a:prstGeom prst="rect">
            <a:avLst/>
          </a:prstGeom>
          <a:solidFill>
            <a:srgbClr val="0B2545"/>
          </a:solidFill>
          <a:ln w="12700">
            <a:solidFill>
              <a:srgbClr val="0B2545"/>
            </a:solidFill>
            <a:prstDash val="solid"/>
          </a:ln>
        </p:spPr>
      </p:sp>
      <p:sp>
        <p:nvSpPr>
          <p:cNvPr id="120" name="Text 117"/>
          <p:cNvSpPr/>
          <p:nvPr/>
        </p:nvSpPr>
        <p:spPr>
          <a:xfrm>
            <a:off x="228600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T</a:t>
            </a:r>
            <a:endParaRPr lang="en-US" sz="1300" dirty="0"/>
          </a:p>
        </p:txBody>
      </p:sp>
      <p:sp>
        <p:nvSpPr>
          <p:cNvPr id="121" name="Shape 118"/>
          <p:cNvSpPr/>
          <p:nvPr/>
        </p:nvSpPr>
        <p:spPr>
          <a:xfrm>
            <a:off x="3154680" y="3730752"/>
            <a:ext cx="841248" cy="411480"/>
          </a:xfrm>
          <a:prstGeom prst="rect">
            <a:avLst/>
          </a:prstGeom>
          <a:solidFill>
            <a:srgbClr val="0B2545"/>
          </a:solidFill>
          <a:ln w="12700">
            <a:solidFill>
              <a:srgbClr val="0B2545"/>
            </a:solidFill>
            <a:prstDash val="solid"/>
          </a:ln>
        </p:spPr>
      </p:sp>
      <p:sp>
        <p:nvSpPr>
          <p:cNvPr id="122" name="Text 119"/>
          <p:cNvSpPr/>
          <p:nvPr/>
        </p:nvSpPr>
        <p:spPr>
          <a:xfrm>
            <a:off x="315468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a:t>
            </a:r>
            <a:endParaRPr lang="en-US" sz="1300" dirty="0"/>
          </a:p>
        </p:txBody>
      </p:sp>
      <p:sp>
        <p:nvSpPr>
          <p:cNvPr id="123" name="Shape 120"/>
          <p:cNvSpPr/>
          <p:nvPr/>
        </p:nvSpPr>
        <p:spPr>
          <a:xfrm>
            <a:off x="4023360" y="3730752"/>
            <a:ext cx="841248" cy="411480"/>
          </a:xfrm>
          <a:prstGeom prst="rect">
            <a:avLst/>
          </a:prstGeom>
          <a:solidFill>
            <a:srgbClr val="0B2545"/>
          </a:solidFill>
          <a:ln w="12700">
            <a:solidFill>
              <a:srgbClr val="0B2545"/>
            </a:solidFill>
            <a:prstDash val="solid"/>
          </a:ln>
        </p:spPr>
      </p:sp>
      <p:sp>
        <p:nvSpPr>
          <p:cNvPr id="124" name="Text 121"/>
          <p:cNvSpPr/>
          <p:nvPr/>
        </p:nvSpPr>
        <p:spPr>
          <a:xfrm>
            <a:off x="402336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C</a:t>
            </a:r>
            <a:endParaRPr lang="en-US" sz="1300" dirty="0"/>
          </a:p>
        </p:txBody>
      </p:sp>
      <p:sp>
        <p:nvSpPr>
          <p:cNvPr id="125" name="Shape 122"/>
          <p:cNvSpPr/>
          <p:nvPr/>
        </p:nvSpPr>
        <p:spPr>
          <a:xfrm>
            <a:off x="4892040" y="3730752"/>
            <a:ext cx="841248" cy="411480"/>
          </a:xfrm>
          <a:prstGeom prst="rect">
            <a:avLst/>
          </a:prstGeom>
          <a:solidFill>
            <a:srgbClr val="0B2545"/>
          </a:solidFill>
          <a:ln w="12700">
            <a:solidFill>
              <a:srgbClr val="0B2545"/>
            </a:solidFill>
            <a:prstDash val="solid"/>
          </a:ln>
        </p:spPr>
      </p:sp>
      <p:sp>
        <p:nvSpPr>
          <p:cNvPr id="126" name="Text 123"/>
          <p:cNvSpPr/>
          <p:nvPr/>
        </p:nvSpPr>
        <p:spPr>
          <a:xfrm>
            <a:off x="489204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K</a:t>
            </a:r>
            <a:endParaRPr lang="en-US" sz="1300" dirty="0"/>
          </a:p>
        </p:txBody>
      </p:sp>
      <p:sp>
        <p:nvSpPr>
          <p:cNvPr id="127" name="Shape 124"/>
          <p:cNvSpPr/>
          <p:nvPr/>
        </p:nvSpPr>
        <p:spPr>
          <a:xfrm>
            <a:off x="5760720" y="3730752"/>
            <a:ext cx="841248" cy="411480"/>
          </a:xfrm>
          <a:prstGeom prst="rect">
            <a:avLst/>
          </a:prstGeom>
          <a:solidFill>
            <a:srgbClr val="0B2545"/>
          </a:solidFill>
          <a:ln w="12700">
            <a:solidFill>
              <a:srgbClr val="0B2545"/>
            </a:solidFill>
            <a:prstDash val="solid"/>
          </a:ln>
        </p:spPr>
      </p:sp>
      <p:sp>
        <p:nvSpPr>
          <p:cNvPr id="128" name="Text 125"/>
          <p:cNvSpPr/>
          <p:nvPr/>
        </p:nvSpPr>
        <p:spPr>
          <a:xfrm>
            <a:off x="576072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a:t>
            </a:r>
            <a:endParaRPr lang="en-US" sz="1300" dirty="0"/>
          </a:p>
        </p:txBody>
      </p:sp>
      <p:sp>
        <p:nvSpPr>
          <p:cNvPr id="129" name="Shape 126"/>
          <p:cNvSpPr/>
          <p:nvPr/>
        </p:nvSpPr>
        <p:spPr>
          <a:xfrm>
            <a:off x="6629400" y="3730752"/>
            <a:ext cx="841248" cy="411480"/>
          </a:xfrm>
          <a:prstGeom prst="rect">
            <a:avLst/>
          </a:prstGeom>
          <a:solidFill>
            <a:srgbClr val="0B2545"/>
          </a:solidFill>
          <a:ln w="12700">
            <a:solidFill>
              <a:srgbClr val="0B2545"/>
            </a:solidFill>
            <a:prstDash val="solid"/>
          </a:ln>
        </p:spPr>
      </p:sp>
      <p:sp>
        <p:nvSpPr>
          <p:cNvPr id="130" name="Text 127"/>
          <p:cNvSpPr/>
          <p:nvPr/>
        </p:nvSpPr>
        <p:spPr>
          <a:xfrm>
            <a:off x="662940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T</a:t>
            </a:r>
            <a:endParaRPr lang="en-US" sz="1300" dirty="0"/>
          </a:p>
        </p:txBody>
      </p:sp>
      <p:sp>
        <p:nvSpPr>
          <p:cNvPr id="131" name="Shape 128"/>
          <p:cNvSpPr/>
          <p:nvPr/>
        </p:nvSpPr>
        <p:spPr>
          <a:xfrm>
            <a:off x="7498080" y="3730752"/>
            <a:ext cx="841248" cy="411480"/>
          </a:xfrm>
          <a:prstGeom prst="rect">
            <a:avLst/>
          </a:prstGeom>
          <a:solidFill>
            <a:srgbClr val="0B2545"/>
          </a:solidFill>
          <a:ln w="12700">
            <a:solidFill>
              <a:srgbClr val="0B2545"/>
            </a:solidFill>
            <a:prstDash val="solid"/>
          </a:ln>
        </p:spPr>
      </p:sp>
      <p:sp>
        <p:nvSpPr>
          <p:cNvPr id="132" name="Text 129"/>
          <p:cNvSpPr/>
          <p:nvPr/>
        </p:nvSpPr>
        <p:spPr>
          <a:xfrm>
            <a:off x="749808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D</a:t>
            </a:r>
            <a:endParaRPr lang="en-US" sz="1300" dirty="0"/>
          </a:p>
        </p:txBody>
      </p:sp>
      <p:sp>
        <p:nvSpPr>
          <p:cNvPr id="133" name="Shape 130"/>
          <p:cNvSpPr/>
          <p:nvPr/>
        </p:nvSpPr>
        <p:spPr>
          <a:xfrm>
            <a:off x="8366760" y="3730752"/>
            <a:ext cx="841248" cy="411480"/>
          </a:xfrm>
          <a:prstGeom prst="rect">
            <a:avLst/>
          </a:prstGeom>
          <a:solidFill>
            <a:srgbClr val="0B2545"/>
          </a:solidFill>
          <a:ln w="12700">
            <a:solidFill>
              <a:srgbClr val="0B2545"/>
            </a:solidFill>
            <a:prstDash val="solid"/>
          </a:ln>
        </p:spPr>
      </p:sp>
      <p:sp>
        <p:nvSpPr>
          <p:cNvPr id="134" name="Text 131"/>
          <p:cNvSpPr/>
          <p:nvPr/>
        </p:nvSpPr>
        <p:spPr>
          <a:xfrm>
            <a:off x="836676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a:t>
            </a:r>
            <a:endParaRPr lang="en-US" sz="1300" dirty="0"/>
          </a:p>
        </p:txBody>
      </p:sp>
      <p:sp>
        <p:nvSpPr>
          <p:cNvPr id="135" name="Shape 132"/>
          <p:cNvSpPr/>
          <p:nvPr/>
        </p:nvSpPr>
        <p:spPr>
          <a:xfrm>
            <a:off x="9235440" y="3730752"/>
            <a:ext cx="841248" cy="411480"/>
          </a:xfrm>
          <a:prstGeom prst="rect">
            <a:avLst/>
          </a:prstGeom>
          <a:solidFill>
            <a:srgbClr val="0B2545"/>
          </a:solidFill>
          <a:ln w="12700">
            <a:solidFill>
              <a:srgbClr val="0B2545"/>
            </a:solidFill>
            <a:prstDash val="solid"/>
          </a:ln>
        </p:spPr>
      </p:sp>
      <p:sp>
        <p:nvSpPr>
          <p:cNvPr id="136" name="Text 133"/>
          <p:cNvSpPr/>
          <p:nvPr/>
        </p:nvSpPr>
        <p:spPr>
          <a:xfrm>
            <a:off x="923544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W</a:t>
            </a:r>
            <a:endParaRPr lang="en-US" sz="1300" dirty="0"/>
          </a:p>
        </p:txBody>
      </p:sp>
      <p:sp>
        <p:nvSpPr>
          <p:cNvPr id="137" name="Shape 134"/>
          <p:cNvSpPr/>
          <p:nvPr/>
        </p:nvSpPr>
        <p:spPr>
          <a:xfrm>
            <a:off x="10104120" y="3730752"/>
            <a:ext cx="841248" cy="411480"/>
          </a:xfrm>
          <a:prstGeom prst="rect">
            <a:avLst/>
          </a:prstGeom>
          <a:solidFill>
            <a:srgbClr val="0B2545"/>
          </a:solidFill>
          <a:ln w="12700">
            <a:solidFill>
              <a:srgbClr val="0B2545"/>
            </a:solidFill>
            <a:prstDash val="solid"/>
          </a:ln>
        </p:spPr>
      </p:sp>
      <p:sp>
        <p:nvSpPr>
          <p:cNvPr id="138" name="Text 135"/>
          <p:cNvSpPr/>
          <p:nvPr/>
        </p:nvSpPr>
        <p:spPr>
          <a:xfrm>
            <a:off x="10104120" y="373075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N</a:t>
            </a:r>
            <a:endParaRPr lang="en-US" sz="1300" dirty="0"/>
          </a:p>
        </p:txBody>
      </p:sp>
      <p:sp>
        <p:nvSpPr>
          <p:cNvPr id="139" name="Shape 136"/>
          <p:cNvSpPr/>
          <p:nvPr/>
        </p:nvSpPr>
        <p:spPr>
          <a:xfrm>
            <a:off x="548640" y="4142232"/>
            <a:ext cx="841248" cy="365760"/>
          </a:xfrm>
          <a:prstGeom prst="rect">
            <a:avLst/>
          </a:prstGeom>
          <a:solidFill>
            <a:srgbClr val="EAF0F6"/>
          </a:solidFill>
          <a:ln w="12700">
            <a:solidFill>
              <a:srgbClr val="0B2545"/>
            </a:solidFill>
            <a:prstDash val="solid"/>
          </a:ln>
        </p:spPr>
      </p:sp>
      <p:sp>
        <p:nvSpPr>
          <p:cNvPr id="140" name="Text 137"/>
          <p:cNvSpPr/>
          <p:nvPr/>
        </p:nvSpPr>
        <p:spPr>
          <a:xfrm>
            <a:off x="54864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0</a:t>
            </a:r>
            <a:endParaRPr lang="en-US" sz="1100" dirty="0"/>
          </a:p>
        </p:txBody>
      </p:sp>
      <p:sp>
        <p:nvSpPr>
          <p:cNvPr id="141" name="Shape 138"/>
          <p:cNvSpPr/>
          <p:nvPr/>
        </p:nvSpPr>
        <p:spPr>
          <a:xfrm>
            <a:off x="1417320" y="4142232"/>
            <a:ext cx="841248" cy="365760"/>
          </a:xfrm>
          <a:prstGeom prst="rect">
            <a:avLst/>
          </a:prstGeom>
          <a:solidFill>
            <a:srgbClr val="EAF0F6"/>
          </a:solidFill>
          <a:ln w="12700">
            <a:solidFill>
              <a:srgbClr val="0B2545"/>
            </a:solidFill>
            <a:prstDash val="solid"/>
          </a:ln>
        </p:spPr>
      </p:sp>
      <p:sp>
        <p:nvSpPr>
          <p:cNvPr id="142" name="Text 139"/>
          <p:cNvSpPr/>
          <p:nvPr/>
        </p:nvSpPr>
        <p:spPr>
          <a:xfrm>
            <a:off x="141732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19</a:t>
            </a:r>
            <a:endParaRPr lang="en-US" sz="1100" dirty="0"/>
          </a:p>
        </p:txBody>
      </p:sp>
      <p:sp>
        <p:nvSpPr>
          <p:cNvPr id="143" name="Shape 140"/>
          <p:cNvSpPr/>
          <p:nvPr/>
        </p:nvSpPr>
        <p:spPr>
          <a:xfrm>
            <a:off x="2286000" y="4142232"/>
            <a:ext cx="841248" cy="365760"/>
          </a:xfrm>
          <a:prstGeom prst="rect">
            <a:avLst/>
          </a:prstGeom>
          <a:solidFill>
            <a:srgbClr val="EAF0F6"/>
          </a:solidFill>
          <a:ln w="12700">
            <a:solidFill>
              <a:srgbClr val="0B2545"/>
            </a:solidFill>
            <a:prstDash val="solid"/>
          </a:ln>
        </p:spPr>
      </p:sp>
      <p:sp>
        <p:nvSpPr>
          <p:cNvPr id="144" name="Text 141"/>
          <p:cNvSpPr/>
          <p:nvPr/>
        </p:nvSpPr>
        <p:spPr>
          <a:xfrm>
            <a:off x="228600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19</a:t>
            </a:r>
            <a:endParaRPr lang="en-US" sz="1100" dirty="0"/>
          </a:p>
        </p:txBody>
      </p:sp>
      <p:sp>
        <p:nvSpPr>
          <p:cNvPr id="145" name="Shape 142"/>
          <p:cNvSpPr/>
          <p:nvPr/>
        </p:nvSpPr>
        <p:spPr>
          <a:xfrm>
            <a:off x="3154680" y="4142232"/>
            <a:ext cx="841248" cy="365760"/>
          </a:xfrm>
          <a:prstGeom prst="rect">
            <a:avLst/>
          </a:prstGeom>
          <a:solidFill>
            <a:srgbClr val="EAF0F6"/>
          </a:solidFill>
          <a:ln w="12700">
            <a:solidFill>
              <a:srgbClr val="0B2545"/>
            </a:solidFill>
            <a:prstDash val="solid"/>
          </a:ln>
        </p:spPr>
      </p:sp>
      <p:sp>
        <p:nvSpPr>
          <p:cNvPr id="146" name="Text 143"/>
          <p:cNvSpPr/>
          <p:nvPr/>
        </p:nvSpPr>
        <p:spPr>
          <a:xfrm>
            <a:off x="315468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0</a:t>
            </a:r>
            <a:endParaRPr lang="en-US" sz="1100" dirty="0"/>
          </a:p>
        </p:txBody>
      </p:sp>
      <p:sp>
        <p:nvSpPr>
          <p:cNvPr id="147" name="Shape 144"/>
          <p:cNvSpPr/>
          <p:nvPr/>
        </p:nvSpPr>
        <p:spPr>
          <a:xfrm>
            <a:off x="4023360" y="4142232"/>
            <a:ext cx="841248" cy="365760"/>
          </a:xfrm>
          <a:prstGeom prst="rect">
            <a:avLst/>
          </a:prstGeom>
          <a:solidFill>
            <a:srgbClr val="EAF0F6"/>
          </a:solidFill>
          <a:ln w="12700">
            <a:solidFill>
              <a:srgbClr val="0B2545"/>
            </a:solidFill>
            <a:prstDash val="solid"/>
          </a:ln>
        </p:spPr>
      </p:sp>
      <p:sp>
        <p:nvSpPr>
          <p:cNvPr id="148" name="Text 145"/>
          <p:cNvSpPr/>
          <p:nvPr/>
        </p:nvSpPr>
        <p:spPr>
          <a:xfrm>
            <a:off x="402336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a:t>
            </a:r>
            <a:endParaRPr lang="en-US" sz="1100" dirty="0"/>
          </a:p>
        </p:txBody>
      </p:sp>
      <p:sp>
        <p:nvSpPr>
          <p:cNvPr id="149" name="Shape 146"/>
          <p:cNvSpPr/>
          <p:nvPr/>
        </p:nvSpPr>
        <p:spPr>
          <a:xfrm>
            <a:off x="4892040" y="4142232"/>
            <a:ext cx="841248" cy="365760"/>
          </a:xfrm>
          <a:prstGeom prst="rect">
            <a:avLst/>
          </a:prstGeom>
          <a:solidFill>
            <a:srgbClr val="EAF0F6"/>
          </a:solidFill>
          <a:ln w="12700">
            <a:solidFill>
              <a:srgbClr val="0B2545"/>
            </a:solidFill>
            <a:prstDash val="solid"/>
          </a:ln>
        </p:spPr>
      </p:sp>
      <p:sp>
        <p:nvSpPr>
          <p:cNvPr id="150" name="Text 147"/>
          <p:cNvSpPr/>
          <p:nvPr/>
        </p:nvSpPr>
        <p:spPr>
          <a:xfrm>
            <a:off x="489204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10</a:t>
            </a:r>
            <a:endParaRPr lang="en-US" sz="1100" dirty="0"/>
          </a:p>
        </p:txBody>
      </p:sp>
      <p:sp>
        <p:nvSpPr>
          <p:cNvPr id="151" name="Shape 148"/>
          <p:cNvSpPr/>
          <p:nvPr/>
        </p:nvSpPr>
        <p:spPr>
          <a:xfrm>
            <a:off x="5760720" y="4142232"/>
            <a:ext cx="841248" cy="365760"/>
          </a:xfrm>
          <a:prstGeom prst="rect">
            <a:avLst/>
          </a:prstGeom>
          <a:solidFill>
            <a:srgbClr val="EAF0F6"/>
          </a:solidFill>
          <a:ln w="12700">
            <a:solidFill>
              <a:srgbClr val="0B2545"/>
            </a:solidFill>
            <a:prstDash val="solid"/>
          </a:ln>
        </p:spPr>
      </p:sp>
      <p:sp>
        <p:nvSpPr>
          <p:cNvPr id="152" name="Text 149"/>
          <p:cNvSpPr/>
          <p:nvPr/>
        </p:nvSpPr>
        <p:spPr>
          <a:xfrm>
            <a:off x="576072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0</a:t>
            </a:r>
            <a:endParaRPr lang="en-US" sz="1100" dirty="0"/>
          </a:p>
        </p:txBody>
      </p:sp>
      <p:sp>
        <p:nvSpPr>
          <p:cNvPr id="153" name="Shape 150"/>
          <p:cNvSpPr/>
          <p:nvPr/>
        </p:nvSpPr>
        <p:spPr>
          <a:xfrm>
            <a:off x="6629400" y="4142232"/>
            <a:ext cx="841248" cy="365760"/>
          </a:xfrm>
          <a:prstGeom prst="rect">
            <a:avLst/>
          </a:prstGeom>
          <a:solidFill>
            <a:srgbClr val="EAF0F6"/>
          </a:solidFill>
          <a:ln w="12700">
            <a:solidFill>
              <a:srgbClr val="0B2545"/>
            </a:solidFill>
            <a:prstDash val="solid"/>
          </a:ln>
        </p:spPr>
      </p:sp>
      <p:sp>
        <p:nvSpPr>
          <p:cNvPr id="154" name="Text 151"/>
          <p:cNvSpPr/>
          <p:nvPr/>
        </p:nvSpPr>
        <p:spPr>
          <a:xfrm>
            <a:off x="662940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19</a:t>
            </a:r>
            <a:endParaRPr lang="en-US" sz="1100" dirty="0"/>
          </a:p>
        </p:txBody>
      </p:sp>
      <p:sp>
        <p:nvSpPr>
          <p:cNvPr id="155" name="Shape 152"/>
          <p:cNvSpPr/>
          <p:nvPr/>
        </p:nvSpPr>
        <p:spPr>
          <a:xfrm>
            <a:off x="7498080" y="4142232"/>
            <a:ext cx="841248" cy="365760"/>
          </a:xfrm>
          <a:prstGeom prst="rect">
            <a:avLst/>
          </a:prstGeom>
          <a:solidFill>
            <a:srgbClr val="EAF0F6"/>
          </a:solidFill>
          <a:ln w="12700">
            <a:solidFill>
              <a:srgbClr val="0B2545"/>
            </a:solidFill>
            <a:prstDash val="solid"/>
          </a:ln>
        </p:spPr>
      </p:sp>
      <p:sp>
        <p:nvSpPr>
          <p:cNvPr id="156" name="Text 153"/>
          <p:cNvSpPr/>
          <p:nvPr/>
        </p:nvSpPr>
        <p:spPr>
          <a:xfrm>
            <a:off x="749808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3</a:t>
            </a:r>
            <a:endParaRPr lang="en-US" sz="1100" dirty="0"/>
          </a:p>
        </p:txBody>
      </p:sp>
      <p:sp>
        <p:nvSpPr>
          <p:cNvPr id="157" name="Shape 154"/>
          <p:cNvSpPr/>
          <p:nvPr/>
        </p:nvSpPr>
        <p:spPr>
          <a:xfrm>
            <a:off x="8366760" y="4142232"/>
            <a:ext cx="841248" cy="365760"/>
          </a:xfrm>
          <a:prstGeom prst="rect">
            <a:avLst/>
          </a:prstGeom>
          <a:solidFill>
            <a:srgbClr val="EAF0F6"/>
          </a:solidFill>
          <a:ln w="12700">
            <a:solidFill>
              <a:srgbClr val="0B2545"/>
            </a:solidFill>
            <a:prstDash val="solid"/>
          </a:ln>
        </p:spPr>
      </p:sp>
      <p:sp>
        <p:nvSpPr>
          <p:cNvPr id="158" name="Text 155"/>
          <p:cNvSpPr/>
          <p:nvPr/>
        </p:nvSpPr>
        <p:spPr>
          <a:xfrm>
            <a:off x="836676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0</a:t>
            </a:r>
            <a:endParaRPr lang="en-US" sz="1100" dirty="0"/>
          </a:p>
        </p:txBody>
      </p:sp>
      <p:sp>
        <p:nvSpPr>
          <p:cNvPr id="159" name="Shape 156"/>
          <p:cNvSpPr/>
          <p:nvPr/>
        </p:nvSpPr>
        <p:spPr>
          <a:xfrm>
            <a:off x="9235440" y="4142232"/>
            <a:ext cx="841248" cy="365760"/>
          </a:xfrm>
          <a:prstGeom prst="rect">
            <a:avLst/>
          </a:prstGeom>
          <a:solidFill>
            <a:srgbClr val="EAF0F6"/>
          </a:solidFill>
          <a:ln w="12700">
            <a:solidFill>
              <a:srgbClr val="0B2545"/>
            </a:solidFill>
            <a:prstDash val="solid"/>
          </a:ln>
        </p:spPr>
      </p:sp>
      <p:sp>
        <p:nvSpPr>
          <p:cNvPr id="160" name="Text 157"/>
          <p:cNvSpPr/>
          <p:nvPr/>
        </p:nvSpPr>
        <p:spPr>
          <a:xfrm>
            <a:off x="923544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22</a:t>
            </a:r>
            <a:endParaRPr lang="en-US" sz="1100" dirty="0"/>
          </a:p>
        </p:txBody>
      </p:sp>
      <p:sp>
        <p:nvSpPr>
          <p:cNvPr id="161" name="Shape 158"/>
          <p:cNvSpPr/>
          <p:nvPr/>
        </p:nvSpPr>
        <p:spPr>
          <a:xfrm>
            <a:off x="10104120" y="4142232"/>
            <a:ext cx="841248" cy="365760"/>
          </a:xfrm>
          <a:prstGeom prst="rect">
            <a:avLst/>
          </a:prstGeom>
          <a:solidFill>
            <a:srgbClr val="EAF0F6"/>
          </a:solidFill>
          <a:ln w="12700">
            <a:solidFill>
              <a:srgbClr val="0B2545"/>
            </a:solidFill>
            <a:prstDash val="solid"/>
          </a:ln>
        </p:spPr>
      </p:sp>
      <p:sp>
        <p:nvSpPr>
          <p:cNvPr id="162" name="Text 159"/>
          <p:cNvSpPr/>
          <p:nvPr/>
        </p:nvSpPr>
        <p:spPr>
          <a:xfrm>
            <a:off x="10104120" y="414223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13</a:t>
            </a:r>
            <a:endParaRPr lang="en-US" sz="1100" dirty="0"/>
          </a:p>
        </p:txBody>
      </p:sp>
      <p:sp>
        <p:nvSpPr>
          <p:cNvPr id="163" name="Text 160"/>
          <p:cNvSpPr/>
          <p:nvPr/>
        </p:nvSpPr>
        <p:spPr>
          <a:xfrm>
            <a:off x="548640" y="4663440"/>
            <a:ext cx="10881360" cy="27432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Keyword (repeating):</a:t>
            </a:r>
            <a:endParaRPr lang="en-US" sz="1200" dirty="0"/>
          </a:p>
        </p:txBody>
      </p:sp>
      <p:sp>
        <p:nvSpPr>
          <p:cNvPr id="164" name="Shape 161"/>
          <p:cNvSpPr/>
          <p:nvPr/>
        </p:nvSpPr>
        <p:spPr>
          <a:xfrm>
            <a:off x="548640" y="4965192"/>
            <a:ext cx="841248" cy="411480"/>
          </a:xfrm>
          <a:prstGeom prst="rect">
            <a:avLst/>
          </a:prstGeom>
          <a:solidFill>
            <a:srgbClr val="13315C"/>
          </a:solidFill>
          <a:ln w="12700">
            <a:solidFill>
              <a:srgbClr val="0B2545"/>
            </a:solidFill>
            <a:prstDash val="solid"/>
          </a:ln>
        </p:spPr>
      </p:sp>
      <p:sp>
        <p:nvSpPr>
          <p:cNvPr id="165" name="Text 162"/>
          <p:cNvSpPr/>
          <p:nvPr/>
        </p:nvSpPr>
        <p:spPr>
          <a:xfrm>
            <a:off x="54864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a:t>
            </a:r>
            <a:endParaRPr lang="en-US" sz="1300" dirty="0"/>
          </a:p>
        </p:txBody>
      </p:sp>
      <p:sp>
        <p:nvSpPr>
          <p:cNvPr id="166" name="Shape 163"/>
          <p:cNvSpPr/>
          <p:nvPr/>
        </p:nvSpPr>
        <p:spPr>
          <a:xfrm>
            <a:off x="1417320" y="4965192"/>
            <a:ext cx="841248" cy="411480"/>
          </a:xfrm>
          <a:prstGeom prst="rect">
            <a:avLst/>
          </a:prstGeom>
          <a:solidFill>
            <a:srgbClr val="13315C"/>
          </a:solidFill>
          <a:ln w="12700">
            <a:solidFill>
              <a:srgbClr val="0B2545"/>
            </a:solidFill>
            <a:prstDash val="solid"/>
          </a:ln>
        </p:spPr>
      </p:sp>
      <p:sp>
        <p:nvSpPr>
          <p:cNvPr id="167" name="Text 164"/>
          <p:cNvSpPr/>
          <p:nvPr/>
        </p:nvSpPr>
        <p:spPr>
          <a:xfrm>
            <a:off x="141732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E</a:t>
            </a:r>
            <a:endParaRPr lang="en-US" sz="1300" dirty="0"/>
          </a:p>
        </p:txBody>
      </p:sp>
      <p:sp>
        <p:nvSpPr>
          <p:cNvPr id="168" name="Shape 165"/>
          <p:cNvSpPr/>
          <p:nvPr/>
        </p:nvSpPr>
        <p:spPr>
          <a:xfrm>
            <a:off x="2286000" y="4965192"/>
            <a:ext cx="841248" cy="411480"/>
          </a:xfrm>
          <a:prstGeom prst="rect">
            <a:avLst/>
          </a:prstGeom>
          <a:solidFill>
            <a:srgbClr val="13315C"/>
          </a:solidFill>
          <a:ln w="12700">
            <a:solidFill>
              <a:srgbClr val="0B2545"/>
            </a:solidFill>
            <a:prstDash val="solid"/>
          </a:ln>
        </p:spPr>
      </p:sp>
      <p:sp>
        <p:nvSpPr>
          <p:cNvPr id="169" name="Text 166"/>
          <p:cNvSpPr/>
          <p:nvPr/>
        </p:nvSpPr>
        <p:spPr>
          <a:xfrm>
            <a:off x="228600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t>
            </a:r>
            <a:endParaRPr lang="en-US" sz="1300" dirty="0"/>
          </a:p>
        </p:txBody>
      </p:sp>
      <p:sp>
        <p:nvSpPr>
          <p:cNvPr id="170" name="Shape 167"/>
          <p:cNvSpPr/>
          <p:nvPr/>
        </p:nvSpPr>
        <p:spPr>
          <a:xfrm>
            <a:off x="3154680" y="4965192"/>
            <a:ext cx="841248" cy="411480"/>
          </a:xfrm>
          <a:prstGeom prst="rect">
            <a:avLst/>
          </a:prstGeom>
          <a:solidFill>
            <a:srgbClr val="13315C"/>
          </a:solidFill>
          <a:ln w="12700">
            <a:solidFill>
              <a:srgbClr val="0B2545"/>
            </a:solidFill>
            <a:prstDash val="solid"/>
          </a:ln>
        </p:spPr>
      </p:sp>
      <p:sp>
        <p:nvSpPr>
          <p:cNvPr id="171" name="Text 168"/>
          <p:cNvSpPr/>
          <p:nvPr/>
        </p:nvSpPr>
        <p:spPr>
          <a:xfrm>
            <a:off x="315468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O</a:t>
            </a:r>
            <a:endParaRPr lang="en-US" sz="1300" dirty="0"/>
          </a:p>
        </p:txBody>
      </p:sp>
      <p:sp>
        <p:nvSpPr>
          <p:cNvPr id="172" name="Shape 169"/>
          <p:cNvSpPr/>
          <p:nvPr/>
        </p:nvSpPr>
        <p:spPr>
          <a:xfrm>
            <a:off x="4023360" y="4965192"/>
            <a:ext cx="841248" cy="411480"/>
          </a:xfrm>
          <a:prstGeom prst="rect">
            <a:avLst/>
          </a:prstGeom>
          <a:solidFill>
            <a:srgbClr val="13315C"/>
          </a:solidFill>
          <a:ln w="12700">
            <a:solidFill>
              <a:srgbClr val="0B2545"/>
            </a:solidFill>
            <a:prstDash val="solid"/>
          </a:ln>
        </p:spPr>
      </p:sp>
      <p:sp>
        <p:nvSpPr>
          <p:cNvPr id="173" name="Text 170"/>
          <p:cNvSpPr/>
          <p:nvPr/>
        </p:nvSpPr>
        <p:spPr>
          <a:xfrm>
            <a:off x="402336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N</a:t>
            </a:r>
            <a:endParaRPr lang="en-US" sz="1300" dirty="0"/>
          </a:p>
        </p:txBody>
      </p:sp>
      <p:sp>
        <p:nvSpPr>
          <p:cNvPr id="174" name="Shape 171"/>
          <p:cNvSpPr/>
          <p:nvPr/>
        </p:nvSpPr>
        <p:spPr>
          <a:xfrm>
            <a:off x="4892040" y="4965192"/>
            <a:ext cx="841248" cy="411480"/>
          </a:xfrm>
          <a:prstGeom prst="rect">
            <a:avLst/>
          </a:prstGeom>
          <a:solidFill>
            <a:srgbClr val="13315C"/>
          </a:solidFill>
          <a:ln w="12700">
            <a:solidFill>
              <a:srgbClr val="0B2545"/>
            </a:solidFill>
            <a:prstDash val="solid"/>
          </a:ln>
        </p:spPr>
      </p:sp>
      <p:sp>
        <p:nvSpPr>
          <p:cNvPr id="175" name="Text 172"/>
          <p:cNvSpPr/>
          <p:nvPr/>
        </p:nvSpPr>
        <p:spPr>
          <a:xfrm>
            <a:off x="489204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a:t>
            </a:r>
            <a:endParaRPr lang="en-US" sz="1300" dirty="0"/>
          </a:p>
        </p:txBody>
      </p:sp>
      <p:sp>
        <p:nvSpPr>
          <p:cNvPr id="176" name="Shape 173"/>
          <p:cNvSpPr/>
          <p:nvPr/>
        </p:nvSpPr>
        <p:spPr>
          <a:xfrm>
            <a:off x="5760720" y="4965192"/>
            <a:ext cx="841248" cy="411480"/>
          </a:xfrm>
          <a:prstGeom prst="rect">
            <a:avLst/>
          </a:prstGeom>
          <a:solidFill>
            <a:srgbClr val="13315C"/>
          </a:solidFill>
          <a:ln w="12700">
            <a:solidFill>
              <a:srgbClr val="0B2545"/>
            </a:solidFill>
            <a:prstDash val="solid"/>
          </a:ln>
        </p:spPr>
      </p:sp>
      <p:sp>
        <p:nvSpPr>
          <p:cNvPr id="177" name="Text 174"/>
          <p:cNvSpPr/>
          <p:nvPr/>
        </p:nvSpPr>
        <p:spPr>
          <a:xfrm>
            <a:off x="576072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E</a:t>
            </a:r>
            <a:endParaRPr lang="en-US" sz="1300" dirty="0"/>
          </a:p>
        </p:txBody>
      </p:sp>
      <p:sp>
        <p:nvSpPr>
          <p:cNvPr id="178" name="Shape 175"/>
          <p:cNvSpPr/>
          <p:nvPr/>
        </p:nvSpPr>
        <p:spPr>
          <a:xfrm>
            <a:off x="6629400" y="4965192"/>
            <a:ext cx="841248" cy="411480"/>
          </a:xfrm>
          <a:prstGeom prst="rect">
            <a:avLst/>
          </a:prstGeom>
          <a:solidFill>
            <a:srgbClr val="13315C"/>
          </a:solidFill>
          <a:ln w="12700">
            <a:solidFill>
              <a:srgbClr val="0B2545"/>
            </a:solidFill>
            <a:prstDash val="solid"/>
          </a:ln>
        </p:spPr>
      </p:sp>
      <p:sp>
        <p:nvSpPr>
          <p:cNvPr id="179" name="Text 176"/>
          <p:cNvSpPr/>
          <p:nvPr/>
        </p:nvSpPr>
        <p:spPr>
          <a:xfrm>
            <a:off x="662940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t>
            </a:r>
            <a:endParaRPr lang="en-US" sz="1300" dirty="0"/>
          </a:p>
        </p:txBody>
      </p:sp>
      <p:sp>
        <p:nvSpPr>
          <p:cNvPr id="180" name="Shape 177"/>
          <p:cNvSpPr/>
          <p:nvPr/>
        </p:nvSpPr>
        <p:spPr>
          <a:xfrm>
            <a:off x="7498080" y="4965192"/>
            <a:ext cx="841248" cy="411480"/>
          </a:xfrm>
          <a:prstGeom prst="rect">
            <a:avLst/>
          </a:prstGeom>
          <a:solidFill>
            <a:srgbClr val="13315C"/>
          </a:solidFill>
          <a:ln w="12700">
            <a:solidFill>
              <a:srgbClr val="0B2545"/>
            </a:solidFill>
            <a:prstDash val="solid"/>
          </a:ln>
        </p:spPr>
      </p:sp>
      <p:sp>
        <p:nvSpPr>
          <p:cNvPr id="181" name="Text 178"/>
          <p:cNvSpPr/>
          <p:nvPr/>
        </p:nvSpPr>
        <p:spPr>
          <a:xfrm>
            <a:off x="749808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O</a:t>
            </a:r>
            <a:endParaRPr lang="en-US" sz="1300" dirty="0"/>
          </a:p>
        </p:txBody>
      </p:sp>
      <p:sp>
        <p:nvSpPr>
          <p:cNvPr id="182" name="Shape 179"/>
          <p:cNvSpPr/>
          <p:nvPr/>
        </p:nvSpPr>
        <p:spPr>
          <a:xfrm>
            <a:off x="8366760" y="4965192"/>
            <a:ext cx="841248" cy="411480"/>
          </a:xfrm>
          <a:prstGeom prst="rect">
            <a:avLst/>
          </a:prstGeom>
          <a:solidFill>
            <a:srgbClr val="13315C"/>
          </a:solidFill>
          <a:ln w="12700">
            <a:solidFill>
              <a:srgbClr val="0B2545"/>
            </a:solidFill>
            <a:prstDash val="solid"/>
          </a:ln>
        </p:spPr>
      </p:sp>
      <p:sp>
        <p:nvSpPr>
          <p:cNvPr id="183" name="Text 180"/>
          <p:cNvSpPr/>
          <p:nvPr/>
        </p:nvSpPr>
        <p:spPr>
          <a:xfrm>
            <a:off x="836676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N</a:t>
            </a:r>
            <a:endParaRPr lang="en-US" sz="1300" dirty="0"/>
          </a:p>
        </p:txBody>
      </p:sp>
      <p:sp>
        <p:nvSpPr>
          <p:cNvPr id="184" name="Shape 181"/>
          <p:cNvSpPr/>
          <p:nvPr/>
        </p:nvSpPr>
        <p:spPr>
          <a:xfrm>
            <a:off x="9235440" y="4965192"/>
            <a:ext cx="841248" cy="411480"/>
          </a:xfrm>
          <a:prstGeom prst="rect">
            <a:avLst/>
          </a:prstGeom>
          <a:solidFill>
            <a:srgbClr val="13315C"/>
          </a:solidFill>
          <a:ln w="12700">
            <a:solidFill>
              <a:srgbClr val="0B2545"/>
            </a:solidFill>
            <a:prstDash val="solid"/>
          </a:ln>
        </p:spPr>
      </p:sp>
      <p:sp>
        <p:nvSpPr>
          <p:cNvPr id="185" name="Text 182"/>
          <p:cNvSpPr/>
          <p:nvPr/>
        </p:nvSpPr>
        <p:spPr>
          <a:xfrm>
            <a:off x="923544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a:t>
            </a:r>
            <a:endParaRPr lang="en-US" sz="1300" dirty="0"/>
          </a:p>
        </p:txBody>
      </p:sp>
      <p:sp>
        <p:nvSpPr>
          <p:cNvPr id="186" name="Shape 183"/>
          <p:cNvSpPr/>
          <p:nvPr/>
        </p:nvSpPr>
        <p:spPr>
          <a:xfrm>
            <a:off x="10104120" y="4965192"/>
            <a:ext cx="841248" cy="411480"/>
          </a:xfrm>
          <a:prstGeom prst="rect">
            <a:avLst/>
          </a:prstGeom>
          <a:solidFill>
            <a:srgbClr val="13315C"/>
          </a:solidFill>
          <a:ln w="12700">
            <a:solidFill>
              <a:srgbClr val="0B2545"/>
            </a:solidFill>
            <a:prstDash val="solid"/>
          </a:ln>
        </p:spPr>
      </p:sp>
      <p:sp>
        <p:nvSpPr>
          <p:cNvPr id="187" name="Text 184"/>
          <p:cNvSpPr/>
          <p:nvPr/>
        </p:nvSpPr>
        <p:spPr>
          <a:xfrm>
            <a:off x="10104120" y="4965192"/>
            <a:ext cx="841248"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E</a:t>
            </a:r>
            <a:endParaRPr lang="en-US" sz="1300" dirty="0"/>
          </a:p>
        </p:txBody>
      </p:sp>
      <p:sp>
        <p:nvSpPr>
          <p:cNvPr id="188" name="Shape 185"/>
          <p:cNvSpPr/>
          <p:nvPr/>
        </p:nvSpPr>
        <p:spPr>
          <a:xfrm>
            <a:off x="548640" y="5376672"/>
            <a:ext cx="841248" cy="365760"/>
          </a:xfrm>
          <a:prstGeom prst="rect">
            <a:avLst/>
          </a:prstGeom>
          <a:solidFill>
            <a:srgbClr val="EAF0F6"/>
          </a:solidFill>
          <a:ln w="12700">
            <a:solidFill>
              <a:srgbClr val="0B2545"/>
            </a:solidFill>
            <a:prstDash val="solid"/>
          </a:ln>
        </p:spPr>
      </p:sp>
      <p:sp>
        <p:nvSpPr>
          <p:cNvPr id="189" name="Text 186"/>
          <p:cNvSpPr/>
          <p:nvPr/>
        </p:nvSpPr>
        <p:spPr>
          <a:xfrm>
            <a:off x="54864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11</a:t>
            </a:r>
            <a:endParaRPr lang="en-US" sz="1100" dirty="0"/>
          </a:p>
        </p:txBody>
      </p:sp>
      <p:sp>
        <p:nvSpPr>
          <p:cNvPr id="190" name="Shape 187"/>
          <p:cNvSpPr/>
          <p:nvPr/>
        </p:nvSpPr>
        <p:spPr>
          <a:xfrm>
            <a:off x="1417320" y="5376672"/>
            <a:ext cx="841248" cy="365760"/>
          </a:xfrm>
          <a:prstGeom prst="rect">
            <a:avLst/>
          </a:prstGeom>
          <a:solidFill>
            <a:srgbClr val="EAF0F6"/>
          </a:solidFill>
          <a:ln w="12700">
            <a:solidFill>
              <a:srgbClr val="0B2545"/>
            </a:solidFill>
            <a:prstDash val="solid"/>
          </a:ln>
        </p:spPr>
      </p:sp>
      <p:sp>
        <p:nvSpPr>
          <p:cNvPr id="191" name="Text 188"/>
          <p:cNvSpPr/>
          <p:nvPr/>
        </p:nvSpPr>
        <p:spPr>
          <a:xfrm>
            <a:off x="141732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4</a:t>
            </a:r>
            <a:endParaRPr lang="en-US" sz="1100" dirty="0"/>
          </a:p>
        </p:txBody>
      </p:sp>
      <p:sp>
        <p:nvSpPr>
          <p:cNvPr id="192" name="Shape 189"/>
          <p:cNvSpPr/>
          <p:nvPr/>
        </p:nvSpPr>
        <p:spPr>
          <a:xfrm>
            <a:off x="2286000" y="5376672"/>
            <a:ext cx="841248" cy="365760"/>
          </a:xfrm>
          <a:prstGeom prst="rect">
            <a:avLst/>
          </a:prstGeom>
          <a:solidFill>
            <a:srgbClr val="EAF0F6"/>
          </a:solidFill>
          <a:ln w="12700">
            <a:solidFill>
              <a:srgbClr val="0B2545"/>
            </a:solidFill>
            <a:prstDash val="solid"/>
          </a:ln>
        </p:spPr>
      </p:sp>
      <p:sp>
        <p:nvSpPr>
          <p:cNvPr id="193" name="Text 190"/>
          <p:cNvSpPr/>
          <p:nvPr/>
        </p:nvSpPr>
        <p:spPr>
          <a:xfrm>
            <a:off x="228600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12</a:t>
            </a:r>
            <a:endParaRPr lang="en-US" sz="1100" dirty="0"/>
          </a:p>
        </p:txBody>
      </p:sp>
      <p:sp>
        <p:nvSpPr>
          <p:cNvPr id="194" name="Shape 191"/>
          <p:cNvSpPr/>
          <p:nvPr/>
        </p:nvSpPr>
        <p:spPr>
          <a:xfrm>
            <a:off x="3154680" y="5376672"/>
            <a:ext cx="841248" cy="365760"/>
          </a:xfrm>
          <a:prstGeom prst="rect">
            <a:avLst/>
          </a:prstGeom>
          <a:solidFill>
            <a:srgbClr val="EAF0F6"/>
          </a:solidFill>
          <a:ln w="12700">
            <a:solidFill>
              <a:srgbClr val="0B2545"/>
            </a:solidFill>
            <a:prstDash val="solid"/>
          </a:ln>
        </p:spPr>
      </p:sp>
      <p:sp>
        <p:nvSpPr>
          <p:cNvPr id="195" name="Text 192"/>
          <p:cNvSpPr/>
          <p:nvPr/>
        </p:nvSpPr>
        <p:spPr>
          <a:xfrm>
            <a:off x="315468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14</a:t>
            </a:r>
            <a:endParaRPr lang="en-US" sz="1100" dirty="0"/>
          </a:p>
        </p:txBody>
      </p:sp>
      <p:sp>
        <p:nvSpPr>
          <p:cNvPr id="196" name="Shape 193"/>
          <p:cNvSpPr/>
          <p:nvPr/>
        </p:nvSpPr>
        <p:spPr>
          <a:xfrm>
            <a:off x="4023360" y="5376672"/>
            <a:ext cx="841248" cy="365760"/>
          </a:xfrm>
          <a:prstGeom prst="rect">
            <a:avLst/>
          </a:prstGeom>
          <a:solidFill>
            <a:srgbClr val="EAF0F6"/>
          </a:solidFill>
          <a:ln w="12700">
            <a:solidFill>
              <a:srgbClr val="0B2545"/>
            </a:solidFill>
            <a:prstDash val="solid"/>
          </a:ln>
        </p:spPr>
      </p:sp>
      <p:sp>
        <p:nvSpPr>
          <p:cNvPr id="197" name="Text 194"/>
          <p:cNvSpPr/>
          <p:nvPr/>
        </p:nvSpPr>
        <p:spPr>
          <a:xfrm>
            <a:off x="402336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13</a:t>
            </a:r>
            <a:endParaRPr lang="en-US" sz="1100" dirty="0"/>
          </a:p>
        </p:txBody>
      </p:sp>
      <p:sp>
        <p:nvSpPr>
          <p:cNvPr id="198" name="Shape 195"/>
          <p:cNvSpPr/>
          <p:nvPr/>
        </p:nvSpPr>
        <p:spPr>
          <a:xfrm>
            <a:off x="4892040" y="5376672"/>
            <a:ext cx="841248" cy="365760"/>
          </a:xfrm>
          <a:prstGeom prst="rect">
            <a:avLst/>
          </a:prstGeom>
          <a:solidFill>
            <a:srgbClr val="EAF0F6"/>
          </a:solidFill>
          <a:ln w="12700">
            <a:solidFill>
              <a:srgbClr val="0B2545"/>
            </a:solidFill>
            <a:prstDash val="solid"/>
          </a:ln>
        </p:spPr>
      </p:sp>
      <p:sp>
        <p:nvSpPr>
          <p:cNvPr id="199" name="Text 196"/>
          <p:cNvSpPr/>
          <p:nvPr/>
        </p:nvSpPr>
        <p:spPr>
          <a:xfrm>
            <a:off x="489204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11</a:t>
            </a:r>
            <a:endParaRPr lang="en-US" sz="1100" dirty="0"/>
          </a:p>
        </p:txBody>
      </p:sp>
      <p:sp>
        <p:nvSpPr>
          <p:cNvPr id="200" name="Shape 197"/>
          <p:cNvSpPr/>
          <p:nvPr/>
        </p:nvSpPr>
        <p:spPr>
          <a:xfrm>
            <a:off x="5760720" y="5376672"/>
            <a:ext cx="841248" cy="365760"/>
          </a:xfrm>
          <a:prstGeom prst="rect">
            <a:avLst/>
          </a:prstGeom>
          <a:solidFill>
            <a:srgbClr val="EAF0F6"/>
          </a:solidFill>
          <a:ln w="12700">
            <a:solidFill>
              <a:srgbClr val="0B2545"/>
            </a:solidFill>
            <a:prstDash val="solid"/>
          </a:ln>
        </p:spPr>
      </p:sp>
      <p:sp>
        <p:nvSpPr>
          <p:cNvPr id="201" name="Text 198"/>
          <p:cNvSpPr/>
          <p:nvPr/>
        </p:nvSpPr>
        <p:spPr>
          <a:xfrm>
            <a:off x="576072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4</a:t>
            </a:r>
            <a:endParaRPr lang="en-US" sz="1100" dirty="0"/>
          </a:p>
        </p:txBody>
      </p:sp>
      <p:sp>
        <p:nvSpPr>
          <p:cNvPr id="202" name="Shape 199"/>
          <p:cNvSpPr/>
          <p:nvPr/>
        </p:nvSpPr>
        <p:spPr>
          <a:xfrm>
            <a:off x="6629400" y="5376672"/>
            <a:ext cx="841248" cy="365760"/>
          </a:xfrm>
          <a:prstGeom prst="rect">
            <a:avLst/>
          </a:prstGeom>
          <a:solidFill>
            <a:srgbClr val="EAF0F6"/>
          </a:solidFill>
          <a:ln w="12700">
            <a:solidFill>
              <a:srgbClr val="0B2545"/>
            </a:solidFill>
            <a:prstDash val="solid"/>
          </a:ln>
        </p:spPr>
      </p:sp>
      <p:sp>
        <p:nvSpPr>
          <p:cNvPr id="203" name="Text 200"/>
          <p:cNvSpPr/>
          <p:nvPr/>
        </p:nvSpPr>
        <p:spPr>
          <a:xfrm>
            <a:off x="662940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12</a:t>
            </a:r>
            <a:endParaRPr lang="en-US" sz="1100" dirty="0"/>
          </a:p>
        </p:txBody>
      </p:sp>
      <p:sp>
        <p:nvSpPr>
          <p:cNvPr id="204" name="Shape 201"/>
          <p:cNvSpPr/>
          <p:nvPr/>
        </p:nvSpPr>
        <p:spPr>
          <a:xfrm>
            <a:off x="7498080" y="5376672"/>
            <a:ext cx="841248" cy="365760"/>
          </a:xfrm>
          <a:prstGeom prst="rect">
            <a:avLst/>
          </a:prstGeom>
          <a:solidFill>
            <a:srgbClr val="EAF0F6"/>
          </a:solidFill>
          <a:ln w="12700">
            <a:solidFill>
              <a:srgbClr val="0B2545"/>
            </a:solidFill>
            <a:prstDash val="solid"/>
          </a:ln>
        </p:spPr>
      </p:sp>
      <p:sp>
        <p:nvSpPr>
          <p:cNvPr id="205" name="Text 202"/>
          <p:cNvSpPr/>
          <p:nvPr/>
        </p:nvSpPr>
        <p:spPr>
          <a:xfrm>
            <a:off x="749808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14</a:t>
            </a:r>
            <a:endParaRPr lang="en-US" sz="1100" dirty="0"/>
          </a:p>
        </p:txBody>
      </p:sp>
      <p:sp>
        <p:nvSpPr>
          <p:cNvPr id="206" name="Shape 203"/>
          <p:cNvSpPr/>
          <p:nvPr/>
        </p:nvSpPr>
        <p:spPr>
          <a:xfrm>
            <a:off x="8366760" y="5376672"/>
            <a:ext cx="841248" cy="365760"/>
          </a:xfrm>
          <a:prstGeom prst="rect">
            <a:avLst/>
          </a:prstGeom>
          <a:solidFill>
            <a:srgbClr val="EAF0F6"/>
          </a:solidFill>
          <a:ln w="12700">
            <a:solidFill>
              <a:srgbClr val="0B2545"/>
            </a:solidFill>
            <a:prstDash val="solid"/>
          </a:ln>
        </p:spPr>
      </p:sp>
      <p:sp>
        <p:nvSpPr>
          <p:cNvPr id="207" name="Text 204"/>
          <p:cNvSpPr/>
          <p:nvPr/>
        </p:nvSpPr>
        <p:spPr>
          <a:xfrm>
            <a:off x="836676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13</a:t>
            </a:r>
            <a:endParaRPr lang="en-US" sz="1100" dirty="0"/>
          </a:p>
        </p:txBody>
      </p:sp>
      <p:sp>
        <p:nvSpPr>
          <p:cNvPr id="208" name="Shape 205"/>
          <p:cNvSpPr/>
          <p:nvPr/>
        </p:nvSpPr>
        <p:spPr>
          <a:xfrm>
            <a:off x="9235440" y="5376672"/>
            <a:ext cx="841248" cy="365760"/>
          </a:xfrm>
          <a:prstGeom prst="rect">
            <a:avLst/>
          </a:prstGeom>
          <a:solidFill>
            <a:srgbClr val="EAF0F6"/>
          </a:solidFill>
          <a:ln w="12700">
            <a:solidFill>
              <a:srgbClr val="0B2545"/>
            </a:solidFill>
            <a:prstDash val="solid"/>
          </a:ln>
        </p:spPr>
      </p:sp>
      <p:sp>
        <p:nvSpPr>
          <p:cNvPr id="209" name="Text 206"/>
          <p:cNvSpPr/>
          <p:nvPr/>
        </p:nvSpPr>
        <p:spPr>
          <a:xfrm>
            <a:off x="923544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11</a:t>
            </a:r>
            <a:endParaRPr lang="en-US" sz="1100" dirty="0"/>
          </a:p>
        </p:txBody>
      </p:sp>
      <p:sp>
        <p:nvSpPr>
          <p:cNvPr id="210" name="Shape 207"/>
          <p:cNvSpPr/>
          <p:nvPr/>
        </p:nvSpPr>
        <p:spPr>
          <a:xfrm>
            <a:off x="10104120" y="5376672"/>
            <a:ext cx="841248" cy="365760"/>
          </a:xfrm>
          <a:prstGeom prst="rect">
            <a:avLst/>
          </a:prstGeom>
          <a:solidFill>
            <a:srgbClr val="EAF0F6"/>
          </a:solidFill>
          <a:ln w="12700">
            <a:solidFill>
              <a:srgbClr val="0B2545"/>
            </a:solidFill>
            <a:prstDash val="solid"/>
          </a:ln>
        </p:spPr>
      </p:sp>
      <p:sp>
        <p:nvSpPr>
          <p:cNvPr id="211" name="Text 208"/>
          <p:cNvSpPr/>
          <p:nvPr/>
        </p:nvSpPr>
        <p:spPr>
          <a:xfrm>
            <a:off x="10104120" y="5376672"/>
            <a:ext cx="841248" cy="365760"/>
          </a:xfrm>
          <a:prstGeom prst="rect">
            <a:avLst/>
          </a:prstGeom>
          <a:noFill/>
          <a:ln/>
        </p:spPr>
        <p:txBody>
          <a:bodyPr wrap="square" rtlCol="0" anchor="ctr"/>
          <a:lstStyle/>
          <a:p>
            <a:pPr marL="0" indent="0" algn="ctr">
              <a:buNone/>
            </a:pPr>
            <a:r>
              <a:rPr lang="en-US" sz="1100" b="1" dirty="0">
                <a:solidFill>
                  <a:srgbClr val="16232E"/>
                </a:solidFill>
                <a:latin typeface="Courier New" pitchFamily="34" charset="0"/>
                <a:ea typeface="Courier New" pitchFamily="34" charset="-122"/>
                <a:cs typeface="Courier New" pitchFamily="34" charset="-120"/>
              </a:rPr>
              <a:t>4</a:t>
            </a:r>
            <a:endParaRPr lang="en-US" sz="1100" dirty="0"/>
          </a:p>
        </p:txBody>
      </p:sp>
      <p:sp>
        <p:nvSpPr>
          <p:cNvPr id="212" name="Text 209"/>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213" name="Text 210"/>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04 · SUPPLEMENT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Polyalphabetic Cipher — Step 2: Encryption</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Shape 3"/>
          <p:cNvSpPr/>
          <p:nvPr/>
        </p:nvSpPr>
        <p:spPr>
          <a:xfrm>
            <a:off x="548640" y="1645920"/>
            <a:ext cx="10881360" cy="502920"/>
          </a:xfrm>
          <a:prstGeom prst="roundRect">
            <a:avLst>
              <a:gd name="adj" fmla="val 10909"/>
            </a:avLst>
          </a:prstGeom>
          <a:solidFill>
            <a:srgbClr val="0B2545"/>
          </a:solidFill>
          <a:ln/>
        </p:spPr>
      </p:sp>
      <p:sp>
        <p:nvSpPr>
          <p:cNvPr id="7" name="Text 4"/>
          <p:cNvSpPr/>
          <p:nvPr/>
        </p:nvSpPr>
        <p:spPr>
          <a:xfrm>
            <a:off x="685800" y="1645920"/>
            <a:ext cx="10607040" cy="502920"/>
          </a:xfrm>
          <a:prstGeom prst="rect">
            <a:avLst/>
          </a:prstGeom>
          <a:noFill/>
          <a:ln/>
        </p:spPr>
        <p:txBody>
          <a:bodyPr wrap="square" rtlCol="0" anchor="ctr"/>
          <a:lstStyle/>
          <a:p>
            <a:pPr marL="0" indent="0" algn="ctr">
              <a:buNone/>
            </a:pPr>
            <a:r>
              <a:rPr lang="en-US" sz="1600" b="1" kern="0" spc="200" dirty="0">
                <a:solidFill>
                  <a:srgbClr val="FFFFFF"/>
                </a:solidFill>
                <a:latin typeface="Courier New" pitchFamily="34" charset="0"/>
                <a:ea typeface="Courier New" pitchFamily="34" charset="-122"/>
                <a:cs typeface="Courier New" pitchFamily="34" charset="-120"/>
              </a:rPr>
              <a:t>Ci = (Pi + Ki) mod 26</a:t>
            </a:r>
            <a:endParaRPr lang="en-US" sz="1600" dirty="0"/>
          </a:p>
        </p:txBody>
      </p:sp>
      <p:graphicFrame>
        <p:nvGraphicFramePr>
          <p:cNvPr id="22" name="Table 0"/>
          <p:cNvGraphicFramePr>
            <a:graphicFrameLocks noGrp="1"/>
          </p:cNvGraphicFramePr>
          <p:nvPr/>
        </p:nvGraphicFramePr>
        <p:xfrm>
          <a:off x="548640" y="2331720"/>
          <a:ext cx="10881360" cy="2944368"/>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20624">
                <a:tc>
                  <a:txBody>
                    <a:bodyPr/>
                    <a:lstStyle/>
                    <a:p>
                      <a:pPr marL="0" indent="0" algn="ctr">
                        <a:buNone/>
                      </a:pPr>
                      <a:r>
                        <a:rPr lang="en-US" sz="1200" b="1" dirty="0">
                          <a:solidFill>
                            <a:srgbClr val="FFFFFF"/>
                          </a:solidFill>
                        </a:rPr>
                        <a:t>P (Plaintext)</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K (Keyword)</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Formula</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Result (C)</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Cipher Letter</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20624">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0 (A)</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11 (L)</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(0 + 11) mod 26</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6232E"/>
                          </a:solidFill>
                          <a:latin typeface="Calibri" pitchFamily="34" charset="0"/>
                          <a:ea typeface="Calibri" pitchFamily="34" charset="-122"/>
                          <a:cs typeface="Calibri" pitchFamily="34" charset="-120"/>
                        </a:rPr>
                        <a:t>L</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19 (T)</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4 (E)</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(19 + 4) mod 26</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b="1" dirty="0">
                          <a:solidFill>
                            <a:srgbClr val="16232E"/>
                          </a:solidFill>
                          <a:latin typeface="Calibri" pitchFamily="34" charset="0"/>
                          <a:ea typeface="Calibri" pitchFamily="34" charset="-122"/>
                          <a:cs typeface="Calibri" pitchFamily="34" charset="-120"/>
                        </a:rPr>
                        <a:t>X</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420624">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19 (T)</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12 (M)</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(19 + 12) mod 26</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6232E"/>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0 (A)</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14 (O)</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(0 + 14) mod 26</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b="1" dirty="0">
                          <a:solidFill>
                            <a:srgbClr val="16232E"/>
                          </a:solidFill>
                          <a:latin typeface="Calibri" pitchFamily="34" charset="0"/>
                          <a:ea typeface="Calibri" pitchFamily="34" charset="-122"/>
                          <a:cs typeface="Calibri" pitchFamily="34" charset="-120"/>
                        </a:rPr>
                        <a:t>O</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r h="420624">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2 (C)</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13 (N)</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(2 + 13) mod 26</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2E"/>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6232E"/>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10 (K)</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11 (L)</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ourier New" pitchFamily="34" charset="0"/>
                          <a:ea typeface="Courier New" pitchFamily="34" charset="-122"/>
                          <a:cs typeface="Courier New" pitchFamily="34" charset="-120"/>
                        </a:rPr>
                        <a:t>(10 + 11) mod 26</a:t>
                      </a:r>
                      <a:endParaRPr lang="en-US" sz="115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dirty="0">
                          <a:solidFill>
                            <a:srgbClr val="16232E"/>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50" b="1" dirty="0">
                          <a:solidFill>
                            <a:srgbClr val="16232E"/>
                          </a:solidFill>
                          <a:latin typeface="Calibri" pitchFamily="34" charset="0"/>
                          <a:ea typeface="Calibri" pitchFamily="34" charset="-122"/>
                          <a:cs typeface="Calibri" pitchFamily="34" charset="-120"/>
                        </a:rPr>
                        <a:t>V</a:t>
                      </a:r>
                      <a:endParaRPr lang="en-US" sz="11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6"/>
                  </a:ext>
                </a:extLst>
              </a:tr>
            </a:tbl>
          </a:graphicData>
        </a:graphic>
      </p:graphicFrame>
      <p:sp>
        <p:nvSpPr>
          <p:cNvPr id="9" name="Shape 5"/>
          <p:cNvSpPr/>
          <p:nvPr/>
        </p:nvSpPr>
        <p:spPr>
          <a:xfrm>
            <a:off x="548640" y="5440680"/>
            <a:ext cx="10881360" cy="960120"/>
          </a:xfrm>
          <a:prstGeom prst="roundRect">
            <a:avLst>
              <a:gd name="adj" fmla="val 7619"/>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0" name="Text 6"/>
          <p:cNvSpPr/>
          <p:nvPr/>
        </p:nvSpPr>
        <p:spPr>
          <a:xfrm>
            <a:off x="777240" y="5605272"/>
            <a:ext cx="10424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Continuing the pattern</a:t>
            </a:r>
            <a:endParaRPr lang="en-US" sz="1500" dirty="0"/>
          </a:p>
        </p:txBody>
      </p:sp>
      <p:sp>
        <p:nvSpPr>
          <p:cNvPr id="11" name="Text 7"/>
          <p:cNvSpPr/>
          <p:nvPr/>
        </p:nvSpPr>
        <p:spPr>
          <a:xfrm>
            <a:off x="777240" y="5971032"/>
            <a:ext cx="10424160" cy="2743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The same formula applied to all twelve letters of "ATTACKATDAWN" against the repeating keyword "LEMON" produces the full ciphertext LXFOPVEFRNHR.</a:t>
            </a:r>
            <a:endParaRPr lang="en-US" sz="1200" dirty="0"/>
          </a:p>
        </p:txBody>
      </p:sp>
      <p:sp>
        <p:nvSpPr>
          <p:cNvPr id="12" name="Text 8"/>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3" name="Text 9"/>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04 · SUPPLEMENT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Polyalphabetic Cipher — Step 3: Decryption</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unlockalt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1088136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Cipher Text: LXFOPVEFRNHR</a:t>
            </a:r>
            <a:endParaRPr lang="en-US" sz="1300" dirty="0"/>
          </a:p>
        </p:txBody>
      </p:sp>
      <p:sp>
        <p:nvSpPr>
          <p:cNvPr id="7" name="Shape 4"/>
          <p:cNvSpPr/>
          <p:nvPr/>
        </p:nvSpPr>
        <p:spPr>
          <a:xfrm>
            <a:off x="548640" y="1965960"/>
            <a:ext cx="10881360" cy="502920"/>
          </a:xfrm>
          <a:prstGeom prst="roundRect">
            <a:avLst>
              <a:gd name="adj" fmla="val 10909"/>
            </a:avLst>
          </a:prstGeom>
          <a:solidFill>
            <a:srgbClr val="13315C"/>
          </a:solidFill>
          <a:ln/>
        </p:spPr>
      </p:sp>
      <p:sp>
        <p:nvSpPr>
          <p:cNvPr id="8" name="Text 5"/>
          <p:cNvSpPr/>
          <p:nvPr/>
        </p:nvSpPr>
        <p:spPr>
          <a:xfrm>
            <a:off x="685800" y="1965960"/>
            <a:ext cx="1060704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Pi = (Ci − Ki + 26) mod 26   (keyword: LEMON)</a:t>
            </a:r>
            <a:endParaRPr lang="en-US" sz="1400" dirty="0"/>
          </a:p>
        </p:txBody>
      </p:sp>
      <p:graphicFrame>
        <p:nvGraphicFramePr>
          <p:cNvPr id="23" name="Table 0"/>
          <p:cNvGraphicFramePr>
            <a:graphicFrameLocks noGrp="1"/>
          </p:cNvGraphicFramePr>
          <p:nvPr/>
        </p:nvGraphicFramePr>
        <p:xfrm>
          <a:off x="548640" y="2651760"/>
          <a:ext cx="10881360" cy="3200400"/>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457200">
                <a:tc>
                  <a:txBody>
                    <a:bodyPr/>
                    <a:lstStyle/>
                    <a:p>
                      <a:pPr marL="0" indent="0" algn="ctr">
                        <a:buNone/>
                      </a:pPr>
                      <a:r>
                        <a:rPr lang="en-US" sz="1000" b="1" dirty="0">
                          <a:solidFill>
                            <a:srgbClr val="FFFFFF"/>
                          </a:solidFill>
                        </a:rPr>
                        <a:t>Cipher Letter (C)</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000" b="1" dirty="0">
                          <a:solidFill>
                            <a:srgbClr val="FFFFFF"/>
                          </a:solidFill>
                        </a:rPr>
                        <a:t>Value (C)</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000" b="1" dirty="0">
                          <a:solidFill>
                            <a:srgbClr val="FFFFFF"/>
                          </a:solidFill>
                        </a:rPr>
                        <a:t>Keyword (K)</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000" b="1" dirty="0">
                          <a:solidFill>
                            <a:srgbClr val="FFFFFF"/>
                          </a:solidFill>
                        </a:rPr>
                        <a:t>Value (K)</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000" b="1" dirty="0">
                          <a:solidFill>
                            <a:srgbClr val="FFFFFF"/>
                          </a:solidFill>
                        </a:rPr>
                        <a:t>(C − K + 26) mod 26</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000" b="1" dirty="0">
                          <a:solidFill>
                            <a:srgbClr val="FFFFFF"/>
                          </a:solidFill>
                        </a:rPr>
                        <a:t>Result (P)</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000" b="1" dirty="0">
                          <a:solidFill>
                            <a:srgbClr val="FFFFFF"/>
                          </a:solidFill>
                        </a:rPr>
                        <a:t>Plaintext Letter</a:t>
                      </a:r>
                      <a:endParaRPr lang="en-US" sz="10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57200">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L</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L</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ourier New" pitchFamily="34" charset="0"/>
                          <a:ea typeface="Courier New" pitchFamily="34" charset="-122"/>
                          <a:cs typeface="Courier New" pitchFamily="34" charset="-120"/>
                        </a:rPr>
                        <a:t>(11 − 11 + 26) mod 26 = 0</a:t>
                      </a:r>
                      <a:endParaRPr lang="en-US" sz="10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232E"/>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X</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ourier New" pitchFamily="34" charset="0"/>
                          <a:ea typeface="Courier New" pitchFamily="34" charset="-122"/>
                          <a:cs typeface="Courier New" pitchFamily="34" charset="-120"/>
                        </a:rPr>
                        <a:t>(23 − 4 + 26) mod 26 = 19</a:t>
                      </a:r>
                      <a:endParaRPr lang="en-US" sz="10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b="1" dirty="0">
                          <a:solidFill>
                            <a:srgbClr val="16232E"/>
                          </a:solidFill>
                          <a:latin typeface="Calibri" pitchFamily="34" charset="0"/>
                          <a:ea typeface="Calibri" pitchFamily="34" charset="-122"/>
                          <a:cs typeface="Calibri" pitchFamily="34" charset="-120"/>
                        </a:rPr>
                        <a:t>T</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457200">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M</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ourier New" pitchFamily="34" charset="0"/>
                          <a:ea typeface="Courier New" pitchFamily="34" charset="-122"/>
                          <a:cs typeface="Courier New" pitchFamily="34" charset="-120"/>
                        </a:rPr>
                        <a:t>(5 − 12 + 26) mod 26 = 19</a:t>
                      </a:r>
                      <a:endParaRPr lang="en-US" sz="10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232E"/>
                          </a:solidFill>
                          <a:latin typeface="Calibri" pitchFamily="34" charset="0"/>
                          <a:ea typeface="Calibri" pitchFamily="34" charset="-122"/>
                          <a:cs typeface="Calibri" pitchFamily="34" charset="-120"/>
                        </a:rPr>
                        <a:t>T</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O</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O</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ourier New" pitchFamily="34" charset="0"/>
                          <a:ea typeface="Courier New" pitchFamily="34" charset="-122"/>
                          <a:cs typeface="Courier New" pitchFamily="34" charset="-120"/>
                        </a:rPr>
                        <a:t>(14 − 14 + 26) mod 26 = 0</a:t>
                      </a:r>
                      <a:endParaRPr lang="en-US" sz="10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b="1" dirty="0">
                          <a:solidFill>
                            <a:srgbClr val="16232E"/>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r h="457200">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ourier New" pitchFamily="34" charset="0"/>
                          <a:ea typeface="Courier New" pitchFamily="34" charset="-122"/>
                          <a:cs typeface="Courier New" pitchFamily="34" charset="-120"/>
                        </a:rPr>
                        <a:t>(15 − 13 + 26) mod 26 = 2</a:t>
                      </a:r>
                      <a:endParaRPr lang="en-US" sz="10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232E"/>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V</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L</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ourier New" pitchFamily="34" charset="0"/>
                          <a:ea typeface="Courier New" pitchFamily="34" charset="-122"/>
                          <a:cs typeface="Courier New" pitchFamily="34" charset="-120"/>
                        </a:rPr>
                        <a:t>(21 − 11 + 26) mod 26 = 10</a:t>
                      </a:r>
                      <a:endParaRPr lang="en-US" sz="1000" dirty="0">
                        <a:latin typeface="Courier New" charset="0"/>
                        <a:ea typeface="Courier New" charset="0"/>
                        <a:cs typeface="Courier New"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000" b="1" dirty="0">
                          <a:solidFill>
                            <a:srgbClr val="16232E"/>
                          </a:solidFill>
                          <a:latin typeface="Calibri" pitchFamily="34" charset="0"/>
                          <a:ea typeface="Calibri" pitchFamily="34" charset="-122"/>
                          <a:cs typeface="Calibri" pitchFamily="34" charset="-120"/>
                        </a:rPr>
                        <a:t>K</a:t>
                      </a:r>
                      <a:endParaRPr lang="en-US" sz="100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6"/>
                  </a:ext>
                </a:extLst>
              </a:tr>
            </a:tbl>
          </a:graphicData>
        </a:graphic>
      </p:graphicFrame>
      <p:sp>
        <p:nvSpPr>
          <p:cNvPr id="10" name="Text 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11" name="Text 7"/>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04 · SUPPLEMENT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Polyalphabetic Cipher — Summary</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flag_5FBFF9.png"/>
          <p:cNvPicPr>
            <a:picLocks noChangeAspect="1"/>
          </p:cNvPicPr>
          <p:nvPr/>
        </p:nvPicPr>
        <p:blipFill>
          <a:blip r:embed="rId3"/>
          <a:stretch>
            <a:fillRect/>
          </a:stretch>
        </p:blipFill>
        <p:spPr>
          <a:xfrm>
            <a:off x="10912450" y="579730"/>
            <a:ext cx="395021" cy="395021"/>
          </a:xfrm>
          <a:prstGeom prst="rect">
            <a:avLst/>
          </a:prstGeom>
        </p:spPr>
      </p:pic>
      <p:sp>
        <p:nvSpPr>
          <p:cNvPr id="6" name="Shape 3"/>
          <p:cNvSpPr/>
          <p:nvPr/>
        </p:nvSpPr>
        <p:spPr>
          <a:xfrm>
            <a:off x="548640" y="1828800"/>
            <a:ext cx="10881360" cy="868680"/>
          </a:xfrm>
          <a:prstGeom prst="roundRect">
            <a:avLst>
              <a:gd name="adj" fmla="val 8421"/>
            </a:avLst>
          </a:prstGeom>
          <a:solidFill>
            <a:srgbClr val="FFFFFF"/>
          </a:solidFill>
          <a:ln w="12700">
            <a:solidFill>
              <a:srgbClr val="DCE3EA"/>
            </a:solidFill>
            <a:prstDash val="solid"/>
          </a:ln>
          <a:effectLst>
            <a:outerShdw blurRad="63500" dist="25400" dir="5400000" algn="bl" rotWithShape="0">
              <a:srgbClr val="9AA7B4">
                <a:alpha val="20000"/>
              </a:srgbClr>
            </a:outerShdw>
          </a:effectLst>
        </p:spPr>
      </p:sp>
      <p:sp>
        <p:nvSpPr>
          <p:cNvPr id="7" name="Text 4"/>
          <p:cNvSpPr/>
          <p:nvPr/>
        </p:nvSpPr>
        <p:spPr>
          <a:xfrm>
            <a:off x="822960" y="1828800"/>
            <a:ext cx="3200400" cy="8686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Plaintext</a:t>
            </a:r>
            <a:endParaRPr lang="en-US" sz="1500" dirty="0"/>
          </a:p>
        </p:txBody>
      </p:sp>
      <p:sp>
        <p:nvSpPr>
          <p:cNvPr id="8" name="Text 5"/>
          <p:cNvSpPr/>
          <p:nvPr/>
        </p:nvSpPr>
        <p:spPr>
          <a:xfrm>
            <a:off x="4114800" y="1828800"/>
            <a:ext cx="7040880" cy="868680"/>
          </a:xfrm>
          <a:prstGeom prst="rect">
            <a:avLst/>
          </a:prstGeom>
          <a:noFill/>
          <a:ln/>
        </p:spPr>
        <p:txBody>
          <a:bodyPr wrap="square" rtlCol="0" anchor="ctr"/>
          <a:lstStyle/>
          <a:p>
            <a:pPr marL="0" indent="0" algn="l">
              <a:buNone/>
            </a:pPr>
            <a:r>
              <a:rPr lang="en-US" sz="1800" b="1" dirty="0">
                <a:solidFill>
                  <a:srgbClr val="0B2545"/>
                </a:solidFill>
                <a:latin typeface="Courier New" pitchFamily="34" charset="0"/>
                <a:ea typeface="Courier New" pitchFamily="34" charset="-122"/>
                <a:cs typeface="Courier New" pitchFamily="34" charset="-120"/>
              </a:rPr>
              <a:t>ATTACKATDAWN</a:t>
            </a:r>
            <a:endParaRPr lang="en-US" sz="1800" dirty="0"/>
          </a:p>
        </p:txBody>
      </p:sp>
      <p:sp>
        <p:nvSpPr>
          <p:cNvPr id="9" name="Shape 6"/>
          <p:cNvSpPr/>
          <p:nvPr/>
        </p:nvSpPr>
        <p:spPr>
          <a:xfrm>
            <a:off x="548640" y="2880360"/>
            <a:ext cx="10881360" cy="868680"/>
          </a:xfrm>
          <a:prstGeom prst="roundRect">
            <a:avLst>
              <a:gd name="adj" fmla="val 8421"/>
            </a:avLst>
          </a:prstGeom>
          <a:solidFill>
            <a:srgbClr val="FFFFFF"/>
          </a:solidFill>
          <a:ln w="12700">
            <a:solidFill>
              <a:srgbClr val="DCE3EA"/>
            </a:solidFill>
            <a:prstDash val="solid"/>
          </a:ln>
          <a:effectLst>
            <a:outerShdw blurRad="63500" dist="25400" dir="5400000" algn="bl" rotWithShape="0">
              <a:srgbClr val="9AA7B4">
                <a:alpha val="20000"/>
              </a:srgbClr>
            </a:outerShdw>
          </a:effectLst>
        </p:spPr>
      </p:sp>
      <p:sp>
        <p:nvSpPr>
          <p:cNvPr id="10" name="Text 7"/>
          <p:cNvSpPr/>
          <p:nvPr/>
        </p:nvSpPr>
        <p:spPr>
          <a:xfrm>
            <a:off x="822960" y="2880360"/>
            <a:ext cx="3200400" cy="8686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Keyword</a:t>
            </a:r>
            <a:endParaRPr lang="en-US" sz="1500" dirty="0"/>
          </a:p>
        </p:txBody>
      </p:sp>
      <p:sp>
        <p:nvSpPr>
          <p:cNvPr id="11" name="Text 8"/>
          <p:cNvSpPr/>
          <p:nvPr/>
        </p:nvSpPr>
        <p:spPr>
          <a:xfrm>
            <a:off x="4114800" y="2880360"/>
            <a:ext cx="7040880" cy="868680"/>
          </a:xfrm>
          <a:prstGeom prst="rect">
            <a:avLst/>
          </a:prstGeom>
          <a:noFill/>
          <a:ln/>
        </p:spPr>
        <p:txBody>
          <a:bodyPr wrap="square" rtlCol="0" anchor="ctr"/>
          <a:lstStyle/>
          <a:p>
            <a:pPr marL="0" indent="0" algn="l">
              <a:buNone/>
            </a:pPr>
            <a:r>
              <a:rPr lang="en-US" sz="1800" b="1" dirty="0">
                <a:solidFill>
                  <a:srgbClr val="0B2545"/>
                </a:solidFill>
                <a:latin typeface="Courier New" pitchFamily="34" charset="0"/>
                <a:ea typeface="Courier New" pitchFamily="34" charset="-122"/>
                <a:cs typeface="Courier New" pitchFamily="34" charset="-120"/>
              </a:rPr>
              <a:t>LEMON</a:t>
            </a:r>
            <a:endParaRPr lang="en-US" sz="1800" dirty="0"/>
          </a:p>
        </p:txBody>
      </p:sp>
      <p:sp>
        <p:nvSpPr>
          <p:cNvPr id="12" name="Shape 9"/>
          <p:cNvSpPr/>
          <p:nvPr/>
        </p:nvSpPr>
        <p:spPr>
          <a:xfrm>
            <a:off x="548640" y="3931920"/>
            <a:ext cx="10881360" cy="868680"/>
          </a:xfrm>
          <a:prstGeom prst="roundRect">
            <a:avLst>
              <a:gd name="adj" fmla="val 8421"/>
            </a:avLst>
          </a:prstGeom>
          <a:solidFill>
            <a:srgbClr val="FFFFFF"/>
          </a:solidFill>
          <a:ln w="12700">
            <a:solidFill>
              <a:srgbClr val="DCE3EA"/>
            </a:solidFill>
            <a:prstDash val="solid"/>
          </a:ln>
          <a:effectLst>
            <a:outerShdw blurRad="63500" dist="25400" dir="5400000" algn="bl" rotWithShape="0">
              <a:srgbClr val="9AA7B4">
                <a:alpha val="20000"/>
              </a:srgbClr>
            </a:outerShdw>
          </a:effectLst>
        </p:spPr>
      </p:sp>
      <p:sp>
        <p:nvSpPr>
          <p:cNvPr id="13" name="Text 10"/>
          <p:cNvSpPr/>
          <p:nvPr/>
        </p:nvSpPr>
        <p:spPr>
          <a:xfrm>
            <a:off x="822960" y="3931920"/>
            <a:ext cx="3200400" cy="8686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Cipher Text</a:t>
            </a:r>
            <a:endParaRPr lang="en-US" sz="1500" dirty="0"/>
          </a:p>
        </p:txBody>
      </p:sp>
      <p:sp>
        <p:nvSpPr>
          <p:cNvPr id="14" name="Text 11"/>
          <p:cNvSpPr/>
          <p:nvPr/>
        </p:nvSpPr>
        <p:spPr>
          <a:xfrm>
            <a:off x="4114800" y="3931920"/>
            <a:ext cx="7040880" cy="868680"/>
          </a:xfrm>
          <a:prstGeom prst="rect">
            <a:avLst/>
          </a:prstGeom>
          <a:noFill/>
          <a:ln/>
        </p:spPr>
        <p:txBody>
          <a:bodyPr wrap="square" rtlCol="0" anchor="ctr"/>
          <a:lstStyle/>
          <a:p>
            <a:pPr marL="0" indent="0" algn="l">
              <a:buNone/>
            </a:pPr>
            <a:r>
              <a:rPr lang="en-US" sz="1800" b="1" dirty="0">
                <a:solidFill>
                  <a:srgbClr val="0B2545"/>
                </a:solidFill>
                <a:latin typeface="Courier New" pitchFamily="34" charset="0"/>
                <a:ea typeface="Courier New" pitchFamily="34" charset="-122"/>
                <a:cs typeface="Courier New" pitchFamily="34" charset="-120"/>
              </a:rPr>
              <a:t>LXFOPVEFRNHR</a:t>
            </a:r>
            <a:endParaRPr lang="en-US" sz="1800" dirty="0"/>
          </a:p>
        </p:txBody>
      </p:sp>
      <p:sp>
        <p:nvSpPr>
          <p:cNvPr id="15" name="Shape 12"/>
          <p:cNvSpPr/>
          <p:nvPr/>
        </p:nvSpPr>
        <p:spPr>
          <a:xfrm>
            <a:off x="548640" y="4983480"/>
            <a:ext cx="10881360" cy="868680"/>
          </a:xfrm>
          <a:prstGeom prst="roundRect">
            <a:avLst>
              <a:gd name="adj" fmla="val 8421"/>
            </a:avLst>
          </a:prstGeom>
          <a:solidFill>
            <a:srgbClr val="FFFFFF"/>
          </a:solidFill>
          <a:ln w="12700">
            <a:solidFill>
              <a:srgbClr val="DCE3EA"/>
            </a:solidFill>
            <a:prstDash val="solid"/>
          </a:ln>
          <a:effectLst>
            <a:outerShdw blurRad="63500" dist="25400" dir="5400000" algn="bl" rotWithShape="0">
              <a:srgbClr val="9AA7B4">
                <a:alpha val="20000"/>
              </a:srgbClr>
            </a:outerShdw>
          </a:effectLst>
        </p:spPr>
      </p:sp>
      <p:sp>
        <p:nvSpPr>
          <p:cNvPr id="16" name="Text 13"/>
          <p:cNvSpPr/>
          <p:nvPr/>
        </p:nvSpPr>
        <p:spPr>
          <a:xfrm>
            <a:off x="822960" y="4983480"/>
            <a:ext cx="3200400" cy="8686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Decrypted Text</a:t>
            </a:r>
            <a:endParaRPr lang="en-US" sz="1500" dirty="0"/>
          </a:p>
        </p:txBody>
      </p:sp>
      <p:sp>
        <p:nvSpPr>
          <p:cNvPr id="17" name="Text 14"/>
          <p:cNvSpPr/>
          <p:nvPr/>
        </p:nvSpPr>
        <p:spPr>
          <a:xfrm>
            <a:off x="4114800" y="4983480"/>
            <a:ext cx="7040880" cy="868680"/>
          </a:xfrm>
          <a:prstGeom prst="rect">
            <a:avLst/>
          </a:prstGeom>
          <a:noFill/>
          <a:ln/>
        </p:spPr>
        <p:txBody>
          <a:bodyPr wrap="square" rtlCol="0" anchor="ctr"/>
          <a:lstStyle/>
          <a:p>
            <a:pPr marL="0" indent="0" algn="l">
              <a:buNone/>
            </a:pPr>
            <a:r>
              <a:rPr lang="en-US" sz="1800" b="1" dirty="0">
                <a:solidFill>
                  <a:srgbClr val="13315C"/>
                </a:solidFill>
                <a:latin typeface="Courier New" pitchFamily="34" charset="0"/>
                <a:ea typeface="Courier New" pitchFamily="34" charset="-122"/>
                <a:cs typeface="Courier New" pitchFamily="34" charset="-120"/>
              </a:rPr>
              <a:t>ATTACKATDAWN</a:t>
            </a:r>
            <a:endParaRPr lang="en-US" sz="1800" dirty="0"/>
          </a:p>
        </p:txBody>
      </p:sp>
      <p:sp>
        <p:nvSpPr>
          <p:cNvPr id="18" name="Text 15"/>
          <p:cNvSpPr/>
          <p:nvPr/>
        </p:nvSpPr>
        <p:spPr>
          <a:xfrm>
            <a:off x="548640" y="6035040"/>
            <a:ext cx="10881360" cy="365760"/>
          </a:xfrm>
          <a:prstGeom prst="rect">
            <a:avLst/>
          </a:prstGeom>
          <a:noFill/>
          <a:ln/>
        </p:spPr>
        <p:txBody>
          <a:bodyPr wrap="square"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Decryption recovers the original plaintext exactly, confirming the keyword and formulas above.</a:t>
            </a:r>
            <a:endParaRPr lang="en-US" sz="1100" dirty="0"/>
          </a:p>
        </p:txBody>
      </p:sp>
      <p:sp>
        <p:nvSpPr>
          <p:cNvPr id="19" name="Text 1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20" name="Text 17"/>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Playfair cipher</a:t>
            </a:r>
            <a:endParaRPr lang="en-US" sz="3000" dirty="0"/>
          </a:p>
        </p:txBody>
      </p:sp>
      <p:sp>
        <p:nvSpPr>
          <p:cNvPr id="3" name="Text 1"/>
          <p:cNvSpPr/>
          <p:nvPr/>
        </p:nvSpPr>
        <p:spPr>
          <a:xfrm>
            <a:off x="548640" y="1371600"/>
            <a:ext cx="11155680" cy="1417320"/>
          </a:xfrm>
          <a:prstGeom prst="rect">
            <a:avLst/>
          </a:prstGeom>
          <a:noFill/>
          <a:ln/>
        </p:spPr>
        <p:txBody>
          <a:bodyPr wrap="square" rtlCol="0" anchor="t"/>
          <a:lstStyle/>
          <a:p>
            <a:pPr marL="0" indent="0" algn="just">
              <a:buNone/>
            </a:pPr>
            <a:r>
              <a:rPr lang="en-US" sz="2000" dirty="0">
                <a:solidFill>
                  <a:srgbClr val="1A1A1A"/>
                </a:solidFill>
                <a:latin typeface="Arial" pitchFamily="34" charset="0"/>
                <a:ea typeface="Arial" pitchFamily="34" charset="-122"/>
                <a:cs typeface="Arial" pitchFamily="34" charset="-120"/>
              </a:rPr>
              <a:t>•  The Playfair cipher was the first practical digraph substitution cipher. The scheme was invented in 1854 by Charles Wheatstone but was named after Lord Playfair who promoted the use of the cipher. In playfair cipher unlike traditional cipher we encrypt a pair of alphabets(digraphs) instead of a single alphabet.</a:t>
            </a:r>
            <a:endParaRPr lang="en-US" sz="2000" dirty="0"/>
          </a:p>
        </p:txBody>
      </p:sp>
      <p:sp>
        <p:nvSpPr>
          <p:cNvPr id="4" name="Text 2"/>
          <p:cNvSpPr/>
          <p:nvPr/>
        </p:nvSpPr>
        <p:spPr>
          <a:xfrm>
            <a:off x="548640" y="3604168"/>
            <a:ext cx="11155680" cy="1417320"/>
          </a:xfrm>
          <a:prstGeom prst="rect">
            <a:avLst/>
          </a:prstGeom>
          <a:noFill/>
          <a:ln/>
        </p:spPr>
        <p:txBody>
          <a:bodyPr wrap="square" rtlCol="0" anchor="t"/>
          <a:lstStyle/>
          <a:p>
            <a:pPr marL="0" indent="0" algn="just">
              <a:buNone/>
            </a:pPr>
            <a:r>
              <a:rPr lang="en-US" sz="2000" dirty="0">
                <a:solidFill>
                  <a:srgbClr val="1A1A1A"/>
                </a:solidFill>
                <a:latin typeface="Arial" pitchFamily="34" charset="0"/>
                <a:ea typeface="Arial" pitchFamily="34" charset="-122"/>
                <a:cs typeface="Arial" pitchFamily="34" charset="-120"/>
              </a:rPr>
              <a:t>•  It was used for tactical purposes by British forces in the Second Boer War and in the World War I and for the same purpose by the Australians during World War II. This was because Playfair is reasonably fast to use and requires no special equipment.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The Playfair Cipher Encryption Algorithm</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The Algorithm consists of 2 steps:</a:t>
            </a:r>
            <a:endParaRPr lang="en-US" sz="1700" dirty="0"/>
          </a:p>
        </p:txBody>
      </p:sp>
      <p:sp>
        <p:nvSpPr>
          <p:cNvPr id="4" name="Text 2"/>
          <p:cNvSpPr/>
          <p:nvPr/>
        </p:nvSpPr>
        <p:spPr>
          <a:xfrm>
            <a:off x="548640" y="1463040"/>
            <a:ext cx="10972800" cy="3657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1. Generate the key Square(5×5):</a:t>
            </a:r>
            <a:endParaRPr lang="en-US" sz="1700" dirty="0"/>
          </a:p>
        </p:txBody>
      </p:sp>
      <p:sp>
        <p:nvSpPr>
          <p:cNvPr id="5" name="Text 3"/>
          <p:cNvSpPr/>
          <p:nvPr/>
        </p:nvSpPr>
        <p:spPr>
          <a:xfrm>
            <a:off x="548640" y="1965960"/>
            <a:ext cx="11155680" cy="1417320"/>
          </a:xfrm>
          <a:prstGeom prst="rect">
            <a:avLst/>
          </a:prstGeom>
          <a:noFill/>
          <a:ln/>
        </p:spPr>
        <p:txBody>
          <a:bodyPr wrap="square" rtlCol="0" anchor="t"/>
          <a:lstStyle/>
          <a:p>
            <a:pPr marL="0" indent="0">
              <a:buNone/>
            </a:pPr>
            <a:r>
              <a:rPr lang="en-US" sz="2000" dirty="0">
                <a:solidFill>
                  <a:srgbClr val="1A1A1A"/>
                </a:solidFill>
                <a:latin typeface="Arial" pitchFamily="34" charset="0"/>
                <a:ea typeface="Arial" pitchFamily="34" charset="-122"/>
                <a:cs typeface="Arial" pitchFamily="34" charset="-120"/>
              </a:rPr>
              <a:t>•  The key square is a 5×5 grid of alphabets that acts as the key for encrypting the plaintext. Each of the 25 alphabets must be unique and one letter of the alphabet (usually J) is omitted from the table (as the table can hold only 25 alphabets). If the plaintext contains 'J', then it is replaced by 'I'.</a:t>
            </a:r>
            <a:endParaRPr lang="en-US" sz="2000" dirty="0"/>
          </a:p>
        </p:txBody>
      </p:sp>
      <p:sp>
        <p:nvSpPr>
          <p:cNvPr id="6" name="Text 4"/>
          <p:cNvSpPr/>
          <p:nvPr/>
        </p:nvSpPr>
        <p:spPr>
          <a:xfrm>
            <a:off x="548640" y="3383280"/>
            <a:ext cx="11155680" cy="1417320"/>
          </a:xfrm>
          <a:prstGeom prst="rect">
            <a:avLst/>
          </a:prstGeom>
          <a:noFill/>
          <a:ln/>
        </p:spPr>
        <p:txBody>
          <a:bodyPr wrap="square" rtlCol="0" anchor="t"/>
          <a:lstStyle/>
          <a:p>
            <a:pPr marL="0" indent="0" algn="just">
              <a:buNone/>
            </a:pPr>
            <a:r>
              <a:rPr lang="en-US" sz="2000" dirty="0">
                <a:solidFill>
                  <a:srgbClr val="1A1A1A"/>
                </a:solidFill>
                <a:latin typeface="Arial" pitchFamily="34" charset="0"/>
                <a:ea typeface="Arial" pitchFamily="34" charset="-122"/>
                <a:cs typeface="Arial" pitchFamily="34" charset="-120"/>
              </a:rPr>
              <a:t>•  The initial alphabets in the key square are the unique alphabets of the key in the order in which they appear followed by the remaining letters of the alphabet in order.</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For example</a:t>
            </a:r>
            <a:endParaRPr lang="en-US" sz="3000" dirty="0"/>
          </a:p>
        </p:txBody>
      </p:sp>
      <p:sp>
        <p:nvSpPr>
          <p:cNvPr id="3" name="Text 1"/>
          <p:cNvSpPr/>
          <p:nvPr/>
        </p:nvSpPr>
        <p:spPr>
          <a:xfrm>
            <a:off x="548640" y="1280160"/>
            <a:ext cx="5486400" cy="457200"/>
          </a:xfrm>
          <a:prstGeom prst="rect">
            <a:avLst/>
          </a:prstGeom>
          <a:noFill/>
          <a:ln/>
        </p:spPr>
        <p:txBody>
          <a:bodyPr wrap="square" rtlCol="0" anchor="ctr"/>
          <a:lstStyle/>
          <a:p>
            <a:pPr marL="0" indent="0">
              <a:buNone/>
            </a:pPr>
            <a:r>
              <a:rPr lang="en-US" sz="1800" dirty="0">
                <a:solidFill>
                  <a:srgbClr val="1A1A1A"/>
                </a:solidFill>
                <a:latin typeface="Arial" pitchFamily="34" charset="0"/>
                <a:ea typeface="Arial" pitchFamily="34" charset="-122"/>
                <a:cs typeface="Arial" pitchFamily="34" charset="-120"/>
              </a:rPr>
              <a:t>The key is "monarchy"</a:t>
            </a:r>
            <a:endParaRPr lang="en-US" sz="1800" dirty="0"/>
          </a:p>
        </p:txBody>
      </p:sp>
      <p:sp>
        <p:nvSpPr>
          <p:cNvPr id="4" name="Text 2"/>
          <p:cNvSpPr/>
          <p:nvPr/>
        </p:nvSpPr>
        <p:spPr>
          <a:xfrm>
            <a:off x="548640" y="1965960"/>
            <a:ext cx="5486400" cy="822960"/>
          </a:xfrm>
          <a:prstGeom prst="rect">
            <a:avLst/>
          </a:prstGeom>
          <a:noFill/>
          <a:ln/>
        </p:spPr>
        <p:txBody>
          <a:bodyPr wrap="square" rtlCol="0" anchor="ctr"/>
          <a:lstStyle/>
          <a:p>
            <a:pPr marL="0" indent="0">
              <a:buNone/>
            </a:pPr>
            <a:r>
              <a:rPr lang="en-US" sz="1600" dirty="0">
                <a:solidFill>
                  <a:srgbClr val="1A1A1A"/>
                </a:solidFill>
                <a:latin typeface="Arial" pitchFamily="34" charset="0"/>
                <a:ea typeface="Arial" pitchFamily="34" charset="-122"/>
                <a:cs typeface="Arial" pitchFamily="34" charset="-120"/>
              </a:rPr>
              <a:t>Thus, the initial entries are</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'm', 'o', 'n', 'a', 'r', 'c', 'h', 'y'</a:t>
            </a:r>
            <a:endParaRPr lang="en-US" sz="1600" dirty="0"/>
          </a:p>
        </p:txBody>
      </p:sp>
      <p:sp>
        <p:nvSpPr>
          <p:cNvPr id="5" name="Text 3"/>
          <p:cNvSpPr/>
          <p:nvPr/>
        </p:nvSpPr>
        <p:spPr>
          <a:xfrm>
            <a:off x="548640" y="3017520"/>
            <a:ext cx="5486400" cy="822960"/>
          </a:xfrm>
          <a:prstGeom prst="rect">
            <a:avLst/>
          </a:prstGeom>
          <a:noFill/>
          <a:ln/>
        </p:spPr>
        <p:txBody>
          <a:bodyPr wrap="square" rtlCol="0" anchor="ctr"/>
          <a:lstStyle/>
          <a:p>
            <a:pPr marL="0" indent="0">
              <a:buNone/>
            </a:pPr>
            <a:r>
              <a:rPr lang="en-US" sz="1600" dirty="0">
                <a:solidFill>
                  <a:srgbClr val="1A1A1A"/>
                </a:solidFill>
                <a:latin typeface="Arial" pitchFamily="34" charset="0"/>
                <a:ea typeface="Arial" pitchFamily="34" charset="-122"/>
                <a:cs typeface="Arial" pitchFamily="34" charset="-120"/>
              </a:rPr>
              <a:t>followed by remaining characters of</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a-z(except 'j') in that order.</a:t>
            </a:r>
            <a:endParaRPr lang="en-US" sz="1600" dirty="0"/>
          </a:p>
        </p:txBody>
      </p:sp>
      <p:graphicFrame>
        <p:nvGraphicFramePr>
          <p:cNvPr id="6" name="Table 0"/>
          <p:cNvGraphicFramePr>
            <a:graphicFrameLocks noGrp="1"/>
          </p:cNvGraphicFramePr>
          <p:nvPr/>
        </p:nvGraphicFramePr>
        <p:xfrm>
          <a:off x="6675120" y="146304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The Playfair Cipher Encryption Algorithm</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2. Algorithm to encrypt the plain text:</a:t>
            </a:r>
            <a:endParaRPr lang="en-US" sz="1700" dirty="0"/>
          </a:p>
        </p:txBody>
      </p:sp>
      <p:sp>
        <p:nvSpPr>
          <p:cNvPr id="4" name="Text 2"/>
          <p:cNvSpPr/>
          <p:nvPr/>
        </p:nvSpPr>
        <p:spPr>
          <a:xfrm>
            <a:off x="822960" y="1554480"/>
            <a:ext cx="10515600" cy="731520"/>
          </a:xfrm>
          <a:prstGeom prst="rect">
            <a:avLst/>
          </a:prstGeom>
          <a:noFill/>
          <a:ln/>
        </p:spPr>
        <p:txBody>
          <a:bodyPr wrap="square" rtlCol="0" anchor="ctr"/>
          <a:lstStyle/>
          <a:p>
            <a:pPr marL="0" indent="0">
              <a:buNone/>
            </a:pPr>
            <a:r>
              <a:rPr lang="en-US" sz="1600" dirty="0">
                <a:solidFill>
                  <a:srgbClr val="1A1A1A"/>
                </a:solidFill>
                <a:latin typeface="Arial" pitchFamily="34" charset="0"/>
                <a:ea typeface="Arial" pitchFamily="34" charset="-122"/>
                <a:cs typeface="Arial" pitchFamily="34" charset="-120"/>
              </a:rPr>
              <a:t>a) The plaintext is split into pairs of two letters (digraphs). If there is an odd number of letters, a Z is added to the last letter.</a:t>
            </a:r>
            <a:endParaRPr lang="en-US" sz="1600" dirty="0"/>
          </a:p>
        </p:txBody>
      </p:sp>
      <p:sp>
        <p:nvSpPr>
          <p:cNvPr id="5" name="Text 3"/>
          <p:cNvSpPr/>
          <p:nvPr/>
        </p:nvSpPr>
        <p:spPr>
          <a:xfrm>
            <a:off x="822960" y="2377440"/>
            <a:ext cx="3657600" cy="36576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For example:</a:t>
            </a:r>
            <a:endParaRPr lang="en-US" sz="1600" dirty="0"/>
          </a:p>
        </p:txBody>
      </p:sp>
      <p:sp>
        <p:nvSpPr>
          <p:cNvPr id="6" name="Text 4"/>
          <p:cNvSpPr/>
          <p:nvPr/>
        </p:nvSpPr>
        <p:spPr>
          <a:xfrm>
            <a:off x="822960" y="2834640"/>
            <a:ext cx="7315200" cy="365760"/>
          </a:xfrm>
          <a:prstGeom prst="rect">
            <a:avLst/>
          </a:prstGeom>
          <a:noFill/>
          <a:ln/>
        </p:spPr>
        <p:txBody>
          <a:bodyPr wrap="square" rtlCol="0" anchor="ctr"/>
          <a:lstStyle/>
          <a:p>
            <a:pPr marL="0" indent="0">
              <a:buNone/>
            </a:pPr>
            <a:r>
              <a:rPr lang="en-US" sz="1600" dirty="0">
                <a:solidFill>
                  <a:srgbClr val="1A1A1A"/>
                </a:solidFill>
                <a:latin typeface="Courier New" pitchFamily="34" charset="0"/>
                <a:ea typeface="Courier New" pitchFamily="34" charset="-122"/>
                <a:cs typeface="Courier New" pitchFamily="34" charset="-120"/>
              </a:rPr>
              <a:t>PlainText: "gatlmzclrqtx"</a:t>
            </a:r>
            <a:endParaRPr lang="en-US" sz="1600" dirty="0"/>
          </a:p>
        </p:txBody>
      </p:sp>
      <p:sp>
        <p:nvSpPr>
          <p:cNvPr id="7" name="Text 5"/>
          <p:cNvSpPr/>
          <p:nvPr/>
        </p:nvSpPr>
        <p:spPr>
          <a:xfrm>
            <a:off x="822960" y="3246120"/>
            <a:ext cx="7315200" cy="365760"/>
          </a:xfrm>
          <a:prstGeom prst="rect">
            <a:avLst/>
          </a:prstGeom>
          <a:noFill/>
          <a:ln/>
        </p:spPr>
        <p:txBody>
          <a:bodyPr wrap="square" rtlCol="0" anchor="ctr"/>
          <a:lstStyle/>
          <a:p>
            <a:pPr marL="0" indent="0">
              <a:buNone/>
            </a:pPr>
            <a:r>
              <a:rPr lang="en-US" sz="1600" dirty="0">
                <a:solidFill>
                  <a:srgbClr val="1A1A1A"/>
                </a:solidFill>
                <a:latin typeface="Courier New" pitchFamily="34" charset="0"/>
                <a:ea typeface="Courier New" pitchFamily="34" charset="-122"/>
                <a:cs typeface="Courier New" pitchFamily="34" charset="-120"/>
              </a:rPr>
              <a:t>After Split: 'ga' 'tl' 'mz' 'cl' 'rq' 'tx'</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Encryption:</a:t>
            </a:r>
            <a:endParaRPr lang="en-US" sz="3000" dirty="0"/>
          </a:p>
        </p:txBody>
      </p:sp>
      <p:sp>
        <p:nvSpPr>
          <p:cNvPr id="3" name="Text 1"/>
          <p:cNvSpPr/>
          <p:nvPr/>
        </p:nvSpPr>
        <p:spPr>
          <a:xfrm>
            <a:off x="502920" y="1234440"/>
            <a:ext cx="5120640" cy="118872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If both the letters are in the same column: Take the letter below each one (going back to the top if at the bottom).</a:t>
            </a:r>
            <a:endParaRPr lang="en-US" sz="1600" dirty="0"/>
          </a:p>
        </p:txBody>
      </p:sp>
      <p:sp>
        <p:nvSpPr>
          <p:cNvPr id="4" name="Text 2"/>
          <p:cNvSpPr/>
          <p:nvPr/>
        </p:nvSpPr>
        <p:spPr>
          <a:xfrm>
            <a:off x="502920" y="26060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5" name="Text 3"/>
          <p:cNvSpPr/>
          <p:nvPr/>
        </p:nvSpPr>
        <p:spPr>
          <a:xfrm>
            <a:off x="822960" y="297180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Diagraph: "me"</a:t>
            </a:r>
            <a:endParaRPr lang="en-US" sz="1500" dirty="0"/>
          </a:p>
        </p:txBody>
      </p:sp>
      <p:sp>
        <p:nvSpPr>
          <p:cNvPr id="6" name="Text 4"/>
          <p:cNvSpPr/>
          <p:nvPr/>
        </p:nvSpPr>
        <p:spPr>
          <a:xfrm>
            <a:off x="822960" y="333756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Encrypted Text: cl</a:t>
            </a:r>
            <a:endParaRPr lang="en-US" sz="1500" dirty="0"/>
          </a:p>
        </p:txBody>
      </p:sp>
      <p:sp>
        <p:nvSpPr>
          <p:cNvPr id="7" name="Text 5"/>
          <p:cNvSpPr/>
          <p:nvPr/>
        </p:nvSpPr>
        <p:spPr>
          <a:xfrm>
            <a:off x="822960" y="370332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Encryption:</a:t>
            </a:r>
            <a:endParaRPr lang="en-US" sz="1500" dirty="0"/>
          </a:p>
        </p:txBody>
      </p:sp>
      <p:sp>
        <p:nvSpPr>
          <p:cNvPr id="8" name="Text 6"/>
          <p:cNvSpPr/>
          <p:nvPr/>
        </p:nvSpPr>
        <p:spPr>
          <a:xfrm>
            <a:off x="1188720" y="406908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m -&gt; c</a:t>
            </a:r>
            <a:endParaRPr lang="en-US" sz="1500" dirty="0"/>
          </a:p>
        </p:txBody>
      </p:sp>
      <p:sp>
        <p:nvSpPr>
          <p:cNvPr id="9" name="Text 7"/>
          <p:cNvSpPr/>
          <p:nvPr/>
        </p:nvSpPr>
        <p:spPr>
          <a:xfrm>
            <a:off x="1188720" y="443484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 -&gt; l</a:t>
            </a:r>
            <a:endParaRPr lang="en-US" sz="1500" dirty="0"/>
          </a:p>
        </p:txBody>
      </p:sp>
      <p:graphicFrame>
        <p:nvGraphicFramePr>
          <p:cNvPr id="10" name="Table 0"/>
          <p:cNvGraphicFramePr>
            <a:graphicFrameLocks noGrp="1"/>
          </p:cNvGraphicFramePr>
          <p:nvPr/>
        </p:nvGraphicFramePr>
        <p:xfrm>
          <a:off x="6675120" y="137160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Encryption:</a:t>
            </a:r>
            <a:endParaRPr lang="en-US" sz="3000" dirty="0"/>
          </a:p>
        </p:txBody>
      </p:sp>
      <p:sp>
        <p:nvSpPr>
          <p:cNvPr id="3" name="Text 1"/>
          <p:cNvSpPr/>
          <p:nvPr/>
        </p:nvSpPr>
        <p:spPr>
          <a:xfrm>
            <a:off x="502920" y="1234440"/>
            <a:ext cx="5120640" cy="118872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If both the letters are in the same row: Take the letter to the right of each one (going back to the leftmost if at the rightmost position).</a:t>
            </a:r>
            <a:endParaRPr lang="en-US" sz="1600" dirty="0"/>
          </a:p>
        </p:txBody>
      </p:sp>
      <p:sp>
        <p:nvSpPr>
          <p:cNvPr id="4" name="Text 2"/>
          <p:cNvSpPr/>
          <p:nvPr/>
        </p:nvSpPr>
        <p:spPr>
          <a:xfrm>
            <a:off x="502920" y="26060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5" name="Text 3"/>
          <p:cNvSpPr/>
          <p:nvPr/>
        </p:nvSpPr>
        <p:spPr>
          <a:xfrm>
            <a:off x="822960" y="297180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Diagraph: "st"</a:t>
            </a:r>
            <a:endParaRPr lang="en-US" sz="1500" dirty="0"/>
          </a:p>
        </p:txBody>
      </p:sp>
      <p:sp>
        <p:nvSpPr>
          <p:cNvPr id="6" name="Text 4"/>
          <p:cNvSpPr/>
          <p:nvPr/>
        </p:nvSpPr>
        <p:spPr>
          <a:xfrm>
            <a:off x="822960" y="333756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Encrypted Text: tl</a:t>
            </a:r>
            <a:endParaRPr lang="en-US" sz="1500" dirty="0"/>
          </a:p>
        </p:txBody>
      </p:sp>
      <p:sp>
        <p:nvSpPr>
          <p:cNvPr id="7" name="Text 5"/>
          <p:cNvSpPr/>
          <p:nvPr/>
        </p:nvSpPr>
        <p:spPr>
          <a:xfrm>
            <a:off x="822960" y="370332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Encryption:</a:t>
            </a:r>
            <a:endParaRPr lang="en-US" sz="1500" dirty="0"/>
          </a:p>
        </p:txBody>
      </p:sp>
      <p:sp>
        <p:nvSpPr>
          <p:cNvPr id="8" name="Text 6"/>
          <p:cNvSpPr/>
          <p:nvPr/>
        </p:nvSpPr>
        <p:spPr>
          <a:xfrm>
            <a:off x="1188720" y="406908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s -&gt; t</a:t>
            </a:r>
            <a:endParaRPr lang="en-US" sz="1500" dirty="0"/>
          </a:p>
        </p:txBody>
      </p:sp>
      <p:sp>
        <p:nvSpPr>
          <p:cNvPr id="9" name="Text 7"/>
          <p:cNvSpPr/>
          <p:nvPr/>
        </p:nvSpPr>
        <p:spPr>
          <a:xfrm>
            <a:off x="1188720" y="443484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t -&gt; l</a:t>
            </a:r>
            <a:endParaRPr lang="en-US" sz="1500" dirty="0"/>
          </a:p>
        </p:txBody>
      </p:sp>
      <p:graphicFrame>
        <p:nvGraphicFramePr>
          <p:cNvPr id="10" name="Table 0"/>
          <p:cNvGraphicFramePr>
            <a:graphicFrameLocks noGrp="1"/>
          </p:cNvGraphicFramePr>
          <p:nvPr/>
        </p:nvGraphicFramePr>
        <p:xfrm>
          <a:off x="6675120" y="137160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Encryption:</a:t>
            </a:r>
            <a:endParaRPr lang="en-US" sz="3000" dirty="0"/>
          </a:p>
        </p:txBody>
      </p:sp>
      <p:sp>
        <p:nvSpPr>
          <p:cNvPr id="3" name="Text 1"/>
          <p:cNvSpPr/>
          <p:nvPr/>
        </p:nvSpPr>
        <p:spPr>
          <a:xfrm>
            <a:off x="502920" y="1234440"/>
            <a:ext cx="5120640" cy="118872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If neither of the above rules is true: Form a rectangle with the two letters and take the letters on the horizontal opposite corner of the rectangle.</a:t>
            </a:r>
            <a:endParaRPr lang="en-US" sz="1600" dirty="0"/>
          </a:p>
        </p:txBody>
      </p:sp>
      <p:sp>
        <p:nvSpPr>
          <p:cNvPr id="4" name="Text 2"/>
          <p:cNvSpPr/>
          <p:nvPr/>
        </p:nvSpPr>
        <p:spPr>
          <a:xfrm>
            <a:off x="502920" y="26060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5" name="Text 3"/>
          <p:cNvSpPr/>
          <p:nvPr/>
        </p:nvSpPr>
        <p:spPr>
          <a:xfrm>
            <a:off x="822960" y="297180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Diagraph: "nt"</a:t>
            </a:r>
            <a:endParaRPr lang="en-US" sz="1500" dirty="0"/>
          </a:p>
        </p:txBody>
      </p:sp>
      <p:sp>
        <p:nvSpPr>
          <p:cNvPr id="6" name="Text 4"/>
          <p:cNvSpPr/>
          <p:nvPr/>
        </p:nvSpPr>
        <p:spPr>
          <a:xfrm>
            <a:off x="822960" y="333756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Encrypted Text: rq</a:t>
            </a:r>
            <a:endParaRPr lang="en-US" sz="1500" dirty="0"/>
          </a:p>
        </p:txBody>
      </p:sp>
      <p:sp>
        <p:nvSpPr>
          <p:cNvPr id="7" name="Text 5"/>
          <p:cNvSpPr/>
          <p:nvPr/>
        </p:nvSpPr>
        <p:spPr>
          <a:xfrm>
            <a:off x="822960" y="370332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Encryption:</a:t>
            </a:r>
            <a:endParaRPr lang="en-US" sz="1500" dirty="0"/>
          </a:p>
        </p:txBody>
      </p:sp>
      <p:sp>
        <p:nvSpPr>
          <p:cNvPr id="8" name="Text 6"/>
          <p:cNvSpPr/>
          <p:nvPr/>
        </p:nvSpPr>
        <p:spPr>
          <a:xfrm>
            <a:off x="1188720" y="406908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n -&gt; r</a:t>
            </a:r>
            <a:endParaRPr lang="en-US" sz="1500" dirty="0"/>
          </a:p>
        </p:txBody>
      </p:sp>
      <p:sp>
        <p:nvSpPr>
          <p:cNvPr id="9" name="Text 7"/>
          <p:cNvSpPr/>
          <p:nvPr/>
        </p:nvSpPr>
        <p:spPr>
          <a:xfrm>
            <a:off x="1188720" y="443484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t -&gt; q</a:t>
            </a:r>
            <a:endParaRPr lang="en-US" sz="1500" dirty="0"/>
          </a:p>
        </p:txBody>
      </p:sp>
      <p:graphicFrame>
        <p:nvGraphicFramePr>
          <p:cNvPr id="10" name="Table 0"/>
          <p:cNvGraphicFramePr>
            <a:graphicFrameLocks noGrp="1"/>
          </p:cNvGraphicFramePr>
          <p:nvPr/>
        </p:nvGraphicFramePr>
        <p:xfrm>
          <a:off x="6675120" y="137160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Encryption:</a:t>
            </a:r>
            <a:endParaRPr lang="en-US" sz="3000" dirty="0"/>
          </a:p>
        </p:txBody>
      </p:sp>
      <p:sp>
        <p:nvSpPr>
          <p:cNvPr id="3" name="Text 1"/>
          <p:cNvSpPr/>
          <p:nvPr/>
        </p:nvSpPr>
        <p:spPr>
          <a:xfrm>
            <a:off x="502920" y="105156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4" name="Text 2"/>
          <p:cNvSpPr/>
          <p:nvPr/>
        </p:nvSpPr>
        <p:spPr>
          <a:xfrm>
            <a:off x="822960" y="1417320"/>
            <a:ext cx="54864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Plain Text: "instruments" + "z"</a:t>
            </a:r>
            <a:endParaRPr lang="en-US" sz="1500" dirty="0"/>
          </a:p>
        </p:txBody>
      </p:sp>
      <p:sp>
        <p:nvSpPr>
          <p:cNvPr id="5" name="Text 3"/>
          <p:cNvSpPr/>
          <p:nvPr/>
        </p:nvSpPr>
        <p:spPr>
          <a:xfrm>
            <a:off x="822960" y="1783080"/>
            <a:ext cx="54864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Encrypted Text: gatlmzclrqtx</a:t>
            </a:r>
            <a:endParaRPr lang="en-US" sz="1500" dirty="0"/>
          </a:p>
        </p:txBody>
      </p:sp>
      <p:sp>
        <p:nvSpPr>
          <p:cNvPr id="6" name="Text 4"/>
          <p:cNvSpPr/>
          <p:nvPr/>
        </p:nvSpPr>
        <p:spPr>
          <a:xfrm>
            <a:off x="822960" y="21488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Encryption:</a:t>
            </a:r>
            <a:endParaRPr lang="en-US" sz="1500" dirty="0"/>
          </a:p>
        </p:txBody>
      </p:sp>
      <p:sp>
        <p:nvSpPr>
          <p:cNvPr id="7" name="Text 5"/>
          <p:cNvSpPr/>
          <p:nvPr/>
        </p:nvSpPr>
        <p:spPr>
          <a:xfrm>
            <a:off x="822960" y="251460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i -&gt; g</a:t>
            </a:r>
            <a:endParaRPr lang="en-US" sz="1400" dirty="0"/>
          </a:p>
        </p:txBody>
      </p:sp>
      <p:sp>
        <p:nvSpPr>
          <p:cNvPr id="8" name="Text 6"/>
          <p:cNvSpPr/>
          <p:nvPr/>
        </p:nvSpPr>
        <p:spPr>
          <a:xfrm>
            <a:off x="822960" y="288036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n -&gt; a</a:t>
            </a:r>
            <a:endParaRPr lang="en-US" sz="1400" dirty="0"/>
          </a:p>
        </p:txBody>
      </p:sp>
      <p:sp>
        <p:nvSpPr>
          <p:cNvPr id="9" name="Text 7"/>
          <p:cNvSpPr/>
          <p:nvPr/>
        </p:nvSpPr>
        <p:spPr>
          <a:xfrm>
            <a:off x="822960" y="324612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s -&gt; t</a:t>
            </a:r>
            <a:endParaRPr lang="en-US" sz="1400" dirty="0"/>
          </a:p>
        </p:txBody>
      </p:sp>
      <p:sp>
        <p:nvSpPr>
          <p:cNvPr id="10" name="Text 8"/>
          <p:cNvSpPr/>
          <p:nvPr/>
        </p:nvSpPr>
        <p:spPr>
          <a:xfrm>
            <a:off x="822960" y="361188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t -&gt; l</a:t>
            </a:r>
            <a:endParaRPr lang="en-US" sz="1400" dirty="0"/>
          </a:p>
        </p:txBody>
      </p:sp>
      <p:sp>
        <p:nvSpPr>
          <p:cNvPr id="11" name="Text 9"/>
          <p:cNvSpPr/>
          <p:nvPr/>
        </p:nvSpPr>
        <p:spPr>
          <a:xfrm>
            <a:off x="822960" y="397764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r -&gt; m</a:t>
            </a:r>
            <a:endParaRPr lang="en-US" sz="1400" dirty="0"/>
          </a:p>
        </p:txBody>
      </p:sp>
      <p:sp>
        <p:nvSpPr>
          <p:cNvPr id="12" name="Text 10"/>
          <p:cNvSpPr/>
          <p:nvPr/>
        </p:nvSpPr>
        <p:spPr>
          <a:xfrm>
            <a:off x="822960" y="434340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u -&gt; z</a:t>
            </a:r>
            <a:endParaRPr lang="en-US" sz="1400" dirty="0"/>
          </a:p>
        </p:txBody>
      </p:sp>
      <p:sp>
        <p:nvSpPr>
          <p:cNvPr id="13" name="Text 11"/>
          <p:cNvSpPr/>
          <p:nvPr/>
        </p:nvSpPr>
        <p:spPr>
          <a:xfrm>
            <a:off x="2286000" y="251460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m -&gt; c</a:t>
            </a:r>
            <a:endParaRPr lang="en-US" sz="1400" dirty="0"/>
          </a:p>
        </p:txBody>
      </p:sp>
      <p:sp>
        <p:nvSpPr>
          <p:cNvPr id="14" name="Text 12"/>
          <p:cNvSpPr/>
          <p:nvPr/>
        </p:nvSpPr>
        <p:spPr>
          <a:xfrm>
            <a:off x="2286000" y="288036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e -&gt; l</a:t>
            </a:r>
            <a:endParaRPr lang="en-US" sz="1400" dirty="0"/>
          </a:p>
        </p:txBody>
      </p:sp>
      <p:sp>
        <p:nvSpPr>
          <p:cNvPr id="15" name="Text 13"/>
          <p:cNvSpPr/>
          <p:nvPr/>
        </p:nvSpPr>
        <p:spPr>
          <a:xfrm>
            <a:off x="2286000" y="324612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n -&gt; r</a:t>
            </a:r>
            <a:endParaRPr lang="en-US" sz="1400" dirty="0"/>
          </a:p>
        </p:txBody>
      </p:sp>
      <p:sp>
        <p:nvSpPr>
          <p:cNvPr id="16" name="Text 14"/>
          <p:cNvSpPr/>
          <p:nvPr/>
        </p:nvSpPr>
        <p:spPr>
          <a:xfrm>
            <a:off x="2286000" y="361188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t -&gt; q</a:t>
            </a:r>
            <a:endParaRPr lang="en-US" sz="1400" dirty="0"/>
          </a:p>
        </p:txBody>
      </p:sp>
      <p:sp>
        <p:nvSpPr>
          <p:cNvPr id="17" name="Text 15"/>
          <p:cNvSpPr/>
          <p:nvPr/>
        </p:nvSpPr>
        <p:spPr>
          <a:xfrm>
            <a:off x="2286000" y="397764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s -&gt; t</a:t>
            </a:r>
            <a:endParaRPr lang="en-US" sz="1400" dirty="0"/>
          </a:p>
        </p:txBody>
      </p:sp>
      <p:sp>
        <p:nvSpPr>
          <p:cNvPr id="18" name="Text 16"/>
          <p:cNvSpPr/>
          <p:nvPr/>
        </p:nvSpPr>
        <p:spPr>
          <a:xfrm>
            <a:off x="2286000" y="4343400"/>
            <a:ext cx="13716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z -&gt; x</a:t>
            </a:r>
            <a:endParaRPr lang="en-US" sz="1400" dirty="0"/>
          </a:p>
        </p:txBody>
      </p:sp>
      <p:sp>
        <p:nvSpPr>
          <p:cNvPr id="19" name="Text 17"/>
          <p:cNvSpPr/>
          <p:nvPr/>
        </p:nvSpPr>
        <p:spPr>
          <a:xfrm>
            <a:off x="6400800" y="105156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Output:</a:t>
            </a:r>
            <a:endParaRPr lang="en-US" sz="1500" dirty="0"/>
          </a:p>
        </p:txBody>
      </p:sp>
      <p:sp>
        <p:nvSpPr>
          <p:cNvPr id="20" name="Text 18"/>
          <p:cNvSpPr/>
          <p:nvPr/>
        </p:nvSpPr>
        <p:spPr>
          <a:xfrm>
            <a:off x="6400800" y="1417320"/>
            <a:ext cx="5212080" cy="1188720"/>
          </a:xfrm>
          <a:prstGeom prst="rect">
            <a:avLst/>
          </a:prstGeom>
          <a:noFill/>
          <a:ln/>
        </p:spPr>
        <p:txBody>
          <a:bodyPr wrap="square" rtlCol="0" anchor="ctr"/>
          <a:lstStyle/>
          <a:p>
            <a:pPr marL="0" indent="0">
              <a:lnSpc>
                <a:spcPts val="2200"/>
              </a:lnSpc>
              <a:buNone/>
            </a:pPr>
            <a:r>
              <a:rPr lang="en-US" sz="1500" dirty="0">
                <a:solidFill>
                  <a:srgbClr val="1A1A1A"/>
                </a:solidFill>
                <a:latin typeface="Courier New" pitchFamily="34" charset="0"/>
                <a:ea typeface="Courier New" pitchFamily="34" charset="-122"/>
                <a:cs typeface="Courier New" pitchFamily="34" charset="-120"/>
              </a:rPr>
              <a:t>Key text: Monarchy</a:t>
            </a:r>
            <a:endParaRPr lang="en-US" sz="1500" dirty="0"/>
          </a:p>
          <a:p>
            <a:pPr marL="0" indent="0">
              <a:lnSpc>
                <a:spcPts val="2200"/>
              </a:lnSpc>
              <a:buNone/>
            </a:pPr>
            <a:r>
              <a:rPr lang="en-US" sz="1500" dirty="0">
                <a:solidFill>
                  <a:srgbClr val="1A1A1A"/>
                </a:solidFill>
                <a:latin typeface="Courier New" pitchFamily="34" charset="0"/>
                <a:ea typeface="Courier New" pitchFamily="34" charset="-122"/>
                <a:cs typeface="Courier New" pitchFamily="34" charset="-120"/>
              </a:rPr>
              <a:t>Plain text: instruments</a:t>
            </a:r>
            <a:endParaRPr lang="en-US" sz="1500" dirty="0"/>
          </a:p>
          <a:p>
            <a:pPr marL="0" indent="0">
              <a:lnSpc>
                <a:spcPts val="2200"/>
              </a:lnSpc>
              <a:buNone/>
            </a:pPr>
            <a:r>
              <a:rPr lang="en-US" sz="1500" dirty="0">
                <a:solidFill>
                  <a:srgbClr val="1A1A1A"/>
                </a:solidFill>
                <a:latin typeface="Courier New" pitchFamily="34" charset="0"/>
                <a:ea typeface="Courier New" pitchFamily="34" charset="-122"/>
                <a:cs typeface="Courier New" pitchFamily="34" charset="-120"/>
              </a:rPr>
              <a:t>Cipher text: gatlmzclrqtx</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The Playfair Cipher Decryption Algorithm</a:t>
            </a:r>
            <a:endParaRPr lang="en-US" sz="3000" dirty="0"/>
          </a:p>
        </p:txBody>
      </p:sp>
      <p:sp>
        <p:nvSpPr>
          <p:cNvPr id="3" name="Text 1"/>
          <p:cNvSpPr/>
          <p:nvPr/>
        </p:nvSpPr>
        <p:spPr>
          <a:xfrm>
            <a:off x="548640" y="1371600"/>
            <a:ext cx="11155680" cy="109728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Decrypting the Playfair cipher is as simple as doing the same process in reverse. The receiver has the same key and can create the same key table, and then decrypt any messages made using that key.</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The Playfair Cipher Encryption Algorithm</a:t>
            </a:r>
            <a:endParaRPr lang="en-US" sz="3000" dirty="0"/>
          </a:p>
        </p:txBody>
      </p:sp>
      <p:sp>
        <p:nvSpPr>
          <p:cNvPr id="3" name="Text 1"/>
          <p:cNvSpPr/>
          <p:nvPr/>
        </p:nvSpPr>
        <p:spPr>
          <a:xfrm>
            <a:off x="548640" y="1005840"/>
            <a:ext cx="10972800" cy="3657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The Algorithm consists of 2 steps:</a:t>
            </a:r>
            <a:endParaRPr lang="en-US" sz="1700" dirty="0"/>
          </a:p>
        </p:txBody>
      </p:sp>
      <p:sp>
        <p:nvSpPr>
          <p:cNvPr id="4" name="Text 2"/>
          <p:cNvSpPr/>
          <p:nvPr/>
        </p:nvSpPr>
        <p:spPr>
          <a:xfrm>
            <a:off x="548640" y="1371600"/>
            <a:ext cx="10972800" cy="3657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1. Generate the key Square(5×5):</a:t>
            </a:r>
            <a:endParaRPr lang="en-US" sz="1700" dirty="0"/>
          </a:p>
        </p:txBody>
      </p:sp>
      <p:sp>
        <p:nvSpPr>
          <p:cNvPr id="5" name="Text 3"/>
          <p:cNvSpPr/>
          <p:nvPr/>
        </p:nvSpPr>
        <p:spPr>
          <a:xfrm>
            <a:off x="548640" y="1828800"/>
            <a:ext cx="11155680" cy="123444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The key square is a 5×5 grid of alphabets that acts as the key for encrypting the plaintext. Each of the 25 alphabets must be unique and one letter of the alphabet (usually J) is omitted from the table (as the table can hold only 25 alphabets). If the plaintext contains J, then it is replaced by I.</a:t>
            </a:r>
            <a:endParaRPr lang="en-US" sz="1600" dirty="0"/>
          </a:p>
        </p:txBody>
      </p:sp>
      <p:sp>
        <p:nvSpPr>
          <p:cNvPr id="6" name="Text 4"/>
          <p:cNvSpPr/>
          <p:nvPr/>
        </p:nvSpPr>
        <p:spPr>
          <a:xfrm>
            <a:off x="548640" y="3063240"/>
            <a:ext cx="11155680" cy="123444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The initial alphabets in the key square are the unique alphabets of the key in the order in which they appear followed by the remaining letters of the alphabet in order.</a:t>
            </a:r>
            <a:endParaRPr lang="en-US" sz="1600" dirty="0"/>
          </a:p>
        </p:txBody>
      </p:sp>
      <p:sp>
        <p:nvSpPr>
          <p:cNvPr id="7" name="Text 5"/>
          <p:cNvSpPr/>
          <p:nvPr/>
        </p:nvSpPr>
        <p:spPr>
          <a:xfrm>
            <a:off x="548640" y="4343400"/>
            <a:ext cx="10972800" cy="365760"/>
          </a:xfrm>
          <a:prstGeom prst="rect">
            <a:avLst/>
          </a:prstGeom>
          <a:noFill/>
          <a:ln/>
        </p:spPr>
        <p:txBody>
          <a:bodyPr wrap="square" rtlCol="0" anchor="ctr"/>
          <a:lstStyle/>
          <a:p>
            <a:pPr marL="0" indent="0">
              <a:buNone/>
            </a:pPr>
            <a:r>
              <a:rPr lang="en-US" sz="1600" i="1" dirty="0">
                <a:solidFill>
                  <a:srgbClr val="1A1A1A"/>
                </a:solidFill>
                <a:latin typeface="Arial" pitchFamily="34" charset="0"/>
                <a:ea typeface="Arial" pitchFamily="34" charset="-122"/>
                <a:cs typeface="Arial" pitchFamily="34" charset="-120"/>
              </a:rPr>
              <a:t>Note: For both encryption and decryption, the same key is to be used.</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For example</a:t>
            </a:r>
            <a:endParaRPr lang="en-US" sz="3000" dirty="0"/>
          </a:p>
        </p:txBody>
      </p:sp>
      <p:sp>
        <p:nvSpPr>
          <p:cNvPr id="3" name="Text 1"/>
          <p:cNvSpPr/>
          <p:nvPr/>
        </p:nvSpPr>
        <p:spPr>
          <a:xfrm>
            <a:off x="548640" y="1280160"/>
            <a:ext cx="5486400" cy="457200"/>
          </a:xfrm>
          <a:prstGeom prst="rect">
            <a:avLst/>
          </a:prstGeom>
          <a:noFill/>
          <a:ln/>
        </p:spPr>
        <p:txBody>
          <a:bodyPr wrap="square" rtlCol="0" anchor="ctr"/>
          <a:lstStyle/>
          <a:p>
            <a:pPr marL="0" indent="0">
              <a:buNone/>
            </a:pPr>
            <a:r>
              <a:rPr lang="en-US" sz="1800" dirty="0">
                <a:solidFill>
                  <a:srgbClr val="1A1A1A"/>
                </a:solidFill>
                <a:latin typeface="Arial" pitchFamily="34" charset="0"/>
                <a:ea typeface="Arial" pitchFamily="34" charset="-122"/>
                <a:cs typeface="Arial" pitchFamily="34" charset="-120"/>
              </a:rPr>
              <a:t>The key is "monarchy"</a:t>
            </a:r>
            <a:endParaRPr lang="en-US" sz="1800" dirty="0"/>
          </a:p>
        </p:txBody>
      </p:sp>
      <p:sp>
        <p:nvSpPr>
          <p:cNvPr id="4" name="Text 2"/>
          <p:cNvSpPr/>
          <p:nvPr/>
        </p:nvSpPr>
        <p:spPr>
          <a:xfrm>
            <a:off x="548640" y="1965960"/>
            <a:ext cx="5486400" cy="822960"/>
          </a:xfrm>
          <a:prstGeom prst="rect">
            <a:avLst/>
          </a:prstGeom>
          <a:noFill/>
          <a:ln/>
        </p:spPr>
        <p:txBody>
          <a:bodyPr wrap="square" rtlCol="0" anchor="ctr"/>
          <a:lstStyle/>
          <a:p>
            <a:pPr marL="0" indent="0">
              <a:buNone/>
            </a:pPr>
            <a:r>
              <a:rPr lang="en-US" sz="1600" dirty="0">
                <a:solidFill>
                  <a:srgbClr val="1A1A1A"/>
                </a:solidFill>
                <a:latin typeface="Arial" pitchFamily="34" charset="0"/>
                <a:ea typeface="Arial" pitchFamily="34" charset="-122"/>
                <a:cs typeface="Arial" pitchFamily="34" charset="-120"/>
              </a:rPr>
              <a:t>Thus, the initial entries are</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'm', 'o', 'n', 'a', 'r', 'c', 'h', 'y'</a:t>
            </a:r>
            <a:endParaRPr lang="en-US" sz="1600" dirty="0"/>
          </a:p>
        </p:txBody>
      </p:sp>
      <p:sp>
        <p:nvSpPr>
          <p:cNvPr id="5" name="Text 3"/>
          <p:cNvSpPr/>
          <p:nvPr/>
        </p:nvSpPr>
        <p:spPr>
          <a:xfrm>
            <a:off x="548640" y="3017520"/>
            <a:ext cx="5486400" cy="822960"/>
          </a:xfrm>
          <a:prstGeom prst="rect">
            <a:avLst/>
          </a:prstGeom>
          <a:noFill/>
          <a:ln/>
        </p:spPr>
        <p:txBody>
          <a:bodyPr wrap="square" rtlCol="0" anchor="ctr"/>
          <a:lstStyle/>
          <a:p>
            <a:pPr marL="0" indent="0">
              <a:buNone/>
            </a:pPr>
            <a:r>
              <a:rPr lang="en-US" sz="1600" dirty="0">
                <a:solidFill>
                  <a:srgbClr val="1A1A1A"/>
                </a:solidFill>
                <a:latin typeface="Arial" pitchFamily="34" charset="0"/>
                <a:ea typeface="Arial" pitchFamily="34" charset="-122"/>
                <a:cs typeface="Arial" pitchFamily="34" charset="-120"/>
              </a:rPr>
              <a:t>followed by remaining characters of</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a-z(except 'j') in that order.</a:t>
            </a:r>
            <a:endParaRPr lang="en-US" sz="1600" dirty="0"/>
          </a:p>
        </p:txBody>
      </p:sp>
      <p:graphicFrame>
        <p:nvGraphicFramePr>
          <p:cNvPr id="12" name="Table 0"/>
          <p:cNvGraphicFramePr>
            <a:graphicFrameLocks noGrp="1"/>
          </p:cNvGraphicFramePr>
          <p:nvPr/>
        </p:nvGraphicFramePr>
        <p:xfrm>
          <a:off x="6675120" y="146304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The Playfair Cipher Encryption Algorithm</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2. Algorithm to decrypt the ciphertext:</a:t>
            </a:r>
            <a:endParaRPr lang="en-US" sz="1700" dirty="0"/>
          </a:p>
        </p:txBody>
      </p:sp>
      <p:sp>
        <p:nvSpPr>
          <p:cNvPr id="4" name="Text 2"/>
          <p:cNvSpPr/>
          <p:nvPr/>
        </p:nvSpPr>
        <p:spPr>
          <a:xfrm>
            <a:off x="822960" y="1554480"/>
            <a:ext cx="10515600" cy="365760"/>
          </a:xfrm>
          <a:prstGeom prst="rect">
            <a:avLst/>
          </a:prstGeom>
          <a:noFill/>
          <a:ln/>
        </p:spPr>
        <p:txBody>
          <a:bodyPr wrap="square" rtlCol="0" anchor="ctr"/>
          <a:lstStyle/>
          <a:p>
            <a:pPr marL="0" indent="0">
              <a:buNone/>
            </a:pPr>
            <a:r>
              <a:rPr lang="en-US" sz="1600" dirty="0">
                <a:solidFill>
                  <a:srgbClr val="1A1A1A"/>
                </a:solidFill>
                <a:latin typeface="Arial" pitchFamily="34" charset="0"/>
                <a:ea typeface="Arial" pitchFamily="34" charset="-122"/>
                <a:cs typeface="Arial" pitchFamily="34" charset="-120"/>
              </a:rPr>
              <a:t>a) The ciphertext is split into pairs of two letters (digraphs).</a:t>
            </a:r>
            <a:endParaRPr lang="en-US" sz="1600" dirty="0"/>
          </a:p>
        </p:txBody>
      </p:sp>
      <p:sp>
        <p:nvSpPr>
          <p:cNvPr id="5" name="Text 3"/>
          <p:cNvSpPr/>
          <p:nvPr/>
        </p:nvSpPr>
        <p:spPr>
          <a:xfrm>
            <a:off x="822960" y="1965960"/>
            <a:ext cx="10515600" cy="365760"/>
          </a:xfrm>
          <a:prstGeom prst="rect">
            <a:avLst/>
          </a:prstGeom>
          <a:noFill/>
          <a:ln/>
        </p:spPr>
        <p:txBody>
          <a:bodyPr wrap="square" rtlCol="0" anchor="ctr"/>
          <a:lstStyle/>
          <a:p>
            <a:pPr marL="0" indent="0">
              <a:buNone/>
            </a:pPr>
            <a:r>
              <a:rPr lang="en-US" sz="1600" i="1" dirty="0">
                <a:solidFill>
                  <a:srgbClr val="1A1A1A"/>
                </a:solidFill>
                <a:latin typeface="Arial" pitchFamily="34" charset="0"/>
                <a:ea typeface="Arial" pitchFamily="34" charset="-122"/>
                <a:cs typeface="Arial" pitchFamily="34" charset="-120"/>
              </a:rPr>
              <a:t>Note: The ciphertext always have even number of characters.</a:t>
            </a:r>
            <a:endParaRPr lang="en-US" sz="1600" dirty="0"/>
          </a:p>
        </p:txBody>
      </p:sp>
      <p:sp>
        <p:nvSpPr>
          <p:cNvPr id="6" name="Text 4"/>
          <p:cNvSpPr/>
          <p:nvPr/>
        </p:nvSpPr>
        <p:spPr>
          <a:xfrm>
            <a:off x="822960" y="2514600"/>
            <a:ext cx="3657600" cy="36576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For example:</a:t>
            </a:r>
            <a:endParaRPr lang="en-US" sz="1600" dirty="0"/>
          </a:p>
        </p:txBody>
      </p:sp>
      <p:sp>
        <p:nvSpPr>
          <p:cNvPr id="7" name="Text 5"/>
          <p:cNvSpPr/>
          <p:nvPr/>
        </p:nvSpPr>
        <p:spPr>
          <a:xfrm>
            <a:off x="822960" y="2971800"/>
            <a:ext cx="7315200" cy="365760"/>
          </a:xfrm>
          <a:prstGeom prst="rect">
            <a:avLst/>
          </a:prstGeom>
          <a:noFill/>
          <a:ln/>
        </p:spPr>
        <p:txBody>
          <a:bodyPr wrap="square" rtlCol="0" anchor="ctr"/>
          <a:lstStyle/>
          <a:p>
            <a:pPr marL="0" indent="0">
              <a:buNone/>
            </a:pPr>
            <a:r>
              <a:rPr lang="en-US" sz="1600" dirty="0">
                <a:solidFill>
                  <a:srgbClr val="1A1A1A"/>
                </a:solidFill>
                <a:latin typeface="Courier New" pitchFamily="34" charset="0"/>
                <a:ea typeface="Courier New" pitchFamily="34" charset="-122"/>
                <a:cs typeface="Courier New" pitchFamily="34" charset="-120"/>
              </a:rPr>
              <a:t>PlainText: "instruments"</a:t>
            </a:r>
            <a:endParaRPr lang="en-US" sz="1600" dirty="0"/>
          </a:p>
        </p:txBody>
      </p:sp>
      <p:sp>
        <p:nvSpPr>
          <p:cNvPr id="8" name="Text 6"/>
          <p:cNvSpPr/>
          <p:nvPr/>
        </p:nvSpPr>
        <p:spPr>
          <a:xfrm>
            <a:off x="822960" y="3383280"/>
            <a:ext cx="7315200" cy="365760"/>
          </a:xfrm>
          <a:prstGeom prst="rect">
            <a:avLst/>
          </a:prstGeom>
          <a:noFill/>
          <a:ln/>
        </p:spPr>
        <p:txBody>
          <a:bodyPr wrap="square" rtlCol="0" anchor="ctr"/>
          <a:lstStyle/>
          <a:p>
            <a:pPr marL="0" indent="0">
              <a:buNone/>
            </a:pPr>
            <a:r>
              <a:rPr lang="en-US" sz="1600" dirty="0">
                <a:solidFill>
                  <a:srgbClr val="1A1A1A"/>
                </a:solidFill>
                <a:latin typeface="Courier New" pitchFamily="34" charset="0"/>
                <a:ea typeface="Courier New" pitchFamily="34" charset="-122"/>
                <a:cs typeface="Courier New" pitchFamily="34" charset="-120"/>
              </a:rPr>
              <a:t>After Split: 'in' 'st' 'ru' 'me' 'nt' 'sz'</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Decryption:</a:t>
            </a:r>
            <a:endParaRPr lang="en-US" sz="3000" dirty="0"/>
          </a:p>
        </p:txBody>
      </p:sp>
      <p:sp>
        <p:nvSpPr>
          <p:cNvPr id="3" name="Text 1"/>
          <p:cNvSpPr/>
          <p:nvPr/>
        </p:nvSpPr>
        <p:spPr>
          <a:xfrm>
            <a:off x="502920" y="1234440"/>
            <a:ext cx="5120640" cy="118872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If both the letters are in the same column: Take the letter above each one (going back to the top if at the bottom).</a:t>
            </a:r>
            <a:endParaRPr lang="en-US" sz="1600" dirty="0"/>
          </a:p>
        </p:txBody>
      </p:sp>
      <p:sp>
        <p:nvSpPr>
          <p:cNvPr id="4" name="Text 2"/>
          <p:cNvSpPr/>
          <p:nvPr/>
        </p:nvSpPr>
        <p:spPr>
          <a:xfrm>
            <a:off x="502920" y="26060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5" name="Text 3"/>
          <p:cNvSpPr/>
          <p:nvPr/>
        </p:nvSpPr>
        <p:spPr>
          <a:xfrm>
            <a:off x="822960" y="297180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Diagraph: "cl"</a:t>
            </a:r>
            <a:endParaRPr lang="en-US" sz="1500" dirty="0"/>
          </a:p>
        </p:txBody>
      </p:sp>
      <p:sp>
        <p:nvSpPr>
          <p:cNvPr id="6" name="Text 4"/>
          <p:cNvSpPr/>
          <p:nvPr/>
        </p:nvSpPr>
        <p:spPr>
          <a:xfrm>
            <a:off x="822960" y="333756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Decrypted Text: me</a:t>
            </a:r>
            <a:endParaRPr lang="en-US" sz="1500" dirty="0"/>
          </a:p>
        </p:txBody>
      </p:sp>
      <p:sp>
        <p:nvSpPr>
          <p:cNvPr id="7" name="Text 5"/>
          <p:cNvSpPr/>
          <p:nvPr/>
        </p:nvSpPr>
        <p:spPr>
          <a:xfrm>
            <a:off x="822960" y="370332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Decryption:</a:t>
            </a:r>
            <a:endParaRPr lang="en-US" sz="1500" dirty="0"/>
          </a:p>
        </p:txBody>
      </p:sp>
      <p:sp>
        <p:nvSpPr>
          <p:cNvPr id="8" name="Text 6"/>
          <p:cNvSpPr/>
          <p:nvPr/>
        </p:nvSpPr>
        <p:spPr>
          <a:xfrm>
            <a:off x="1188720" y="406908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c -&gt; m</a:t>
            </a:r>
            <a:endParaRPr lang="en-US" sz="1500" dirty="0"/>
          </a:p>
        </p:txBody>
      </p:sp>
      <p:sp>
        <p:nvSpPr>
          <p:cNvPr id="9" name="Text 7"/>
          <p:cNvSpPr/>
          <p:nvPr/>
        </p:nvSpPr>
        <p:spPr>
          <a:xfrm>
            <a:off x="1188720" y="443484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l -&gt; e</a:t>
            </a:r>
            <a:endParaRPr lang="en-US" sz="1500" dirty="0"/>
          </a:p>
        </p:txBody>
      </p:sp>
      <p:graphicFrame>
        <p:nvGraphicFramePr>
          <p:cNvPr id="14" name="Table 0"/>
          <p:cNvGraphicFramePr>
            <a:graphicFrameLocks noGrp="1"/>
          </p:cNvGraphicFramePr>
          <p:nvPr/>
        </p:nvGraphicFramePr>
        <p:xfrm>
          <a:off x="6675120" y="137160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Decryption:</a:t>
            </a:r>
            <a:endParaRPr lang="en-US" sz="3000" dirty="0"/>
          </a:p>
        </p:txBody>
      </p:sp>
      <p:sp>
        <p:nvSpPr>
          <p:cNvPr id="3" name="Text 1"/>
          <p:cNvSpPr/>
          <p:nvPr/>
        </p:nvSpPr>
        <p:spPr>
          <a:xfrm>
            <a:off x="502920" y="1234440"/>
            <a:ext cx="5120640" cy="118872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If both the letters are in the same row: Take the letter to the left of each one (going back to the rightmost if at the leftmost position).</a:t>
            </a:r>
            <a:endParaRPr lang="en-US" sz="1600" dirty="0"/>
          </a:p>
        </p:txBody>
      </p:sp>
      <p:sp>
        <p:nvSpPr>
          <p:cNvPr id="4" name="Text 2"/>
          <p:cNvSpPr/>
          <p:nvPr/>
        </p:nvSpPr>
        <p:spPr>
          <a:xfrm>
            <a:off x="502920" y="26060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5" name="Text 3"/>
          <p:cNvSpPr/>
          <p:nvPr/>
        </p:nvSpPr>
        <p:spPr>
          <a:xfrm>
            <a:off x="822960" y="297180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Diagraph: "tl"</a:t>
            </a:r>
            <a:endParaRPr lang="en-US" sz="1500" dirty="0"/>
          </a:p>
        </p:txBody>
      </p:sp>
      <p:sp>
        <p:nvSpPr>
          <p:cNvPr id="6" name="Text 4"/>
          <p:cNvSpPr/>
          <p:nvPr/>
        </p:nvSpPr>
        <p:spPr>
          <a:xfrm>
            <a:off x="822960" y="333756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Decrypted Text: st</a:t>
            </a:r>
            <a:endParaRPr lang="en-US" sz="1500" dirty="0"/>
          </a:p>
        </p:txBody>
      </p:sp>
      <p:sp>
        <p:nvSpPr>
          <p:cNvPr id="7" name="Text 5"/>
          <p:cNvSpPr/>
          <p:nvPr/>
        </p:nvSpPr>
        <p:spPr>
          <a:xfrm>
            <a:off x="822960" y="370332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Decryption:</a:t>
            </a:r>
            <a:endParaRPr lang="en-US" sz="1500" dirty="0"/>
          </a:p>
        </p:txBody>
      </p:sp>
      <p:sp>
        <p:nvSpPr>
          <p:cNvPr id="8" name="Text 6"/>
          <p:cNvSpPr/>
          <p:nvPr/>
        </p:nvSpPr>
        <p:spPr>
          <a:xfrm>
            <a:off x="1188720" y="406908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t -&gt; s</a:t>
            </a:r>
            <a:endParaRPr lang="en-US" sz="1500" dirty="0"/>
          </a:p>
        </p:txBody>
      </p:sp>
      <p:sp>
        <p:nvSpPr>
          <p:cNvPr id="9" name="Text 7"/>
          <p:cNvSpPr/>
          <p:nvPr/>
        </p:nvSpPr>
        <p:spPr>
          <a:xfrm>
            <a:off x="1188720" y="443484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l -&gt; t</a:t>
            </a:r>
            <a:endParaRPr lang="en-US" sz="1500" dirty="0"/>
          </a:p>
        </p:txBody>
      </p:sp>
      <p:graphicFrame>
        <p:nvGraphicFramePr>
          <p:cNvPr id="15" name="Table 0"/>
          <p:cNvGraphicFramePr>
            <a:graphicFrameLocks noGrp="1"/>
          </p:cNvGraphicFramePr>
          <p:nvPr/>
        </p:nvGraphicFramePr>
        <p:xfrm>
          <a:off x="6675120" y="137160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Decryption:</a:t>
            </a:r>
            <a:endParaRPr lang="en-US" sz="3000" dirty="0"/>
          </a:p>
        </p:txBody>
      </p:sp>
      <p:sp>
        <p:nvSpPr>
          <p:cNvPr id="3" name="Text 1"/>
          <p:cNvSpPr/>
          <p:nvPr/>
        </p:nvSpPr>
        <p:spPr>
          <a:xfrm>
            <a:off x="502920" y="1234440"/>
            <a:ext cx="5120640" cy="1188720"/>
          </a:xfrm>
          <a:prstGeom prst="rect">
            <a:avLst/>
          </a:prstGeom>
          <a:noFill/>
          <a:ln/>
        </p:spPr>
        <p:txBody>
          <a:bodyPr wrap="square" rtlCol="0" anchor="ctr"/>
          <a:lstStyle/>
          <a:p>
            <a:pPr marL="0" indent="0">
              <a:buNone/>
            </a:pPr>
            <a:r>
              <a:rPr lang="en-US" sz="1600" b="1" dirty="0">
                <a:solidFill>
                  <a:srgbClr val="1A1A1A"/>
                </a:solidFill>
                <a:latin typeface="Arial" pitchFamily="34" charset="0"/>
                <a:ea typeface="Arial" pitchFamily="34" charset="-122"/>
                <a:cs typeface="Arial" pitchFamily="34" charset="-120"/>
              </a:rPr>
              <a:t>If neither of the above rules is true: Form a rectangle with the two letters and take the letters on the horizontal opposite corner of the rectangle.</a:t>
            </a:r>
            <a:endParaRPr lang="en-US" sz="1600" dirty="0"/>
          </a:p>
        </p:txBody>
      </p:sp>
      <p:sp>
        <p:nvSpPr>
          <p:cNvPr id="4" name="Text 2"/>
          <p:cNvSpPr/>
          <p:nvPr/>
        </p:nvSpPr>
        <p:spPr>
          <a:xfrm>
            <a:off x="502920" y="26060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5" name="Text 3"/>
          <p:cNvSpPr/>
          <p:nvPr/>
        </p:nvSpPr>
        <p:spPr>
          <a:xfrm>
            <a:off x="822960" y="297180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Diagraph: "rq"</a:t>
            </a:r>
            <a:endParaRPr lang="en-US" sz="1500" dirty="0"/>
          </a:p>
        </p:txBody>
      </p:sp>
      <p:sp>
        <p:nvSpPr>
          <p:cNvPr id="6" name="Text 4"/>
          <p:cNvSpPr/>
          <p:nvPr/>
        </p:nvSpPr>
        <p:spPr>
          <a:xfrm>
            <a:off x="822960" y="333756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Decrypted Text: nt</a:t>
            </a:r>
            <a:endParaRPr lang="en-US" sz="1500" dirty="0"/>
          </a:p>
        </p:txBody>
      </p:sp>
      <p:sp>
        <p:nvSpPr>
          <p:cNvPr id="7" name="Text 5"/>
          <p:cNvSpPr/>
          <p:nvPr/>
        </p:nvSpPr>
        <p:spPr>
          <a:xfrm>
            <a:off x="822960" y="370332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Decryption:</a:t>
            </a:r>
            <a:endParaRPr lang="en-US" sz="1500" dirty="0"/>
          </a:p>
        </p:txBody>
      </p:sp>
      <p:sp>
        <p:nvSpPr>
          <p:cNvPr id="8" name="Text 6"/>
          <p:cNvSpPr/>
          <p:nvPr/>
        </p:nvSpPr>
        <p:spPr>
          <a:xfrm>
            <a:off x="1188720" y="406908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r -&gt; n</a:t>
            </a:r>
            <a:endParaRPr lang="en-US" sz="1500" dirty="0"/>
          </a:p>
        </p:txBody>
      </p:sp>
      <p:sp>
        <p:nvSpPr>
          <p:cNvPr id="9" name="Text 7"/>
          <p:cNvSpPr/>
          <p:nvPr/>
        </p:nvSpPr>
        <p:spPr>
          <a:xfrm>
            <a:off x="1188720" y="4434840"/>
            <a:ext cx="45720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q -&gt; t</a:t>
            </a:r>
            <a:endParaRPr lang="en-US" sz="1500" dirty="0"/>
          </a:p>
        </p:txBody>
      </p:sp>
      <p:graphicFrame>
        <p:nvGraphicFramePr>
          <p:cNvPr id="16" name="Table 0"/>
          <p:cNvGraphicFramePr>
            <a:graphicFrameLocks noGrp="1"/>
          </p:cNvGraphicFramePr>
          <p:nvPr/>
        </p:nvGraphicFramePr>
        <p:xfrm>
          <a:off x="6675120" y="1371600"/>
          <a:ext cx="4343400" cy="434340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868680">
                <a:tc>
                  <a:txBody>
                    <a:bodyPr/>
                    <a:lstStyle/>
                    <a:p>
                      <a:pPr marL="0" indent="0" algn="ctr">
                        <a:buNone/>
                      </a:pPr>
                      <a:r>
                        <a:rPr lang="en-US" sz="2000" b="1" dirty="0">
                          <a:solidFill>
                            <a:srgbClr val="1A1A1A"/>
                          </a:solidFill>
                        </a:rPr>
                        <a:t>M</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O</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N</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tc>
                  <a:txBody>
                    <a:bodyPr/>
                    <a:lstStyle/>
                    <a:p>
                      <a:pPr marL="0" indent="0" algn="ctr">
                        <a:buNone/>
                      </a:pPr>
                      <a:r>
                        <a:rPr lang="en-US" sz="2000" b="1" dirty="0">
                          <a:solidFill>
                            <a:srgbClr val="1A1A1A"/>
                          </a:solidFill>
                        </a:rPr>
                        <a:t>A</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R</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extLst>
                  <a:ext uri="{0D108BD9-81ED-4DB2-BD59-A6C34878D82A}">
                    <a16:rowId xmlns:a16="http://schemas.microsoft.com/office/drawing/2014/main" val="10000"/>
                  </a:ext>
                </a:extLst>
              </a:tr>
              <a:tr h="868680">
                <a:tc>
                  <a:txBody>
                    <a:bodyPr/>
                    <a:lstStyle/>
                    <a:p>
                      <a:pPr marL="0" indent="0" algn="ctr">
                        <a:buNone/>
                      </a:pPr>
                      <a:r>
                        <a:rPr lang="en-US" sz="2000" b="1" dirty="0">
                          <a:solidFill>
                            <a:srgbClr val="1A1A1A"/>
                          </a:solidFill>
                        </a:rPr>
                        <a:t>C</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H</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Y</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B</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D</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2000" b="1" dirty="0">
                          <a:solidFill>
                            <a:srgbClr val="1A1A1A"/>
                          </a:solidFill>
                        </a:rPr>
                        <a:t>E</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F</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G</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I</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K</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2000" b="1" dirty="0">
                          <a:solidFill>
                            <a:srgbClr val="1A1A1A"/>
                          </a:solidFill>
                        </a:rPr>
                        <a:t>L</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P</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Q</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E24A4A"/>
                    </a:solidFill>
                  </a:tcPr>
                </a:tc>
                <a:tc>
                  <a:txBody>
                    <a:bodyPr/>
                    <a:lstStyle/>
                    <a:p>
                      <a:pPr marL="0" indent="0" algn="ctr">
                        <a:buNone/>
                      </a:pPr>
                      <a:r>
                        <a:rPr lang="en-US" sz="2000" b="1" dirty="0">
                          <a:solidFill>
                            <a:srgbClr val="1A1A1A"/>
                          </a:solidFill>
                        </a:rPr>
                        <a:t>S</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T</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3CB878"/>
                    </a:solidFill>
                  </a:tcPr>
                </a:tc>
                <a:extLst>
                  <a:ext uri="{0D108BD9-81ED-4DB2-BD59-A6C34878D82A}">
                    <a16:rowId xmlns:a16="http://schemas.microsoft.com/office/drawing/2014/main" val="10003"/>
                  </a:ext>
                </a:extLst>
              </a:tr>
              <a:tr h="868680">
                <a:tc>
                  <a:txBody>
                    <a:bodyPr/>
                    <a:lstStyle/>
                    <a:p>
                      <a:pPr marL="0" indent="0" algn="ctr">
                        <a:buNone/>
                      </a:pPr>
                      <a:r>
                        <a:rPr lang="en-US" sz="2000" b="1" dirty="0">
                          <a:solidFill>
                            <a:srgbClr val="1A1A1A"/>
                          </a:solidFill>
                        </a:rPr>
                        <a:t>U</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V</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W</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X</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A1A"/>
                          </a:solidFill>
                        </a:rPr>
                        <a:t>Z</a:t>
                      </a:r>
                      <a:endParaRPr lang="en-US" sz="2000" dirty="0"/>
                    </a:p>
                  </a:txBody>
                  <a:tcPr anchor="ctr">
                    <a:lnL w="12700" cap="flat" cmpd="sng" algn="ctr">
                      <a:solidFill>
                        <a:srgbClr val="555555"/>
                      </a:solidFill>
                      <a:prstDash val="solid"/>
                      <a:round/>
                      <a:headEnd type="none" w="med" len="med"/>
                      <a:tailEnd type="none" w="med" len="med"/>
                    </a:lnL>
                    <a:lnR w="12700" cap="flat" cmpd="sng" algn="ctr">
                      <a:solidFill>
                        <a:srgbClr val="555555"/>
                      </a:solidFill>
                      <a:prstDash val="solid"/>
                      <a:round/>
                      <a:headEnd type="none" w="med" len="med"/>
                      <a:tailEnd type="none" w="med" len="med"/>
                    </a:lnR>
                    <a:lnT w="12700" cap="flat" cmpd="sng" algn="ctr">
                      <a:solidFill>
                        <a:srgbClr val="555555"/>
                      </a:solidFill>
                      <a:prstDash val="solid"/>
                      <a:round/>
                      <a:headEnd type="none" w="med" len="med"/>
                      <a:tailEnd type="none" w="med" len="med"/>
                    </a:lnT>
                    <a:lnB w="12700"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Rules for Decryption:</a:t>
            </a:r>
            <a:endParaRPr lang="en-US" sz="3000" dirty="0"/>
          </a:p>
        </p:txBody>
      </p:sp>
      <p:sp>
        <p:nvSpPr>
          <p:cNvPr id="3" name="Text 1"/>
          <p:cNvSpPr/>
          <p:nvPr/>
        </p:nvSpPr>
        <p:spPr>
          <a:xfrm>
            <a:off x="502920" y="105156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For example:</a:t>
            </a:r>
            <a:endParaRPr lang="en-US" sz="1500" dirty="0"/>
          </a:p>
        </p:txBody>
      </p:sp>
      <p:sp>
        <p:nvSpPr>
          <p:cNvPr id="4" name="Text 2"/>
          <p:cNvSpPr/>
          <p:nvPr/>
        </p:nvSpPr>
        <p:spPr>
          <a:xfrm>
            <a:off x="822960" y="1417320"/>
            <a:ext cx="54864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Plain Text: "gatlmzclrqtx"</a:t>
            </a:r>
            <a:endParaRPr lang="en-US" sz="1500" dirty="0"/>
          </a:p>
        </p:txBody>
      </p:sp>
      <p:sp>
        <p:nvSpPr>
          <p:cNvPr id="5" name="Text 3"/>
          <p:cNvSpPr/>
          <p:nvPr/>
        </p:nvSpPr>
        <p:spPr>
          <a:xfrm>
            <a:off x="822960" y="1783080"/>
            <a:ext cx="5486400" cy="320040"/>
          </a:xfrm>
          <a:prstGeom prst="rect">
            <a:avLst/>
          </a:prstGeom>
          <a:noFill/>
          <a:ln/>
        </p:spPr>
        <p:txBody>
          <a:bodyPr wrap="square" rtlCol="0" anchor="ctr"/>
          <a:lstStyle/>
          <a:p>
            <a:pPr marL="0" indent="0">
              <a:buNone/>
            </a:pPr>
            <a:r>
              <a:rPr lang="en-US" sz="1500" dirty="0">
                <a:solidFill>
                  <a:srgbClr val="1A1A1A"/>
                </a:solidFill>
                <a:latin typeface="Arial" pitchFamily="34" charset="0"/>
                <a:ea typeface="Arial" pitchFamily="34" charset="-122"/>
                <a:cs typeface="Arial" pitchFamily="34" charset="-120"/>
              </a:rPr>
              <a:t>Decrypted Text: instrumentsz</a:t>
            </a:r>
            <a:endParaRPr lang="en-US" sz="1500" dirty="0"/>
          </a:p>
        </p:txBody>
      </p:sp>
      <p:sp>
        <p:nvSpPr>
          <p:cNvPr id="6" name="Text 4"/>
          <p:cNvSpPr/>
          <p:nvPr/>
        </p:nvSpPr>
        <p:spPr>
          <a:xfrm>
            <a:off x="822960" y="214884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Decryption:</a:t>
            </a:r>
            <a:endParaRPr lang="en-US" sz="1500" dirty="0"/>
          </a:p>
        </p:txBody>
      </p:sp>
      <p:sp>
        <p:nvSpPr>
          <p:cNvPr id="7" name="Text 5"/>
          <p:cNvSpPr/>
          <p:nvPr/>
        </p:nvSpPr>
        <p:spPr>
          <a:xfrm>
            <a:off x="822960" y="2514600"/>
            <a:ext cx="27432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ga -&gt; in</a:t>
            </a:r>
            <a:endParaRPr lang="en-US" sz="1400" dirty="0"/>
          </a:p>
        </p:txBody>
      </p:sp>
      <p:sp>
        <p:nvSpPr>
          <p:cNvPr id="8" name="Text 6"/>
          <p:cNvSpPr/>
          <p:nvPr/>
        </p:nvSpPr>
        <p:spPr>
          <a:xfrm>
            <a:off x="822960" y="2880360"/>
            <a:ext cx="27432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tl -&gt; st</a:t>
            </a:r>
            <a:endParaRPr lang="en-US" sz="1400" dirty="0"/>
          </a:p>
        </p:txBody>
      </p:sp>
      <p:sp>
        <p:nvSpPr>
          <p:cNvPr id="9" name="Text 7"/>
          <p:cNvSpPr/>
          <p:nvPr/>
        </p:nvSpPr>
        <p:spPr>
          <a:xfrm>
            <a:off x="822960" y="3246120"/>
            <a:ext cx="27432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mz -&gt; ru</a:t>
            </a:r>
            <a:endParaRPr lang="en-US" sz="1400" dirty="0"/>
          </a:p>
        </p:txBody>
      </p:sp>
      <p:sp>
        <p:nvSpPr>
          <p:cNvPr id="10" name="Text 8"/>
          <p:cNvSpPr/>
          <p:nvPr/>
        </p:nvSpPr>
        <p:spPr>
          <a:xfrm>
            <a:off x="822960" y="3611880"/>
            <a:ext cx="27432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cl -&gt; me</a:t>
            </a:r>
            <a:endParaRPr lang="en-US" sz="1400" dirty="0"/>
          </a:p>
        </p:txBody>
      </p:sp>
      <p:sp>
        <p:nvSpPr>
          <p:cNvPr id="11" name="Text 9"/>
          <p:cNvSpPr/>
          <p:nvPr/>
        </p:nvSpPr>
        <p:spPr>
          <a:xfrm>
            <a:off x="822960" y="3977640"/>
            <a:ext cx="27432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rq -&gt; nt</a:t>
            </a:r>
            <a:endParaRPr lang="en-US" sz="1400" dirty="0"/>
          </a:p>
        </p:txBody>
      </p:sp>
      <p:sp>
        <p:nvSpPr>
          <p:cNvPr id="12" name="Text 10"/>
          <p:cNvSpPr/>
          <p:nvPr/>
        </p:nvSpPr>
        <p:spPr>
          <a:xfrm>
            <a:off x="822960" y="4343400"/>
            <a:ext cx="2743200" cy="320040"/>
          </a:xfrm>
          <a:prstGeom prst="rect">
            <a:avLst/>
          </a:prstGeom>
          <a:noFill/>
          <a:ln/>
        </p:spPr>
        <p:txBody>
          <a:bodyPr wrap="square" rtlCol="0" anchor="ctr"/>
          <a:lstStyle/>
          <a:p>
            <a:pPr marL="0" indent="0">
              <a:buNone/>
            </a:pPr>
            <a:r>
              <a:rPr lang="en-US" sz="1400" dirty="0">
                <a:solidFill>
                  <a:srgbClr val="1A1A1A"/>
                </a:solidFill>
                <a:latin typeface="Arial" pitchFamily="34" charset="0"/>
                <a:ea typeface="Arial" pitchFamily="34" charset="-122"/>
                <a:cs typeface="Arial" pitchFamily="34" charset="-120"/>
              </a:rPr>
              <a:t>tx -&gt; sz</a:t>
            </a:r>
            <a:endParaRPr lang="en-US" sz="1400" dirty="0"/>
          </a:p>
        </p:txBody>
      </p:sp>
      <p:sp>
        <p:nvSpPr>
          <p:cNvPr id="13" name="Text 11"/>
          <p:cNvSpPr/>
          <p:nvPr/>
        </p:nvSpPr>
        <p:spPr>
          <a:xfrm>
            <a:off x="6400800" y="1051560"/>
            <a:ext cx="3657600" cy="320040"/>
          </a:xfrm>
          <a:prstGeom prst="rect">
            <a:avLst/>
          </a:prstGeom>
          <a:noFill/>
          <a:ln/>
        </p:spPr>
        <p:txBody>
          <a:bodyPr wrap="square" rtlCol="0" anchor="ctr"/>
          <a:lstStyle/>
          <a:p>
            <a:pPr marL="0" indent="0">
              <a:buNone/>
            </a:pPr>
            <a:r>
              <a:rPr lang="en-US" sz="1500" b="1" dirty="0">
                <a:solidFill>
                  <a:srgbClr val="1A1A1A"/>
                </a:solidFill>
                <a:latin typeface="Arial" pitchFamily="34" charset="0"/>
                <a:ea typeface="Arial" pitchFamily="34" charset="-122"/>
                <a:cs typeface="Arial" pitchFamily="34" charset="-120"/>
              </a:rPr>
              <a:t>Output:</a:t>
            </a:r>
            <a:endParaRPr lang="en-US" sz="1500" dirty="0"/>
          </a:p>
        </p:txBody>
      </p:sp>
      <p:sp>
        <p:nvSpPr>
          <p:cNvPr id="14" name="Text 12"/>
          <p:cNvSpPr/>
          <p:nvPr/>
        </p:nvSpPr>
        <p:spPr>
          <a:xfrm>
            <a:off x="6400800" y="1417320"/>
            <a:ext cx="5212080" cy="1188720"/>
          </a:xfrm>
          <a:prstGeom prst="rect">
            <a:avLst/>
          </a:prstGeom>
          <a:noFill/>
          <a:ln/>
        </p:spPr>
        <p:txBody>
          <a:bodyPr wrap="square" rtlCol="0" anchor="ctr"/>
          <a:lstStyle/>
          <a:p>
            <a:pPr marL="0" indent="0">
              <a:lnSpc>
                <a:spcPts val="2200"/>
              </a:lnSpc>
              <a:buNone/>
            </a:pPr>
            <a:r>
              <a:rPr lang="en-US" sz="1500" dirty="0">
                <a:solidFill>
                  <a:srgbClr val="1A1A1A"/>
                </a:solidFill>
                <a:latin typeface="Courier New" pitchFamily="34" charset="0"/>
                <a:ea typeface="Courier New" pitchFamily="34" charset="-122"/>
                <a:cs typeface="Courier New" pitchFamily="34" charset="-120"/>
              </a:rPr>
              <a:t>Key text     : Monarchy</a:t>
            </a:r>
            <a:endParaRPr lang="en-US" sz="1500" dirty="0"/>
          </a:p>
          <a:p>
            <a:pPr marL="0" indent="0">
              <a:lnSpc>
                <a:spcPts val="2200"/>
              </a:lnSpc>
              <a:buNone/>
            </a:pPr>
            <a:r>
              <a:rPr lang="en-US" sz="1500" dirty="0">
                <a:solidFill>
                  <a:srgbClr val="1A1A1A"/>
                </a:solidFill>
                <a:latin typeface="Courier New" pitchFamily="34" charset="0"/>
                <a:ea typeface="Courier New" pitchFamily="34" charset="-122"/>
                <a:cs typeface="Courier New" pitchFamily="34" charset="-120"/>
              </a:rPr>
              <a:t>Cipher text   : gatlmzclrqtx</a:t>
            </a:r>
            <a:endParaRPr lang="en-US" sz="1500" dirty="0"/>
          </a:p>
          <a:p>
            <a:pPr marL="0" indent="0">
              <a:lnSpc>
                <a:spcPts val="2200"/>
              </a:lnSpc>
              <a:buNone/>
            </a:pPr>
            <a:r>
              <a:rPr lang="en-US" sz="1500" dirty="0">
                <a:solidFill>
                  <a:srgbClr val="1A1A1A"/>
                </a:solidFill>
                <a:latin typeface="Courier New" pitchFamily="34" charset="0"/>
                <a:ea typeface="Courier New" pitchFamily="34" charset="-122"/>
                <a:cs typeface="Courier New" pitchFamily="34" charset="-120"/>
              </a:rPr>
              <a:t>Deciphered text: instrumentsz</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dirty="0">
                <a:solidFill>
                  <a:srgbClr val="1A1A1A"/>
                </a:solidFill>
                <a:latin typeface="Arial" pitchFamily="34" charset="0"/>
                <a:ea typeface="Arial" pitchFamily="34" charset="-122"/>
                <a:cs typeface="Arial" pitchFamily="34" charset="-120"/>
              </a:rPr>
              <a:t>Advantages and Disadvantages</a:t>
            </a:r>
            <a:endParaRPr lang="en-US" sz="3000" dirty="0"/>
          </a:p>
        </p:txBody>
      </p:sp>
      <p:sp>
        <p:nvSpPr>
          <p:cNvPr id="3" name="Text 1"/>
          <p:cNvSpPr/>
          <p:nvPr/>
        </p:nvSpPr>
        <p:spPr>
          <a:xfrm>
            <a:off x="548640" y="1005840"/>
            <a:ext cx="5486400" cy="365760"/>
          </a:xfrm>
          <a:prstGeom prst="rect">
            <a:avLst/>
          </a:prstGeom>
          <a:noFill/>
          <a:ln/>
        </p:spPr>
        <p:txBody>
          <a:bodyPr wrap="square" rtlCol="0" anchor="ctr"/>
          <a:lstStyle/>
          <a:p>
            <a:pPr marL="0" indent="0">
              <a:buNone/>
            </a:pPr>
            <a:r>
              <a:rPr lang="en-US" sz="1800" b="1" dirty="0">
                <a:solidFill>
                  <a:srgbClr val="1A1A1A"/>
                </a:solidFill>
                <a:latin typeface="Arial" pitchFamily="34" charset="0"/>
                <a:ea typeface="Arial" pitchFamily="34" charset="-122"/>
                <a:cs typeface="Arial" pitchFamily="34" charset="-120"/>
              </a:rPr>
              <a:t>Advantages:</a:t>
            </a:r>
            <a:endParaRPr lang="en-US" sz="1800" dirty="0"/>
          </a:p>
        </p:txBody>
      </p:sp>
      <p:sp>
        <p:nvSpPr>
          <p:cNvPr id="4" name="Text 2"/>
          <p:cNvSpPr/>
          <p:nvPr/>
        </p:nvSpPr>
        <p:spPr>
          <a:xfrm>
            <a:off x="548640" y="1417320"/>
            <a:ext cx="11155680" cy="86868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It is significantly harder to break since the frequency analysis technique used to break simple substitution ciphers is difficult but still can be used on (25*25) = 625 digraphs, rather than 25 monographs which is difficult.</a:t>
            </a:r>
            <a:endParaRPr lang="en-US" sz="1600" dirty="0"/>
          </a:p>
        </p:txBody>
      </p:sp>
      <p:sp>
        <p:nvSpPr>
          <p:cNvPr id="5" name="Text 3"/>
          <p:cNvSpPr/>
          <p:nvPr/>
        </p:nvSpPr>
        <p:spPr>
          <a:xfrm>
            <a:off x="548640" y="2286000"/>
            <a:ext cx="11155680" cy="86868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Frequency analysis thus requires more cipher text to crack the encryption.</a:t>
            </a:r>
            <a:endParaRPr lang="en-US" sz="1600" dirty="0"/>
          </a:p>
        </p:txBody>
      </p:sp>
      <p:sp>
        <p:nvSpPr>
          <p:cNvPr id="6" name="Text 4"/>
          <p:cNvSpPr/>
          <p:nvPr/>
        </p:nvSpPr>
        <p:spPr>
          <a:xfrm>
            <a:off x="548640" y="3383280"/>
            <a:ext cx="5486400" cy="365760"/>
          </a:xfrm>
          <a:prstGeom prst="rect">
            <a:avLst/>
          </a:prstGeom>
          <a:noFill/>
          <a:ln/>
        </p:spPr>
        <p:txBody>
          <a:bodyPr wrap="square" rtlCol="0" anchor="ctr"/>
          <a:lstStyle/>
          <a:p>
            <a:pPr marL="0" indent="0">
              <a:buNone/>
            </a:pPr>
            <a:r>
              <a:rPr lang="en-US" sz="1800" b="1" dirty="0">
                <a:solidFill>
                  <a:srgbClr val="1A1A1A"/>
                </a:solidFill>
                <a:latin typeface="Arial" pitchFamily="34" charset="0"/>
                <a:ea typeface="Arial" pitchFamily="34" charset="-122"/>
                <a:cs typeface="Arial" pitchFamily="34" charset="-120"/>
              </a:rPr>
              <a:t>Disadvantages:</a:t>
            </a:r>
            <a:endParaRPr lang="en-US" sz="1800" dirty="0"/>
          </a:p>
        </p:txBody>
      </p:sp>
      <p:sp>
        <p:nvSpPr>
          <p:cNvPr id="7" name="Text 5"/>
          <p:cNvSpPr/>
          <p:nvPr/>
        </p:nvSpPr>
        <p:spPr>
          <a:xfrm>
            <a:off x="548640" y="3794760"/>
            <a:ext cx="11155680" cy="100584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An interesting weakness is the fact that a digraph in the ciphertext (AB) and it's reverse (BA) will have corresponding plaintexts like UR and RU (and also ciphertext UR and RU will correspond to plaintext AB and BA, i.e. the substitution is self-inverse). That can easily be exploited with the aid of frequency analysis, if the language of the plaintext is known.</a:t>
            </a:r>
            <a:endParaRPr lang="en-US" sz="1600" dirty="0"/>
          </a:p>
        </p:txBody>
      </p:sp>
      <p:sp>
        <p:nvSpPr>
          <p:cNvPr id="8" name="Text 6"/>
          <p:cNvSpPr/>
          <p:nvPr/>
        </p:nvSpPr>
        <p:spPr>
          <a:xfrm>
            <a:off x="548640" y="4800600"/>
            <a:ext cx="11155680" cy="1005840"/>
          </a:xfrm>
          <a:prstGeom prst="rect">
            <a:avLst/>
          </a:prstGeom>
          <a:noFill/>
          <a:ln/>
        </p:spPr>
        <p:txBody>
          <a:bodyPr wrap="square" rtlCol="0" anchor="t"/>
          <a:lstStyle/>
          <a:p>
            <a:pPr marL="0" indent="0">
              <a:buNone/>
            </a:pPr>
            <a:r>
              <a:rPr lang="en-US" sz="1600" dirty="0">
                <a:solidFill>
                  <a:srgbClr val="1A1A1A"/>
                </a:solidFill>
                <a:latin typeface="Arial" pitchFamily="34" charset="0"/>
                <a:ea typeface="Arial" pitchFamily="34" charset="-122"/>
                <a:cs typeface="Arial" pitchFamily="34" charset="-120"/>
              </a:rPr>
              <a:t>•  Another disadvantage is that playfair cipher is a symmetric cipher, thus same key is used for both encryption and decryption.</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SUBSTITUTION · SUMMARY</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Substitution Ciphers — Comparative Summary</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table_5FBFF9.png"/>
          <p:cNvPicPr>
            <a:picLocks noChangeAspect="1"/>
          </p:cNvPicPr>
          <p:nvPr/>
        </p:nvPicPr>
        <p:blipFill>
          <a:blip r:embed="rId3"/>
          <a:stretch>
            <a:fillRect/>
          </a:stretch>
        </p:blipFill>
        <p:spPr>
          <a:xfrm>
            <a:off x="10912450" y="579730"/>
            <a:ext cx="395021" cy="395021"/>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457200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571500">
                <a:tc>
                  <a:txBody>
                    <a:bodyPr/>
                    <a:lstStyle/>
                    <a:p>
                      <a:pPr marL="0" indent="0" algn="ctr">
                        <a:buNone/>
                      </a:pPr>
                      <a:r>
                        <a:rPr lang="en-US" sz="1200" b="1" dirty="0">
                          <a:solidFill>
                            <a:srgbClr val="FFFFFF"/>
                          </a:solidFill>
                        </a:rPr>
                        <a:t>Cipher</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Unit encrypted</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Key space</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Primary weakness</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71500">
                <a:tc>
                  <a:txBody>
                    <a:bodyPr/>
                    <a:lstStyle/>
                    <a:p>
                      <a:pPr marL="0" indent="0" algn="l">
                        <a:buNone/>
                      </a:pPr>
                      <a:r>
                        <a:rPr lang="en-US" sz="1100" b="1" dirty="0">
                          <a:solidFill>
                            <a:srgbClr val="16232E"/>
                          </a:solidFill>
                        </a:rPr>
                        <a:t>Caesar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Single letter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25 keys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Trivial brute force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lgn="l">
                        <a:buNone/>
                      </a:pPr>
                      <a:r>
                        <a:rPr lang="en-US" sz="1100" b="1" dirty="0">
                          <a:solidFill>
                            <a:srgbClr val="16232E"/>
                          </a:solidFill>
                        </a:rPr>
                        <a:t>Affine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Single letter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311 keys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Brute force + frequency analysis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571500">
                <a:tc>
                  <a:txBody>
                    <a:bodyPr/>
                    <a:lstStyle/>
                    <a:p>
                      <a:pPr marL="0" indent="0" algn="l">
                        <a:buNone/>
                      </a:pPr>
                      <a:r>
                        <a:rPr lang="en-US" sz="1100" b="1" dirty="0">
                          <a:solidFill>
                            <a:srgbClr val="16232E"/>
                          </a:solidFill>
                        </a:rPr>
                        <a:t>Playfair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Letter pair (digraph)</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~25! grid arrangements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Digraph frequency analysis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lgn="l">
                        <a:buNone/>
                      </a:pPr>
                      <a:r>
                        <a:rPr lang="en-US" sz="1100" b="1" dirty="0">
                          <a:solidFill>
                            <a:srgbClr val="16232E"/>
                          </a:solidFill>
                        </a:rPr>
                        <a:t>Vigenère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Letter, key-position dependent</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26^m</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Kasiski examination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r h="571500">
                <a:tc>
                  <a:txBody>
                    <a:bodyPr/>
                    <a:lstStyle/>
                    <a:p>
                      <a:pPr marL="0" indent="0" algn="l">
                        <a:buNone/>
                      </a:pPr>
                      <a:r>
                        <a:rPr lang="en-US" sz="1100" b="1" dirty="0">
                          <a:solidFill>
                            <a:srgbClr val="16232E"/>
                          </a:solidFill>
                        </a:rPr>
                        <a:t>Beaufort</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Letter, key-position dependent</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26^m</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Kasiski examination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1500">
                <a:tc>
                  <a:txBody>
                    <a:bodyPr/>
                    <a:lstStyle/>
                    <a:p>
                      <a:pPr marL="0" indent="0" algn="l">
                        <a:buNone/>
                      </a:pPr>
                      <a:r>
                        <a:rPr lang="en-US" sz="1100" b="1" dirty="0">
                          <a:solidFill>
                            <a:srgbClr val="16232E"/>
                          </a:solidFill>
                        </a:rPr>
                        <a:t>Hill</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n-letter block (matrix)</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~26^(n²)</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Known-plaintext linear algebra</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6"/>
                  </a:ext>
                </a:extLst>
              </a:tr>
              <a:tr h="571500">
                <a:tc>
                  <a:txBody>
                    <a:bodyPr/>
                    <a:lstStyle/>
                    <a:p>
                      <a:pPr marL="0" indent="0" algn="l">
                        <a:buNone/>
                      </a:pPr>
                      <a:r>
                        <a:rPr lang="en-US" sz="1100" b="1" dirty="0">
                          <a:solidFill>
                            <a:srgbClr val="16232E"/>
                          </a:solidFill>
                        </a:rPr>
                        <a:t>One-Time Pad</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Single letter, random key</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Effectively infinite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Key distribution / reuse only</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3"/>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8" name="Text 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a:effectLst/>
      </p:bgPr>
    </p:bg>
    <p:spTree>
      <p:nvGrpSpPr>
        <p:cNvPr id="1" name=""/>
        <p:cNvGrpSpPr/>
        <p:nvPr/>
      </p:nvGrpSpPr>
      <p:grpSpPr>
        <a:xfrm>
          <a:off x="0" y="0"/>
          <a:ext cx="0" cy="0"/>
          <a:chOff x="0" y="0"/>
          <a:chExt cx="0" cy="0"/>
        </a:xfrm>
      </p:grpSpPr>
      <p:sp>
        <p:nvSpPr>
          <p:cNvPr id="3" name="Text 1"/>
          <p:cNvSpPr/>
          <p:nvPr/>
        </p:nvSpPr>
        <p:spPr>
          <a:xfrm>
            <a:off x="914400" y="2331720"/>
            <a:ext cx="5486400" cy="365760"/>
          </a:xfrm>
          <a:prstGeom prst="rect">
            <a:avLst/>
          </a:prstGeom>
          <a:noFill/>
          <a:ln/>
        </p:spPr>
        <p:txBody>
          <a:bodyPr wrap="square" rtlCol="0" anchor="ctr"/>
          <a:lstStyle/>
          <a:p>
            <a:pPr marL="0" indent="0">
              <a:buNone/>
            </a:pPr>
            <a:r>
              <a:rPr lang="en-US" sz="1300" b="1" kern="0" spc="200" dirty="0">
                <a:solidFill>
                  <a:srgbClr val="5FBFF9"/>
                </a:solidFill>
                <a:latin typeface="Calibri" pitchFamily="34" charset="0"/>
                <a:ea typeface="Calibri" pitchFamily="34" charset="-122"/>
                <a:cs typeface="Calibri" pitchFamily="34" charset="-120"/>
              </a:rPr>
              <a:t>PART 2 / 2</a:t>
            </a:r>
            <a:endParaRPr lang="en-US" sz="1300" dirty="0"/>
          </a:p>
        </p:txBody>
      </p:sp>
      <p:sp>
        <p:nvSpPr>
          <p:cNvPr id="4" name="Text 2"/>
          <p:cNvSpPr/>
          <p:nvPr/>
        </p:nvSpPr>
        <p:spPr>
          <a:xfrm>
            <a:off x="914400" y="2697480"/>
            <a:ext cx="86868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Transposition Ciphers</a:t>
            </a:r>
            <a:endParaRPr lang="en-US" sz="3400" dirty="0"/>
          </a:p>
        </p:txBody>
      </p:sp>
      <p:sp>
        <p:nvSpPr>
          <p:cNvPr id="5" name="Text 3"/>
          <p:cNvSpPr/>
          <p:nvPr/>
        </p:nvSpPr>
        <p:spPr>
          <a:xfrm>
            <a:off x="914400" y="3886200"/>
            <a:ext cx="7863840" cy="822960"/>
          </a:xfrm>
          <a:prstGeom prst="rect">
            <a:avLst/>
          </a:prstGeom>
          <a:noFill/>
          <a:ln/>
        </p:spPr>
        <p:txBody>
          <a:bodyPr wrap="square" rtlCol="0" anchor="ctr"/>
          <a:lstStyle/>
          <a:p>
            <a:pPr marL="0" indent="0">
              <a:buNone/>
            </a:pPr>
            <a:r>
              <a:rPr lang="en-US" sz="1400" dirty="0">
                <a:solidFill>
                  <a:srgbClr val="A9C2DA"/>
                </a:solidFill>
                <a:latin typeface="Calibri" pitchFamily="34" charset="0"/>
                <a:ea typeface="Calibri" pitchFamily="34" charset="-122"/>
                <a:cs typeface="Calibri" pitchFamily="34" charset="-120"/>
              </a:rPr>
              <a:t>Where every original letter is kept, but the order in which they appear is systematically rearranged.</a:t>
            </a:r>
            <a:endParaRPr lang="en-US" sz="1400" dirty="0"/>
          </a:p>
        </p:txBody>
      </p:sp>
      <p:sp>
        <p:nvSpPr>
          <p:cNvPr id="6" name="Shape 4"/>
          <p:cNvSpPr/>
          <p:nvPr/>
        </p:nvSpPr>
        <p:spPr>
          <a:xfrm>
            <a:off x="9692640" y="2468880"/>
            <a:ext cx="1554480" cy="1554480"/>
          </a:xfrm>
          <a:prstGeom prst="ellipse">
            <a:avLst/>
          </a:prstGeom>
          <a:solidFill>
            <a:srgbClr val="13315C"/>
          </a:solidFill>
          <a:ln/>
        </p:spPr>
      </p:sp>
      <p:pic>
        <p:nvPicPr>
          <p:cNvPr id="7" name="Image 0" descr="/home/claude/icons/random_5FBFF9.png"/>
          <p:cNvPicPr>
            <a:picLocks noChangeAspect="1"/>
          </p:cNvPicPr>
          <p:nvPr/>
        </p:nvPicPr>
        <p:blipFill>
          <a:blip r:embed="rId3"/>
          <a:stretch>
            <a:fillRect/>
          </a:stretch>
        </p:blipFill>
        <p:spPr>
          <a:xfrm>
            <a:off x="10096805" y="2873045"/>
            <a:ext cx="746150" cy="7461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TRANSPOSITION · 01</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Rail Fence Cipher — Concept</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random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5120640" cy="4114800"/>
          </a:xfrm>
          <a:prstGeom prst="rect">
            <a:avLst/>
          </a:prstGeom>
          <a:noFill/>
          <a:ln/>
        </p:spPr>
        <p:txBody>
          <a:bodyPr wrap="square" rtlCol="0" anchor="t"/>
          <a:lstStyle/>
          <a:p>
            <a:pPr marL="0" indent="0" algn="just">
              <a:spcAft>
                <a:spcPts val="1000"/>
              </a:spcAft>
              <a:buNone/>
            </a:pPr>
            <a:r>
              <a:rPr lang="en-US" sz="2000" dirty="0">
                <a:solidFill>
                  <a:srgbClr val="16232E"/>
                </a:solidFill>
                <a:latin typeface="Calibri" pitchFamily="34" charset="0"/>
                <a:ea typeface="Calibri" pitchFamily="34" charset="-122"/>
                <a:cs typeface="Calibri" pitchFamily="34" charset="-120"/>
              </a:rPr>
              <a:t>A simple transposition cipher that writes the plaintext in a zig-zag pattern across a set number of "rails" (rows).</a:t>
            </a:r>
            <a:endParaRPr lang="en-US" sz="2000" dirty="0"/>
          </a:p>
          <a:p>
            <a:pPr marL="0" indent="0" algn="just">
              <a:spcAft>
                <a:spcPts val="1000"/>
              </a:spcAft>
              <a:buNone/>
            </a:pPr>
            <a:r>
              <a:rPr lang="en-US" sz="2000" dirty="0">
                <a:solidFill>
                  <a:srgbClr val="16232E"/>
                </a:solidFill>
                <a:latin typeface="Calibri" pitchFamily="34" charset="0"/>
                <a:ea typeface="Calibri" pitchFamily="34" charset="-122"/>
                <a:cs typeface="Calibri" pitchFamily="34" charset="-120"/>
              </a:rPr>
              <a:t>The ciphertext is then read off row by row, left to right.</a:t>
            </a:r>
            <a:endParaRPr lang="en-US" sz="2000" dirty="0"/>
          </a:p>
          <a:p>
            <a:pPr marL="0" indent="0" algn="just">
              <a:spcAft>
                <a:spcPts val="1000"/>
              </a:spcAft>
              <a:buNone/>
            </a:pPr>
            <a:r>
              <a:rPr lang="en-US" sz="2000" dirty="0">
                <a:solidFill>
                  <a:srgbClr val="16232E"/>
                </a:solidFill>
                <a:latin typeface="Calibri" pitchFamily="34" charset="0"/>
                <a:ea typeface="Calibri" pitchFamily="34" charset="-122"/>
                <a:cs typeface="Calibri" pitchFamily="34" charset="-120"/>
              </a:rPr>
              <a:t>The single key is the number of rails, r.</a:t>
            </a:r>
            <a:endParaRPr lang="en-US" sz="2000" dirty="0"/>
          </a:p>
          <a:p>
            <a:pPr marL="0" indent="0" algn="just">
              <a:buNone/>
            </a:pPr>
            <a:r>
              <a:rPr lang="en-US" sz="2000" i="1" dirty="0">
                <a:solidFill>
                  <a:srgbClr val="5A6B7B"/>
                </a:solidFill>
                <a:latin typeface="Calibri" pitchFamily="34" charset="0"/>
                <a:ea typeface="Calibri" pitchFamily="34" charset="-122"/>
                <a:cs typeface="Calibri" pitchFamily="34" charset="-120"/>
              </a:rPr>
              <a:t>Also known as a zig-zag cipher due to the diagonal writing pattern.</a:t>
            </a:r>
            <a:endParaRPr lang="en-US" sz="2000" dirty="0"/>
          </a:p>
        </p:txBody>
      </p:sp>
      <p:sp>
        <p:nvSpPr>
          <p:cNvPr id="7" name="Text 4"/>
          <p:cNvSpPr/>
          <p:nvPr/>
        </p:nvSpPr>
        <p:spPr>
          <a:xfrm>
            <a:off x="6035040" y="1371600"/>
            <a:ext cx="5486400" cy="274320"/>
          </a:xfrm>
          <a:prstGeom prst="rect">
            <a:avLst/>
          </a:prstGeom>
          <a:noFill/>
          <a:ln/>
        </p:spPr>
        <p:txBody>
          <a:bodyPr wrap="square" rtlCol="0" anchor="ctr"/>
          <a:lstStyle/>
          <a:p>
            <a:pPr marL="0" indent="0">
              <a:buNone/>
            </a:pPr>
            <a:r>
              <a:rPr lang="en-US" sz="1100" b="1" dirty="0">
                <a:solidFill>
                  <a:srgbClr val="5A6B7B"/>
                </a:solidFill>
                <a:latin typeface="Calibri" pitchFamily="34" charset="0"/>
                <a:ea typeface="Calibri" pitchFamily="34" charset="-122"/>
                <a:cs typeface="Calibri" pitchFamily="34" charset="-120"/>
              </a:rPr>
              <a:t>Pattern for "WEAREDISCOVERED", r = 3</a:t>
            </a:r>
            <a:endParaRPr lang="en-US" sz="1100" dirty="0"/>
          </a:p>
        </p:txBody>
      </p:sp>
      <p:sp>
        <p:nvSpPr>
          <p:cNvPr id="8" name="Shape 5"/>
          <p:cNvSpPr/>
          <p:nvPr/>
        </p:nvSpPr>
        <p:spPr>
          <a:xfrm>
            <a:off x="6035040" y="1737360"/>
            <a:ext cx="347472" cy="347472"/>
          </a:xfrm>
          <a:prstGeom prst="ellipse">
            <a:avLst/>
          </a:prstGeom>
          <a:solidFill>
            <a:srgbClr val="0B2545"/>
          </a:solidFill>
          <a:ln/>
        </p:spPr>
      </p:sp>
      <p:sp>
        <p:nvSpPr>
          <p:cNvPr id="9" name="Text 6"/>
          <p:cNvSpPr/>
          <p:nvPr/>
        </p:nvSpPr>
        <p:spPr>
          <a:xfrm>
            <a:off x="6035040" y="173736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W</a:t>
            </a:r>
            <a:endParaRPr lang="en-US" sz="1200" dirty="0"/>
          </a:p>
        </p:txBody>
      </p:sp>
      <p:sp>
        <p:nvSpPr>
          <p:cNvPr id="10" name="Shape 7"/>
          <p:cNvSpPr/>
          <p:nvPr/>
        </p:nvSpPr>
        <p:spPr>
          <a:xfrm>
            <a:off x="6419088" y="2514600"/>
            <a:ext cx="347472" cy="347472"/>
          </a:xfrm>
          <a:prstGeom prst="ellipse">
            <a:avLst/>
          </a:prstGeom>
          <a:solidFill>
            <a:srgbClr val="0B2545"/>
          </a:solidFill>
          <a:ln/>
        </p:spPr>
      </p:sp>
      <p:sp>
        <p:nvSpPr>
          <p:cNvPr id="11" name="Text 8"/>
          <p:cNvSpPr/>
          <p:nvPr/>
        </p:nvSpPr>
        <p:spPr>
          <a:xfrm>
            <a:off x="6419088"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E</a:t>
            </a:r>
            <a:endParaRPr lang="en-US" sz="1200" dirty="0"/>
          </a:p>
        </p:txBody>
      </p:sp>
      <p:sp>
        <p:nvSpPr>
          <p:cNvPr id="12" name="Shape 9"/>
          <p:cNvSpPr/>
          <p:nvPr/>
        </p:nvSpPr>
        <p:spPr>
          <a:xfrm>
            <a:off x="6803136" y="3291840"/>
            <a:ext cx="347472" cy="347472"/>
          </a:xfrm>
          <a:prstGeom prst="ellipse">
            <a:avLst/>
          </a:prstGeom>
          <a:solidFill>
            <a:srgbClr val="0B2545"/>
          </a:solidFill>
          <a:ln/>
        </p:spPr>
      </p:sp>
      <p:sp>
        <p:nvSpPr>
          <p:cNvPr id="13" name="Text 10"/>
          <p:cNvSpPr/>
          <p:nvPr/>
        </p:nvSpPr>
        <p:spPr>
          <a:xfrm>
            <a:off x="6803136" y="329184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A</a:t>
            </a:r>
            <a:endParaRPr lang="en-US" sz="1200" dirty="0"/>
          </a:p>
        </p:txBody>
      </p:sp>
      <p:sp>
        <p:nvSpPr>
          <p:cNvPr id="14" name="Shape 11"/>
          <p:cNvSpPr/>
          <p:nvPr/>
        </p:nvSpPr>
        <p:spPr>
          <a:xfrm>
            <a:off x="7187184" y="2514600"/>
            <a:ext cx="347472" cy="347472"/>
          </a:xfrm>
          <a:prstGeom prst="ellipse">
            <a:avLst/>
          </a:prstGeom>
          <a:solidFill>
            <a:srgbClr val="0B2545"/>
          </a:solidFill>
          <a:ln/>
        </p:spPr>
      </p:sp>
      <p:sp>
        <p:nvSpPr>
          <p:cNvPr id="15" name="Text 12"/>
          <p:cNvSpPr/>
          <p:nvPr/>
        </p:nvSpPr>
        <p:spPr>
          <a:xfrm>
            <a:off x="7187184"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R</a:t>
            </a:r>
            <a:endParaRPr lang="en-US" sz="1200" dirty="0"/>
          </a:p>
        </p:txBody>
      </p:sp>
      <p:sp>
        <p:nvSpPr>
          <p:cNvPr id="16" name="Shape 13"/>
          <p:cNvSpPr/>
          <p:nvPr/>
        </p:nvSpPr>
        <p:spPr>
          <a:xfrm>
            <a:off x="7571232" y="1737360"/>
            <a:ext cx="347472" cy="347472"/>
          </a:xfrm>
          <a:prstGeom prst="ellipse">
            <a:avLst/>
          </a:prstGeom>
          <a:solidFill>
            <a:srgbClr val="0B2545"/>
          </a:solidFill>
          <a:ln/>
        </p:spPr>
      </p:sp>
      <p:sp>
        <p:nvSpPr>
          <p:cNvPr id="17" name="Text 14"/>
          <p:cNvSpPr/>
          <p:nvPr/>
        </p:nvSpPr>
        <p:spPr>
          <a:xfrm>
            <a:off x="7571232" y="173736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E</a:t>
            </a:r>
            <a:endParaRPr lang="en-US" sz="1200" dirty="0"/>
          </a:p>
        </p:txBody>
      </p:sp>
      <p:sp>
        <p:nvSpPr>
          <p:cNvPr id="18" name="Shape 15"/>
          <p:cNvSpPr/>
          <p:nvPr/>
        </p:nvSpPr>
        <p:spPr>
          <a:xfrm>
            <a:off x="7955280" y="2514600"/>
            <a:ext cx="347472" cy="347472"/>
          </a:xfrm>
          <a:prstGeom prst="ellipse">
            <a:avLst/>
          </a:prstGeom>
          <a:solidFill>
            <a:srgbClr val="0B2545"/>
          </a:solidFill>
          <a:ln/>
        </p:spPr>
      </p:sp>
      <p:sp>
        <p:nvSpPr>
          <p:cNvPr id="19" name="Text 16"/>
          <p:cNvSpPr/>
          <p:nvPr/>
        </p:nvSpPr>
        <p:spPr>
          <a:xfrm>
            <a:off x="7955280"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D</a:t>
            </a:r>
            <a:endParaRPr lang="en-US" sz="1200" dirty="0"/>
          </a:p>
        </p:txBody>
      </p:sp>
      <p:sp>
        <p:nvSpPr>
          <p:cNvPr id="20" name="Shape 17"/>
          <p:cNvSpPr/>
          <p:nvPr/>
        </p:nvSpPr>
        <p:spPr>
          <a:xfrm>
            <a:off x="8339328" y="3291840"/>
            <a:ext cx="347472" cy="347472"/>
          </a:xfrm>
          <a:prstGeom prst="ellipse">
            <a:avLst/>
          </a:prstGeom>
          <a:solidFill>
            <a:srgbClr val="0B2545"/>
          </a:solidFill>
          <a:ln/>
        </p:spPr>
      </p:sp>
      <p:sp>
        <p:nvSpPr>
          <p:cNvPr id="21" name="Text 18"/>
          <p:cNvSpPr/>
          <p:nvPr/>
        </p:nvSpPr>
        <p:spPr>
          <a:xfrm>
            <a:off x="8339328" y="329184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22" name="Shape 19"/>
          <p:cNvSpPr/>
          <p:nvPr/>
        </p:nvSpPr>
        <p:spPr>
          <a:xfrm>
            <a:off x="8723376" y="2514600"/>
            <a:ext cx="347472" cy="347472"/>
          </a:xfrm>
          <a:prstGeom prst="ellipse">
            <a:avLst/>
          </a:prstGeom>
          <a:solidFill>
            <a:srgbClr val="0B2545"/>
          </a:solidFill>
          <a:ln/>
        </p:spPr>
      </p:sp>
      <p:sp>
        <p:nvSpPr>
          <p:cNvPr id="23" name="Text 20"/>
          <p:cNvSpPr/>
          <p:nvPr/>
        </p:nvSpPr>
        <p:spPr>
          <a:xfrm>
            <a:off x="8723376"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S</a:t>
            </a:r>
            <a:endParaRPr lang="en-US" sz="1200" dirty="0"/>
          </a:p>
        </p:txBody>
      </p:sp>
      <p:sp>
        <p:nvSpPr>
          <p:cNvPr id="24" name="Shape 21"/>
          <p:cNvSpPr/>
          <p:nvPr/>
        </p:nvSpPr>
        <p:spPr>
          <a:xfrm>
            <a:off x="9107424" y="1737360"/>
            <a:ext cx="347472" cy="347472"/>
          </a:xfrm>
          <a:prstGeom prst="ellipse">
            <a:avLst/>
          </a:prstGeom>
          <a:solidFill>
            <a:srgbClr val="0B2545"/>
          </a:solidFill>
          <a:ln/>
        </p:spPr>
      </p:sp>
      <p:sp>
        <p:nvSpPr>
          <p:cNvPr id="25" name="Text 22"/>
          <p:cNvSpPr/>
          <p:nvPr/>
        </p:nvSpPr>
        <p:spPr>
          <a:xfrm>
            <a:off x="9107424" y="173736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C</a:t>
            </a:r>
            <a:endParaRPr lang="en-US" sz="1200" dirty="0"/>
          </a:p>
        </p:txBody>
      </p:sp>
      <p:sp>
        <p:nvSpPr>
          <p:cNvPr id="26" name="Shape 23"/>
          <p:cNvSpPr/>
          <p:nvPr/>
        </p:nvSpPr>
        <p:spPr>
          <a:xfrm>
            <a:off x="9491472" y="2514600"/>
            <a:ext cx="347472" cy="347472"/>
          </a:xfrm>
          <a:prstGeom prst="ellipse">
            <a:avLst/>
          </a:prstGeom>
          <a:solidFill>
            <a:srgbClr val="0B2545"/>
          </a:solidFill>
          <a:ln/>
        </p:spPr>
      </p:sp>
      <p:sp>
        <p:nvSpPr>
          <p:cNvPr id="27" name="Text 24"/>
          <p:cNvSpPr/>
          <p:nvPr/>
        </p:nvSpPr>
        <p:spPr>
          <a:xfrm>
            <a:off x="9491472"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O</a:t>
            </a:r>
            <a:endParaRPr lang="en-US" sz="1200" dirty="0"/>
          </a:p>
        </p:txBody>
      </p:sp>
      <p:sp>
        <p:nvSpPr>
          <p:cNvPr id="28" name="Shape 25"/>
          <p:cNvSpPr/>
          <p:nvPr/>
        </p:nvSpPr>
        <p:spPr>
          <a:xfrm>
            <a:off x="9875520" y="3291840"/>
            <a:ext cx="347472" cy="347472"/>
          </a:xfrm>
          <a:prstGeom prst="ellipse">
            <a:avLst/>
          </a:prstGeom>
          <a:solidFill>
            <a:srgbClr val="0B2545"/>
          </a:solidFill>
          <a:ln/>
        </p:spPr>
      </p:sp>
      <p:sp>
        <p:nvSpPr>
          <p:cNvPr id="29" name="Text 26"/>
          <p:cNvSpPr/>
          <p:nvPr/>
        </p:nvSpPr>
        <p:spPr>
          <a:xfrm>
            <a:off x="9875520" y="329184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V</a:t>
            </a:r>
            <a:endParaRPr lang="en-US" sz="1200" dirty="0"/>
          </a:p>
        </p:txBody>
      </p:sp>
      <p:sp>
        <p:nvSpPr>
          <p:cNvPr id="30" name="Shape 27"/>
          <p:cNvSpPr/>
          <p:nvPr/>
        </p:nvSpPr>
        <p:spPr>
          <a:xfrm>
            <a:off x="10259568" y="2514600"/>
            <a:ext cx="347472" cy="347472"/>
          </a:xfrm>
          <a:prstGeom prst="ellipse">
            <a:avLst/>
          </a:prstGeom>
          <a:solidFill>
            <a:srgbClr val="0B2545"/>
          </a:solidFill>
          <a:ln/>
        </p:spPr>
      </p:sp>
      <p:sp>
        <p:nvSpPr>
          <p:cNvPr id="31" name="Text 28"/>
          <p:cNvSpPr/>
          <p:nvPr/>
        </p:nvSpPr>
        <p:spPr>
          <a:xfrm>
            <a:off x="10259568"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E</a:t>
            </a:r>
            <a:endParaRPr lang="en-US" sz="1200" dirty="0"/>
          </a:p>
        </p:txBody>
      </p:sp>
      <p:sp>
        <p:nvSpPr>
          <p:cNvPr id="32" name="Shape 29"/>
          <p:cNvSpPr/>
          <p:nvPr/>
        </p:nvSpPr>
        <p:spPr>
          <a:xfrm>
            <a:off x="10643616" y="1737360"/>
            <a:ext cx="347472" cy="347472"/>
          </a:xfrm>
          <a:prstGeom prst="ellipse">
            <a:avLst/>
          </a:prstGeom>
          <a:solidFill>
            <a:srgbClr val="0B2545"/>
          </a:solidFill>
          <a:ln/>
        </p:spPr>
      </p:sp>
      <p:sp>
        <p:nvSpPr>
          <p:cNvPr id="33" name="Text 30"/>
          <p:cNvSpPr/>
          <p:nvPr/>
        </p:nvSpPr>
        <p:spPr>
          <a:xfrm>
            <a:off x="10643616" y="173736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R</a:t>
            </a:r>
            <a:endParaRPr lang="en-US" sz="1200" dirty="0"/>
          </a:p>
        </p:txBody>
      </p:sp>
      <p:sp>
        <p:nvSpPr>
          <p:cNvPr id="34" name="Shape 31"/>
          <p:cNvSpPr/>
          <p:nvPr/>
        </p:nvSpPr>
        <p:spPr>
          <a:xfrm>
            <a:off x="11027664" y="2514600"/>
            <a:ext cx="347472" cy="347472"/>
          </a:xfrm>
          <a:prstGeom prst="ellipse">
            <a:avLst/>
          </a:prstGeom>
          <a:solidFill>
            <a:srgbClr val="0B2545"/>
          </a:solidFill>
          <a:ln/>
        </p:spPr>
      </p:sp>
      <p:sp>
        <p:nvSpPr>
          <p:cNvPr id="35" name="Text 32"/>
          <p:cNvSpPr/>
          <p:nvPr/>
        </p:nvSpPr>
        <p:spPr>
          <a:xfrm>
            <a:off x="11027664" y="251460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E</a:t>
            </a:r>
            <a:endParaRPr lang="en-US" sz="1200" dirty="0"/>
          </a:p>
        </p:txBody>
      </p:sp>
      <p:sp>
        <p:nvSpPr>
          <p:cNvPr id="36" name="Shape 33"/>
          <p:cNvSpPr/>
          <p:nvPr/>
        </p:nvSpPr>
        <p:spPr>
          <a:xfrm>
            <a:off x="11411712" y="3291840"/>
            <a:ext cx="347472" cy="347472"/>
          </a:xfrm>
          <a:prstGeom prst="ellipse">
            <a:avLst/>
          </a:prstGeom>
          <a:solidFill>
            <a:srgbClr val="0B2545"/>
          </a:solidFill>
          <a:ln/>
        </p:spPr>
      </p:sp>
      <p:sp>
        <p:nvSpPr>
          <p:cNvPr id="37" name="Text 34"/>
          <p:cNvSpPr/>
          <p:nvPr/>
        </p:nvSpPr>
        <p:spPr>
          <a:xfrm>
            <a:off x="11411712" y="3291840"/>
            <a:ext cx="347472" cy="347472"/>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D</a:t>
            </a:r>
            <a:endParaRPr lang="en-US" sz="1200" dirty="0"/>
          </a:p>
        </p:txBody>
      </p:sp>
      <p:sp>
        <p:nvSpPr>
          <p:cNvPr id="38" name="Shape 35"/>
          <p:cNvSpPr/>
          <p:nvPr/>
        </p:nvSpPr>
        <p:spPr>
          <a:xfrm>
            <a:off x="6208776" y="1911096"/>
            <a:ext cx="384048" cy="777240"/>
          </a:xfrm>
          <a:prstGeom prst="line">
            <a:avLst/>
          </a:prstGeom>
          <a:noFill/>
          <a:ln w="19050">
            <a:solidFill>
              <a:srgbClr val="5FBFF9"/>
            </a:solidFill>
            <a:prstDash val="solid"/>
          </a:ln>
        </p:spPr>
      </p:sp>
      <p:sp>
        <p:nvSpPr>
          <p:cNvPr id="39" name="Shape 36"/>
          <p:cNvSpPr/>
          <p:nvPr/>
        </p:nvSpPr>
        <p:spPr>
          <a:xfrm>
            <a:off x="6592824" y="2688336"/>
            <a:ext cx="384048" cy="777240"/>
          </a:xfrm>
          <a:prstGeom prst="line">
            <a:avLst/>
          </a:prstGeom>
          <a:noFill/>
          <a:ln w="19050">
            <a:solidFill>
              <a:srgbClr val="5FBFF9"/>
            </a:solidFill>
            <a:prstDash val="solid"/>
          </a:ln>
        </p:spPr>
      </p:sp>
      <p:sp>
        <p:nvSpPr>
          <p:cNvPr id="40" name="Shape 37"/>
          <p:cNvSpPr/>
          <p:nvPr/>
        </p:nvSpPr>
        <p:spPr>
          <a:xfrm flipV="1">
            <a:off x="6976872" y="2688336"/>
            <a:ext cx="384048" cy="777240"/>
          </a:xfrm>
          <a:prstGeom prst="line">
            <a:avLst/>
          </a:prstGeom>
          <a:noFill/>
          <a:ln w="19050">
            <a:solidFill>
              <a:srgbClr val="5FBFF9"/>
            </a:solidFill>
            <a:prstDash val="solid"/>
          </a:ln>
        </p:spPr>
      </p:sp>
      <p:sp>
        <p:nvSpPr>
          <p:cNvPr id="41" name="Shape 38"/>
          <p:cNvSpPr/>
          <p:nvPr/>
        </p:nvSpPr>
        <p:spPr>
          <a:xfrm flipV="1">
            <a:off x="7360920" y="1911096"/>
            <a:ext cx="384048" cy="777240"/>
          </a:xfrm>
          <a:prstGeom prst="line">
            <a:avLst/>
          </a:prstGeom>
          <a:noFill/>
          <a:ln w="19050">
            <a:solidFill>
              <a:srgbClr val="5FBFF9"/>
            </a:solidFill>
            <a:prstDash val="solid"/>
          </a:ln>
        </p:spPr>
      </p:sp>
      <p:sp>
        <p:nvSpPr>
          <p:cNvPr id="42" name="Shape 39"/>
          <p:cNvSpPr/>
          <p:nvPr/>
        </p:nvSpPr>
        <p:spPr>
          <a:xfrm>
            <a:off x="7744968" y="1911096"/>
            <a:ext cx="384048" cy="777240"/>
          </a:xfrm>
          <a:prstGeom prst="line">
            <a:avLst/>
          </a:prstGeom>
          <a:noFill/>
          <a:ln w="19050">
            <a:solidFill>
              <a:srgbClr val="5FBFF9"/>
            </a:solidFill>
            <a:prstDash val="solid"/>
          </a:ln>
        </p:spPr>
      </p:sp>
      <p:sp>
        <p:nvSpPr>
          <p:cNvPr id="43" name="Shape 40"/>
          <p:cNvSpPr/>
          <p:nvPr/>
        </p:nvSpPr>
        <p:spPr>
          <a:xfrm>
            <a:off x="8129016" y="2688336"/>
            <a:ext cx="384048" cy="777240"/>
          </a:xfrm>
          <a:prstGeom prst="line">
            <a:avLst/>
          </a:prstGeom>
          <a:noFill/>
          <a:ln w="19050">
            <a:solidFill>
              <a:srgbClr val="5FBFF9"/>
            </a:solidFill>
            <a:prstDash val="solid"/>
          </a:ln>
        </p:spPr>
      </p:sp>
      <p:sp>
        <p:nvSpPr>
          <p:cNvPr id="44" name="Shape 41"/>
          <p:cNvSpPr/>
          <p:nvPr/>
        </p:nvSpPr>
        <p:spPr>
          <a:xfrm flipV="1">
            <a:off x="8513064" y="2688336"/>
            <a:ext cx="384048" cy="777240"/>
          </a:xfrm>
          <a:prstGeom prst="line">
            <a:avLst/>
          </a:prstGeom>
          <a:noFill/>
          <a:ln w="19050">
            <a:solidFill>
              <a:srgbClr val="5FBFF9"/>
            </a:solidFill>
            <a:prstDash val="solid"/>
          </a:ln>
        </p:spPr>
      </p:sp>
      <p:sp>
        <p:nvSpPr>
          <p:cNvPr id="45" name="Shape 42"/>
          <p:cNvSpPr/>
          <p:nvPr/>
        </p:nvSpPr>
        <p:spPr>
          <a:xfrm flipV="1">
            <a:off x="8897112" y="1911096"/>
            <a:ext cx="384048" cy="777240"/>
          </a:xfrm>
          <a:prstGeom prst="line">
            <a:avLst/>
          </a:prstGeom>
          <a:noFill/>
          <a:ln w="19050">
            <a:solidFill>
              <a:srgbClr val="5FBFF9"/>
            </a:solidFill>
            <a:prstDash val="solid"/>
          </a:ln>
        </p:spPr>
      </p:sp>
      <p:sp>
        <p:nvSpPr>
          <p:cNvPr id="46" name="Shape 43"/>
          <p:cNvSpPr/>
          <p:nvPr/>
        </p:nvSpPr>
        <p:spPr>
          <a:xfrm>
            <a:off x="9281160" y="1911096"/>
            <a:ext cx="384048" cy="777240"/>
          </a:xfrm>
          <a:prstGeom prst="line">
            <a:avLst/>
          </a:prstGeom>
          <a:noFill/>
          <a:ln w="19050">
            <a:solidFill>
              <a:srgbClr val="5FBFF9"/>
            </a:solidFill>
            <a:prstDash val="solid"/>
          </a:ln>
        </p:spPr>
      </p:sp>
      <p:sp>
        <p:nvSpPr>
          <p:cNvPr id="47" name="Shape 44"/>
          <p:cNvSpPr/>
          <p:nvPr/>
        </p:nvSpPr>
        <p:spPr>
          <a:xfrm>
            <a:off x="9665208" y="2688336"/>
            <a:ext cx="384048" cy="777240"/>
          </a:xfrm>
          <a:prstGeom prst="line">
            <a:avLst/>
          </a:prstGeom>
          <a:noFill/>
          <a:ln w="19050">
            <a:solidFill>
              <a:srgbClr val="5FBFF9"/>
            </a:solidFill>
            <a:prstDash val="solid"/>
          </a:ln>
        </p:spPr>
      </p:sp>
      <p:sp>
        <p:nvSpPr>
          <p:cNvPr id="48" name="Shape 45"/>
          <p:cNvSpPr/>
          <p:nvPr/>
        </p:nvSpPr>
        <p:spPr>
          <a:xfrm flipV="1">
            <a:off x="10049256" y="2688336"/>
            <a:ext cx="384048" cy="777240"/>
          </a:xfrm>
          <a:prstGeom prst="line">
            <a:avLst/>
          </a:prstGeom>
          <a:noFill/>
          <a:ln w="19050">
            <a:solidFill>
              <a:srgbClr val="5FBFF9"/>
            </a:solidFill>
            <a:prstDash val="solid"/>
          </a:ln>
        </p:spPr>
      </p:sp>
      <p:sp>
        <p:nvSpPr>
          <p:cNvPr id="49" name="Shape 46"/>
          <p:cNvSpPr/>
          <p:nvPr/>
        </p:nvSpPr>
        <p:spPr>
          <a:xfrm flipV="1">
            <a:off x="10433304" y="1911096"/>
            <a:ext cx="384048" cy="777240"/>
          </a:xfrm>
          <a:prstGeom prst="line">
            <a:avLst/>
          </a:prstGeom>
          <a:noFill/>
          <a:ln w="19050">
            <a:solidFill>
              <a:srgbClr val="5FBFF9"/>
            </a:solidFill>
            <a:prstDash val="solid"/>
          </a:ln>
        </p:spPr>
      </p:sp>
      <p:sp>
        <p:nvSpPr>
          <p:cNvPr id="50" name="Shape 47"/>
          <p:cNvSpPr/>
          <p:nvPr/>
        </p:nvSpPr>
        <p:spPr>
          <a:xfrm>
            <a:off x="10817352" y="1911096"/>
            <a:ext cx="384048" cy="777240"/>
          </a:xfrm>
          <a:prstGeom prst="line">
            <a:avLst/>
          </a:prstGeom>
          <a:noFill/>
          <a:ln w="19050">
            <a:solidFill>
              <a:srgbClr val="5FBFF9"/>
            </a:solidFill>
            <a:prstDash val="solid"/>
          </a:ln>
        </p:spPr>
      </p:sp>
      <p:sp>
        <p:nvSpPr>
          <p:cNvPr id="51" name="Shape 48"/>
          <p:cNvSpPr/>
          <p:nvPr/>
        </p:nvSpPr>
        <p:spPr>
          <a:xfrm>
            <a:off x="11201400" y="2688336"/>
            <a:ext cx="384048" cy="777240"/>
          </a:xfrm>
          <a:prstGeom prst="line">
            <a:avLst/>
          </a:prstGeom>
          <a:noFill/>
          <a:ln w="19050">
            <a:solidFill>
              <a:srgbClr val="5FBFF9"/>
            </a:solidFill>
            <a:prstDash val="solid"/>
          </a:ln>
        </p:spPr>
      </p:sp>
      <p:sp>
        <p:nvSpPr>
          <p:cNvPr id="52" name="Text 49"/>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53" name="Text 50"/>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TRANSPOSITION · 01</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Rail Fence Cipher — Worked Example</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1005840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Encrypt "WEAREDISCOVERED" with 3 rails</a:t>
            </a:r>
            <a:endParaRPr lang="en-US" sz="1400" dirty="0"/>
          </a:p>
        </p:txBody>
      </p:sp>
      <p:sp>
        <p:nvSpPr>
          <p:cNvPr id="7" name="Shape 4"/>
          <p:cNvSpPr/>
          <p:nvPr/>
        </p:nvSpPr>
        <p:spPr>
          <a:xfrm>
            <a:off x="548640" y="2103120"/>
            <a:ext cx="10881360" cy="457200"/>
          </a:xfrm>
          <a:prstGeom prst="roundRect">
            <a:avLst>
              <a:gd name="adj" fmla="val 10000"/>
            </a:avLst>
          </a:prstGeom>
          <a:solidFill>
            <a:srgbClr val="FFFFFF"/>
          </a:solidFill>
          <a:ln w="12700">
            <a:solidFill>
              <a:srgbClr val="DCE3EA"/>
            </a:solidFill>
            <a:prstDash val="solid"/>
          </a:ln>
        </p:spPr>
      </p:sp>
      <p:sp>
        <p:nvSpPr>
          <p:cNvPr id="8" name="Text 5"/>
          <p:cNvSpPr/>
          <p:nvPr/>
        </p:nvSpPr>
        <p:spPr>
          <a:xfrm>
            <a:off x="731520" y="2103120"/>
            <a:ext cx="10515600" cy="457200"/>
          </a:xfrm>
          <a:prstGeom prst="rect">
            <a:avLst/>
          </a:prstGeom>
          <a:noFill/>
          <a:ln/>
        </p:spPr>
        <p:txBody>
          <a:bodyPr wrap="square" rtlCol="0" anchor="ctr"/>
          <a:lstStyle/>
          <a:p>
            <a:pPr marL="0" indent="0">
              <a:buNone/>
            </a:pPr>
            <a:r>
              <a:rPr lang="en-US" sz="1300" b="1" dirty="0">
                <a:solidFill>
                  <a:srgbClr val="0B2545"/>
                </a:solidFill>
                <a:latin typeface="Courier New" pitchFamily="34" charset="0"/>
                <a:ea typeface="Courier New" pitchFamily="34" charset="-122"/>
                <a:cs typeface="Courier New" pitchFamily="34" charset="-120"/>
              </a:rPr>
              <a:t>Rail 1:  W . . . E . . . C . . . R . . .</a:t>
            </a:r>
            <a:endParaRPr lang="en-US" sz="1300" dirty="0"/>
          </a:p>
        </p:txBody>
      </p:sp>
      <p:sp>
        <p:nvSpPr>
          <p:cNvPr id="9" name="Shape 6"/>
          <p:cNvSpPr/>
          <p:nvPr/>
        </p:nvSpPr>
        <p:spPr>
          <a:xfrm>
            <a:off x="548640" y="2697480"/>
            <a:ext cx="10881360" cy="457200"/>
          </a:xfrm>
          <a:prstGeom prst="roundRect">
            <a:avLst>
              <a:gd name="adj" fmla="val 10000"/>
            </a:avLst>
          </a:prstGeom>
          <a:solidFill>
            <a:srgbClr val="EAF0F6"/>
          </a:solidFill>
          <a:ln w="12700">
            <a:solidFill>
              <a:srgbClr val="DCE3EA"/>
            </a:solidFill>
            <a:prstDash val="solid"/>
          </a:ln>
        </p:spPr>
      </p:sp>
      <p:sp>
        <p:nvSpPr>
          <p:cNvPr id="10" name="Text 7"/>
          <p:cNvSpPr/>
          <p:nvPr/>
        </p:nvSpPr>
        <p:spPr>
          <a:xfrm>
            <a:off x="731520" y="2697480"/>
            <a:ext cx="10515600" cy="457200"/>
          </a:xfrm>
          <a:prstGeom prst="rect">
            <a:avLst/>
          </a:prstGeom>
          <a:noFill/>
          <a:ln/>
        </p:spPr>
        <p:txBody>
          <a:bodyPr wrap="square" rtlCol="0" anchor="ctr"/>
          <a:lstStyle/>
          <a:p>
            <a:pPr marL="0" indent="0">
              <a:buNone/>
            </a:pPr>
            <a:r>
              <a:rPr lang="en-US" sz="1300" b="1" dirty="0">
                <a:solidFill>
                  <a:srgbClr val="0B2545"/>
                </a:solidFill>
                <a:latin typeface="Courier New" pitchFamily="34" charset="0"/>
                <a:ea typeface="Courier New" pitchFamily="34" charset="-122"/>
                <a:cs typeface="Courier New" pitchFamily="34" charset="-120"/>
              </a:rPr>
              <a:t>Rail 2:  . E . R . D . S . O . E . E . .</a:t>
            </a:r>
            <a:endParaRPr lang="en-US" sz="1300" dirty="0"/>
          </a:p>
        </p:txBody>
      </p:sp>
      <p:sp>
        <p:nvSpPr>
          <p:cNvPr id="11" name="Shape 8"/>
          <p:cNvSpPr/>
          <p:nvPr/>
        </p:nvSpPr>
        <p:spPr>
          <a:xfrm>
            <a:off x="548640" y="3291840"/>
            <a:ext cx="10881360" cy="457200"/>
          </a:xfrm>
          <a:prstGeom prst="roundRect">
            <a:avLst>
              <a:gd name="adj" fmla="val 10000"/>
            </a:avLst>
          </a:prstGeom>
          <a:solidFill>
            <a:srgbClr val="FFFFFF"/>
          </a:solidFill>
          <a:ln w="12700">
            <a:solidFill>
              <a:srgbClr val="DCE3EA"/>
            </a:solidFill>
            <a:prstDash val="solid"/>
          </a:ln>
        </p:spPr>
      </p:sp>
      <p:sp>
        <p:nvSpPr>
          <p:cNvPr id="12" name="Text 9"/>
          <p:cNvSpPr/>
          <p:nvPr/>
        </p:nvSpPr>
        <p:spPr>
          <a:xfrm>
            <a:off x="731520" y="3291840"/>
            <a:ext cx="10515600" cy="457200"/>
          </a:xfrm>
          <a:prstGeom prst="rect">
            <a:avLst/>
          </a:prstGeom>
          <a:noFill/>
          <a:ln/>
        </p:spPr>
        <p:txBody>
          <a:bodyPr wrap="square" rtlCol="0" anchor="ctr"/>
          <a:lstStyle/>
          <a:p>
            <a:pPr marL="0" indent="0">
              <a:buNone/>
            </a:pPr>
            <a:r>
              <a:rPr lang="en-US" sz="1300" b="1" dirty="0">
                <a:solidFill>
                  <a:srgbClr val="0B2545"/>
                </a:solidFill>
                <a:latin typeface="Courier New" pitchFamily="34" charset="0"/>
                <a:ea typeface="Courier New" pitchFamily="34" charset="-122"/>
                <a:cs typeface="Courier New" pitchFamily="34" charset="-120"/>
              </a:rPr>
              <a:t>Rail 3:  . . A . . . I . . . V . . . D .</a:t>
            </a:r>
            <a:endParaRPr lang="en-US" sz="1300" dirty="0"/>
          </a:p>
        </p:txBody>
      </p:sp>
      <p:sp>
        <p:nvSpPr>
          <p:cNvPr id="13" name="Text 10"/>
          <p:cNvSpPr/>
          <p:nvPr/>
        </p:nvSpPr>
        <p:spPr>
          <a:xfrm>
            <a:off x="548640" y="3977640"/>
            <a:ext cx="10058400" cy="27432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Read rails in order, top to bottom:</a:t>
            </a:r>
            <a:endParaRPr lang="en-US" sz="1250" dirty="0"/>
          </a:p>
        </p:txBody>
      </p:sp>
      <p:sp>
        <p:nvSpPr>
          <p:cNvPr id="14" name="Shape 11"/>
          <p:cNvSpPr/>
          <p:nvPr/>
        </p:nvSpPr>
        <p:spPr>
          <a:xfrm>
            <a:off x="548640" y="4297680"/>
            <a:ext cx="10881360" cy="502920"/>
          </a:xfrm>
          <a:prstGeom prst="roundRect">
            <a:avLst>
              <a:gd name="adj" fmla="val 10909"/>
            </a:avLst>
          </a:prstGeom>
          <a:solidFill>
            <a:srgbClr val="0B2545"/>
          </a:solidFill>
          <a:ln/>
        </p:spPr>
      </p:sp>
      <p:sp>
        <p:nvSpPr>
          <p:cNvPr id="15" name="Text 12"/>
          <p:cNvSpPr/>
          <p:nvPr/>
        </p:nvSpPr>
        <p:spPr>
          <a:xfrm>
            <a:off x="685800" y="4297680"/>
            <a:ext cx="10607040" cy="502920"/>
          </a:xfrm>
          <a:prstGeom prst="rect">
            <a:avLst/>
          </a:prstGeom>
          <a:noFill/>
          <a:ln/>
        </p:spPr>
        <p:txBody>
          <a:bodyPr wrap="square" rtlCol="0" anchor="ctr"/>
          <a:lstStyle/>
          <a:p>
            <a:pPr marL="0" indent="0" algn="ctr">
              <a:buNone/>
            </a:pPr>
            <a:r>
              <a:rPr lang="en-US" sz="1400" b="1" kern="0" spc="200" dirty="0">
                <a:solidFill>
                  <a:srgbClr val="FFFFFF"/>
                </a:solidFill>
                <a:latin typeface="Courier New" pitchFamily="34" charset="0"/>
                <a:ea typeface="Courier New" pitchFamily="34" charset="-122"/>
                <a:cs typeface="Courier New" pitchFamily="34" charset="-120"/>
              </a:rPr>
              <a:t>WECRERDSOEEAIVD</a:t>
            </a:r>
            <a:endParaRPr lang="en-US" sz="1400" dirty="0"/>
          </a:p>
        </p:txBody>
      </p:sp>
      <p:sp>
        <p:nvSpPr>
          <p:cNvPr id="16" name="Shape 13"/>
          <p:cNvSpPr/>
          <p:nvPr/>
        </p:nvSpPr>
        <p:spPr>
          <a:xfrm>
            <a:off x="548640" y="5029200"/>
            <a:ext cx="10881360" cy="1234440"/>
          </a:xfrm>
          <a:prstGeom prst="roundRect">
            <a:avLst>
              <a:gd name="adj" fmla="val 5926"/>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7" name="Text 14"/>
          <p:cNvSpPr/>
          <p:nvPr/>
        </p:nvSpPr>
        <p:spPr>
          <a:xfrm>
            <a:off x="777240" y="5193792"/>
            <a:ext cx="10424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Strengths and weaknesses</a:t>
            </a:r>
            <a:endParaRPr lang="en-US" sz="1500" dirty="0"/>
          </a:p>
        </p:txBody>
      </p:sp>
      <p:sp>
        <p:nvSpPr>
          <p:cNvPr id="18" name="Text 15"/>
          <p:cNvSpPr/>
          <p:nvPr/>
        </p:nvSpPr>
        <p:spPr>
          <a:xfrm>
            <a:off x="777240" y="5559552"/>
            <a:ext cx="10424160" cy="5029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Extremely fast to apply by hand, but the key space is only as large as the number of feasible rail counts for a message — typically fewer than 10-15 practical values. An attacker can try every rail count directly (brute force) since the ciphertext length alone narrows the search enormously.</a:t>
            </a:r>
            <a:endParaRPr lang="en-US" sz="1200" dirty="0"/>
          </a:p>
        </p:txBody>
      </p:sp>
      <p:sp>
        <p:nvSpPr>
          <p:cNvPr id="19" name="Text 1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20" name="Text 17"/>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TRANSPOSITION · 02</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Columnar Transposition Cipher — Concept</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listol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600200"/>
            <a:ext cx="5120640" cy="4297680"/>
          </a:xfrm>
          <a:prstGeom prst="rect">
            <a:avLst/>
          </a:prstGeom>
          <a:noFill/>
          <a:ln/>
        </p:spPr>
        <p:txBody>
          <a:bodyPr wrap="square" rtlCol="0" anchor="t"/>
          <a:lstStyle/>
          <a:p>
            <a:pPr marL="0" indent="0">
              <a:spcAft>
                <a:spcPts val="800"/>
              </a:spcAft>
              <a:buNone/>
            </a:pPr>
            <a:r>
              <a:rPr lang="en-US" sz="1300" dirty="0">
                <a:solidFill>
                  <a:srgbClr val="16232E"/>
                </a:solidFill>
                <a:latin typeface="Calibri" pitchFamily="34" charset="0"/>
                <a:ea typeface="Calibri" pitchFamily="34" charset="-122"/>
                <a:cs typeface="Calibri" pitchFamily="34" charset="-120"/>
              </a:rPr>
              <a:t>The plaintext is written into a grid row by row, under a keyword.</a:t>
            </a:r>
            <a:endParaRPr lang="en-US" sz="1300" dirty="0"/>
          </a:p>
          <a:p>
            <a:pPr marL="0" indent="0">
              <a:spcAft>
                <a:spcPts val="800"/>
              </a:spcAft>
              <a:buNone/>
            </a:pPr>
            <a:r>
              <a:rPr lang="en-US" sz="1300" dirty="0">
                <a:solidFill>
                  <a:srgbClr val="16232E"/>
                </a:solidFill>
                <a:latin typeface="Calibri" pitchFamily="34" charset="0"/>
                <a:ea typeface="Calibri" pitchFamily="34" charset="-122"/>
                <a:cs typeface="Calibri" pitchFamily="34" charset="-120"/>
              </a:rPr>
              <a:t>The keyword's letters are numbered alphabetically to define a column reading order.</a:t>
            </a:r>
            <a:endParaRPr lang="en-US" sz="1300" dirty="0"/>
          </a:p>
          <a:p>
            <a:pPr marL="0" indent="0">
              <a:spcAft>
                <a:spcPts val="800"/>
              </a:spcAft>
              <a:buNone/>
            </a:pPr>
            <a:r>
              <a:rPr lang="en-US" sz="1300" dirty="0">
                <a:solidFill>
                  <a:srgbClr val="16232E"/>
                </a:solidFill>
                <a:latin typeface="Calibri" pitchFamily="34" charset="0"/>
                <a:ea typeface="Calibri" pitchFamily="34" charset="-122"/>
                <a:cs typeface="Calibri" pitchFamily="34" charset="-120"/>
              </a:rPr>
              <a:t>Ciphertext is read column by column, following that numeric order rather than left-to-right.</a:t>
            </a:r>
            <a:endParaRPr lang="en-US" sz="1300" dirty="0"/>
          </a:p>
          <a:p>
            <a:pPr marL="0" indent="0">
              <a:buNone/>
            </a:pPr>
            <a:r>
              <a:rPr lang="en-US" sz="1300" dirty="0">
                <a:solidFill>
                  <a:srgbClr val="16232E"/>
                </a:solidFill>
                <a:latin typeface="Calibri" pitchFamily="34" charset="0"/>
                <a:ea typeface="Calibri" pitchFamily="34" charset="-122"/>
                <a:cs typeface="Calibri" pitchFamily="34" charset="-120"/>
              </a:rPr>
              <a:t>Incomplete final rows are typically padded with filler letters (X, Q).</a:t>
            </a:r>
            <a:endParaRPr lang="en-US" sz="1300" dirty="0"/>
          </a:p>
        </p:txBody>
      </p:sp>
      <p:sp>
        <p:nvSpPr>
          <p:cNvPr id="7" name="Text 4"/>
          <p:cNvSpPr/>
          <p:nvPr/>
        </p:nvSpPr>
        <p:spPr>
          <a:xfrm>
            <a:off x="6126480" y="1554480"/>
            <a:ext cx="5486400" cy="274320"/>
          </a:xfrm>
          <a:prstGeom prst="rect">
            <a:avLst/>
          </a:prstGeom>
          <a:noFill/>
          <a:ln/>
        </p:spPr>
        <p:txBody>
          <a:bodyPr wrap="square" rtlCol="0" anchor="ctr"/>
          <a:lstStyle/>
          <a:p>
            <a:pPr marL="0" indent="0">
              <a:buNone/>
            </a:pPr>
            <a:r>
              <a:rPr lang="en-US" sz="1100" b="1" dirty="0">
                <a:solidFill>
                  <a:srgbClr val="5A6B7B"/>
                </a:solidFill>
                <a:latin typeface="Calibri" pitchFamily="34" charset="0"/>
                <a:ea typeface="Calibri" pitchFamily="34" charset="-122"/>
                <a:cs typeface="Calibri" pitchFamily="34" charset="-120"/>
              </a:rPr>
              <a:t>Keyword "ZEBRAS" → column order</a:t>
            </a:r>
            <a:endParaRPr lang="en-US" sz="1100" dirty="0"/>
          </a:p>
        </p:txBody>
      </p:sp>
      <p:sp>
        <p:nvSpPr>
          <p:cNvPr id="8" name="Shape 5"/>
          <p:cNvSpPr/>
          <p:nvPr/>
        </p:nvSpPr>
        <p:spPr>
          <a:xfrm>
            <a:off x="6126480" y="1920240"/>
            <a:ext cx="740664" cy="502920"/>
          </a:xfrm>
          <a:prstGeom prst="rect">
            <a:avLst/>
          </a:prstGeom>
          <a:solidFill>
            <a:srgbClr val="0B2545"/>
          </a:solidFill>
          <a:ln/>
        </p:spPr>
      </p:sp>
      <p:sp>
        <p:nvSpPr>
          <p:cNvPr id="9" name="Text 6"/>
          <p:cNvSpPr/>
          <p:nvPr/>
        </p:nvSpPr>
        <p:spPr>
          <a:xfrm>
            <a:off x="6126480" y="1920240"/>
            <a:ext cx="740664"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Z</a:t>
            </a:r>
            <a:endParaRPr lang="en-US" sz="1500" dirty="0"/>
          </a:p>
        </p:txBody>
      </p:sp>
      <p:sp>
        <p:nvSpPr>
          <p:cNvPr id="10" name="Shape 7"/>
          <p:cNvSpPr/>
          <p:nvPr/>
        </p:nvSpPr>
        <p:spPr>
          <a:xfrm>
            <a:off x="6126480" y="2423160"/>
            <a:ext cx="740664" cy="365760"/>
          </a:xfrm>
          <a:prstGeom prst="rect">
            <a:avLst/>
          </a:prstGeom>
          <a:solidFill>
            <a:srgbClr val="5FBFF9"/>
          </a:solidFill>
          <a:ln/>
        </p:spPr>
      </p:sp>
      <p:sp>
        <p:nvSpPr>
          <p:cNvPr id="11" name="Text 8"/>
          <p:cNvSpPr/>
          <p:nvPr/>
        </p:nvSpPr>
        <p:spPr>
          <a:xfrm>
            <a:off x="6126480" y="2423160"/>
            <a:ext cx="740664" cy="365760"/>
          </a:xfrm>
          <a:prstGeom prst="rect">
            <a:avLst/>
          </a:prstGeom>
          <a:noFill/>
          <a:ln/>
        </p:spPr>
        <p:txBody>
          <a:bodyPr wrap="square"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6</a:t>
            </a:r>
            <a:endParaRPr lang="en-US" sz="1300" dirty="0"/>
          </a:p>
        </p:txBody>
      </p:sp>
      <p:sp>
        <p:nvSpPr>
          <p:cNvPr id="12" name="Shape 9"/>
          <p:cNvSpPr/>
          <p:nvPr/>
        </p:nvSpPr>
        <p:spPr>
          <a:xfrm>
            <a:off x="6903720" y="1920240"/>
            <a:ext cx="740664" cy="502920"/>
          </a:xfrm>
          <a:prstGeom prst="rect">
            <a:avLst/>
          </a:prstGeom>
          <a:solidFill>
            <a:srgbClr val="0B2545"/>
          </a:solidFill>
          <a:ln/>
        </p:spPr>
      </p:sp>
      <p:sp>
        <p:nvSpPr>
          <p:cNvPr id="13" name="Text 10"/>
          <p:cNvSpPr/>
          <p:nvPr/>
        </p:nvSpPr>
        <p:spPr>
          <a:xfrm>
            <a:off x="6903720" y="1920240"/>
            <a:ext cx="740664"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E</a:t>
            </a:r>
            <a:endParaRPr lang="en-US" sz="1500" dirty="0"/>
          </a:p>
        </p:txBody>
      </p:sp>
      <p:sp>
        <p:nvSpPr>
          <p:cNvPr id="14" name="Shape 11"/>
          <p:cNvSpPr/>
          <p:nvPr/>
        </p:nvSpPr>
        <p:spPr>
          <a:xfrm>
            <a:off x="6903720" y="2423160"/>
            <a:ext cx="740664" cy="365760"/>
          </a:xfrm>
          <a:prstGeom prst="rect">
            <a:avLst/>
          </a:prstGeom>
          <a:solidFill>
            <a:srgbClr val="5FBFF9"/>
          </a:solidFill>
          <a:ln/>
        </p:spPr>
      </p:sp>
      <p:sp>
        <p:nvSpPr>
          <p:cNvPr id="15" name="Text 12"/>
          <p:cNvSpPr/>
          <p:nvPr/>
        </p:nvSpPr>
        <p:spPr>
          <a:xfrm>
            <a:off x="6903720" y="2423160"/>
            <a:ext cx="740664" cy="365760"/>
          </a:xfrm>
          <a:prstGeom prst="rect">
            <a:avLst/>
          </a:prstGeom>
          <a:noFill/>
          <a:ln/>
        </p:spPr>
        <p:txBody>
          <a:bodyPr wrap="square"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3</a:t>
            </a:r>
            <a:endParaRPr lang="en-US" sz="1300" dirty="0"/>
          </a:p>
        </p:txBody>
      </p:sp>
      <p:sp>
        <p:nvSpPr>
          <p:cNvPr id="16" name="Shape 13"/>
          <p:cNvSpPr/>
          <p:nvPr/>
        </p:nvSpPr>
        <p:spPr>
          <a:xfrm>
            <a:off x="7680960" y="1920240"/>
            <a:ext cx="740664" cy="502920"/>
          </a:xfrm>
          <a:prstGeom prst="rect">
            <a:avLst/>
          </a:prstGeom>
          <a:solidFill>
            <a:srgbClr val="0B2545"/>
          </a:solidFill>
          <a:ln/>
        </p:spPr>
      </p:sp>
      <p:sp>
        <p:nvSpPr>
          <p:cNvPr id="17" name="Text 14"/>
          <p:cNvSpPr/>
          <p:nvPr/>
        </p:nvSpPr>
        <p:spPr>
          <a:xfrm>
            <a:off x="7680960" y="1920240"/>
            <a:ext cx="740664"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t>
            </a:r>
            <a:endParaRPr lang="en-US" sz="1500" dirty="0"/>
          </a:p>
        </p:txBody>
      </p:sp>
      <p:sp>
        <p:nvSpPr>
          <p:cNvPr id="18" name="Shape 15"/>
          <p:cNvSpPr/>
          <p:nvPr/>
        </p:nvSpPr>
        <p:spPr>
          <a:xfrm>
            <a:off x="7680960" y="2423160"/>
            <a:ext cx="740664" cy="365760"/>
          </a:xfrm>
          <a:prstGeom prst="rect">
            <a:avLst/>
          </a:prstGeom>
          <a:solidFill>
            <a:srgbClr val="5FBFF9"/>
          </a:solidFill>
          <a:ln/>
        </p:spPr>
      </p:sp>
      <p:sp>
        <p:nvSpPr>
          <p:cNvPr id="19" name="Text 16"/>
          <p:cNvSpPr/>
          <p:nvPr/>
        </p:nvSpPr>
        <p:spPr>
          <a:xfrm>
            <a:off x="7680960" y="2423160"/>
            <a:ext cx="740664" cy="365760"/>
          </a:xfrm>
          <a:prstGeom prst="rect">
            <a:avLst/>
          </a:prstGeom>
          <a:noFill/>
          <a:ln/>
        </p:spPr>
        <p:txBody>
          <a:bodyPr wrap="square"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2</a:t>
            </a:r>
            <a:endParaRPr lang="en-US" sz="1300" dirty="0"/>
          </a:p>
        </p:txBody>
      </p:sp>
      <p:sp>
        <p:nvSpPr>
          <p:cNvPr id="20" name="Shape 17"/>
          <p:cNvSpPr/>
          <p:nvPr/>
        </p:nvSpPr>
        <p:spPr>
          <a:xfrm>
            <a:off x="8458200" y="1920240"/>
            <a:ext cx="740664" cy="502920"/>
          </a:xfrm>
          <a:prstGeom prst="rect">
            <a:avLst/>
          </a:prstGeom>
          <a:solidFill>
            <a:srgbClr val="0B2545"/>
          </a:solidFill>
          <a:ln/>
        </p:spPr>
      </p:sp>
      <p:sp>
        <p:nvSpPr>
          <p:cNvPr id="21" name="Text 18"/>
          <p:cNvSpPr/>
          <p:nvPr/>
        </p:nvSpPr>
        <p:spPr>
          <a:xfrm>
            <a:off x="8458200" y="1920240"/>
            <a:ext cx="740664"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R</a:t>
            </a:r>
            <a:endParaRPr lang="en-US" sz="1500" dirty="0"/>
          </a:p>
        </p:txBody>
      </p:sp>
      <p:sp>
        <p:nvSpPr>
          <p:cNvPr id="22" name="Shape 19"/>
          <p:cNvSpPr/>
          <p:nvPr/>
        </p:nvSpPr>
        <p:spPr>
          <a:xfrm>
            <a:off x="8458200" y="2423160"/>
            <a:ext cx="740664" cy="365760"/>
          </a:xfrm>
          <a:prstGeom prst="rect">
            <a:avLst/>
          </a:prstGeom>
          <a:solidFill>
            <a:srgbClr val="5FBFF9"/>
          </a:solidFill>
          <a:ln/>
        </p:spPr>
      </p:sp>
      <p:sp>
        <p:nvSpPr>
          <p:cNvPr id="23" name="Text 20"/>
          <p:cNvSpPr/>
          <p:nvPr/>
        </p:nvSpPr>
        <p:spPr>
          <a:xfrm>
            <a:off x="8458200" y="2423160"/>
            <a:ext cx="740664" cy="365760"/>
          </a:xfrm>
          <a:prstGeom prst="rect">
            <a:avLst/>
          </a:prstGeom>
          <a:noFill/>
          <a:ln/>
        </p:spPr>
        <p:txBody>
          <a:bodyPr wrap="square"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4</a:t>
            </a:r>
            <a:endParaRPr lang="en-US" sz="1300" dirty="0"/>
          </a:p>
        </p:txBody>
      </p:sp>
      <p:sp>
        <p:nvSpPr>
          <p:cNvPr id="24" name="Shape 21"/>
          <p:cNvSpPr/>
          <p:nvPr/>
        </p:nvSpPr>
        <p:spPr>
          <a:xfrm>
            <a:off x="9235440" y="1920240"/>
            <a:ext cx="740664" cy="502920"/>
          </a:xfrm>
          <a:prstGeom prst="rect">
            <a:avLst/>
          </a:prstGeom>
          <a:solidFill>
            <a:srgbClr val="0B2545"/>
          </a:solidFill>
          <a:ln/>
        </p:spPr>
      </p:sp>
      <p:sp>
        <p:nvSpPr>
          <p:cNvPr id="25" name="Text 22"/>
          <p:cNvSpPr/>
          <p:nvPr/>
        </p:nvSpPr>
        <p:spPr>
          <a:xfrm>
            <a:off x="9235440" y="1920240"/>
            <a:ext cx="740664"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a:t>
            </a:r>
            <a:endParaRPr lang="en-US" sz="1500" dirty="0"/>
          </a:p>
        </p:txBody>
      </p:sp>
      <p:sp>
        <p:nvSpPr>
          <p:cNvPr id="26" name="Shape 23"/>
          <p:cNvSpPr/>
          <p:nvPr/>
        </p:nvSpPr>
        <p:spPr>
          <a:xfrm>
            <a:off x="9235440" y="2423160"/>
            <a:ext cx="740664" cy="365760"/>
          </a:xfrm>
          <a:prstGeom prst="rect">
            <a:avLst/>
          </a:prstGeom>
          <a:solidFill>
            <a:srgbClr val="5FBFF9"/>
          </a:solidFill>
          <a:ln/>
        </p:spPr>
      </p:sp>
      <p:sp>
        <p:nvSpPr>
          <p:cNvPr id="27" name="Text 24"/>
          <p:cNvSpPr/>
          <p:nvPr/>
        </p:nvSpPr>
        <p:spPr>
          <a:xfrm>
            <a:off x="9235440" y="2423160"/>
            <a:ext cx="740664" cy="365760"/>
          </a:xfrm>
          <a:prstGeom prst="rect">
            <a:avLst/>
          </a:prstGeom>
          <a:noFill/>
          <a:ln/>
        </p:spPr>
        <p:txBody>
          <a:bodyPr wrap="square"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1</a:t>
            </a:r>
            <a:endParaRPr lang="en-US" sz="1300" dirty="0"/>
          </a:p>
        </p:txBody>
      </p:sp>
      <p:sp>
        <p:nvSpPr>
          <p:cNvPr id="28" name="Shape 25"/>
          <p:cNvSpPr/>
          <p:nvPr/>
        </p:nvSpPr>
        <p:spPr>
          <a:xfrm>
            <a:off x="10012680" y="1920240"/>
            <a:ext cx="740664" cy="502920"/>
          </a:xfrm>
          <a:prstGeom prst="rect">
            <a:avLst/>
          </a:prstGeom>
          <a:solidFill>
            <a:srgbClr val="0B2545"/>
          </a:solidFill>
          <a:ln/>
        </p:spPr>
      </p:sp>
      <p:sp>
        <p:nvSpPr>
          <p:cNvPr id="29" name="Text 26"/>
          <p:cNvSpPr/>
          <p:nvPr/>
        </p:nvSpPr>
        <p:spPr>
          <a:xfrm>
            <a:off x="10012680" y="1920240"/>
            <a:ext cx="740664"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a:t>
            </a:r>
            <a:endParaRPr lang="en-US" sz="1500" dirty="0"/>
          </a:p>
        </p:txBody>
      </p:sp>
      <p:sp>
        <p:nvSpPr>
          <p:cNvPr id="30" name="Shape 27"/>
          <p:cNvSpPr/>
          <p:nvPr/>
        </p:nvSpPr>
        <p:spPr>
          <a:xfrm>
            <a:off x="10012680" y="2423160"/>
            <a:ext cx="740664" cy="365760"/>
          </a:xfrm>
          <a:prstGeom prst="rect">
            <a:avLst/>
          </a:prstGeom>
          <a:solidFill>
            <a:srgbClr val="5FBFF9"/>
          </a:solidFill>
          <a:ln/>
        </p:spPr>
      </p:sp>
      <p:sp>
        <p:nvSpPr>
          <p:cNvPr id="31" name="Text 28"/>
          <p:cNvSpPr/>
          <p:nvPr/>
        </p:nvSpPr>
        <p:spPr>
          <a:xfrm>
            <a:off x="10012680" y="2423160"/>
            <a:ext cx="740664" cy="365760"/>
          </a:xfrm>
          <a:prstGeom prst="rect">
            <a:avLst/>
          </a:prstGeom>
          <a:noFill/>
          <a:ln/>
        </p:spPr>
        <p:txBody>
          <a:bodyPr wrap="square"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5</a:t>
            </a:r>
            <a:endParaRPr lang="en-US" sz="1300" dirty="0"/>
          </a:p>
        </p:txBody>
      </p:sp>
      <p:sp>
        <p:nvSpPr>
          <p:cNvPr id="32" name="Text 29"/>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33" name="Text 30"/>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TRANSPOSITION · 02</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Columnar Transposition — Worked Example</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alculator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548640" y="1554480"/>
            <a:ext cx="10515600" cy="36576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Encrypt "MEETMEATMIDNIGHT" with keyword "ZEBRAS"</a:t>
            </a:r>
            <a:endParaRPr lang="en-US" sz="1350" dirty="0"/>
          </a:p>
        </p:txBody>
      </p:sp>
      <p:sp>
        <p:nvSpPr>
          <p:cNvPr id="7" name="Shape 4"/>
          <p:cNvSpPr/>
          <p:nvPr/>
        </p:nvSpPr>
        <p:spPr>
          <a:xfrm>
            <a:off x="777240" y="2011680"/>
            <a:ext cx="740664" cy="411480"/>
          </a:xfrm>
          <a:prstGeom prst="rect">
            <a:avLst/>
          </a:prstGeom>
          <a:solidFill>
            <a:srgbClr val="0B2545"/>
          </a:solidFill>
          <a:ln/>
        </p:spPr>
      </p:sp>
      <p:sp>
        <p:nvSpPr>
          <p:cNvPr id="8" name="Text 5"/>
          <p:cNvSpPr/>
          <p:nvPr/>
        </p:nvSpPr>
        <p:spPr>
          <a:xfrm>
            <a:off x="777240" y="2011680"/>
            <a:ext cx="740664"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Z</a:t>
            </a:r>
            <a:endParaRPr lang="en-US" sz="1300" dirty="0"/>
          </a:p>
        </p:txBody>
      </p:sp>
      <p:sp>
        <p:nvSpPr>
          <p:cNvPr id="9" name="Shape 6"/>
          <p:cNvSpPr/>
          <p:nvPr/>
        </p:nvSpPr>
        <p:spPr>
          <a:xfrm>
            <a:off x="777240" y="2423160"/>
            <a:ext cx="740664" cy="320040"/>
          </a:xfrm>
          <a:prstGeom prst="rect">
            <a:avLst/>
          </a:prstGeom>
          <a:solidFill>
            <a:srgbClr val="5FBFF9"/>
          </a:solidFill>
          <a:ln/>
        </p:spPr>
      </p:sp>
      <p:sp>
        <p:nvSpPr>
          <p:cNvPr id="10" name="Text 7"/>
          <p:cNvSpPr/>
          <p:nvPr/>
        </p:nvSpPr>
        <p:spPr>
          <a:xfrm>
            <a:off x="777240" y="2423160"/>
            <a:ext cx="740664" cy="3200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6</a:t>
            </a:r>
            <a:endParaRPr lang="en-US" sz="1100" dirty="0"/>
          </a:p>
        </p:txBody>
      </p:sp>
      <p:sp>
        <p:nvSpPr>
          <p:cNvPr id="11" name="Shape 8"/>
          <p:cNvSpPr/>
          <p:nvPr/>
        </p:nvSpPr>
        <p:spPr>
          <a:xfrm>
            <a:off x="1554480" y="2011680"/>
            <a:ext cx="740664" cy="411480"/>
          </a:xfrm>
          <a:prstGeom prst="rect">
            <a:avLst/>
          </a:prstGeom>
          <a:solidFill>
            <a:srgbClr val="0B2545"/>
          </a:solidFill>
          <a:ln/>
        </p:spPr>
      </p:sp>
      <p:sp>
        <p:nvSpPr>
          <p:cNvPr id="12" name="Text 9"/>
          <p:cNvSpPr/>
          <p:nvPr/>
        </p:nvSpPr>
        <p:spPr>
          <a:xfrm>
            <a:off x="1554480" y="2011680"/>
            <a:ext cx="740664"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E</a:t>
            </a:r>
            <a:endParaRPr lang="en-US" sz="1300" dirty="0"/>
          </a:p>
        </p:txBody>
      </p:sp>
      <p:sp>
        <p:nvSpPr>
          <p:cNvPr id="13" name="Shape 10"/>
          <p:cNvSpPr/>
          <p:nvPr/>
        </p:nvSpPr>
        <p:spPr>
          <a:xfrm>
            <a:off x="1554480" y="2423160"/>
            <a:ext cx="740664" cy="320040"/>
          </a:xfrm>
          <a:prstGeom prst="rect">
            <a:avLst/>
          </a:prstGeom>
          <a:solidFill>
            <a:srgbClr val="5FBFF9"/>
          </a:solidFill>
          <a:ln/>
        </p:spPr>
      </p:sp>
      <p:sp>
        <p:nvSpPr>
          <p:cNvPr id="14" name="Text 11"/>
          <p:cNvSpPr/>
          <p:nvPr/>
        </p:nvSpPr>
        <p:spPr>
          <a:xfrm>
            <a:off x="1554480" y="2423160"/>
            <a:ext cx="740664" cy="3200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3</a:t>
            </a:r>
            <a:endParaRPr lang="en-US" sz="1100" dirty="0"/>
          </a:p>
        </p:txBody>
      </p:sp>
      <p:sp>
        <p:nvSpPr>
          <p:cNvPr id="15" name="Shape 12"/>
          <p:cNvSpPr/>
          <p:nvPr/>
        </p:nvSpPr>
        <p:spPr>
          <a:xfrm>
            <a:off x="2331720" y="2011680"/>
            <a:ext cx="740664" cy="411480"/>
          </a:xfrm>
          <a:prstGeom prst="rect">
            <a:avLst/>
          </a:prstGeom>
          <a:solidFill>
            <a:srgbClr val="0B2545"/>
          </a:solidFill>
          <a:ln/>
        </p:spPr>
      </p:sp>
      <p:sp>
        <p:nvSpPr>
          <p:cNvPr id="16" name="Text 13"/>
          <p:cNvSpPr/>
          <p:nvPr/>
        </p:nvSpPr>
        <p:spPr>
          <a:xfrm>
            <a:off x="2331720" y="2011680"/>
            <a:ext cx="740664"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B</a:t>
            </a:r>
            <a:endParaRPr lang="en-US" sz="1300" dirty="0"/>
          </a:p>
        </p:txBody>
      </p:sp>
      <p:sp>
        <p:nvSpPr>
          <p:cNvPr id="17" name="Shape 14"/>
          <p:cNvSpPr/>
          <p:nvPr/>
        </p:nvSpPr>
        <p:spPr>
          <a:xfrm>
            <a:off x="2331720" y="2423160"/>
            <a:ext cx="740664" cy="320040"/>
          </a:xfrm>
          <a:prstGeom prst="rect">
            <a:avLst/>
          </a:prstGeom>
          <a:solidFill>
            <a:srgbClr val="5FBFF9"/>
          </a:solidFill>
          <a:ln/>
        </p:spPr>
      </p:sp>
      <p:sp>
        <p:nvSpPr>
          <p:cNvPr id="18" name="Text 15"/>
          <p:cNvSpPr/>
          <p:nvPr/>
        </p:nvSpPr>
        <p:spPr>
          <a:xfrm>
            <a:off x="2331720" y="2423160"/>
            <a:ext cx="740664" cy="3200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2</a:t>
            </a:r>
            <a:endParaRPr lang="en-US" sz="1100" dirty="0"/>
          </a:p>
        </p:txBody>
      </p:sp>
      <p:sp>
        <p:nvSpPr>
          <p:cNvPr id="19" name="Shape 16"/>
          <p:cNvSpPr/>
          <p:nvPr/>
        </p:nvSpPr>
        <p:spPr>
          <a:xfrm>
            <a:off x="3108960" y="2011680"/>
            <a:ext cx="740664" cy="411480"/>
          </a:xfrm>
          <a:prstGeom prst="rect">
            <a:avLst/>
          </a:prstGeom>
          <a:solidFill>
            <a:srgbClr val="0B2545"/>
          </a:solidFill>
          <a:ln/>
        </p:spPr>
      </p:sp>
      <p:sp>
        <p:nvSpPr>
          <p:cNvPr id="20" name="Text 17"/>
          <p:cNvSpPr/>
          <p:nvPr/>
        </p:nvSpPr>
        <p:spPr>
          <a:xfrm>
            <a:off x="3108960" y="2011680"/>
            <a:ext cx="740664"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R</a:t>
            </a:r>
            <a:endParaRPr lang="en-US" sz="1300" dirty="0"/>
          </a:p>
        </p:txBody>
      </p:sp>
      <p:sp>
        <p:nvSpPr>
          <p:cNvPr id="21" name="Shape 18"/>
          <p:cNvSpPr/>
          <p:nvPr/>
        </p:nvSpPr>
        <p:spPr>
          <a:xfrm>
            <a:off x="3108960" y="2423160"/>
            <a:ext cx="740664" cy="320040"/>
          </a:xfrm>
          <a:prstGeom prst="rect">
            <a:avLst/>
          </a:prstGeom>
          <a:solidFill>
            <a:srgbClr val="5FBFF9"/>
          </a:solidFill>
          <a:ln/>
        </p:spPr>
      </p:sp>
      <p:sp>
        <p:nvSpPr>
          <p:cNvPr id="22" name="Text 19"/>
          <p:cNvSpPr/>
          <p:nvPr/>
        </p:nvSpPr>
        <p:spPr>
          <a:xfrm>
            <a:off x="3108960" y="2423160"/>
            <a:ext cx="740664" cy="3200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4</a:t>
            </a:r>
            <a:endParaRPr lang="en-US" sz="1100" dirty="0"/>
          </a:p>
        </p:txBody>
      </p:sp>
      <p:sp>
        <p:nvSpPr>
          <p:cNvPr id="23" name="Shape 20"/>
          <p:cNvSpPr/>
          <p:nvPr/>
        </p:nvSpPr>
        <p:spPr>
          <a:xfrm>
            <a:off x="3886200" y="2011680"/>
            <a:ext cx="740664" cy="411480"/>
          </a:xfrm>
          <a:prstGeom prst="rect">
            <a:avLst/>
          </a:prstGeom>
          <a:solidFill>
            <a:srgbClr val="0B2545"/>
          </a:solidFill>
          <a:ln/>
        </p:spPr>
      </p:sp>
      <p:sp>
        <p:nvSpPr>
          <p:cNvPr id="24" name="Text 21"/>
          <p:cNvSpPr/>
          <p:nvPr/>
        </p:nvSpPr>
        <p:spPr>
          <a:xfrm>
            <a:off x="3886200" y="2011680"/>
            <a:ext cx="740664"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a:t>
            </a:r>
            <a:endParaRPr lang="en-US" sz="1300" dirty="0"/>
          </a:p>
        </p:txBody>
      </p:sp>
      <p:sp>
        <p:nvSpPr>
          <p:cNvPr id="25" name="Shape 22"/>
          <p:cNvSpPr/>
          <p:nvPr/>
        </p:nvSpPr>
        <p:spPr>
          <a:xfrm>
            <a:off x="3886200" y="2423160"/>
            <a:ext cx="740664" cy="320040"/>
          </a:xfrm>
          <a:prstGeom prst="rect">
            <a:avLst/>
          </a:prstGeom>
          <a:solidFill>
            <a:srgbClr val="5FBFF9"/>
          </a:solidFill>
          <a:ln/>
        </p:spPr>
      </p:sp>
      <p:sp>
        <p:nvSpPr>
          <p:cNvPr id="26" name="Text 23"/>
          <p:cNvSpPr/>
          <p:nvPr/>
        </p:nvSpPr>
        <p:spPr>
          <a:xfrm>
            <a:off x="3886200" y="2423160"/>
            <a:ext cx="740664" cy="3200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1</a:t>
            </a:r>
            <a:endParaRPr lang="en-US" sz="1100" dirty="0"/>
          </a:p>
        </p:txBody>
      </p:sp>
      <p:sp>
        <p:nvSpPr>
          <p:cNvPr id="27" name="Shape 24"/>
          <p:cNvSpPr/>
          <p:nvPr/>
        </p:nvSpPr>
        <p:spPr>
          <a:xfrm>
            <a:off x="4663440" y="2011680"/>
            <a:ext cx="740664" cy="411480"/>
          </a:xfrm>
          <a:prstGeom prst="rect">
            <a:avLst/>
          </a:prstGeom>
          <a:solidFill>
            <a:srgbClr val="0B2545"/>
          </a:solidFill>
          <a:ln/>
        </p:spPr>
      </p:sp>
      <p:sp>
        <p:nvSpPr>
          <p:cNvPr id="28" name="Text 25"/>
          <p:cNvSpPr/>
          <p:nvPr/>
        </p:nvSpPr>
        <p:spPr>
          <a:xfrm>
            <a:off x="4663440" y="2011680"/>
            <a:ext cx="740664" cy="411480"/>
          </a:xfrm>
          <a:prstGeom prst="rect">
            <a:avLst/>
          </a:prstGeom>
          <a:noFill/>
          <a:ln/>
        </p:spPr>
        <p:txBody>
          <a:bodyPr wrap="square"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S</a:t>
            </a:r>
            <a:endParaRPr lang="en-US" sz="1300" dirty="0"/>
          </a:p>
        </p:txBody>
      </p:sp>
      <p:sp>
        <p:nvSpPr>
          <p:cNvPr id="29" name="Shape 26"/>
          <p:cNvSpPr/>
          <p:nvPr/>
        </p:nvSpPr>
        <p:spPr>
          <a:xfrm>
            <a:off x="4663440" y="2423160"/>
            <a:ext cx="740664" cy="320040"/>
          </a:xfrm>
          <a:prstGeom prst="rect">
            <a:avLst/>
          </a:prstGeom>
          <a:solidFill>
            <a:srgbClr val="5FBFF9"/>
          </a:solidFill>
          <a:ln/>
        </p:spPr>
      </p:sp>
      <p:sp>
        <p:nvSpPr>
          <p:cNvPr id="30" name="Text 27"/>
          <p:cNvSpPr/>
          <p:nvPr/>
        </p:nvSpPr>
        <p:spPr>
          <a:xfrm>
            <a:off x="4663440" y="2423160"/>
            <a:ext cx="740664" cy="320040"/>
          </a:xfrm>
          <a:prstGeom prst="rect">
            <a:avLst/>
          </a:prstGeom>
          <a:noFill/>
          <a:ln/>
        </p:spPr>
        <p:txBody>
          <a:bodyPr wrap="square"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5</a:t>
            </a:r>
            <a:endParaRPr lang="en-US" sz="1100" dirty="0"/>
          </a:p>
        </p:txBody>
      </p:sp>
      <p:sp>
        <p:nvSpPr>
          <p:cNvPr id="31" name="Shape 28"/>
          <p:cNvSpPr/>
          <p:nvPr/>
        </p:nvSpPr>
        <p:spPr>
          <a:xfrm>
            <a:off x="777240" y="2743200"/>
            <a:ext cx="740664" cy="502920"/>
          </a:xfrm>
          <a:prstGeom prst="rect">
            <a:avLst/>
          </a:prstGeom>
          <a:solidFill>
            <a:srgbClr val="FFFFFF"/>
          </a:solidFill>
          <a:ln w="12700">
            <a:solidFill>
              <a:srgbClr val="DCE3EA"/>
            </a:solidFill>
            <a:prstDash val="solid"/>
          </a:ln>
        </p:spPr>
      </p:sp>
      <p:sp>
        <p:nvSpPr>
          <p:cNvPr id="32" name="Text 29"/>
          <p:cNvSpPr/>
          <p:nvPr/>
        </p:nvSpPr>
        <p:spPr>
          <a:xfrm>
            <a:off x="777240" y="274320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M</a:t>
            </a:r>
            <a:endParaRPr lang="en-US" sz="1400" dirty="0"/>
          </a:p>
        </p:txBody>
      </p:sp>
      <p:sp>
        <p:nvSpPr>
          <p:cNvPr id="33" name="Shape 30"/>
          <p:cNvSpPr/>
          <p:nvPr/>
        </p:nvSpPr>
        <p:spPr>
          <a:xfrm>
            <a:off x="1554480" y="2743200"/>
            <a:ext cx="740664" cy="502920"/>
          </a:xfrm>
          <a:prstGeom prst="rect">
            <a:avLst/>
          </a:prstGeom>
          <a:solidFill>
            <a:srgbClr val="FFFFFF"/>
          </a:solidFill>
          <a:ln w="12700">
            <a:solidFill>
              <a:srgbClr val="DCE3EA"/>
            </a:solidFill>
            <a:prstDash val="solid"/>
          </a:ln>
        </p:spPr>
      </p:sp>
      <p:sp>
        <p:nvSpPr>
          <p:cNvPr id="34" name="Text 31"/>
          <p:cNvSpPr/>
          <p:nvPr/>
        </p:nvSpPr>
        <p:spPr>
          <a:xfrm>
            <a:off x="1554480" y="274320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E</a:t>
            </a:r>
            <a:endParaRPr lang="en-US" sz="1400" dirty="0"/>
          </a:p>
        </p:txBody>
      </p:sp>
      <p:sp>
        <p:nvSpPr>
          <p:cNvPr id="35" name="Shape 32"/>
          <p:cNvSpPr/>
          <p:nvPr/>
        </p:nvSpPr>
        <p:spPr>
          <a:xfrm>
            <a:off x="2331720" y="2743200"/>
            <a:ext cx="740664" cy="502920"/>
          </a:xfrm>
          <a:prstGeom prst="rect">
            <a:avLst/>
          </a:prstGeom>
          <a:solidFill>
            <a:srgbClr val="FFFFFF"/>
          </a:solidFill>
          <a:ln w="12700">
            <a:solidFill>
              <a:srgbClr val="DCE3EA"/>
            </a:solidFill>
            <a:prstDash val="solid"/>
          </a:ln>
        </p:spPr>
      </p:sp>
      <p:sp>
        <p:nvSpPr>
          <p:cNvPr id="36" name="Text 33"/>
          <p:cNvSpPr/>
          <p:nvPr/>
        </p:nvSpPr>
        <p:spPr>
          <a:xfrm>
            <a:off x="2331720" y="274320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E</a:t>
            </a:r>
            <a:endParaRPr lang="en-US" sz="1400" dirty="0"/>
          </a:p>
        </p:txBody>
      </p:sp>
      <p:sp>
        <p:nvSpPr>
          <p:cNvPr id="37" name="Shape 34"/>
          <p:cNvSpPr/>
          <p:nvPr/>
        </p:nvSpPr>
        <p:spPr>
          <a:xfrm>
            <a:off x="3108960" y="2743200"/>
            <a:ext cx="740664" cy="502920"/>
          </a:xfrm>
          <a:prstGeom prst="rect">
            <a:avLst/>
          </a:prstGeom>
          <a:solidFill>
            <a:srgbClr val="FFFFFF"/>
          </a:solidFill>
          <a:ln w="12700">
            <a:solidFill>
              <a:srgbClr val="DCE3EA"/>
            </a:solidFill>
            <a:prstDash val="solid"/>
          </a:ln>
        </p:spPr>
      </p:sp>
      <p:sp>
        <p:nvSpPr>
          <p:cNvPr id="38" name="Text 35"/>
          <p:cNvSpPr/>
          <p:nvPr/>
        </p:nvSpPr>
        <p:spPr>
          <a:xfrm>
            <a:off x="3108960" y="274320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T</a:t>
            </a:r>
            <a:endParaRPr lang="en-US" sz="1400" dirty="0"/>
          </a:p>
        </p:txBody>
      </p:sp>
      <p:sp>
        <p:nvSpPr>
          <p:cNvPr id="39" name="Shape 36"/>
          <p:cNvSpPr/>
          <p:nvPr/>
        </p:nvSpPr>
        <p:spPr>
          <a:xfrm>
            <a:off x="3886200" y="2743200"/>
            <a:ext cx="740664" cy="502920"/>
          </a:xfrm>
          <a:prstGeom prst="rect">
            <a:avLst/>
          </a:prstGeom>
          <a:solidFill>
            <a:srgbClr val="FFFFFF"/>
          </a:solidFill>
          <a:ln w="12700">
            <a:solidFill>
              <a:srgbClr val="DCE3EA"/>
            </a:solidFill>
            <a:prstDash val="solid"/>
          </a:ln>
        </p:spPr>
      </p:sp>
      <p:sp>
        <p:nvSpPr>
          <p:cNvPr id="40" name="Text 37"/>
          <p:cNvSpPr/>
          <p:nvPr/>
        </p:nvSpPr>
        <p:spPr>
          <a:xfrm>
            <a:off x="3886200" y="274320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M</a:t>
            </a:r>
            <a:endParaRPr lang="en-US" sz="1400" dirty="0"/>
          </a:p>
        </p:txBody>
      </p:sp>
      <p:sp>
        <p:nvSpPr>
          <p:cNvPr id="41" name="Shape 38"/>
          <p:cNvSpPr/>
          <p:nvPr/>
        </p:nvSpPr>
        <p:spPr>
          <a:xfrm>
            <a:off x="4663440" y="2743200"/>
            <a:ext cx="740664" cy="502920"/>
          </a:xfrm>
          <a:prstGeom prst="rect">
            <a:avLst/>
          </a:prstGeom>
          <a:solidFill>
            <a:srgbClr val="FFFFFF"/>
          </a:solidFill>
          <a:ln w="12700">
            <a:solidFill>
              <a:srgbClr val="DCE3EA"/>
            </a:solidFill>
            <a:prstDash val="solid"/>
          </a:ln>
        </p:spPr>
      </p:sp>
      <p:sp>
        <p:nvSpPr>
          <p:cNvPr id="42" name="Text 39"/>
          <p:cNvSpPr/>
          <p:nvPr/>
        </p:nvSpPr>
        <p:spPr>
          <a:xfrm>
            <a:off x="4663440" y="274320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E</a:t>
            </a:r>
            <a:endParaRPr lang="en-US" sz="1400" dirty="0"/>
          </a:p>
        </p:txBody>
      </p:sp>
      <p:sp>
        <p:nvSpPr>
          <p:cNvPr id="43" name="Shape 40"/>
          <p:cNvSpPr/>
          <p:nvPr/>
        </p:nvSpPr>
        <p:spPr>
          <a:xfrm>
            <a:off x="777240" y="3291840"/>
            <a:ext cx="740664" cy="502920"/>
          </a:xfrm>
          <a:prstGeom prst="rect">
            <a:avLst/>
          </a:prstGeom>
          <a:solidFill>
            <a:srgbClr val="EAF0F6"/>
          </a:solidFill>
          <a:ln w="12700">
            <a:solidFill>
              <a:srgbClr val="DCE3EA"/>
            </a:solidFill>
            <a:prstDash val="solid"/>
          </a:ln>
        </p:spPr>
      </p:sp>
      <p:sp>
        <p:nvSpPr>
          <p:cNvPr id="44" name="Text 41"/>
          <p:cNvSpPr/>
          <p:nvPr/>
        </p:nvSpPr>
        <p:spPr>
          <a:xfrm>
            <a:off x="777240" y="329184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A</a:t>
            </a:r>
            <a:endParaRPr lang="en-US" sz="1400" dirty="0"/>
          </a:p>
        </p:txBody>
      </p:sp>
      <p:sp>
        <p:nvSpPr>
          <p:cNvPr id="45" name="Shape 42"/>
          <p:cNvSpPr/>
          <p:nvPr/>
        </p:nvSpPr>
        <p:spPr>
          <a:xfrm>
            <a:off x="1554480" y="3291840"/>
            <a:ext cx="740664" cy="502920"/>
          </a:xfrm>
          <a:prstGeom prst="rect">
            <a:avLst/>
          </a:prstGeom>
          <a:solidFill>
            <a:srgbClr val="EAF0F6"/>
          </a:solidFill>
          <a:ln w="12700">
            <a:solidFill>
              <a:srgbClr val="DCE3EA"/>
            </a:solidFill>
            <a:prstDash val="solid"/>
          </a:ln>
        </p:spPr>
      </p:sp>
      <p:sp>
        <p:nvSpPr>
          <p:cNvPr id="46" name="Text 43"/>
          <p:cNvSpPr/>
          <p:nvPr/>
        </p:nvSpPr>
        <p:spPr>
          <a:xfrm>
            <a:off x="1554480" y="329184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T</a:t>
            </a:r>
            <a:endParaRPr lang="en-US" sz="1400" dirty="0"/>
          </a:p>
        </p:txBody>
      </p:sp>
      <p:sp>
        <p:nvSpPr>
          <p:cNvPr id="47" name="Shape 44"/>
          <p:cNvSpPr/>
          <p:nvPr/>
        </p:nvSpPr>
        <p:spPr>
          <a:xfrm>
            <a:off x="2331720" y="3291840"/>
            <a:ext cx="740664" cy="502920"/>
          </a:xfrm>
          <a:prstGeom prst="rect">
            <a:avLst/>
          </a:prstGeom>
          <a:solidFill>
            <a:srgbClr val="EAF0F6"/>
          </a:solidFill>
          <a:ln w="12700">
            <a:solidFill>
              <a:srgbClr val="DCE3EA"/>
            </a:solidFill>
            <a:prstDash val="solid"/>
          </a:ln>
        </p:spPr>
      </p:sp>
      <p:sp>
        <p:nvSpPr>
          <p:cNvPr id="48" name="Text 45"/>
          <p:cNvSpPr/>
          <p:nvPr/>
        </p:nvSpPr>
        <p:spPr>
          <a:xfrm>
            <a:off x="2331720" y="329184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M</a:t>
            </a:r>
            <a:endParaRPr lang="en-US" sz="1400" dirty="0"/>
          </a:p>
        </p:txBody>
      </p:sp>
      <p:sp>
        <p:nvSpPr>
          <p:cNvPr id="49" name="Shape 46"/>
          <p:cNvSpPr/>
          <p:nvPr/>
        </p:nvSpPr>
        <p:spPr>
          <a:xfrm>
            <a:off x="3108960" y="3291840"/>
            <a:ext cx="740664" cy="502920"/>
          </a:xfrm>
          <a:prstGeom prst="rect">
            <a:avLst/>
          </a:prstGeom>
          <a:solidFill>
            <a:srgbClr val="EAF0F6"/>
          </a:solidFill>
          <a:ln w="12700">
            <a:solidFill>
              <a:srgbClr val="DCE3EA"/>
            </a:solidFill>
            <a:prstDash val="solid"/>
          </a:ln>
        </p:spPr>
      </p:sp>
      <p:sp>
        <p:nvSpPr>
          <p:cNvPr id="50" name="Text 47"/>
          <p:cNvSpPr/>
          <p:nvPr/>
        </p:nvSpPr>
        <p:spPr>
          <a:xfrm>
            <a:off x="3108960" y="329184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I</a:t>
            </a:r>
            <a:endParaRPr lang="en-US" sz="1400" dirty="0"/>
          </a:p>
        </p:txBody>
      </p:sp>
      <p:sp>
        <p:nvSpPr>
          <p:cNvPr id="51" name="Shape 48"/>
          <p:cNvSpPr/>
          <p:nvPr/>
        </p:nvSpPr>
        <p:spPr>
          <a:xfrm>
            <a:off x="3886200" y="3291840"/>
            <a:ext cx="740664" cy="502920"/>
          </a:xfrm>
          <a:prstGeom prst="rect">
            <a:avLst/>
          </a:prstGeom>
          <a:solidFill>
            <a:srgbClr val="EAF0F6"/>
          </a:solidFill>
          <a:ln w="12700">
            <a:solidFill>
              <a:srgbClr val="DCE3EA"/>
            </a:solidFill>
            <a:prstDash val="solid"/>
          </a:ln>
        </p:spPr>
      </p:sp>
      <p:sp>
        <p:nvSpPr>
          <p:cNvPr id="52" name="Text 49"/>
          <p:cNvSpPr/>
          <p:nvPr/>
        </p:nvSpPr>
        <p:spPr>
          <a:xfrm>
            <a:off x="3886200" y="329184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D</a:t>
            </a:r>
            <a:endParaRPr lang="en-US" sz="1400" dirty="0"/>
          </a:p>
        </p:txBody>
      </p:sp>
      <p:sp>
        <p:nvSpPr>
          <p:cNvPr id="53" name="Shape 50"/>
          <p:cNvSpPr/>
          <p:nvPr/>
        </p:nvSpPr>
        <p:spPr>
          <a:xfrm>
            <a:off x="4663440" y="3291840"/>
            <a:ext cx="740664" cy="502920"/>
          </a:xfrm>
          <a:prstGeom prst="rect">
            <a:avLst/>
          </a:prstGeom>
          <a:solidFill>
            <a:srgbClr val="EAF0F6"/>
          </a:solidFill>
          <a:ln w="12700">
            <a:solidFill>
              <a:srgbClr val="DCE3EA"/>
            </a:solidFill>
            <a:prstDash val="solid"/>
          </a:ln>
        </p:spPr>
      </p:sp>
      <p:sp>
        <p:nvSpPr>
          <p:cNvPr id="54" name="Text 51"/>
          <p:cNvSpPr/>
          <p:nvPr/>
        </p:nvSpPr>
        <p:spPr>
          <a:xfrm>
            <a:off x="4663440" y="329184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N</a:t>
            </a:r>
            <a:endParaRPr lang="en-US" sz="1400" dirty="0"/>
          </a:p>
        </p:txBody>
      </p:sp>
      <p:sp>
        <p:nvSpPr>
          <p:cNvPr id="55" name="Shape 52"/>
          <p:cNvSpPr/>
          <p:nvPr/>
        </p:nvSpPr>
        <p:spPr>
          <a:xfrm>
            <a:off x="777240" y="3840480"/>
            <a:ext cx="740664" cy="502920"/>
          </a:xfrm>
          <a:prstGeom prst="rect">
            <a:avLst/>
          </a:prstGeom>
          <a:solidFill>
            <a:srgbClr val="FFFFFF"/>
          </a:solidFill>
          <a:ln w="12700">
            <a:solidFill>
              <a:srgbClr val="DCE3EA"/>
            </a:solidFill>
            <a:prstDash val="solid"/>
          </a:ln>
        </p:spPr>
      </p:sp>
      <p:sp>
        <p:nvSpPr>
          <p:cNvPr id="56" name="Text 53"/>
          <p:cNvSpPr/>
          <p:nvPr/>
        </p:nvSpPr>
        <p:spPr>
          <a:xfrm>
            <a:off x="777240" y="384048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I</a:t>
            </a:r>
            <a:endParaRPr lang="en-US" sz="1400" dirty="0"/>
          </a:p>
        </p:txBody>
      </p:sp>
      <p:sp>
        <p:nvSpPr>
          <p:cNvPr id="57" name="Shape 54"/>
          <p:cNvSpPr/>
          <p:nvPr/>
        </p:nvSpPr>
        <p:spPr>
          <a:xfrm>
            <a:off x="1554480" y="3840480"/>
            <a:ext cx="740664" cy="502920"/>
          </a:xfrm>
          <a:prstGeom prst="rect">
            <a:avLst/>
          </a:prstGeom>
          <a:solidFill>
            <a:srgbClr val="FFFFFF"/>
          </a:solidFill>
          <a:ln w="12700">
            <a:solidFill>
              <a:srgbClr val="DCE3EA"/>
            </a:solidFill>
            <a:prstDash val="solid"/>
          </a:ln>
        </p:spPr>
      </p:sp>
      <p:sp>
        <p:nvSpPr>
          <p:cNvPr id="58" name="Text 55"/>
          <p:cNvSpPr/>
          <p:nvPr/>
        </p:nvSpPr>
        <p:spPr>
          <a:xfrm>
            <a:off x="1554480" y="384048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G</a:t>
            </a:r>
            <a:endParaRPr lang="en-US" sz="1400" dirty="0"/>
          </a:p>
        </p:txBody>
      </p:sp>
      <p:sp>
        <p:nvSpPr>
          <p:cNvPr id="59" name="Shape 56"/>
          <p:cNvSpPr/>
          <p:nvPr/>
        </p:nvSpPr>
        <p:spPr>
          <a:xfrm>
            <a:off x="2331720" y="3840480"/>
            <a:ext cx="740664" cy="502920"/>
          </a:xfrm>
          <a:prstGeom prst="rect">
            <a:avLst/>
          </a:prstGeom>
          <a:solidFill>
            <a:srgbClr val="FFFFFF"/>
          </a:solidFill>
          <a:ln w="12700">
            <a:solidFill>
              <a:srgbClr val="DCE3EA"/>
            </a:solidFill>
            <a:prstDash val="solid"/>
          </a:ln>
        </p:spPr>
      </p:sp>
      <p:sp>
        <p:nvSpPr>
          <p:cNvPr id="60" name="Text 57"/>
          <p:cNvSpPr/>
          <p:nvPr/>
        </p:nvSpPr>
        <p:spPr>
          <a:xfrm>
            <a:off x="2331720" y="384048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H</a:t>
            </a:r>
            <a:endParaRPr lang="en-US" sz="1400" dirty="0"/>
          </a:p>
        </p:txBody>
      </p:sp>
      <p:sp>
        <p:nvSpPr>
          <p:cNvPr id="61" name="Shape 58"/>
          <p:cNvSpPr/>
          <p:nvPr/>
        </p:nvSpPr>
        <p:spPr>
          <a:xfrm>
            <a:off x="3108960" y="3840480"/>
            <a:ext cx="740664" cy="502920"/>
          </a:xfrm>
          <a:prstGeom prst="rect">
            <a:avLst/>
          </a:prstGeom>
          <a:solidFill>
            <a:srgbClr val="FFFFFF"/>
          </a:solidFill>
          <a:ln w="12700">
            <a:solidFill>
              <a:srgbClr val="DCE3EA"/>
            </a:solidFill>
            <a:prstDash val="solid"/>
          </a:ln>
        </p:spPr>
      </p:sp>
      <p:sp>
        <p:nvSpPr>
          <p:cNvPr id="62" name="Text 59"/>
          <p:cNvSpPr/>
          <p:nvPr/>
        </p:nvSpPr>
        <p:spPr>
          <a:xfrm>
            <a:off x="3108960" y="384048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T</a:t>
            </a:r>
            <a:endParaRPr lang="en-US" sz="1400" dirty="0"/>
          </a:p>
        </p:txBody>
      </p:sp>
      <p:sp>
        <p:nvSpPr>
          <p:cNvPr id="63" name="Shape 60"/>
          <p:cNvSpPr/>
          <p:nvPr/>
        </p:nvSpPr>
        <p:spPr>
          <a:xfrm>
            <a:off x="3886200" y="3840480"/>
            <a:ext cx="740664" cy="502920"/>
          </a:xfrm>
          <a:prstGeom prst="rect">
            <a:avLst/>
          </a:prstGeom>
          <a:solidFill>
            <a:srgbClr val="FFFFFF"/>
          </a:solidFill>
          <a:ln w="12700">
            <a:solidFill>
              <a:srgbClr val="DCE3EA"/>
            </a:solidFill>
            <a:prstDash val="solid"/>
          </a:ln>
        </p:spPr>
      </p:sp>
      <p:sp>
        <p:nvSpPr>
          <p:cNvPr id="64" name="Text 61"/>
          <p:cNvSpPr/>
          <p:nvPr/>
        </p:nvSpPr>
        <p:spPr>
          <a:xfrm>
            <a:off x="3886200" y="384048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X</a:t>
            </a:r>
            <a:endParaRPr lang="en-US" sz="1400" dirty="0"/>
          </a:p>
        </p:txBody>
      </p:sp>
      <p:sp>
        <p:nvSpPr>
          <p:cNvPr id="65" name="Shape 62"/>
          <p:cNvSpPr/>
          <p:nvPr/>
        </p:nvSpPr>
        <p:spPr>
          <a:xfrm>
            <a:off x="4663440" y="3840480"/>
            <a:ext cx="740664" cy="502920"/>
          </a:xfrm>
          <a:prstGeom prst="rect">
            <a:avLst/>
          </a:prstGeom>
          <a:solidFill>
            <a:srgbClr val="FFFFFF"/>
          </a:solidFill>
          <a:ln w="12700">
            <a:solidFill>
              <a:srgbClr val="DCE3EA"/>
            </a:solidFill>
            <a:prstDash val="solid"/>
          </a:ln>
        </p:spPr>
      </p:sp>
      <p:sp>
        <p:nvSpPr>
          <p:cNvPr id="66" name="Text 63"/>
          <p:cNvSpPr/>
          <p:nvPr/>
        </p:nvSpPr>
        <p:spPr>
          <a:xfrm>
            <a:off x="4663440" y="3840480"/>
            <a:ext cx="740664" cy="502920"/>
          </a:xfrm>
          <a:prstGeom prst="rect">
            <a:avLst/>
          </a:prstGeom>
          <a:noFill/>
          <a:ln/>
        </p:spPr>
        <p:txBody>
          <a:bodyPr wrap="square" rtlCol="0" anchor="ctr"/>
          <a:lstStyle/>
          <a:p>
            <a:pPr marL="0" indent="0" algn="ctr">
              <a:buNone/>
            </a:pPr>
            <a:r>
              <a:rPr lang="en-US" sz="1400" b="1" dirty="0">
                <a:solidFill>
                  <a:srgbClr val="16232E"/>
                </a:solidFill>
                <a:latin typeface="Courier New" pitchFamily="34" charset="0"/>
                <a:ea typeface="Courier New" pitchFamily="34" charset="-122"/>
                <a:cs typeface="Courier New" pitchFamily="34" charset="-120"/>
              </a:rPr>
              <a:t>Q</a:t>
            </a:r>
            <a:endParaRPr lang="en-US" sz="1400" dirty="0"/>
          </a:p>
        </p:txBody>
      </p:sp>
      <p:sp>
        <p:nvSpPr>
          <p:cNvPr id="67" name="Text 64"/>
          <p:cNvSpPr/>
          <p:nvPr/>
        </p:nvSpPr>
        <p:spPr>
          <a:xfrm>
            <a:off x="548640" y="4572000"/>
            <a:ext cx="1088136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Read columns in numeric order (1,2,3,4,5,6 → columns A,B,E,R,S,Z):</a:t>
            </a:r>
            <a:endParaRPr lang="en-US" sz="1200" dirty="0"/>
          </a:p>
        </p:txBody>
      </p:sp>
      <p:sp>
        <p:nvSpPr>
          <p:cNvPr id="68" name="Shape 65"/>
          <p:cNvSpPr/>
          <p:nvPr/>
        </p:nvSpPr>
        <p:spPr>
          <a:xfrm>
            <a:off x="548640" y="4937760"/>
            <a:ext cx="10881360" cy="502920"/>
          </a:xfrm>
          <a:prstGeom prst="roundRect">
            <a:avLst>
              <a:gd name="adj" fmla="val 10909"/>
            </a:avLst>
          </a:prstGeom>
          <a:solidFill>
            <a:srgbClr val="0B2545"/>
          </a:solidFill>
          <a:ln/>
        </p:spPr>
      </p:sp>
      <p:sp>
        <p:nvSpPr>
          <p:cNvPr id="69" name="Text 66"/>
          <p:cNvSpPr/>
          <p:nvPr/>
        </p:nvSpPr>
        <p:spPr>
          <a:xfrm>
            <a:off x="685800" y="4937760"/>
            <a:ext cx="10607040" cy="502920"/>
          </a:xfrm>
          <a:prstGeom prst="rect">
            <a:avLst/>
          </a:prstGeom>
          <a:noFill/>
          <a:ln/>
        </p:spPr>
        <p:txBody>
          <a:bodyPr wrap="square" rtlCol="0" anchor="ctr"/>
          <a:lstStyle/>
          <a:p>
            <a:pPr marL="0" indent="0" algn="ctr">
              <a:buNone/>
            </a:pPr>
            <a:r>
              <a:rPr lang="en-US" sz="1200" b="1" kern="0" spc="200" dirty="0">
                <a:solidFill>
                  <a:srgbClr val="FFFFFF"/>
                </a:solidFill>
                <a:latin typeface="Courier New" pitchFamily="34" charset="0"/>
                <a:ea typeface="Courier New" pitchFamily="34" charset="-122"/>
                <a:cs typeface="Courier New" pitchFamily="34" charset="-120"/>
              </a:rPr>
              <a:t>Result: MDX EMH ETG TIT ENQ MAI  →  MDXEMHETGTITENQMAI</a:t>
            </a:r>
            <a:endParaRPr lang="en-US" sz="1200" dirty="0"/>
          </a:p>
        </p:txBody>
      </p:sp>
      <p:sp>
        <p:nvSpPr>
          <p:cNvPr id="70" name="Shape 67"/>
          <p:cNvSpPr/>
          <p:nvPr/>
        </p:nvSpPr>
        <p:spPr>
          <a:xfrm>
            <a:off x="548640" y="5577840"/>
            <a:ext cx="10881360" cy="914400"/>
          </a:xfrm>
          <a:prstGeom prst="roundRect">
            <a:avLst>
              <a:gd name="adj" fmla="val 8000"/>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71" name="Text 68"/>
          <p:cNvSpPr/>
          <p:nvPr/>
        </p:nvSpPr>
        <p:spPr>
          <a:xfrm>
            <a:off x="777240" y="5742432"/>
            <a:ext cx="1042416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Strengths and weaknesses</a:t>
            </a:r>
            <a:endParaRPr lang="en-US" sz="1500" dirty="0"/>
          </a:p>
        </p:txBody>
      </p:sp>
      <p:sp>
        <p:nvSpPr>
          <p:cNvPr id="72" name="Text 69"/>
          <p:cNvSpPr/>
          <p:nvPr/>
        </p:nvSpPr>
        <p:spPr>
          <a:xfrm>
            <a:off x="777240" y="6108192"/>
            <a:ext cx="10424160" cy="27432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The key space grows factorially with keyword length (n! orderings), far larger than Rail Fence — but the letters themselves are unaltered, so anagramming and pattern-based cryptanalysis can still recover the message.</a:t>
            </a:r>
            <a:endParaRPr lang="en-US" sz="1200" dirty="0"/>
          </a:p>
        </p:txBody>
      </p:sp>
      <p:sp>
        <p:nvSpPr>
          <p:cNvPr id="73" name="Text 70"/>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74" name="Text 7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TRANSPOSITION · 02</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Columnar Transposition — Cryptanalysis and Double Transposition</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search_5FBFF9.png"/>
          <p:cNvPicPr>
            <a:picLocks noChangeAspect="1"/>
          </p:cNvPicPr>
          <p:nvPr/>
        </p:nvPicPr>
        <p:blipFill>
          <a:blip r:embed="rId3"/>
          <a:stretch>
            <a:fillRect/>
          </a:stretch>
        </p:blipFill>
        <p:spPr>
          <a:xfrm>
            <a:off x="10912450" y="579730"/>
            <a:ext cx="395021" cy="395021"/>
          </a:xfrm>
          <a:prstGeom prst="rect">
            <a:avLst/>
          </a:prstGeom>
        </p:spPr>
      </p:pic>
      <p:sp>
        <p:nvSpPr>
          <p:cNvPr id="6" name="Shape 3"/>
          <p:cNvSpPr/>
          <p:nvPr/>
        </p:nvSpPr>
        <p:spPr>
          <a:xfrm>
            <a:off x="548640" y="1600200"/>
            <a:ext cx="5303520" cy="2331720"/>
          </a:xfrm>
          <a:prstGeom prst="roundRect">
            <a:avLst>
              <a:gd name="adj" fmla="val 3137"/>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7" name="Text 4"/>
          <p:cNvSpPr/>
          <p:nvPr/>
        </p:nvSpPr>
        <p:spPr>
          <a:xfrm>
            <a:off x="777240" y="1764792"/>
            <a:ext cx="484632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Cryptanalysis approach</a:t>
            </a:r>
            <a:endParaRPr lang="en-US" sz="1500" dirty="0"/>
          </a:p>
        </p:txBody>
      </p:sp>
      <p:sp>
        <p:nvSpPr>
          <p:cNvPr id="8" name="Text 5"/>
          <p:cNvSpPr/>
          <p:nvPr/>
        </p:nvSpPr>
        <p:spPr>
          <a:xfrm>
            <a:off x="777240" y="2130552"/>
            <a:ext cx="4846320" cy="160020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Since transposition preserves letter frequencies exactly, an unusual pattern (all-letter, matching source-language frequency table) is itself a strong clue that a transposition (not substitution) cipher is in use. Analysts test candidate column counts, then use anagramming and digraph/trigram frequency scoring to find the correct column order.</a:t>
            </a:r>
            <a:endParaRPr lang="en-US" sz="1200" dirty="0"/>
          </a:p>
        </p:txBody>
      </p:sp>
      <p:sp>
        <p:nvSpPr>
          <p:cNvPr id="9" name="Shape 6"/>
          <p:cNvSpPr/>
          <p:nvPr/>
        </p:nvSpPr>
        <p:spPr>
          <a:xfrm>
            <a:off x="548640" y="4069080"/>
            <a:ext cx="5303520" cy="2103120"/>
          </a:xfrm>
          <a:prstGeom prst="roundRect">
            <a:avLst>
              <a:gd name="adj" fmla="val 3478"/>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10" name="Text 7"/>
          <p:cNvSpPr/>
          <p:nvPr/>
        </p:nvSpPr>
        <p:spPr>
          <a:xfrm>
            <a:off x="777240" y="4233672"/>
            <a:ext cx="4846320" cy="365760"/>
          </a:xfrm>
          <a:prstGeom prst="rect">
            <a:avLst/>
          </a:prstGeom>
          <a:noFill/>
          <a:ln/>
        </p:spPr>
        <p:txBody>
          <a:bodyPr wrap="square" rtlCol="0" anchor="ctr"/>
          <a:lstStyle/>
          <a:p>
            <a:pPr marL="0" indent="0">
              <a:buNone/>
            </a:pPr>
            <a:r>
              <a:rPr lang="en-US" sz="1500" b="1" dirty="0">
                <a:solidFill>
                  <a:srgbClr val="13315C"/>
                </a:solidFill>
                <a:latin typeface="Cambria" pitchFamily="34" charset="0"/>
                <a:ea typeface="Cambria" pitchFamily="34" charset="-122"/>
                <a:cs typeface="Cambria" pitchFamily="34" charset="-120"/>
              </a:rPr>
              <a:t>Double (multiple) transposition</a:t>
            </a:r>
            <a:endParaRPr lang="en-US" sz="1500" dirty="0"/>
          </a:p>
        </p:txBody>
      </p:sp>
      <p:sp>
        <p:nvSpPr>
          <p:cNvPr id="11" name="Text 8"/>
          <p:cNvSpPr/>
          <p:nvPr/>
        </p:nvSpPr>
        <p:spPr>
          <a:xfrm>
            <a:off x="777240" y="4599432"/>
            <a:ext cx="4846320" cy="137160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Applying columnar transposition twice, often with two different keywords, was a real historical countermeasure — used by both sides in WWI and WWII field ciphers. It substantially increases the work required for anagramming-based attacks, though it remains breakable with sufficient ciphertext.</a:t>
            </a:r>
            <a:endParaRPr lang="en-US" sz="1200" dirty="0"/>
          </a:p>
        </p:txBody>
      </p:sp>
      <p:sp>
        <p:nvSpPr>
          <p:cNvPr id="12" name="Shape 9"/>
          <p:cNvSpPr/>
          <p:nvPr/>
        </p:nvSpPr>
        <p:spPr>
          <a:xfrm>
            <a:off x="6126480" y="1828800"/>
            <a:ext cx="1493520" cy="914400"/>
          </a:xfrm>
          <a:prstGeom prst="roundRect">
            <a:avLst>
              <a:gd name="adj" fmla="val 8000"/>
            </a:avLst>
          </a:prstGeom>
          <a:solidFill>
            <a:srgbClr val="FFFFFF"/>
          </a:solidFill>
          <a:ln w="19050">
            <a:solidFill>
              <a:srgbClr val="2C3E50"/>
            </a:solidFill>
            <a:prstDash val="solid"/>
          </a:ln>
        </p:spPr>
      </p:sp>
      <p:sp>
        <p:nvSpPr>
          <p:cNvPr id="13" name="Text 10"/>
          <p:cNvSpPr/>
          <p:nvPr/>
        </p:nvSpPr>
        <p:spPr>
          <a:xfrm>
            <a:off x="6199632" y="1828800"/>
            <a:ext cx="1347216" cy="914400"/>
          </a:xfrm>
          <a:prstGeom prst="rect">
            <a:avLst/>
          </a:prstGeom>
          <a:noFill/>
          <a:ln/>
        </p:spPr>
        <p:txBody>
          <a:bodyPr wrap="square"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Transposition</a:t>
            </a:r>
            <a:endParaRPr lang="en-US" sz="1200" dirty="0"/>
          </a:p>
          <a:p>
            <a:pPr marL="0" indent="0" algn="ctr">
              <a:buNone/>
            </a:pPr>
            <a:r>
              <a:rPr lang="en-US" sz="1200" b="1" dirty="0">
                <a:solidFill>
                  <a:srgbClr val="0B2545"/>
                </a:solidFill>
                <a:latin typeface="Calibri" pitchFamily="34" charset="0"/>
                <a:ea typeface="Calibri" pitchFamily="34" charset="-122"/>
                <a:cs typeface="Calibri" pitchFamily="34" charset="-120"/>
              </a:rPr>
              <a:t>round 1</a:t>
            </a:r>
            <a:endParaRPr lang="en-US" sz="1200" dirty="0"/>
          </a:p>
        </p:txBody>
      </p:sp>
      <p:sp>
        <p:nvSpPr>
          <p:cNvPr id="14" name="Text 11"/>
          <p:cNvSpPr/>
          <p:nvPr/>
        </p:nvSpPr>
        <p:spPr>
          <a:xfrm>
            <a:off x="7620000" y="1828800"/>
            <a:ext cx="320040" cy="914400"/>
          </a:xfrm>
          <a:prstGeom prst="rect">
            <a:avLst/>
          </a:prstGeom>
          <a:noFill/>
          <a:ln/>
        </p:spPr>
        <p:txBody>
          <a:bodyPr wrap="square" rtlCol="0" anchor="ctr"/>
          <a:lstStyle/>
          <a:p>
            <a:pPr marL="0" indent="0" algn="ctr">
              <a:buNone/>
            </a:pPr>
            <a:r>
              <a:rPr lang="en-US" sz="1600" dirty="0">
                <a:solidFill>
                  <a:srgbClr val="2C3E50"/>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7940040" y="1828800"/>
            <a:ext cx="1493520" cy="914400"/>
          </a:xfrm>
          <a:prstGeom prst="roundRect">
            <a:avLst>
              <a:gd name="adj" fmla="val 8000"/>
            </a:avLst>
          </a:prstGeom>
          <a:solidFill>
            <a:srgbClr val="2C3E50"/>
          </a:solidFill>
          <a:ln w="19050">
            <a:solidFill>
              <a:srgbClr val="2C3E50"/>
            </a:solidFill>
            <a:prstDash val="solid"/>
          </a:ln>
        </p:spPr>
      </p:sp>
      <p:sp>
        <p:nvSpPr>
          <p:cNvPr id="16" name="Text 13"/>
          <p:cNvSpPr/>
          <p:nvPr/>
        </p:nvSpPr>
        <p:spPr>
          <a:xfrm>
            <a:off x="8013192" y="1828800"/>
            <a:ext cx="1347216" cy="9144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Intermediate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ciphertext</a:t>
            </a:r>
            <a:endParaRPr lang="en-US" sz="1200" dirty="0"/>
          </a:p>
        </p:txBody>
      </p:sp>
      <p:sp>
        <p:nvSpPr>
          <p:cNvPr id="17" name="Text 14"/>
          <p:cNvSpPr/>
          <p:nvPr/>
        </p:nvSpPr>
        <p:spPr>
          <a:xfrm>
            <a:off x="9433560" y="1828800"/>
            <a:ext cx="320040" cy="914400"/>
          </a:xfrm>
          <a:prstGeom prst="rect">
            <a:avLst/>
          </a:prstGeom>
          <a:noFill/>
          <a:ln/>
        </p:spPr>
        <p:txBody>
          <a:bodyPr wrap="square" rtlCol="0" anchor="ctr"/>
          <a:lstStyle/>
          <a:p>
            <a:pPr marL="0" indent="0" algn="ctr">
              <a:buNone/>
            </a:pPr>
            <a:r>
              <a:rPr lang="en-US" sz="1600" dirty="0">
                <a:solidFill>
                  <a:srgbClr val="2C3E50"/>
                </a:solidFill>
                <a:latin typeface="Calibri" pitchFamily="34" charset="0"/>
                <a:ea typeface="Calibri" pitchFamily="34" charset="-122"/>
                <a:cs typeface="Calibri" pitchFamily="34" charset="-120"/>
              </a:rPr>
              <a:t>▶</a:t>
            </a:r>
            <a:endParaRPr lang="en-US" sz="1600" dirty="0"/>
          </a:p>
        </p:txBody>
      </p:sp>
      <p:sp>
        <p:nvSpPr>
          <p:cNvPr id="18" name="Shape 15"/>
          <p:cNvSpPr/>
          <p:nvPr/>
        </p:nvSpPr>
        <p:spPr>
          <a:xfrm>
            <a:off x="9753600" y="1828800"/>
            <a:ext cx="1493520" cy="914400"/>
          </a:xfrm>
          <a:prstGeom prst="roundRect">
            <a:avLst>
              <a:gd name="adj" fmla="val 8000"/>
            </a:avLst>
          </a:prstGeom>
          <a:solidFill>
            <a:srgbClr val="FFFFFF"/>
          </a:solidFill>
          <a:ln w="19050">
            <a:solidFill>
              <a:srgbClr val="2C3E50"/>
            </a:solidFill>
            <a:prstDash val="solid"/>
          </a:ln>
        </p:spPr>
      </p:sp>
      <p:sp>
        <p:nvSpPr>
          <p:cNvPr id="19" name="Text 16"/>
          <p:cNvSpPr/>
          <p:nvPr/>
        </p:nvSpPr>
        <p:spPr>
          <a:xfrm>
            <a:off x="9826752" y="1828800"/>
            <a:ext cx="1347216" cy="914400"/>
          </a:xfrm>
          <a:prstGeom prst="rect">
            <a:avLst/>
          </a:prstGeom>
          <a:noFill/>
          <a:ln/>
        </p:spPr>
        <p:txBody>
          <a:bodyPr wrap="square"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Transposition</a:t>
            </a:r>
            <a:endParaRPr lang="en-US" sz="1200" dirty="0"/>
          </a:p>
          <a:p>
            <a:pPr marL="0" indent="0" algn="ctr">
              <a:buNone/>
            </a:pPr>
            <a:r>
              <a:rPr lang="en-US" sz="1200" b="1" dirty="0">
                <a:solidFill>
                  <a:srgbClr val="0B2545"/>
                </a:solidFill>
                <a:latin typeface="Calibri" pitchFamily="34" charset="0"/>
                <a:ea typeface="Calibri" pitchFamily="34" charset="-122"/>
                <a:cs typeface="Calibri" pitchFamily="34" charset="-120"/>
              </a:rPr>
              <a:t>round 2</a:t>
            </a:r>
            <a:endParaRPr lang="en-US" sz="1200" dirty="0"/>
          </a:p>
        </p:txBody>
      </p:sp>
      <p:sp>
        <p:nvSpPr>
          <p:cNvPr id="20" name="Shape 17"/>
          <p:cNvSpPr/>
          <p:nvPr/>
        </p:nvSpPr>
        <p:spPr>
          <a:xfrm>
            <a:off x="6126480" y="3108960"/>
            <a:ext cx="5120640" cy="3017520"/>
          </a:xfrm>
          <a:prstGeom prst="roundRect">
            <a:avLst>
              <a:gd name="adj" fmla="val 2424"/>
            </a:avLst>
          </a:prstGeom>
          <a:solidFill>
            <a:srgbClr val="FFFFFF"/>
          </a:solidFill>
          <a:ln w="12700">
            <a:solidFill>
              <a:srgbClr val="DCE3EA"/>
            </a:solidFill>
            <a:prstDash val="solid"/>
          </a:ln>
          <a:effectLst>
            <a:outerShdw blurRad="76200" dist="25400" dir="5400000" algn="bl" rotWithShape="0">
              <a:srgbClr val="9AA7B4">
                <a:alpha val="25000"/>
              </a:srgbClr>
            </a:outerShdw>
          </a:effectLst>
        </p:spPr>
      </p:sp>
      <p:sp>
        <p:nvSpPr>
          <p:cNvPr id="21" name="Text 18"/>
          <p:cNvSpPr/>
          <p:nvPr/>
        </p:nvSpPr>
        <p:spPr>
          <a:xfrm>
            <a:off x="6355080" y="3273552"/>
            <a:ext cx="466344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Why it still fails</a:t>
            </a:r>
            <a:endParaRPr lang="en-US" sz="1500" dirty="0"/>
          </a:p>
        </p:txBody>
      </p:sp>
      <p:sp>
        <p:nvSpPr>
          <p:cNvPr id="22" name="Text 19"/>
          <p:cNvSpPr/>
          <p:nvPr/>
        </p:nvSpPr>
        <p:spPr>
          <a:xfrm>
            <a:off x="6355080" y="3639312"/>
            <a:ext cx="4663440" cy="2286000"/>
          </a:xfrm>
          <a:prstGeom prst="rect">
            <a:avLst/>
          </a:prstGeom>
          <a:noFill/>
          <a:ln/>
        </p:spPr>
        <p:txBody>
          <a:bodyPr wrap="square" rtlCol="0" anchor="t"/>
          <a:lstStyle/>
          <a:p>
            <a:pPr marL="0" indent="0">
              <a:buNone/>
            </a:pPr>
            <a:r>
              <a:rPr lang="en-US" sz="1200" dirty="0">
                <a:solidFill>
                  <a:srgbClr val="16232E"/>
                </a:solidFill>
                <a:latin typeface="Calibri" pitchFamily="34" charset="0"/>
                <a:ea typeface="Calibri" pitchFamily="34" charset="-122"/>
                <a:cs typeface="Calibri" pitchFamily="34" charset="-120"/>
              </a:rPr>
              <a:t>Double transposition mixes positions more thoroughly, but never changes letter identities. Modern computers can search column-order permutations at scale, and known-plaintext or crib-based attacks (guessing a likely word or phrase) remain highly effective — as demonstrated by Allied cryptanalysts against German ADFGVX field ciphers in WWI.</a:t>
            </a:r>
            <a:endParaRPr lang="en-US" sz="1200" dirty="0"/>
          </a:p>
        </p:txBody>
      </p:sp>
      <p:sp>
        <p:nvSpPr>
          <p:cNvPr id="23" name="Text 20"/>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24" name="Text 2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TRANSPOSITION · SUMMARY</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Transposition Ciphers — Comparative Summary</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table_5FBFF9.png"/>
          <p:cNvPicPr>
            <a:picLocks noChangeAspect="1"/>
          </p:cNvPicPr>
          <p:nvPr/>
        </p:nvPicPr>
        <p:blipFill>
          <a:blip r:embed="rId3"/>
          <a:stretch>
            <a:fillRect/>
          </a:stretch>
        </p:blipFill>
        <p:spPr>
          <a:xfrm>
            <a:off x="10912450" y="579730"/>
            <a:ext cx="395021" cy="395021"/>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4572000"/>
        </p:xfrm>
        <a:graphic>
          <a:graphicData uri="http://schemas.openxmlformats.org/drawingml/2006/table">
            <a:tbl>
              <a:tblPr/>
              <a:tblGrid>
                <a:gridCol w="2377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1143000">
                <a:tc>
                  <a:txBody>
                    <a:bodyPr/>
                    <a:lstStyle/>
                    <a:p>
                      <a:pPr marL="0" indent="0" algn="ctr">
                        <a:buNone/>
                      </a:pPr>
                      <a:r>
                        <a:rPr lang="en-US" sz="1200" b="1" dirty="0">
                          <a:solidFill>
                            <a:srgbClr val="FFFFFF"/>
                          </a:solidFill>
                        </a:rPr>
                        <a:t>Cipher</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Key</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Key space (typical)</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Primary weakness</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1143000">
                <a:tc>
                  <a:txBody>
                    <a:bodyPr/>
                    <a:lstStyle/>
                    <a:p>
                      <a:pPr marL="0" indent="0" algn="l">
                        <a:buNone/>
                      </a:pPr>
                      <a:r>
                        <a:rPr lang="en-US" sz="1100" b="1" dirty="0">
                          <a:solidFill>
                            <a:srgbClr val="16232E"/>
                          </a:solidFill>
                        </a:rPr>
                        <a:t>Rail Fence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Number of rails, 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Small (message-length bound)</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Brute force over few rail counts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43000">
                <a:tc>
                  <a:txBody>
                    <a:bodyPr/>
                    <a:lstStyle/>
                    <a:p>
                      <a:pPr marL="0" indent="0" algn="l">
                        <a:buNone/>
                      </a:pPr>
                      <a:r>
                        <a:rPr lang="en-US" sz="1100" b="1" dirty="0">
                          <a:solidFill>
                            <a:srgbClr val="16232E"/>
                          </a:solidFill>
                        </a:rPr>
                        <a:t>Columnar Transposition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Keyword (defines column order)</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n! for keyword length 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Anagramming, pattern analysis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1143000">
                <a:tc>
                  <a:txBody>
                    <a:bodyPr/>
                    <a:lstStyle/>
                    <a:p>
                      <a:pPr marL="0" indent="0" algn="l">
                        <a:buNone/>
                      </a:pPr>
                      <a:r>
                        <a:rPr lang="en-US" sz="1100" b="1" dirty="0">
                          <a:solidFill>
                            <a:srgbClr val="16232E"/>
                          </a:solidFill>
                        </a:rPr>
                        <a:t>Double Transposition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Two keywords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(n!)² approx.</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Known-plaintext / crib attacks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8" name="Text 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Substitution vs. Transposition — Final Comparison</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balance_5FBFF9.png"/>
          <p:cNvPicPr>
            <a:picLocks noChangeAspect="1"/>
          </p:cNvPicPr>
          <p:nvPr/>
        </p:nvPicPr>
        <p:blipFill>
          <a:blip r:embed="rId3"/>
          <a:stretch>
            <a:fillRect/>
          </a:stretch>
        </p:blipFill>
        <p:spPr>
          <a:xfrm>
            <a:off x="10912450" y="579730"/>
            <a:ext cx="395021" cy="395021"/>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4608576"/>
        </p:xfrm>
        <a:graphic>
          <a:graphicData uri="http://schemas.openxmlformats.org/drawingml/2006/table">
            <a:tbl>
              <a:tblPr/>
              <a:tblGrid>
                <a:gridCol w="26517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658368">
                <a:tc>
                  <a:txBody>
                    <a:bodyPr/>
                    <a:lstStyle/>
                    <a:p>
                      <a:pPr marL="0" indent="0" algn="ctr">
                        <a:buNone/>
                      </a:pPr>
                      <a:r>
                        <a:rPr lang="en-US" sz="1200" b="1" dirty="0">
                          <a:solidFill>
                            <a:srgbClr val="FFFFFF"/>
                          </a:solidFill>
                        </a:rPr>
                        <a:t>Property</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Substitution Ciphers</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rPr>
                        <a:t>Transposition Ciphers</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58368">
                <a:tc>
                  <a:txBody>
                    <a:bodyPr/>
                    <a:lstStyle/>
                    <a:p>
                      <a:pPr marL="0" indent="0" algn="l">
                        <a:buNone/>
                      </a:pPr>
                      <a:r>
                        <a:rPr lang="en-US" sz="1100" b="1" dirty="0">
                          <a:solidFill>
                            <a:srgbClr val="16232E"/>
                          </a:solidFill>
                        </a:rPr>
                        <a:t>What changes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Letter identity</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Letter position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100" b="1" dirty="0">
                          <a:solidFill>
                            <a:srgbClr val="16232E"/>
                          </a:solidFill>
                        </a:rPr>
                        <a:t>Letter frequency in ciphertext</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Altered (unless polyalphabetic)</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Identical to plaintext</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658368">
                <a:tc>
                  <a:txBody>
                    <a:bodyPr/>
                    <a:lstStyle/>
                    <a:p>
                      <a:pPr marL="0" indent="0" algn="l">
                        <a:buNone/>
                      </a:pPr>
                      <a:r>
                        <a:rPr lang="en-US" sz="1100" b="1" dirty="0">
                          <a:solidFill>
                            <a:srgbClr val="16232E"/>
                          </a:solidFill>
                        </a:rPr>
                        <a:t>Representative ciphers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Caesar, Affine, Playfair, Vigenère, Hill</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Rail Fence, Columnar, Double Transposition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100" b="1" dirty="0">
                          <a:solidFill>
                            <a:srgbClr val="16232E"/>
                          </a:solidFill>
                        </a:rPr>
                        <a:t>Growth of key space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Slow (Caesar) to exponential (Vigenère, 26^m)</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ctr">
                        <a:buNone/>
                      </a:pPr>
                      <a:r>
                        <a:rPr lang="en-US" sz="1100" dirty="0">
                          <a:solidFill>
                            <a:srgbClr val="16232E"/>
                          </a:solidFill>
                        </a:rPr>
                        <a:t>Factorial in keyword length (n!)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r h="658368">
                <a:tc>
                  <a:txBody>
                    <a:bodyPr/>
                    <a:lstStyle/>
                    <a:p>
                      <a:pPr marL="0" indent="0" algn="l">
                        <a:buNone/>
                      </a:pPr>
                      <a:r>
                        <a:rPr lang="en-US" sz="1100" b="1" dirty="0">
                          <a:solidFill>
                            <a:srgbClr val="16232E"/>
                          </a:solidFill>
                        </a:rPr>
                        <a:t>Best cryptanalysis tool</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Frequency analysis, Kasiski examination</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32E"/>
                          </a:solidFill>
                        </a:rPr>
                        <a:t>Anagramming, crib-based search</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lgn="l">
                        <a:buNone/>
                      </a:pPr>
                      <a:r>
                        <a:rPr lang="en-US" sz="1100" b="1" dirty="0">
                          <a:solidFill>
                            <a:srgbClr val="16232E"/>
                          </a:solidFill>
                        </a:rPr>
                        <a:t>Combined in practice</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DCEEF7"/>
                    </a:solidFill>
                  </a:tcPr>
                </a:tc>
                <a:tc gridSpan="2">
                  <a:txBody>
                    <a:bodyPr/>
                    <a:lstStyle/>
                    <a:p>
                      <a:pPr marL="0" indent="0" algn="ctr">
                        <a:buNone/>
                      </a:pPr>
                      <a:r>
                        <a:rPr lang="en-US" sz="1100" b="1" dirty="0">
                          <a:solidFill>
                            <a:srgbClr val="16232E"/>
                          </a:solidFill>
                        </a:rPr>
                        <a:t>Product ciphers apply substitution + transposition together to compound their strengths</a:t>
                      </a:r>
                      <a:endParaRPr lang="en-US" sz="11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DCEEF7"/>
                    </a:solidFill>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7" name="Text 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8" name="Text 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BREAKING CLASSICAL CIPHERS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Cryptanalysis Techniques — An Overview</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usersecret_5FBFF9.png"/>
          <p:cNvPicPr>
            <a:picLocks noChangeAspect="1"/>
          </p:cNvPicPr>
          <p:nvPr/>
        </p:nvPicPr>
        <p:blipFill>
          <a:blip r:embed="rId3"/>
          <a:stretch>
            <a:fillRect/>
          </a:stretch>
        </p:blipFill>
        <p:spPr>
          <a:xfrm>
            <a:off x="10912450" y="579730"/>
            <a:ext cx="395021" cy="395021"/>
          </a:xfrm>
          <a:prstGeom prst="rect">
            <a:avLst/>
          </a:prstGeom>
        </p:spPr>
      </p:pic>
      <p:sp>
        <p:nvSpPr>
          <p:cNvPr id="6" name="Shape 3"/>
          <p:cNvSpPr/>
          <p:nvPr/>
        </p:nvSpPr>
        <p:spPr>
          <a:xfrm>
            <a:off x="548640" y="1645920"/>
            <a:ext cx="5303520" cy="2194560"/>
          </a:xfrm>
          <a:prstGeom prst="roundRect">
            <a:avLst>
              <a:gd name="adj" fmla="val 3333"/>
            </a:avLst>
          </a:prstGeom>
          <a:solidFill>
            <a:srgbClr val="FFFFFF"/>
          </a:solidFill>
          <a:ln w="12700">
            <a:solidFill>
              <a:srgbClr val="DCE3EA"/>
            </a:solidFill>
            <a:prstDash val="solid"/>
          </a:ln>
          <a:effectLst>
            <a:outerShdw blurRad="76200" dist="25400" dir="5400000" algn="bl" rotWithShape="0">
              <a:srgbClr val="9AA7B4">
                <a:alpha val="22000"/>
              </a:srgbClr>
            </a:outerShdw>
          </a:effectLst>
        </p:spPr>
      </p:sp>
      <p:sp>
        <p:nvSpPr>
          <p:cNvPr id="7" name="Shape 4"/>
          <p:cNvSpPr/>
          <p:nvPr/>
        </p:nvSpPr>
        <p:spPr>
          <a:xfrm>
            <a:off x="777240" y="1874520"/>
            <a:ext cx="566928" cy="566928"/>
          </a:xfrm>
          <a:prstGeom prst="ellipse">
            <a:avLst/>
          </a:prstGeom>
          <a:solidFill>
            <a:srgbClr val="0B2545"/>
          </a:solidFill>
          <a:ln/>
        </p:spPr>
      </p:sp>
      <p:pic>
        <p:nvPicPr>
          <p:cNvPr id="8" name="Image 1" descr="/home/claude/icons/eye_5FBFF9.png"/>
          <p:cNvPicPr>
            <a:picLocks noChangeAspect="1"/>
          </p:cNvPicPr>
          <p:nvPr/>
        </p:nvPicPr>
        <p:blipFill>
          <a:blip r:embed="rId4"/>
          <a:stretch>
            <a:fillRect/>
          </a:stretch>
        </p:blipFill>
        <p:spPr>
          <a:xfrm>
            <a:off x="924641" y="2021921"/>
            <a:ext cx="272125" cy="272125"/>
          </a:xfrm>
          <a:prstGeom prst="rect">
            <a:avLst/>
          </a:prstGeom>
        </p:spPr>
      </p:pic>
      <p:sp>
        <p:nvSpPr>
          <p:cNvPr id="9" name="Text 5"/>
          <p:cNvSpPr/>
          <p:nvPr/>
        </p:nvSpPr>
        <p:spPr>
          <a:xfrm>
            <a:off x="1508760" y="1901952"/>
            <a:ext cx="4114800" cy="457200"/>
          </a:xfrm>
          <a:prstGeom prst="rect">
            <a:avLst/>
          </a:prstGeom>
          <a:noFill/>
          <a:ln/>
        </p:spPr>
        <p:txBody>
          <a:bodyPr wrap="square" rtlCol="0" anchor="ctr"/>
          <a:lstStyle/>
          <a:p>
            <a:pPr marL="0" indent="0">
              <a:buNone/>
            </a:pPr>
            <a:r>
              <a:rPr lang="en-US" sz="1450" b="1" dirty="0">
                <a:solidFill>
                  <a:srgbClr val="0B2545"/>
                </a:solidFill>
                <a:latin typeface="Cambria" pitchFamily="34" charset="0"/>
                <a:ea typeface="Cambria" pitchFamily="34" charset="-122"/>
                <a:cs typeface="Cambria" pitchFamily="34" charset="-120"/>
              </a:rPr>
              <a:t>Ciphertext-only attack</a:t>
            </a:r>
            <a:endParaRPr lang="en-US" sz="1450" dirty="0"/>
          </a:p>
        </p:txBody>
      </p:sp>
      <p:sp>
        <p:nvSpPr>
          <p:cNvPr id="10" name="Text 6"/>
          <p:cNvSpPr/>
          <p:nvPr/>
        </p:nvSpPr>
        <p:spPr>
          <a:xfrm>
            <a:off x="777240" y="2560320"/>
            <a:ext cx="4846320" cy="1051560"/>
          </a:xfrm>
          <a:prstGeom prst="rect">
            <a:avLst/>
          </a:prstGeom>
          <a:noFill/>
          <a:ln/>
        </p:spPr>
        <p:txBody>
          <a:bodyPr wrap="square" rtlCol="0" anchor="t"/>
          <a:lstStyle/>
          <a:p>
            <a:pPr marL="0" indent="0">
              <a:buNone/>
            </a:pPr>
            <a:r>
              <a:rPr lang="en-US" sz="1150" dirty="0">
                <a:solidFill>
                  <a:srgbClr val="16232E"/>
                </a:solidFill>
                <a:latin typeface="Calibri" pitchFamily="34" charset="0"/>
                <a:ea typeface="Calibri" pitchFamily="34" charset="-122"/>
                <a:cs typeface="Calibri" pitchFamily="34" charset="-120"/>
              </a:rPr>
              <a:t>The attacker has only intercepted ciphertext. Frequency analysis and pattern search are the primary tools available in this weakest attacker position.</a:t>
            </a:r>
            <a:endParaRPr lang="en-US" sz="1150" dirty="0"/>
          </a:p>
        </p:txBody>
      </p:sp>
      <p:sp>
        <p:nvSpPr>
          <p:cNvPr id="11" name="Shape 7"/>
          <p:cNvSpPr/>
          <p:nvPr/>
        </p:nvSpPr>
        <p:spPr>
          <a:xfrm>
            <a:off x="6217920" y="1645920"/>
            <a:ext cx="5303520" cy="2194560"/>
          </a:xfrm>
          <a:prstGeom prst="roundRect">
            <a:avLst>
              <a:gd name="adj" fmla="val 3333"/>
            </a:avLst>
          </a:prstGeom>
          <a:solidFill>
            <a:srgbClr val="FFFFFF"/>
          </a:solidFill>
          <a:ln w="12700">
            <a:solidFill>
              <a:srgbClr val="DCE3EA"/>
            </a:solidFill>
            <a:prstDash val="solid"/>
          </a:ln>
          <a:effectLst>
            <a:outerShdw blurRad="76200" dist="25400" dir="5400000" algn="bl" rotWithShape="0">
              <a:srgbClr val="9AA7B4">
                <a:alpha val="22000"/>
              </a:srgbClr>
            </a:outerShdw>
          </a:effectLst>
        </p:spPr>
      </p:sp>
      <p:sp>
        <p:nvSpPr>
          <p:cNvPr id="12" name="Shape 8"/>
          <p:cNvSpPr/>
          <p:nvPr/>
        </p:nvSpPr>
        <p:spPr>
          <a:xfrm>
            <a:off x="6446520" y="1874520"/>
            <a:ext cx="566928" cy="566928"/>
          </a:xfrm>
          <a:prstGeom prst="ellipse">
            <a:avLst/>
          </a:prstGeom>
          <a:solidFill>
            <a:srgbClr val="0B2545"/>
          </a:solidFill>
          <a:ln/>
        </p:spPr>
      </p:sp>
      <p:pic>
        <p:nvPicPr>
          <p:cNvPr id="13" name="Image 2" descr="/home/claude/icons/unlockalt_5FBFF9.png"/>
          <p:cNvPicPr>
            <a:picLocks noChangeAspect="1"/>
          </p:cNvPicPr>
          <p:nvPr/>
        </p:nvPicPr>
        <p:blipFill>
          <a:blip r:embed="rId5"/>
          <a:stretch>
            <a:fillRect/>
          </a:stretch>
        </p:blipFill>
        <p:spPr>
          <a:xfrm>
            <a:off x="6593921" y="2021921"/>
            <a:ext cx="272125" cy="272125"/>
          </a:xfrm>
          <a:prstGeom prst="rect">
            <a:avLst/>
          </a:prstGeom>
        </p:spPr>
      </p:pic>
      <p:sp>
        <p:nvSpPr>
          <p:cNvPr id="14" name="Text 9"/>
          <p:cNvSpPr/>
          <p:nvPr/>
        </p:nvSpPr>
        <p:spPr>
          <a:xfrm>
            <a:off x="7178040" y="1901952"/>
            <a:ext cx="4114800" cy="457200"/>
          </a:xfrm>
          <a:prstGeom prst="rect">
            <a:avLst/>
          </a:prstGeom>
          <a:noFill/>
          <a:ln/>
        </p:spPr>
        <p:txBody>
          <a:bodyPr wrap="square" rtlCol="0" anchor="ctr"/>
          <a:lstStyle/>
          <a:p>
            <a:pPr marL="0" indent="0">
              <a:buNone/>
            </a:pPr>
            <a:r>
              <a:rPr lang="en-US" sz="1450" b="1" dirty="0">
                <a:solidFill>
                  <a:srgbClr val="0B2545"/>
                </a:solidFill>
                <a:latin typeface="Cambria" pitchFamily="34" charset="0"/>
                <a:ea typeface="Cambria" pitchFamily="34" charset="-122"/>
                <a:cs typeface="Cambria" pitchFamily="34" charset="-120"/>
              </a:rPr>
              <a:t>Known-plaintext attack</a:t>
            </a:r>
            <a:endParaRPr lang="en-US" sz="1450" dirty="0"/>
          </a:p>
        </p:txBody>
      </p:sp>
      <p:sp>
        <p:nvSpPr>
          <p:cNvPr id="15" name="Text 10"/>
          <p:cNvSpPr/>
          <p:nvPr/>
        </p:nvSpPr>
        <p:spPr>
          <a:xfrm>
            <a:off x="6446520" y="2560320"/>
            <a:ext cx="4846320" cy="1051560"/>
          </a:xfrm>
          <a:prstGeom prst="rect">
            <a:avLst/>
          </a:prstGeom>
          <a:noFill/>
          <a:ln/>
        </p:spPr>
        <p:txBody>
          <a:bodyPr wrap="square" rtlCol="0" anchor="t"/>
          <a:lstStyle/>
          <a:p>
            <a:pPr marL="0" indent="0">
              <a:buNone/>
            </a:pPr>
            <a:r>
              <a:rPr lang="en-US" sz="1150" dirty="0">
                <a:solidFill>
                  <a:srgbClr val="16232E"/>
                </a:solidFill>
                <a:latin typeface="Calibri" pitchFamily="34" charset="0"/>
                <a:ea typeface="Calibri" pitchFamily="34" charset="-122"/>
                <a:cs typeface="Calibri" pitchFamily="34" charset="-120"/>
              </a:rPr>
              <a:t>The attacker holds a matched plaintext/ciphertext pair (e.g. a known greeting or Hill cipher digraph) and solves for the key directly.</a:t>
            </a:r>
            <a:endParaRPr lang="en-US" sz="1150" dirty="0"/>
          </a:p>
        </p:txBody>
      </p:sp>
      <p:sp>
        <p:nvSpPr>
          <p:cNvPr id="16" name="Shape 11"/>
          <p:cNvSpPr/>
          <p:nvPr/>
        </p:nvSpPr>
        <p:spPr>
          <a:xfrm>
            <a:off x="548640" y="4206240"/>
            <a:ext cx="5303520" cy="2194560"/>
          </a:xfrm>
          <a:prstGeom prst="roundRect">
            <a:avLst>
              <a:gd name="adj" fmla="val 3333"/>
            </a:avLst>
          </a:prstGeom>
          <a:solidFill>
            <a:srgbClr val="FFFFFF"/>
          </a:solidFill>
          <a:ln w="12700">
            <a:solidFill>
              <a:srgbClr val="DCE3EA"/>
            </a:solidFill>
            <a:prstDash val="solid"/>
          </a:ln>
          <a:effectLst>
            <a:outerShdw blurRad="76200" dist="25400" dir="5400000" algn="bl" rotWithShape="0">
              <a:srgbClr val="9AA7B4">
                <a:alpha val="22000"/>
              </a:srgbClr>
            </a:outerShdw>
          </a:effectLst>
        </p:spPr>
      </p:sp>
      <p:sp>
        <p:nvSpPr>
          <p:cNvPr id="17" name="Shape 12"/>
          <p:cNvSpPr/>
          <p:nvPr/>
        </p:nvSpPr>
        <p:spPr>
          <a:xfrm>
            <a:off x="777240" y="4434840"/>
            <a:ext cx="566928" cy="566928"/>
          </a:xfrm>
          <a:prstGeom prst="ellipse">
            <a:avLst/>
          </a:prstGeom>
          <a:solidFill>
            <a:srgbClr val="0B2545"/>
          </a:solidFill>
          <a:ln/>
        </p:spPr>
      </p:sp>
      <p:pic>
        <p:nvPicPr>
          <p:cNvPr id="18" name="Image 3" descr="/home/claude/icons/key_5FBFF9.png"/>
          <p:cNvPicPr>
            <a:picLocks noChangeAspect="1"/>
          </p:cNvPicPr>
          <p:nvPr/>
        </p:nvPicPr>
        <p:blipFill>
          <a:blip r:embed="rId6"/>
          <a:stretch>
            <a:fillRect/>
          </a:stretch>
        </p:blipFill>
        <p:spPr>
          <a:xfrm>
            <a:off x="924641" y="4582241"/>
            <a:ext cx="272125" cy="272125"/>
          </a:xfrm>
          <a:prstGeom prst="rect">
            <a:avLst/>
          </a:prstGeom>
        </p:spPr>
      </p:pic>
      <p:sp>
        <p:nvSpPr>
          <p:cNvPr id="19" name="Text 13"/>
          <p:cNvSpPr/>
          <p:nvPr/>
        </p:nvSpPr>
        <p:spPr>
          <a:xfrm>
            <a:off x="1508760" y="4462272"/>
            <a:ext cx="4114800" cy="457200"/>
          </a:xfrm>
          <a:prstGeom prst="rect">
            <a:avLst/>
          </a:prstGeom>
          <a:noFill/>
          <a:ln/>
        </p:spPr>
        <p:txBody>
          <a:bodyPr wrap="square" rtlCol="0" anchor="ctr"/>
          <a:lstStyle/>
          <a:p>
            <a:pPr marL="0" indent="0">
              <a:buNone/>
            </a:pPr>
            <a:r>
              <a:rPr lang="en-US" sz="1450" b="1" dirty="0">
                <a:solidFill>
                  <a:srgbClr val="0B2545"/>
                </a:solidFill>
                <a:latin typeface="Cambria" pitchFamily="34" charset="0"/>
                <a:ea typeface="Cambria" pitchFamily="34" charset="-122"/>
                <a:cs typeface="Cambria" pitchFamily="34" charset="-120"/>
              </a:rPr>
              <a:t>Chosen-plaintext attack</a:t>
            </a:r>
            <a:endParaRPr lang="en-US" sz="1450" dirty="0"/>
          </a:p>
        </p:txBody>
      </p:sp>
      <p:sp>
        <p:nvSpPr>
          <p:cNvPr id="20" name="Text 14"/>
          <p:cNvSpPr/>
          <p:nvPr/>
        </p:nvSpPr>
        <p:spPr>
          <a:xfrm>
            <a:off x="777240" y="5120640"/>
            <a:ext cx="4846320" cy="1051560"/>
          </a:xfrm>
          <a:prstGeom prst="rect">
            <a:avLst/>
          </a:prstGeom>
          <a:noFill/>
          <a:ln/>
        </p:spPr>
        <p:txBody>
          <a:bodyPr wrap="square" rtlCol="0" anchor="t"/>
          <a:lstStyle/>
          <a:p>
            <a:pPr marL="0" indent="0">
              <a:buNone/>
            </a:pPr>
            <a:r>
              <a:rPr lang="en-US" sz="1150" dirty="0">
                <a:solidFill>
                  <a:srgbClr val="16232E"/>
                </a:solidFill>
                <a:latin typeface="Calibri" pitchFamily="34" charset="0"/>
                <a:ea typeface="Calibri" pitchFamily="34" charset="-122"/>
                <a:cs typeface="Calibri" pitchFamily="34" charset="-120"/>
              </a:rPr>
              <a:t>The attacker can submit chosen plaintext for encryption and observe the result, narrowing down the key faster than passive observation.</a:t>
            </a:r>
            <a:endParaRPr lang="en-US" sz="1150" dirty="0"/>
          </a:p>
        </p:txBody>
      </p:sp>
      <p:sp>
        <p:nvSpPr>
          <p:cNvPr id="21" name="Shape 15"/>
          <p:cNvSpPr/>
          <p:nvPr/>
        </p:nvSpPr>
        <p:spPr>
          <a:xfrm>
            <a:off x="6217920" y="4206240"/>
            <a:ext cx="5303520" cy="2194560"/>
          </a:xfrm>
          <a:prstGeom prst="roundRect">
            <a:avLst>
              <a:gd name="adj" fmla="val 3333"/>
            </a:avLst>
          </a:prstGeom>
          <a:solidFill>
            <a:srgbClr val="FFFFFF"/>
          </a:solidFill>
          <a:ln w="12700">
            <a:solidFill>
              <a:srgbClr val="DCE3EA"/>
            </a:solidFill>
            <a:prstDash val="solid"/>
          </a:ln>
          <a:effectLst>
            <a:outerShdw blurRad="76200" dist="25400" dir="5400000" algn="bl" rotWithShape="0">
              <a:srgbClr val="9AA7B4">
                <a:alpha val="22000"/>
              </a:srgbClr>
            </a:outerShdw>
          </a:effectLst>
        </p:spPr>
      </p:sp>
      <p:sp>
        <p:nvSpPr>
          <p:cNvPr id="22" name="Shape 16"/>
          <p:cNvSpPr/>
          <p:nvPr/>
        </p:nvSpPr>
        <p:spPr>
          <a:xfrm>
            <a:off x="6446520" y="4434840"/>
            <a:ext cx="566928" cy="566928"/>
          </a:xfrm>
          <a:prstGeom prst="ellipse">
            <a:avLst/>
          </a:prstGeom>
          <a:solidFill>
            <a:srgbClr val="0B2545"/>
          </a:solidFill>
          <a:ln/>
        </p:spPr>
      </p:sp>
      <p:pic>
        <p:nvPicPr>
          <p:cNvPr id="23" name="Image 4" descr="/home/claude/icons/search_5FBFF9.png"/>
          <p:cNvPicPr>
            <a:picLocks noChangeAspect="1"/>
          </p:cNvPicPr>
          <p:nvPr/>
        </p:nvPicPr>
        <p:blipFill>
          <a:blip r:embed="rId7"/>
          <a:stretch>
            <a:fillRect/>
          </a:stretch>
        </p:blipFill>
        <p:spPr>
          <a:xfrm>
            <a:off x="6593921" y="4582241"/>
            <a:ext cx="272125" cy="272125"/>
          </a:xfrm>
          <a:prstGeom prst="rect">
            <a:avLst/>
          </a:prstGeom>
        </p:spPr>
      </p:pic>
      <p:sp>
        <p:nvSpPr>
          <p:cNvPr id="24" name="Text 17"/>
          <p:cNvSpPr/>
          <p:nvPr/>
        </p:nvSpPr>
        <p:spPr>
          <a:xfrm>
            <a:off x="7178040" y="4462272"/>
            <a:ext cx="4114800" cy="457200"/>
          </a:xfrm>
          <a:prstGeom prst="rect">
            <a:avLst/>
          </a:prstGeom>
          <a:noFill/>
          <a:ln/>
        </p:spPr>
        <p:txBody>
          <a:bodyPr wrap="square" rtlCol="0" anchor="ctr"/>
          <a:lstStyle/>
          <a:p>
            <a:pPr marL="0" indent="0">
              <a:buNone/>
            </a:pPr>
            <a:r>
              <a:rPr lang="en-US" sz="1450" b="1" dirty="0">
                <a:solidFill>
                  <a:srgbClr val="0B2545"/>
                </a:solidFill>
                <a:latin typeface="Cambria" pitchFamily="34" charset="0"/>
                <a:ea typeface="Cambria" pitchFamily="34" charset="-122"/>
                <a:cs typeface="Cambria" pitchFamily="34" charset="-120"/>
              </a:rPr>
              <a:t>Brute-force / exhaustive search</a:t>
            </a:r>
            <a:endParaRPr lang="en-US" sz="1450" dirty="0"/>
          </a:p>
        </p:txBody>
      </p:sp>
      <p:sp>
        <p:nvSpPr>
          <p:cNvPr id="25" name="Text 18"/>
          <p:cNvSpPr/>
          <p:nvPr/>
        </p:nvSpPr>
        <p:spPr>
          <a:xfrm>
            <a:off x="6446520" y="5120640"/>
            <a:ext cx="4846320" cy="1051560"/>
          </a:xfrm>
          <a:prstGeom prst="rect">
            <a:avLst/>
          </a:prstGeom>
          <a:noFill/>
          <a:ln/>
        </p:spPr>
        <p:txBody>
          <a:bodyPr wrap="square" rtlCol="0" anchor="t"/>
          <a:lstStyle/>
          <a:p>
            <a:pPr marL="0" indent="0">
              <a:buNone/>
            </a:pPr>
            <a:r>
              <a:rPr lang="en-US" sz="1150" dirty="0">
                <a:solidFill>
                  <a:srgbClr val="16232E"/>
                </a:solidFill>
                <a:latin typeface="Calibri" pitchFamily="34" charset="0"/>
                <a:ea typeface="Calibri" pitchFamily="34" charset="-122"/>
                <a:cs typeface="Calibri" pitchFamily="34" charset="-120"/>
              </a:rPr>
              <a:t>Every possible key is tried until the output resembles meaningful language. Effective whenever the key space is small, as in Caesar or Affine.</a:t>
            </a:r>
            <a:endParaRPr lang="en-US" sz="1150" dirty="0"/>
          </a:p>
        </p:txBody>
      </p:sp>
      <p:sp>
        <p:nvSpPr>
          <p:cNvPr id="26" name="Text 19"/>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27" name="Text 20"/>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Strengths of Classical Cryptography</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shield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40080" y="1600200"/>
            <a:ext cx="10881360" cy="4663440"/>
          </a:xfrm>
          <a:prstGeom prst="rect">
            <a:avLst/>
          </a:prstGeom>
          <a:noFill/>
          <a:ln/>
        </p:spPr>
        <p:txBody>
          <a:bodyPr wrap="square" rtlCol="0" anchor="t"/>
          <a:lstStyle/>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Historical significance</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Established the foundational ideas — key-controlled transformation, substitution, transposition — that all later cryptography builds on.</a:t>
            </a:r>
            <a:endParaRPr lang="en-US" sz="1500" dirty="0"/>
          </a:p>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Simplicity and low computational cost</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Executable entirely by hand or with mechanical aids; no computing infrastructure required.</a:t>
            </a:r>
            <a:endParaRPr lang="en-US" sz="1500" dirty="0"/>
          </a:p>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Adequate for their era's threat model</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Effective against adversaries with limited literacy, time, or analytical tooling.</a:t>
            </a:r>
            <a:endParaRPr lang="en-US" sz="1500" dirty="0"/>
          </a:p>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Pedagogical value</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Still the clearest way to teach core concepts: keys, key space, diffusion, and cryptanalysis.</a:t>
            </a:r>
            <a:endParaRPr lang="en-US" sz="1500" dirty="0"/>
          </a:p>
        </p:txBody>
      </p:sp>
      <p:sp>
        <p:nvSpPr>
          <p:cNvPr id="7" name="Text 4"/>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Weaknesses of Classical Cryptography</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lockopen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40080" y="1600200"/>
            <a:ext cx="10881360" cy="4663440"/>
          </a:xfrm>
          <a:prstGeom prst="rect">
            <a:avLst/>
          </a:prstGeom>
          <a:noFill/>
          <a:ln/>
        </p:spPr>
        <p:txBody>
          <a:bodyPr wrap="square" rtlCol="0" anchor="t"/>
          <a:lstStyle/>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Small key spaces</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Even the strongest classical ciphers offer key spaces trivial for a modern computer to exhaust.</a:t>
            </a:r>
            <a:endParaRPr lang="en-US" sz="1500" dirty="0"/>
          </a:p>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Structural leakage</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Letter and digraph frequencies, or preserved letter identities, leak the underlying language structure.</a:t>
            </a:r>
            <a:endParaRPr lang="en-US" sz="1500" dirty="0"/>
          </a:p>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No formal security proof</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Security relied on obscurity of method, not on a mathematically hard problem.</a:t>
            </a:r>
            <a:endParaRPr lang="en-US" sz="1500" dirty="0"/>
          </a:p>
          <a:p>
            <a:pPr marL="228600" indent="-228600">
              <a:spcAft>
                <a:spcPts val="1200"/>
              </a:spcAft>
              <a:buSzPct val="100000"/>
              <a:buChar char="▸"/>
            </a:pPr>
            <a:r>
              <a:rPr lang="en-US" sz="1500" b="1" dirty="0">
                <a:solidFill>
                  <a:srgbClr val="16232E"/>
                </a:solidFill>
                <a:latin typeface="Calibri" pitchFamily="34" charset="0"/>
                <a:ea typeface="Calibri" pitchFamily="34" charset="-122"/>
                <a:cs typeface="Calibri" pitchFamily="34" charset="-120"/>
              </a:rPr>
              <a:t>Manual key management</a:t>
            </a:r>
            <a:endParaRPr lang="en-US" sz="1500" dirty="0"/>
          </a:p>
          <a:p>
            <a:pPr marL="0" lvl="1" indent="0">
              <a:spcAft>
                <a:spcPts val="600"/>
              </a:spcAft>
              <a:buNone/>
            </a:pPr>
            <a:r>
              <a:rPr lang="en-US" sz="1300" dirty="0">
                <a:solidFill>
                  <a:srgbClr val="5A6B7B"/>
                </a:solidFill>
                <a:latin typeface="Calibri" pitchFamily="34" charset="0"/>
                <a:ea typeface="Calibri" pitchFamily="34" charset="-122"/>
                <a:cs typeface="Calibri" pitchFamily="34" charset="-120"/>
              </a:rPr>
              <a:t>Keys and keywords were memorized or written down, with no systematic distribution or rotation.</a:t>
            </a:r>
            <a:endParaRPr lang="en-US" sz="1500" dirty="0"/>
          </a:p>
        </p:txBody>
      </p:sp>
      <p:sp>
        <p:nvSpPr>
          <p:cNvPr id="7" name="Text 4"/>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TRANSITION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Why Modern Cryptography Replaced Classical Methods</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cogs_5FBFF9.png"/>
          <p:cNvPicPr>
            <a:picLocks noChangeAspect="1"/>
          </p:cNvPicPr>
          <p:nvPr/>
        </p:nvPicPr>
        <p:blipFill>
          <a:blip r:embed="rId3"/>
          <a:stretch>
            <a:fillRect/>
          </a:stretch>
        </p:blipFill>
        <p:spPr>
          <a:xfrm>
            <a:off x="10912450" y="579730"/>
            <a:ext cx="395021" cy="395021"/>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3968496"/>
        </p:xfrm>
        <a:graphic>
          <a:graphicData uri="http://schemas.openxmlformats.org/drawingml/2006/table">
            <a:tbl>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66928">
                <a:tc>
                  <a:txBody>
                    <a:bodyPr/>
                    <a:lstStyle/>
                    <a:p>
                      <a:pPr marL="0" indent="0" algn="ctr">
                        <a:buNone/>
                      </a:pPr>
                      <a:r>
                        <a:rPr lang="en-US" sz="1200" b="1" dirty="0">
                          <a:solidFill>
                            <a:srgbClr val="FFFFFF"/>
                          </a:solidFill>
                        </a:rPr>
                        <a:t>Dimension</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Classical Cryptography</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tc>
                  <a:txBody>
                    <a:bodyPr/>
                    <a:lstStyle/>
                    <a:p>
                      <a:pPr marL="0" indent="0" algn="ctr">
                        <a:buNone/>
                      </a:pPr>
                      <a:r>
                        <a:rPr lang="en-US" sz="1200" b="1" dirty="0">
                          <a:solidFill>
                            <a:srgbClr val="FFFFFF"/>
                          </a:solidFill>
                        </a:rPr>
                        <a:t>Modern Cryptography</a:t>
                      </a:r>
                      <a:endParaRPr lang="en-US" sz="120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566928">
                <a:tc>
                  <a:txBody>
                    <a:bodyPr/>
                    <a:lstStyle/>
                    <a:p>
                      <a:pPr marL="0" indent="0" algn="l">
                        <a:buNone/>
                      </a:pPr>
                      <a:r>
                        <a:rPr lang="en-US" sz="1050" b="1" dirty="0">
                          <a:solidFill>
                            <a:srgbClr val="16232E"/>
                          </a:solidFill>
                        </a:rPr>
                        <a:t>Key space</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rPr>
                        <a:t>Tens to millions of keys</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rPr>
                        <a:t>2^128 or larger (AES-128+)</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50" b="1" dirty="0">
                          <a:solidFill>
                            <a:srgbClr val="16232E"/>
                          </a:solidFill>
                        </a:rPr>
                        <a:t>Security basis</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l">
                        <a:buNone/>
                      </a:pPr>
                      <a:r>
                        <a:rPr lang="en-US" sz="1050" dirty="0">
                          <a:solidFill>
                            <a:srgbClr val="16232E"/>
                          </a:solidFill>
                        </a:rPr>
                        <a:t>Obscurity of method</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l">
                        <a:buNone/>
                      </a:pPr>
                      <a:r>
                        <a:rPr lang="en-US" sz="1050" dirty="0">
                          <a:solidFill>
                            <a:srgbClr val="16232E"/>
                          </a:solidFill>
                        </a:rPr>
                        <a:t>Computationally hard problems (factoring, discrete log)</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566928">
                <a:tc>
                  <a:txBody>
                    <a:bodyPr/>
                    <a:lstStyle/>
                    <a:p>
                      <a:pPr marL="0" indent="0" algn="l">
                        <a:buNone/>
                      </a:pPr>
                      <a:r>
                        <a:rPr lang="en-US" sz="1050" b="1" dirty="0">
                          <a:solidFill>
                            <a:srgbClr val="16232E"/>
                          </a:solidFill>
                        </a:rPr>
                        <a:t>Design principle</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rPr>
                        <a:t>Secret algorithm assumed</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rPr>
                        <a:t>Kerckhoffs's Principle — security holds even if the algorithm is public</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050" b="1" dirty="0">
                          <a:solidFill>
                            <a:srgbClr val="16232E"/>
                          </a:solidFill>
                        </a:rPr>
                        <a:t>Processing unit</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l">
                        <a:buNone/>
                      </a:pPr>
                      <a:r>
                        <a:rPr lang="en-US" sz="1050" dirty="0">
                          <a:solidFill>
                            <a:srgbClr val="16232E"/>
                          </a:solidFill>
                        </a:rPr>
                        <a:t>Individual letters</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l">
                        <a:buNone/>
                      </a:pPr>
                      <a:r>
                        <a:rPr lang="en-US" sz="1050" dirty="0">
                          <a:solidFill>
                            <a:srgbClr val="16232E"/>
                          </a:solidFill>
                        </a:rPr>
                        <a:t>Bits and blocks, processed by computers</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r h="566928">
                <a:tc>
                  <a:txBody>
                    <a:bodyPr/>
                    <a:lstStyle/>
                    <a:p>
                      <a:pPr marL="0" indent="0" algn="l">
                        <a:buNone/>
                      </a:pPr>
                      <a:r>
                        <a:rPr lang="en-US" sz="1050" b="1" dirty="0">
                          <a:solidFill>
                            <a:srgbClr val="16232E"/>
                          </a:solidFill>
                        </a:rPr>
                        <a:t>Diffusion &amp; confusion</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rPr>
                        <a:t>Weak or partial</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rPr>
                        <a:t>Formalized by Shannon (1949) and engineered explicitly</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050" b="1" dirty="0">
                          <a:solidFill>
                            <a:srgbClr val="16232E"/>
                          </a:solidFill>
                        </a:rPr>
                        <a:t>Automation</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l">
                        <a:buNone/>
                      </a:pPr>
                      <a:r>
                        <a:rPr lang="en-US" sz="1050" dirty="0">
                          <a:solidFill>
                            <a:srgbClr val="16232E"/>
                          </a:solidFill>
                        </a:rPr>
                        <a:t>Manual / mechanical</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tc>
                  <a:txBody>
                    <a:bodyPr/>
                    <a:lstStyle/>
                    <a:p>
                      <a:pPr marL="0" indent="0" algn="l">
                        <a:buNone/>
                      </a:pPr>
                      <a:r>
                        <a:rPr lang="en-US" sz="1050" dirty="0">
                          <a:solidFill>
                            <a:srgbClr val="16232E"/>
                          </a:solidFill>
                        </a:rPr>
                        <a:t>Fully automated, hardware-accelerated</a:t>
                      </a:r>
                      <a:endParaRPr lang="en-US" sz="1050" dirty="0"/>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AF0F6"/>
                    </a:solidFill>
                  </a:tcPr>
                </a:tc>
                <a:extLst>
                  <a:ext uri="{0D108BD9-81ED-4DB2-BD59-A6C34878D82A}">
                    <a16:rowId xmlns:a16="http://schemas.microsoft.com/office/drawing/2014/main" val="10006"/>
                  </a:ext>
                </a:extLst>
              </a:tr>
            </a:tbl>
          </a:graphicData>
        </a:graphic>
      </p:graphicFrame>
      <p:sp>
        <p:nvSpPr>
          <p:cNvPr id="7" name="Text 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Classical Encryption Techniques</a:t>
            </a:r>
            <a:endParaRPr lang="en-US" sz="900" dirty="0"/>
          </a:p>
        </p:txBody>
      </p:sp>
      <p:sp>
        <p:nvSpPr>
          <p:cNvPr id="8" name="Text 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4572000"/>
            <a:ext cx="4572000" cy="4572000"/>
          </a:xfrm>
          <a:prstGeom prst="ellipse">
            <a:avLst/>
          </a:prstGeom>
          <a:solidFill>
            <a:srgbClr val="13315C"/>
          </a:solidFill>
          <a:ln/>
        </p:spPr>
      </p:sp>
      <p:sp>
        <p:nvSpPr>
          <p:cNvPr id="3" name="Text 1"/>
          <p:cNvSpPr/>
          <p:nvPr/>
        </p:nvSpPr>
        <p:spPr>
          <a:xfrm>
            <a:off x="822960" y="548640"/>
            <a:ext cx="5486400" cy="365760"/>
          </a:xfrm>
          <a:prstGeom prst="rect">
            <a:avLst/>
          </a:prstGeom>
          <a:noFill/>
          <a:ln/>
        </p:spPr>
        <p:txBody>
          <a:bodyPr wrap="square" rtlCol="0" anchor="ctr"/>
          <a:lstStyle/>
          <a:p>
            <a:pPr marL="0" indent="0">
              <a:buNone/>
            </a:pPr>
            <a:r>
              <a:rPr lang="en-US" sz="1300" b="1" kern="0" spc="150" dirty="0">
                <a:solidFill>
                  <a:srgbClr val="5FBFF9"/>
                </a:solidFill>
                <a:latin typeface="Calibri" pitchFamily="34" charset="0"/>
                <a:ea typeface="Calibri" pitchFamily="34" charset="-122"/>
                <a:cs typeface="Calibri" pitchFamily="34" charset="-120"/>
              </a:rPr>
              <a:t>SUMMARY</a:t>
            </a:r>
            <a:endParaRPr lang="en-US" sz="1300" dirty="0"/>
          </a:p>
        </p:txBody>
      </p:sp>
      <p:sp>
        <p:nvSpPr>
          <p:cNvPr id="4" name="Text 2"/>
          <p:cNvSpPr/>
          <p:nvPr/>
        </p:nvSpPr>
        <p:spPr>
          <a:xfrm>
            <a:off x="822960" y="914400"/>
            <a:ext cx="91440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5" name="Shape 3"/>
          <p:cNvSpPr/>
          <p:nvPr/>
        </p:nvSpPr>
        <p:spPr>
          <a:xfrm>
            <a:off x="822960" y="2011680"/>
            <a:ext cx="411480" cy="411480"/>
          </a:xfrm>
          <a:prstGeom prst="ellipse">
            <a:avLst/>
          </a:prstGeom>
          <a:solidFill>
            <a:srgbClr val="5FBFF9"/>
          </a:solidFill>
          <a:ln/>
        </p:spPr>
      </p:sp>
      <p:sp>
        <p:nvSpPr>
          <p:cNvPr id="6" name="Text 4"/>
          <p:cNvSpPr/>
          <p:nvPr/>
        </p:nvSpPr>
        <p:spPr>
          <a:xfrm>
            <a:off x="822960" y="2011680"/>
            <a:ext cx="411480" cy="411480"/>
          </a:xfrm>
          <a:prstGeom prst="rect">
            <a:avLst/>
          </a:prstGeom>
          <a:noFill/>
          <a:ln/>
        </p:spPr>
        <p:txBody>
          <a:bodyPr wrap="square"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1938528"/>
            <a:ext cx="9784080" cy="91440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Classical ciphers fall into two families: substitution (identity changes) and transposition (position changes).</a:t>
            </a:r>
            <a:endParaRPr lang="en-US" sz="1350" dirty="0"/>
          </a:p>
        </p:txBody>
      </p:sp>
      <p:sp>
        <p:nvSpPr>
          <p:cNvPr id="8" name="Shape 6"/>
          <p:cNvSpPr/>
          <p:nvPr/>
        </p:nvSpPr>
        <p:spPr>
          <a:xfrm>
            <a:off x="822960" y="3063240"/>
            <a:ext cx="411480" cy="411480"/>
          </a:xfrm>
          <a:prstGeom prst="ellipse">
            <a:avLst/>
          </a:prstGeom>
          <a:solidFill>
            <a:srgbClr val="5FBFF9"/>
          </a:solidFill>
          <a:ln/>
        </p:spPr>
      </p:sp>
      <p:sp>
        <p:nvSpPr>
          <p:cNvPr id="9" name="Text 7"/>
          <p:cNvSpPr/>
          <p:nvPr/>
        </p:nvSpPr>
        <p:spPr>
          <a:xfrm>
            <a:off x="822960" y="3063240"/>
            <a:ext cx="411480" cy="411480"/>
          </a:xfrm>
          <a:prstGeom prst="rect">
            <a:avLst/>
          </a:prstGeom>
          <a:noFill/>
          <a:ln/>
        </p:spPr>
        <p:txBody>
          <a:bodyPr wrap="square"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463040" y="2990088"/>
            <a:ext cx="9784080" cy="91440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Every classical technique — from Caesar to double transposition — is broken by exhaustive search, frequency analysis, or pattern-based cryptanalysis given modern computing power.</a:t>
            </a:r>
            <a:endParaRPr lang="en-US" sz="1350" dirty="0"/>
          </a:p>
        </p:txBody>
      </p:sp>
      <p:sp>
        <p:nvSpPr>
          <p:cNvPr id="11" name="Shape 9"/>
          <p:cNvSpPr/>
          <p:nvPr/>
        </p:nvSpPr>
        <p:spPr>
          <a:xfrm>
            <a:off x="822960" y="4114800"/>
            <a:ext cx="411480" cy="411480"/>
          </a:xfrm>
          <a:prstGeom prst="ellipse">
            <a:avLst/>
          </a:prstGeom>
          <a:solidFill>
            <a:srgbClr val="5FBFF9"/>
          </a:solidFill>
          <a:ln/>
        </p:spPr>
      </p:sp>
      <p:sp>
        <p:nvSpPr>
          <p:cNvPr id="12" name="Text 10"/>
          <p:cNvSpPr/>
          <p:nvPr/>
        </p:nvSpPr>
        <p:spPr>
          <a:xfrm>
            <a:off x="822960" y="4114800"/>
            <a:ext cx="411480" cy="411480"/>
          </a:xfrm>
          <a:prstGeom prst="rect">
            <a:avLst/>
          </a:prstGeom>
          <a:noFill/>
          <a:ln/>
        </p:spPr>
        <p:txBody>
          <a:bodyPr wrap="square"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463040" y="4041648"/>
            <a:ext cx="9784080" cy="91440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The one-time pad is the sole classical scheme with a formal, unconditional security proof, but it is logistically impractical at scale.</a:t>
            </a:r>
            <a:endParaRPr lang="en-US" sz="1350" dirty="0"/>
          </a:p>
        </p:txBody>
      </p:sp>
      <p:sp>
        <p:nvSpPr>
          <p:cNvPr id="14" name="Shape 12"/>
          <p:cNvSpPr/>
          <p:nvPr/>
        </p:nvSpPr>
        <p:spPr>
          <a:xfrm>
            <a:off x="822960" y="5166360"/>
            <a:ext cx="411480" cy="411480"/>
          </a:xfrm>
          <a:prstGeom prst="ellipse">
            <a:avLst/>
          </a:prstGeom>
          <a:solidFill>
            <a:srgbClr val="5FBFF9"/>
          </a:solidFill>
          <a:ln/>
        </p:spPr>
      </p:sp>
      <p:sp>
        <p:nvSpPr>
          <p:cNvPr id="15" name="Text 13"/>
          <p:cNvSpPr/>
          <p:nvPr/>
        </p:nvSpPr>
        <p:spPr>
          <a:xfrm>
            <a:off x="822960" y="5166360"/>
            <a:ext cx="411480" cy="411480"/>
          </a:xfrm>
          <a:prstGeom prst="rect">
            <a:avLst/>
          </a:prstGeom>
          <a:noFill/>
          <a:ln/>
        </p:spPr>
        <p:txBody>
          <a:bodyPr wrap="square" rtlCol="0" anchor="ctr"/>
          <a:lstStyle/>
          <a:p>
            <a:pPr marL="0" indent="0" algn="ctr">
              <a:buNone/>
            </a:pPr>
            <a:r>
              <a:rPr lang="en-US" sz="1500" b="1" dirty="0">
                <a:solidFill>
                  <a:srgbClr val="0B2545"/>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1463040" y="5093208"/>
            <a:ext cx="9784080" cy="91440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Modern cryptography replaced classical methods by grounding security in computational hardness and public, peer-reviewed algorithms — not secrecy of method.</a:t>
            </a:r>
            <a:endParaRPr lang="en-US" sz="1350" dirty="0"/>
          </a:p>
        </p:txBody>
      </p:sp>
      <p:sp>
        <p:nvSpPr>
          <p:cNvPr id="17" name="Text 15"/>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18" name="Text 16"/>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CONSOLIDATION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Discussion Questions and Self-Check</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gradcap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40080" y="1600200"/>
            <a:ext cx="10881360" cy="4663440"/>
          </a:xfrm>
          <a:prstGeom prst="rect">
            <a:avLst/>
          </a:prstGeom>
          <a:noFill/>
          <a:ln/>
        </p:spPr>
        <p:txBody>
          <a:bodyPr wrap="square" rtlCol="0" anchor="t"/>
          <a:lstStyle/>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Why does a larger key space not automatically guarantee a secure cipher? (Consider Vigenère.)</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How would you determine, given only ciphertext, whether a substitution or transposition cipher was used?</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Explain why the one-time pad is provably unbreakable while every other classical cipher is not.</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Design a product cipher that applies a Playfair substitution followed by a columnar transposition. What does combining the two defend against that neither does alone?</a:t>
            </a:r>
            <a:endParaRPr lang="en-US" sz="1500" dirty="0"/>
          </a:p>
          <a:p>
            <a:pPr marL="228600" indent="-228600">
              <a:spcAft>
                <a:spcPts val="1200"/>
              </a:spcAft>
              <a:buSzPct val="100000"/>
              <a:buChar char="▸"/>
            </a:pPr>
            <a:r>
              <a:rPr lang="en-US" sz="1500" dirty="0">
                <a:solidFill>
                  <a:srgbClr val="16232E"/>
                </a:solidFill>
                <a:latin typeface="Calibri" pitchFamily="34" charset="0"/>
                <a:ea typeface="Calibri" pitchFamily="34" charset="-122"/>
                <a:cs typeface="Calibri" pitchFamily="34" charset="-120"/>
              </a:rPr>
              <a:t>Why is Kerckhoffs's Principle considered a turning point between classical and modern cryptography?</a:t>
            </a:r>
            <a:endParaRPr lang="en-US" sz="1500" dirty="0"/>
          </a:p>
        </p:txBody>
      </p:sp>
      <p:sp>
        <p:nvSpPr>
          <p:cNvPr id="7" name="Text 4"/>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150" dirty="0">
                <a:solidFill>
                  <a:srgbClr val="2E86AB"/>
                </a:solidFill>
                <a:latin typeface="Calibri" pitchFamily="34" charset="0"/>
                <a:ea typeface="Calibri" pitchFamily="34" charset="-122"/>
                <a:cs typeface="Calibri" pitchFamily="34" charset="-120"/>
              </a:rPr>
              <a:t>FURTHER STUDY</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References and Further Reading</a:t>
            </a:r>
            <a:endParaRPr lang="en-US" sz="2800" dirty="0"/>
          </a:p>
        </p:txBody>
      </p:sp>
      <p:sp>
        <p:nvSpPr>
          <p:cNvPr id="4" name="Shape 2"/>
          <p:cNvSpPr/>
          <p:nvPr/>
        </p:nvSpPr>
        <p:spPr>
          <a:xfrm>
            <a:off x="10698480" y="365760"/>
            <a:ext cx="822960" cy="822960"/>
          </a:xfrm>
          <a:prstGeom prst="ellipse">
            <a:avLst/>
          </a:prstGeom>
          <a:solidFill>
            <a:srgbClr val="0B2545"/>
          </a:solidFill>
          <a:ln/>
        </p:spPr>
      </p:sp>
      <p:pic>
        <p:nvPicPr>
          <p:cNvPr id="5" name="Image 0" descr="/home/claude/icons/bookopen_5FBFF9.png"/>
          <p:cNvPicPr>
            <a:picLocks noChangeAspect="1"/>
          </p:cNvPicPr>
          <p:nvPr/>
        </p:nvPicPr>
        <p:blipFill>
          <a:blip r:embed="rId3"/>
          <a:stretch>
            <a:fillRect/>
          </a:stretch>
        </p:blipFill>
        <p:spPr>
          <a:xfrm>
            <a:off x="10912450" y="579730"/>
            <a:ext cx="395021" cy="395021"/>
          </a:xfrm>
          <a:prstGeom prst="rect">
            <a:avLst/>
          </a:prstGeom>
        </p:spPr>
      </p:pic>
      <p:sp>
        <p:nvSpPr>
          <p:cNvPr id="6" name="Text 3"/>
          <p:cNvSpPr/>
          <p:nvPr/>
        </p:nvSpPr>
        <p:spPr>
          <a:xfrm>
            <a:off x="640080" y="1645920"/>
            <a:ext cx="10881360" cy="4389120"/>
          </a:xfrm>
          <a:prstGeom prst="rect">
            <a:avLst/>
          </a:prstGeom>
          <a:noFill/>
          <a:ln/>
        </p:spPr>
        <p:txBody>
          <a:bodyPr wrap="square" rtlCol="0" anchor="t"/>
          <a:lstStyle/>
          <a:p>
            <a:pPr marL="228600" indent="-2286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Stallings, W. — Cryptography and Network Security: Principles and Practice (Pearson).</a:t>
            </a:r>
            <a:endParaRPr lang="en-US" sz="1350" dirty="0"/>
          </a:p>
          <a:p>
            <a:pPr marL="228600" indent="-2286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Kahn, D. — The Codebreakers: The Comprehensive History of Secret Communication from Ancient Times to the Internet.</a:t>
            </a:r>
            <a:endParaRPr lang="en-US" sz="1350" dirty="0"/>
          </a:p>
          <a:p>
            <a:pPr marL="228600" indent="-2286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Singh, S. — The Code Book: The Science of Secrecy from Ancient Egypt to Quantum Cryptography.</a:t>
            </a:r>
            <a:endParaRPr lang="en-US" sz="1350" dirty="0"/>
          </a:p>
          <a:p>
            <a:pPr marL="228600" indent="-2286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Shannon, C. E. (1949) — "Communication Theory of Secrecy Systems," Bell System Technical Journal.</a:t>
            </a:r>
            <a:endParaRPr lang="en-US" sz="1350" dirty="0"/>
          </a:p>
          <a:p>
            <a:pPr marL="228600" indent="-2286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Kerckhoffs, A. (1883) — "La Cryptographie Militaire," Journal des Sciences Militaires.</a:t>
            </a:r>
            <a:endParaRPr lang="en-US" sz="1350" dirty="0"/>
          </a:p>
          <a:p>
            <a:pPr marL="228600" indent="-2286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NIST — Advanced Encryption Standard (FIPS 197), for comparison with modern block ciphers.</a:t>
            </a:r>
            <a:endParaRPr lang="en-US" sz="1350" dirty="0"/>
          </a:p>
        </p:txBody>
      </p:sp>
      <p:sp>
        <p:nvSpPr>
          <p:cNvPr id="7" name="Text 4"/>
          <p:cNvSpPr/>
          <p:nvPr/>
        </p:nvSpPr>
        <p:spPr>
          <a:xfrm>
            <a:off x="640080" y="6126480"/>
            <a:ext cx="10881360" cy="365760"/>
          </a:xfrm>
          <a:prstGeom prst="rect">
            <a:avLst/>
          </a:prstGeom>
          <a:noFill/>
          <a:ln/>
        </p:spPr>
        <p:txBody>
          <a:bodyPr wrap="square" rtlCol="0" anchor="ctr"/>
          <a:lstStyle/>
          <a:p>
            <a:pPr marL="0" indent="0">
              <a:buNone/>
            </a:pPr>
            <a:r>
              <a:rPr lang="en-US" sz="950" i="1" dirty="0">
                <a:solidFill>
                  <a:srgbClr val="5A6B7B"/>
                </a:solidFill>
                <a:latin typeface="Calibri" pitchFamily="34" charset="0"/>
                <a:ea typeface="Calibri" pitchFamily="34" charset="-122"/>
                <a:cs typeface="Calibri" pitchFamily="34" charset="-120"/>
              </a:rPr>
              <a:t>Note: Claude does not have live access to search or a reference database — please verify citations and edition details independently.</a:t>
            </a:r>
            <a:endParaRPr lang="en-US" sz="950" dirty="0"/>
          </a:p>
        </p:txBody>
      </p:sp>
      <p:sp>
        <p:nvSpPr>
          <p:cNvPr id="8" name="Text 5"/>
          <p:cNvSpPr/>
          <p:nvPr/>
        </p:nvSpPr>
        <p:spPr>
          <a:xfrm>
            <a:off x="457200" y="6528816"/>
            <a:ext cx="7315200" cy="274320"/>
          </a:xfrm>
          <a:prstGeom prst="rect">
            <a:avLst/>
          </a:prstGeom>
          <a:noFill/>
          <a:ln/>
        </p:spPr>
        <p:txBody>
          <a:bodyPr wrap="square" rtlCol="0" anchor="ctr"/>
          <a:lstStyle/>
          <a:p>
            <a:pPr marL="0" indent="0" algn="l">
              <a:buNone/>
            </a:pPr>
            <a:endParaRPr lang="en-US" sz="900" dirty="0"/>
          </a:p>
        </p:txBody>
      </p:sp>
      <p:sp>
        <p:nvSpPr>
          <p:cNvPr id="9" name="Text 6"/>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880</TotalTime>
  <Words>6273</Words>
  <Application>Microsoft Office PowerPoint</Application>
  <PresentationFormat>Widescreen</PresentationFormat>
  <Paragraphs>1629</Paragraphs>
  <Slides>57</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anthropic-sans</vt:lpstr>
      <vt:lpstr>Arial</vt:lpstr>
      <vt:lpstr>Calibri</vt:lpstr>
      <vt:lpstr>Calibri Light</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Ms. K Anuradha</cp:lastModifiedBy>
  <cp:revision>11</cp:revision>
  <dcterms:created xsi:type="dcterms:W3CDTF">2026-08-06T15:27:35Z</dcterms:created>
  <dcterms:modified xsi:type="dcterms:W3CDTF">2026-10-16T03:45:18Z</dcterms:modified>
</cp:coreProperties>
</file>