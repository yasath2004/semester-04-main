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277" r:id="rId4"/>
    <p:sldId id="278" r:id="rId5"/>
    <p:sldId id="27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0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session: this lecture covers how organisations protect an entire cybersecurity domain, moving from individual devices up to servers, networks, and finally the physical facility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learning outcomes. Emphasise that they build on each other: device, server, network, facility.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cybersecurity and anchor everything on the CIA triad. Every control introduced later in this lecture maps back to at least one of these three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the topic with cost and risk figures, then the four structural drivers. Ask students: which of these drivers applies to a university like ours?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the main threat categories. The rest of the lecture is about the defensive controls that counter these threats, layer by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first domain: host-level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Hardening = shrinking the attack surface of each host. Stress patching and least privilege as the two highest-impact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Devices leave the building, so protection must travel with them: strong authentication, encryption, MDM, and tested backups.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Servers concentrate value: one compromised server can expose thousands of users'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exam point: SSH replaces Telnet, SFTP replaces FTP, HTTPS replaces HTTP. Accountability requires named accounts and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hardening as a repeatable lifecycle, not a one-off task. Mention CIS Benchmarks and vendor hardening guides as practical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individual machines to the connective tissue: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hardening philosophy as hosts, applied to network gear: disable what is unused, authenticate what connects, encrypt management, and log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IDS vs IPS distinction: detection alerts, prevention blocks. The DMZ concept often appears in exams: public services live in the buffer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WEP-to-WPA3 evolution is a standard exam question. Emphasise that hiding the SSID and MAC filtering alone are weak controls, not real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overlooked by technical students: physical access defeats logical controls. Environmental failures cause more downtime than attackers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outside-in through the layers. Define tailgating and mantraps; both are frequent exam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Availability in the CIA triad: environmental controls exist mainly to keep systems running. Fire suppression choice (clean agent vs water) is a common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domains and the defence-in-depth principle. Good point to preview the next session or set revision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discussion prompt to check understanding of prioritisation and risk-based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858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a Cybersecurity Domain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Systems and Devices  |  Server Hardening  |  Network Hardening  |  Physical &amp; Environmental Security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of Cyber Security Module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617220"/>
            <a:ext cx="1783080" cy="178308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1165860"/>
            <a:ext cx="1783080" cy="1783080"/>
          </a:xfrm>
          <a:prstGeom prst="rect">
            <a:avLst/>
          </a:prstGeom>
          <a:solidFill>
            <a:srgbClr val="2EC4B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1303020"/>
            <a:ext cx="1371600" cy="1371600"/>
          </a:xfrm>
          <a:prstGeom prst="rect">
            <a:avLst/>
          </a:prstGeom>
          <a:solidFill>
            <a:srgbClr val="2EC4B6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80060" y="1474470"/>
            <a:ext cx="5829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INFORMATION SECURITY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45770" y="1748790"/>
            <a:ext cx="6515100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Cybersecurity Cube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480060" y="2846070"/>
            <a:ext cx="56921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125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dimensions for building and evaluating information security: security principles, states of data, and safeguards.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80060" y="3669030"/>
            <a:ext cx="96012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" y="3771900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McCumber Cube framework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42900" y="489661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kern="0" spc="75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CUBE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572500" y="4896612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4350"/>
            <a:ext cx="82981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Dimensions of the Cybersecurity Cube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062990"/>
            <a:ext cx="829818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John McCumber in 1991, the cube models security the way a designer approaches a building: every safeguard must account for what you're protecting, where the information currently sits, and how you intend to protect it. Each of the three axes below defines a dimension that has to be addressed for a security posture to be complete.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411480" y="1885950"/>
            <a:ext cx="2640330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2930" y="2023110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2930" y="2311146"/>
            <a:ext cx="582930" cy="58293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0" descr="/home/claude/cyber_cube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92" y="2462708"/>
            <a:ext cx="279806" cy="2798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2930" y="301752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75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Principles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582930" y="3291840"/>
            <a:ext cx="229743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82930" y="3566160"/>
            <a:ext cx="229743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863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and Availability — the goals every control is meant to protect.</a:t>
            </a:r>
            <a:endParaRPr lang="en-US" sz="863" dirty="0"/>
          </a:p>
        </p:txBody>
      </p:sp>
      <p:sp>
        <p:nvSpPr>
          <p:cNvPr id="13" name="Shape 10"/>
          <p:cNvSpPr/>
          <p:nvPr/>
        </p:nvSpPr>
        <p:spPr>
          <a:xfrm>
            <a:off x="3291840" y="1885950"/>
            <a:ext cx="2640330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63290" y="2023110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63290" y="2311146"/>
            <a:ext cx="582930" cy="58293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1" descr="/home/claude/cyber_cube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852" y="2462708"/>
            <a:ext cx="279806" cy="2798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63290" y="301752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75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 of Data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3463290" y="3291840"/>
            <a:ext cx="229743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Transmission · Processing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463290" y="3566160"/>
            <a:ext cx="229743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863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protected differently depending on the state it's currently in.</a:t>
            </a:r>
            <a:endParaRPr lang="en-US" sz="863" dirty="0"/>
          </a:p>
        </p:txBody>
      </p:sp>
      <p:sp>
        <p:nvSpPr>
          <p:cNvPr id="20" name="Shape 16"/>
          <p:cNvSpPr/>
          <p:nvPr/>
        </p:nvSpPr>
        <p:spPr>
          <a:xfrm>
            <a:off x="6172200" y="1885950"/>
            <a:ext cx="2640330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343650" y="2023110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43650" y="2311146"/>
            <a:ext cx="582930" cy="58293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2" descr="/home/claude/cyber_cube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212" y="2462708"/>
            <a:ext cx="279806" cy="27980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43650" y="301752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75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Countermeasures</a:t>
            </a:r>
            <a:endParaRPr lang="en-US" sz="1275" dirty="0"/>
          </a:p>
        </p:txBody>
      </p:sp>
      <p:sp>
        <p:nvSpPr>
          <p:cNvPr id="25" name="Text 20"/>
          <p:cNvSpPr/>
          <p:nvPr/>
        </p:nvSpPr>
        <p:spPr>
          <a:xfrm>
            <a:off x="6343650" y="3291840"/>
            <a:ext cx="229743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6343650" y="3566160"/>
            <a:ext cx="229743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863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policies &amp; practices, and people are the tools used to defend data.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342900" y="489661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kern="0" spc="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CUBE</a:t>
            </a:r>
            <a:endParaRPr lang="en-US" sz="675" dirty="0"/>
          </a:p>
        </p:txBody>
      </p:sp>
      <p:sp>
        <p:nvSpPr>
          <p:cNvPr id="28" name="Text 23"/>
          <p:cNvSpPr/>
          <p:nvPr/>
        </p:nvSpPr>
        <p:spPr>
          <a:xfrm>
            <a:off x="8572500" y="4896612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5486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1 · SECURITY PRINCIPLES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4350"/>
            <a:ext cx="685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028700"/>
            <a:ext cx="809244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7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dimension defines what security is trying to achieve. Every control on the other two axes exists to uphold one of these three goals.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411480" y="1611630"/>
            <a:ext cx="264033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11630"/>
            <a:ext cx="2640330" cy="106299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>
            <a:off x="1405890" y="1817370"/>
            <a:ext cx="651510" cy="65151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cyber_cube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482" y="1981962"/>
            <a:ext cx="322326" cy="3223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2930" y="2777490"/>
            <a:ext cx="229743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82930" y="3120390"/>
            <a:ext cx="229743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individuals, entities, or processes can access sensitive information.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2930" y="4046220"/>
            <a:ext cx="2297430" cy="0"/>
          </a:xfrm>
          <a:prstGeom prst="line">
            <a:avLst/>
          </a:prstGeom>
          <a:noFill/>
          <a:ln w="12700">
            <a:solidFill>
              <a:srgbClr val="E1E7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2930" y="4135374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88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· access controls · authentication</a:t>
            </a:r>
            <a:endParaRPr lang="en-US" sz="788" dirty="0"/>
          </a:p>
        </p:txBody>
      </p:sp>
      <p:sp>
        <p:nvSpPr>
          <p:cNvPr id="14" name="Shape 11"/>
          <p:cNvSpPr/>
          <p:nvPr/>
        </p:nvSpPr>
        <p:spPr>
          <a:xfrm>
            <a:off x="3291840" y="1611630"/>
            <a:ext cx="264033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611630"/>
            <a:ext cx="2640330" cy="106299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0" y="1817370"/>
            <a:ext cx="651510" cy="65151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cyber_cube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842" y="1981962"/>
            <a:ext cx="322326" cy="3223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63290" y="2777490"/>
            <a:ext cx="229743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463290" y="3120390"/>
            <a:ext cx="229743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remains accurate, consistent, and unaltered except by authorized action.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63290" y="4046220"/>
            <a:ext cx="2297430" cy="0"/>
          </a:xfrm>
          <a:prstGeom prst="line">
            <a:avLst/>
          </a:prstGeom>
          <a:noFill/>
          <a:ln w="12700">
            <a:solidFill>
              <a:srgbClr val="E1E7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63290" y="4135374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88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checksums · version control</a:t>
            </a:r>
            <a:endParaRPr lang="en-US" sz="788" dirty="0"/>
          </a:p>
        </p:txBody>
      </p:sp>
      <p:sp>
        <p:nvSpPr>
          <p:cNvPr id="22" name="Shape 18"/>
          <p:cNvSpPr/>
          <p:nvPr/>
        </p:nvSpPr>
        <p:spPr>
          <a:xfrm>
            <a:off x="6172200" y="1611630"/>
            <a:ext cx="264033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101600" dist="38100" dir="5400000" algn="bl" rotWithShape="0">
              <a:srgbClr val="16324F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611630"/>
            <a:ext cx="2640330" cy="106299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4" name="Shape 20"/>
          <p:cNvSpPr/>
          <p:nvPr/>
        </p:nvSpPr>
        <p:spPr>
          <a:xfrm>
            <a:off x="7166610" y="1817370"/>
            <a:ext cx="651510" cy="65151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claude/cyber_cube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202" y="1981962"/>
            <a:ext cx="322326" cy="32232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43650" y="2777490"/>
            <a:ext cx="229743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343650" y="3120390"/>
            <a:ext cx="229743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have reliable, timely access to information and systems when needed.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343650" y="4046220"/>
            <a:ext cx="2297430" cy="0"/>
          </a:xfrm>
          <a:prstGeom prst="line">
            <a:avLst/>
          </a:prstGeom>
          <a:noFill/>
          <a:ln w="12700">
            <a:solidFill>
              <a:srgbClr val="E1E7E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43650" y="4135374"/>
            <a:ext cx="22974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88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· backups · fault tolerance</a:t>
            </a:r>
            <a:endParaRPr lang="en-US" sz="788" dirty="0"/>
          </a:p>
        </p:txBody>
      </p:sp>
      <p:sp>
        <p:nvSpPr>
          <p:cNvPr id="30" name="Text 25"/>
          <p:cNvSpPr/>
          <p:nvPr/>
        </p:nvSpPr>
        <p:spPr>
          <a:xfrm>
            <a:off x="342900" y="489661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kern="0" spc="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CUBE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8572500" y="4896612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5486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43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Security Management Framework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028700"/>
            <a:ext cx="829818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75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management framework turns the cube's principles into an ongoing program: it governs how policies, standards, and procedures are created, applied, and continuously improved.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1577340" y="1714500"/>
            <a:ext cx="1508760" cy="63093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769364"/>
            <a:ext cx="15087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577340" y="2016252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statements of management intent</a:t>
            </a:r>
            <a:endParaRPr lang="en-US" sz="675" dirty="0"/>
          </a:p>
        </p:txBody>
      </p:sp>
      <p:sp>
        <p:nvSpPr>
          <p:cNvPr id="9" name="Shape 7"/>
          <p:cNvSpPr/>
          <p:nvPr/>
        </p:nvSpPr>
        <p:spPr>
          <a:xfrm>
            <a:off x="1268730" y="2427732"/>
            <a:ext cx="2125980" cy="630936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0" name="Text 8"/>
          <p:cNvSpPr/>
          <p:nvPr/>
        </p:nvSpPr>
        <p:spPr>
          <a:xfrm>
            <a:off x="1268730" y="2482596"/>
            <a:ext cx="21259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68730" y="2729484"/>
            <a:ext cx="21259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Mandatory, specific rules supporting policy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960120" y="3140964"/>
            <a:ext cx="2743200" cy="630936"/>
          </a:xfrm>
          <a:prstGeom prst="rect">
            <a:avLst/>
          </a:prstGeom>
          <a:solidFill>
            <a:srgbClr val="3E7C8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95828"/>
            <a:ext cx="2743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60120" y="3442716"/>
            <a:ext cx="2743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Recommended, flexible best practices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651510" y="3854196"/>
            <a:ext cx="3360420" cy="63093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" y="3909060"/>
            <a:ext cx="33604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51510" y="4155948"/>
            <a:ext cx="33604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 for tasks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4629150" y="1714500"/>
            <a:ext cx="408051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9150" y="1714500"/>
            <a:ext cx="61722" cy="87782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34890" y="1810512"/>
            <a:ext cx="3737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13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27000 Series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4834890" y="2071116"/>
            <a:ext cx="373761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88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standards for establishing and maintaining an information security management system (ISMS).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4629150" y="2729484"/>
            <a:ext cx="408051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9150" y="2729484"/>
            <a:ext cx="61722" cy="87782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34890" y="2825496"/>
            <a:ext cx="3737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13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Cybersecurity Framework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4834890" y="3086100"/>
            <a:ext cx="373761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88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Protect, Detect, Respond, Recover — a risk-based approach used widely across industry.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4629150" y="3744468"/>
            <a:ext cx="408051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blurRad="76200" dist="25400" dir="5400000" algn="bl" rotWithShape="0">
              <a:srgbClr val="16324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9150" y="3744468"/>
            <a:ext cx="61722" cy="87782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4834890" y="3840480"/>
            <a:ext cx="3737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13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COBIT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4834890" y="4101084"/>
            <a:ext cx="373761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88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management framework aligning IT security objectives with business goals.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342900" y="489661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kern="0" spc="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CUBE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8572500" y="4896612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should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7209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Systems &amp; Devices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22128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host hardening, patching, and endpoint protection to keep workstations and devices secure.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9204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1600200"/>
            <a:ext cx="502920" cy="50292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41" y="17209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92440" y="1481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6072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Servers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120640" y="22128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administration, reduce the attack surface, and maintain trusted server baselines.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35954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57600" y="33558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25880" y="34472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Networks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85800" y="40873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network devices, traffic, and wireless infrastructure using layered network defences.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892040" y="32461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120640" y="3474720"/>
            <a:ext cx="502920" cy="50292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1341" y="359542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92440" y="33558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760720" y="34472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Physical Environments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5120640" y="40873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physical access and manage environmental risks to facilities and equipment.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Cybersecurity?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E2F7F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</a:t>
            </a: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ongoing practice of protecting systems, networks, programs, and data from digital attacks, unauthorised access, damage, or theft.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core goals: the CIA Triad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2834640"/>
            <a:ext cx="548640" cy="54864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34" y="29663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840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people can access data. Achieved through encryption, authentication, and access control.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2606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834640"/>
            <a:ext cx="548640" cy="54864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354" y="29663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47288" y="3840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remains accurate and unaltered. Achieved through hashing, checksums, and version control.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606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86600" y="2834640"/>
            <a:ext cx="548640" cy="54864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74" y="29663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36208" y="3840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data are accessible when needed. Achieved through redundancy, backups, and maintenance.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Cybersecurity?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26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88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$10.5T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global cost of cybercrime by 2025 (Cybersecurity Ventures)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64408" y="10515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264A"/>
          </a:solidFill>
          <a:ln/>
        </p:spPr>
      </p:sp>
      <p:sp>
        <p:nvSpPr>
          <p:cNvPr id="7" name="Text 5"/>
          <p:cNvSpPr/>
          <p:nvPr/>
        </p:nvSpPr>
        <p:spPr>
          <a:xfrm>
            <a:off x="3401568" y="1188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47288" y="1737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in USD of a single data breach (IBM, 2024)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71616" y="10515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264A"/>
          </a:solidFill>
          <a:ln/>
        </p:spPr>
      </p:sp>
      <p:sp>
        <p:nvSpPr>
          <p:cNvPr id="10" name="Text 8"/>
          <p:cNvSpPr/>
          <p:nvPr/>
        </p:nvSpPr>
        <p:spPr>
          <a:xfrm>
            <a:off x="6208776" y="1188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days, not months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54496" y="1737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attackers now need to exploit newly disclosed vulnerabilities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78992" y="2798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attack surface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78992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IoT, remote work, and mobile devices multiply entry points.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907792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01752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5232" y="2798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valuable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285232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financial, and business data is a prime target for theft and sale.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4050792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6052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8992" y="3941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duty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078992" y="4251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PCI-DSS, and local data protection laws mandate security controls.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4050792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16052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5232" y="3941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survival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285232" y="4251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cause downtime, financial loss, and lasting reputational damage.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Landscape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defending against?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worms, trojans, and spyware that infect and damage systems.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Social Engineering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Deceiving users into revealing credentials or installing malware.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8484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179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data and demands payment; a leading cause of major outages.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/ DDoS Attacks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systems with traffic to make services unavailable.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49300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9592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2900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or careless employees misusing legitimate access.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49300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8484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1792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vulnerabilities before a patch exists.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Defending Systems and Devices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first layer: workstations, laptops, and mobile devices that users interact with every 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0"/>
            <a:ext cx="1371600" cy="1371600"/>
          </a:xfrm>
          <a:prstGeom prst="ellipse">
            <a:avLst/>
          </a:prstGeom>
          <a:solidFill>
            <a:srgbClr val="162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2618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Hardening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ways an attacker can compromise an individual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44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&amp; application patching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" y="1627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updates promptly; unpatched software is the most common entry point for attackers.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084832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1945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57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disable unnecessary services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43000" y="23408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running service and open port is a potential attack vector; keep only what is required.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2798064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9077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770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firewall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43000" y="30540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inbound and outbound connections on the device itself, independent of the network firewall.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511296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6210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4838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Antimalware &amp; HIDS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43000" y="3767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Antivirus/EDR detects malicious code; host-based intrusion detection flags suspicious system activity.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4224528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33425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97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accounts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43000" y="4480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work with standard accounts; administrative rights are used only when genuinely needed.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Devices and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703320"/>
          </a:xfrm>
          <a:prstGeom prst="roundRect">
            <a:avLst>
              <a:gd name="adj" fmla="val 1975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Data Protection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790395"/>
            <a:ext cx="213970" cy="2139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34440" y="19293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passwords or passphrases combined with multi-factor authentication (MFA).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269748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2796235"/>
            <a:ext cx="213970" cy="2139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70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Full-disk encryption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34440" y="293522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/ FileVault protect data if a device is lost or stolen.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370332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3802075"/>
            <a:ext cx="213970" cy="2139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locks &amp; timeouts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234440" y="39410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locking prevents opportunistic access to unattended devices.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1051560"/>
            <a:ext cx="3931920" cy="3703320"/>
          </a:xfrm>
          <a:prstGeom prst="roundRect">
            <a:avLst>
              <a:gd name="adj" fmla="val 1975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Recovery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983480" y="169164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235" y="1790395"/>
            <a:ext cx="213970" cy="2139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 management (MDM)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532120" y="19293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policies, remote-wipe lost devices, and separate work from personal data.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983480" y="269748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2235" y="2796235"/>
            <a:ext cx="213970" cy="21397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32120" y="2670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532120" y="293522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backups are the last line of defence against ransomware and hardware failure.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983480" y="3703320"/>
            <a:ext cx="411480" cy="41148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2235" y="3802075"/>
            <a:ext cx="213970" cy="21397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32120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connectivity habits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532120" y="39410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untrusted Wi-Fi, disable auto-connect, use VPN on public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Hardening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host critical services and data, making them high-value targets that demand stricter controls than end-user devices.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0"/>
            <a:ext cx="1371600" cy="1371600"/>
          </a:xfrm>
          <a:prstGeom prst="ellipse">
            <a:avLst/>
          </a:prstGeom>
          <a:solidFill>
            <a:srgbClr val="162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2618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Remote Administration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access is the most powerful, and most attacked, pathway into a server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CEBEB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Telnet, FTP, HTTP for management - credentials sent in clear text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 default administrator accounts (no accountability)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interfaces exposed to the public internet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Password-only login for privileged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SFTP, HTTPS - all management traffic encrypted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admin accounts with least privilege and MFA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access restricted to admin VLANs / jump hosts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logging of every privileged action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the Server Attack Surface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3272" y="150876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2377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secure, documented configuration standard (e.g. CIS Benchmarks).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121408" y="132588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50876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12848" y="20574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2377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 unused software; disable unneeded services, ports, and protocols.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785616" y="132588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50876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77056" y="20574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04488" y="2377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patch management cycle; test, then deploy updates promptly.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49824" y="132588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50876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8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41264" y="20574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68696" y="2377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logging, file integrity monitoring, and alerting on anomalies.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114032" y="132588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90104" y="150876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sp>
        <p:nvSpPr>
          <p:cNvPr id="25" name="Text 23"/>
          <p:cNvSpPr/>
          <p:nvPr/>
        </p:nvSpPr>
        <p:spPr>
          <a:xfrm>
            <a:off x="76901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05472" y="20574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32904" y="2377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vulnerability scans and audits regularly to confirm the baseline holds.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84464" cy="1005840"/>
          </a:xfrm>
          <a:prstGeom prst="roundRect">
            <a:avLst>
              <a:gd name="adj" fmla="val 7273"/>
            </a:avLst>
          </a:prstGeom>
          <a:solidFill>
            <a:srgbClr val="0E1A3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service is not required, it should not be installed or running. Every extra component is an extra opportunity for an attacker.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Hardening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infrastructure that connects everything: switches, routers, wireless, and the traffic that flows between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0"/>
            <a:ext cx="1371600" cy="1371600"/>
          </a:xfrm>
          <a:prstGeom prst="ellipse">
            <a:avLst/>
          </a:prstGeom>
          <a:solidFill>
            <a:srgbClr val="162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2618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Network Devices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and switches are targets too - a compromised device exposes all traffic through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44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unused switch ports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" y="1627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anyone from plugging a rogue device into a spare wall socket.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084832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1945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57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 (802.1X / MAC limits)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43000" y="23408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authenticated or known devices are allowed to connect to the network.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2798064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9077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770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43000" y="30540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users, servers, and management traffic; contain breaches to one segment.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511296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6210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4838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management protocols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43000" y="3767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and SNMPv3 instead of Telnet and SNMPv1/v2; encrypted config backups.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4224528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33425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97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time &amp; logging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43000" y="4480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for accurate timestamps and syslog for audit trails and incident investigation.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and Traffic Defences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463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traffic between networks based on rules: source, destination, port, and application. The gatekeeper between trust zones.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64024" y="11887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92624" y="1417320"/>
            <a:ext cx="502920" cy="50292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325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0136" y="1463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992624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monitors and alerts on suspicious traffic; Intrusion Prevention actively blocks it in real time.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1546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35039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429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85800" y="4023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tunnels for remote users and site-to-site links, protecting data crossing untrusted networks.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64024" y="31546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92624" y="3383280"/>
            <a:ext cx="502920" cy="50292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325" y="35039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0136" y="3429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4992624" y="4023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zone for public-facing servers (web, mail) so external users never touch the internal network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Network Security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signals extend beyond your walls - so the defences must be stronger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84464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5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Crackable in minutes; must never be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 / WPA2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9A7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WPA2 still common; vulnerable to KRACK and weak passphrases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encryption and protection against offline password guessing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" y="3527755"/>
            <a:ext cx="213970" cy="2139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passphrases + WPA3-Enterprise (802.1X) for organisations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754880" y="3429000"/>
            <a:ext cx="411480" cy="41148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635" y="3527755"/>
            <a:ext cx="213970" cy="2139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1808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guest network isolated from internal resources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" y="4213555"/>
            <a:ext cx="213970" cy="2139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4114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rogue access points and 'evil twin' hotspots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4754880" y="4114800"/>
            <a:ext cx="411480" cy="41148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635" y="4213555"/>
            <a:ext cx="213970" cy="213970"/>
          </a:xfrm>
          <a:prstGeom prst="rect">
            <a:avLst/>
          </a:prstGeom>
        </p:spPr>
      </p:pic>
      <p:sp>
        <p:nvSpPr>
          <p:cNvPr id="4" name="Text 9"/>
          <p:cNvSpPr/>
          <p:nvPr/>
        </p:nvSpPr>
        <p:spPr>
          <a:xfrm>
            <a:off x="5321808" y="4114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admin credentials and disable WPS on access points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and Environmental Security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firewall is useless if an attacker can walk into the server room, or if a power failure takes everything offline.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0"/>
            <a:ext cx="1371600" cy="1371600"/>
          </a:xfrm>
          <a:prstGeom prst="ellipse">
            <a:avLst/>
          </a:prstGeom>
          <a:solidFill>
            <a:srgbClr val="162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2618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Access Controls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defences from the site perimeter to the server 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56816" cy="2377440"/>
          </a:xfrm>
          <a:prstGeom prst="roundRect">
            <a:avLst>
              <a:gd name="adj" fmla="val 3738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1645920"/>
            <a:ext cx="512064" cy="512064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71" y="1768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" y="263347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Fencing, gates, security guards, vehicle barriers, exterior lighting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956816" cy="2377440"/>
          </a:xfrm>
          <a:prstGeom prst="roundRect">
            <a:avLst>
              <a:gd name="adj" fmla="val 3738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82696" y="1645920"/>
            <a:ext cx="512064" cy="512064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591" y="17688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2860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06624" y="263347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visitor logs, ID badges, CCTV surveillance, mantraps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956816" cy="2377440"/>
          </a:xfrm>
          <a:prstGeom prst="roundRect">
            <a:avLst>
              <a:gd name="adj" fmla="val 3738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85816" y="1645920"/>
            <a:ext cx="512064" cy="512064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711" y="176881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2860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09744" y="263347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server rooms, access cards, biometric readers, entry logging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956816" cy="2377440"/>
          </a:xfrm>
          <a:prstGeom prst="roundRect">
            <a:avLst>
              <a:gd name="adj" fmla="val 3738"/>
            </a:avLst>
          </a:prstGeom>
          <a:solidFill>
            <a:srgbClr val="E2F7F4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88936" y="1645920"/>
            <a:ext cx="512064" cy="512064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831" y="176881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2860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12864" y="263347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racks and cages, cable locks, tamper-evident seals, asset tags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57200" y="4023360"/>
            <a:ext cx="8284464" cy="777240"/>
          </a:xfrm>
          <a:prstGeom prst="roundRect">
            <a:avLst>
              <a:gd name="adj" fmla="val 9412"/>
            </a:avLst>
          </a:prstGeom>
          <a:solidFill>
            <a:srgbClr val="0E1A34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40965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intruder must defeat every layer. A mantrap also prevents tailgating - following an authorised person through a door.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Security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equipment from the environment - and ensuring availability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with hot/cold aisle design; heat and moisture destroy hardware over time.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 &amp; Suppression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detection plus clean-agent suppression (e.g. FM-200) - never water sprinklers over live equipment.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8484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Protection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179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for short outages, backup generators for extended ones, surge protection throughout.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&amp; Flood Detection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under raised floors; keep equipment away from plumbing and basements.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324612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49300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9592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Management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Protected, labelled cabling prevents accidental damage and unauthorised taps.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603504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6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49300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84848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Alarms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1792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sensors with 24/7 alerting so failures are caught before outages.</a:t>
            </a:r>
            <a:endParaRPr lang="en-US" sz="1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Defence in Depth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is enough - security comes from overlapping layers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8284464" cy="731520"/>
          </a:xfrm>
          <a:prstGeom prst="roundRect">
            <a:avLst>
              <a:gd name="adj" fmla="val 8750"/>
            </a:avLst>
          </a:prstGeom>
          <a:solidFill>
            <a:srgbClr val="F1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99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Devices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40480" y="13990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harden, encrypt, and protect every endpoint with least-privilege access.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185416"/>
            <a:ext cx="8284464" cy="731520"/>
          </a:xfrm>
          <a:prstGeom prst="roundRect">
            <a:avLst>
              <a:gd name="adj" fmla="val 8750"/>
            </a:avLst>
          </a:prstGeom>
          <a:solidFill>
            <a:srgbClr val="E2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304288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140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40480" y="2240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administration, minimal attack surface, continuous patching and monitoring.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26664"/>
            <a:ext cx="8284464" cy="731520"/>
          </a:xfrm>
          <a:prstGeom prst="roundRect">
            <a:avLst>
              <a:gd name="adj" fmla="val 8750"/>
            </a:avLst>
          </a:prstGeom>
          <a:solidFill>
            <a:srgbClr val="F1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" y="3145536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25526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0815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840480" y="30815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devices, segmentation, firewalls, IDS/IPS, VPNs, and modern wireless security.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867912"/>
            <a:ext cx="8284464" cy="731520"/>
          </a:xfrm>
          <a:prstGeom prst="roundRect">
            <a:avLst>
              <a:gd name="adj" fmla="val 8750"/>
            </a:avLst>
          </a:prstGeom>
          <a:solidFill>
            <a:srgbClr val="E2F7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" y="3986784"/>
            <a:ext cx="457200" cy="457200"/>
          </a:xfrm>
          <a:prstGeom prst="ellipse">
            <a:avLst/>
          </a:prstGeom>
          <a:solidFill>
            <a:srgbClr val="0E1A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0965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39227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Environmental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840480" y="39227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access control plus power, fire, and climate protection for availability.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maps back to the CIA triad: Confidentiality, Integrity, Availability.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97280" y="31089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controls would you implement first in a small organisation - and why?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2389</Words>
  <Application>Microsoft Office PowerPoint</Application>
  <PresentationFormat>On-screen Show (16:9)</PresentationFormat>
  <Paragraphs>300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a Cybersecurity Domain</dc:title>
  <dc:subject>PptxGenJS Presentation</dc:subject>
  <dc:creator>PptxGenJS</dc:creator>
  <cp:lastModifiedBy>Ms. K Anuradha</cp:lastModifiedBy>
  <cp:revision>2</cp:revision>
  <dcterms:created xsi:type="dcterms:W3CDTF">2026-07-02T18:51:44Z</dcterms:created>
  <dcterms:modified xsi:type="dcterms:W3CDTF">2026-07-16T18:43:02Z</dcterms:modified>
</cp:coreProperties>
</file>