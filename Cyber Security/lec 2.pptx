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Share of Breaches</c:v>
                </c:pt>
              </c:strCache>
            </c:strRef>
          </c:tx>
          <c:spPr>
            <a:solidFill>
              <a:srgbClr val="22E2FF"/>
            </a:solidFill>
            <a:effectLst/>
          </c:spPr>
          <c:invertIfNegative val="0"/>
          <c:dLbls>
            <c:numFmt formatCode="#,##0" sourceLinked="0"/>
            <c:txPr>
              <a:bodyPr/>
              <a:lstStyle/>
              <a:p>
                <a:pPr>
                  <a:defRPr b="0" i="0" strike="noStrike" sz="1100" u="none">
                    <a:solidFill>
                      <a:srgbClr val="F5F8FA"/>
                    </a:solidFill>
                    <a:latin typeface="Arial"/>
                  </a:defRPr>
                </a:pPr>
              </a:p>
            </c:txPr>
            <c:showLegendKey val="0"/>
            <c:showVal val="1"/>
            <c:showCatName val="0"/>
            <c:showSerName val="0"/>
            <c:showPercent val="0"/>
            <c:showBubbleSize val="0"/>
            <c:showLeaderLines val="0"/>
          </c:dLbls>
          <c:cat>
            <c:multiLvlStrRef>
              <c:f>Sheet1!$A$2:$A$7</c:f>
              <c:multiLvlStrCache>
                <c:ptCount val="6"/>
                <c:lvl>
                  <c:pt idx="0">
                    <c:v>Phishing</c:v>
                  </c:pt>
                  <c:pt idx="1">
                    <c:v>Stolen Creds</c:v>
                  </c:pt>
                  <c:pt idx="2">
                    <c:v>Ransomware</c:v>
                  </c:pt>
                  <c:pt idx="3">
                    <c:v>Zero-Day</c:v>
                  </c:pt>
                  <c:pt idx="4">
                    <c:v>SQL Injection</c:v>
                  </c:pt>
                  <c:pt idx="5">
                    <c:v>DDoS / MITM</c:v>
                  </c:pt>
                </c:lvl>
              </c:multiLvlStrCache>
            </c:multiLvlStrRef>
          </c:cat>
          <c:val>
            <c:numRef>
              <c:f>Sheet1!$B$2:$B$7</c:f>
              <c:numCache>
                <c:formatCode>General</c:formatCode>
                <c:ptCount val="6"/>
                <c:pt idx="0">
                  <c:v>36</c:v>
                </c:pt>
                <c:pt idx="1">
                  <c:v>24</c:v>
                </c:pt>
                <c:pt idx="2">
                  <c:v>18</c:v>
                </c:pt>
                <c:pt idx="3">
                  <c:v>10</c:v>
                </c:pt>
                <c:pt idx="4">
                  <c:v>7</c:v>
                </c:pt>
                <c:pt idx="5">
                  <c:v>5</c:v>
                </c:pt>
              </c:numCache>
            </c:numRef>
          </c:val>
        </c:ser>
        <c:dLbls>
          <c:numFmt formatCode="#,##0" sourceLinked="0"/>
          <c:txPr>
            <a:bodyPr/>
            <a:lstStyle/>
            <a:p>
              <a:pPr>
                <a:defRPr b="0" i="0" strike="noStrike" sz="1100" u="none">
                  <a:solidFill>
                    <a:srgbClr val="F5F8F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C3CDD6"/>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C3CDD6"/>
                </a:solidFill>
                <a:latin typeface="Arial"/>
              </a:defRPr>
            </a:pPr>
            <a:endParaRPr lang="en-US"/>
          </a:p>
        </c:txPr>
        <c:crossAx val="2094734554"/>
        <c:crosses val="autoZero"/>
        <c:crossBetween val="between"/>
      </c:valAx>
      <c:spPr>
        <a:solidFill>
          <a:srgbClr val="0D1117"/>
        </a:solidFill>
        <a:ln w="12700" cap="flat">
          <a:solidFill>
            <a:srgbClr val="0D1117"/>
          </a:solidFill>
        </a:ln>
        <a:effectLst/>
      </c:spPr>
    </c:plotArea>
    <c:plotVisOnly val="1"/>
    <c:dispBlanksAs val="span"/>
  </c:chart>
  <c:spPr>
    <a:solidFill>
      <a:srgbClr val="0D1117"/>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1005840" y="1097280"/>
            <a:ext cx="54864" cy="54864"/>
          </a:xfrm>
          <a:prstGeom prst="ellipse">
            <a:avLst/>
          </a:prstGeom>
          <a:solidFill>
            <a:srgbClr val="22E2FF"/>
          </a:solidFill>
          <a:ln/>
        </p:spPr>
      </p:sp>
      <p:sp>
        <p:nvSpPr>
          <p:cNvPr id="3" name="Shape 1"/>
          <p:cNvSpPr/>
          <p:nvPr/>
        </p:nvSpPr>
        <p:spPr>
          <a:xfrm>
            <a:off x="2194560" y="640080"/>
            <a:ext cx="54864" cy="54864"/>
          </a:xfrm>
          <a:prstGeom prst="ellipse">
            <a:avLst/>
          </a:prstGeom>
          <a:solidFill>
            <a:srgbClr val="22E2FF"/>
          </a:solidFill>
          <a:ln/>
        </p:spPr>
      </p:sp>
      <p:sp>
        <p:nvSpPr>
          <p:cNvPr id="4" name="Shape 2"/>
          <p:cNvSpPr/>
          <p:nvPr/>
        </p:nvSpPr>
        <p:spPr>
          <a:xfrm>
            <a:off x="8961120" y="822960"/>
            <a:ext cx="54864" cy="54864"/>
          </a:xfrm>
          <a:prstGeom prst="ellipse">
            <a:avLst/>
          </a:prstGeom>
          <a:solidFill>
            <a:srgbClr val="22E2FF"/>
          </a:solidFill>
          <a:ln/>
        </p:spPr>
      </p:sp>
      <p:sp>
        <p:nvSpPr>
          <p:cNvPr id="5" name="Shape 3"/>
          <p:cNvSpPr/>
          <p:nvPr/>
        </p:nvSpPr>
        <p:spPr>
          <a:xfrm>
            <a:off x="10607040" y="1463040"/>
            <a:ext cx="54864" cy="54864"/>
          </a:xfrm>
          <a:prstGeom prst="ellipse">
            <a:avLst/>
          </a:prstGeom>
          <a:solidFill>
            <a:srgbClr val="22E2FF"/>
          </a:solidFill>
          <a:ln/>
        </p:spPr>
      </p:sp>
      <p:sp>
        <p:nvSpPr>
          <p:cNvPr id="6" name="Shape 4"/>
          <p:cNvSpPr/>
          <p:nvPr/>
        </p:nvSpPr>
        <p:spPr>
          <a:xfrm>
            <a:off x="1463040" y="5852160"/>
            <a:ext cx="54864" cy="54864"/>
          </a:xfrm>
          <a:prstGeom prst="ellipse">
            <a:avLst/>
          </a:prstGeom>
          <a:solidFill>
            <a:srgbClr val="22E2FF"/>
          </a:solidFill>
          <a:ln/>
        </p:spPr>
      </p:sp>
      <p:sp>
        <p:nvSpPr>
          <p:cNvPr id="7" name="Shape 5"/>
          <p:cNvSpPr/>
          <p:nvPr/>
        </p:nvSpPr>
        <p:spPr>
          <a:xfrm>
            <a:off x="9692640" y="5669280"/>
            <a:ext cx="54864" cy="54864"/>
          </a:xfrm>
          <a:prstGeom prst="ellipse">
            <a:avLst/>
          </a:prstGeom>
          <a:solidFill>
            <a:srgbClr val="22E2FF"/>
          </a:solidFill>
          <a:ln/>
        </p:spPr>
      </p:sp>
      <p:sp>
        <p:nvSpPr>
          <p:cNvPr id="8" name="Shape 6"/>
          <p:cNvSpPr/>
          <p:nvPr/>
        </p:nvSpPr>
        <p:spPr>
          <a:xfrm>
            <a:off x="731520" y="4389120"/>
            <a:ext cx="54864" cy="54864"/>
          </a:xfrm>
          <a:prstGeom prst="ellipse">
            <a:avLst/>
          </a:prstGeom>
          <a:solidFill>
            <a:srgbClr val="22E2FF"/>
          </a:solidFill>
          <a:ln/>
        </p:spPr>
      </p:sp>
      <p:sp>
        <p:nvSpPr>
          <p:cNvPr id="9" name="Shape 7"/>
          <p:cNvSpPr/>
          <p:nvPr/>
        </p:nvSpPr>
        <p:spPr>
          <a:xfrm>
            <a:off x="11155680" y="4023360"/>
            <a:ext cx="54864" cy="54864"/>
          </a:xfrm>
          <a:prstGeom prst="ellipse">
            <a:avLst/>
          </a:prstGeom>
          <a:solidFill>
            <a:srgbClr val="22E2FF"/>
          </a:solidFill>
          <a:ln/>
        </p:spPr>
      </p:sp>
      <p:sp>
        <p:nvSpPr>
          <p:cNvPr id="10" name="Shape 8"/>
          <p:cNvSpPr/>
          <p:nvPr/>
        </p:nvSpPr>
        <p:spPr>
          <a:xfrm>
            <a:off x="1033272" y="1124712"/>
            <a:ext cx="7955280" cy="-320040"/>
          </a:xfrm>
          <a:prstGeom prst="line">
            <a:avLst/>
          </a:prstGeom>
          <a:noFill/>
          <a:ln w="9525">
            <a:solidFill>
              <a:srgbClr val="22E2FF">
                <a:alpha val="25000"/>
              </a:srgbClr>
            </a:solidFill>
            <a:prstDash val="solid"/>
          </a:ln>
        </p:spPr>
      </p:sp>
      <p:sp>
        <p:nvSpPr>
          <p:cNvPr id="11" name="Shape 9"/>
          <p:cNvSpPr/>
          <p:nvPr/>
        </p:nvSpPr>
        <p:spPr>
          <a:xfrm>
            <a:off x="1463040" y="5879592"/>
            <a:ext cx="8229600" cy="-45720"/>
          </a:xfrm>
          <a:prstGeom prst="line">
            <a:avLst/>
          </a:prstGeom>
          <a:noFill/>
          <a:ln w="9525">
            <a:solidFill>
              <a:srgbClr val="22E2FF">
                <a:alpha val="25000"/>
              </a:srgbClr>
            </a:solidFill>
            <a:prstDash val="solid"/>
          </a:ln>
        </p:spPr>
      </p:sp>
      <p:sp>
        <p:nvSpPr>
          <p:cNvPr id="12" name="Shape 10"/>
          <p:cNvSpPr/>
          <p:nvPr/>
        </p:nvSpPr>
        <p:spPr>
          <a:xfrm>
            <a:off x="5591556" y="1051560"/>
            <a:ext cx="1005840" cy="1005840"/>
          </a:xfrm>
          <a:prstGeom prst="ellipse">
            <a:avLst/>
          </a:prstGeom>
          <a:solidFill>
            <a:srgbClr val="27333F"/>
          </a:solidFill>
          <a:ln w="19050">
            <a:solidFill>
              <a:srgbClr val="22E2FF"/>
            </a:solidFill>
            <a:prstDash val="solid"/>
          </a:ln>
        </p:spPr>
      </p:sp>
      <p:pic>
        <p:nvPicPr>
          <p:cNvPr id="13" name="Image 0" descr="/home/claude/cyberdeck/icons/shield_cyan.png">    </p:cNvPr>
          <p:cNvPicPr>
            <a:picLocks noChangeAspect="1"/>
          </p:cNvPicPr>
          <p:nvPr/>
        </p:nvPicPr>
        <p:blipFill>
          <a:blip r:embed="rId1"/>
          <a:stretch>
            <a:fillRect/>
          </a:stretch>
        </p:blipFill>
        <p:spPr>
          <a:xfrm>
            <a:off x="5853074" y="1313078"/>
            <a:ext cx="482803" cy="482803"/>
          </a:xfrm>
          <a:prstGeom prst="rect">
            <a:avLst/>
          </a:prstGeom>
        </p:spPr>
      </p:pic>
      <p:sp>
        <p:nvSpPr>
          <p:cNvPr id="14" name="Text 11"/>
          <p:cNvSpPr/>
          <p:nvPr/>
        </p:nvSpPr>
        <p:spPr>
          <a:xfrm>
            <a:off x="0" y="2331720"/>
            <a:ext cx="12188952" cy="365760"/>
          </a:xfrm>
          <a:prstGeom prst="rect">
            <a:avLst/>
          </a:prstGeom>
          <a:noFill/>
          <a:ln/>
        </p:spPr>
        <p:txBody>
          <a:bodyPr wrap="square" rtlCol="0" anchor="ctr"/>
          <a:lstStyle/>
          <a:p>
            <a:pPr algn="ctr" indent="0" marL="0">
              <a:buNone/>
            </a:pPr>
            <a:r>
              <a:rPr lang="en-US" sz="1400" b="1" spc="300" kern="0" dirty="0">
                <a:solidFill>
                  <a:srgbClr val="22E2FF"/>
                </a:solidFill>
                <a:latin typeface="Calibri" pitchFamily="34" charset="0"/>
                <a:ea typeface="Calibri" pitchFamily="34" charset="-122"/>
                <a:cs typeface="Calibri" pitchFamily="34" charset="-120"/>
              </a:rPr>
              <a:t>CYBERSECURITY THREAT LANDSCAPE</a:t>
            </a:r>
            <a:endParaRPr lang="en-US" sz="1400" dirty="0"/>
          </a:p>
        </p:txBody>
      </p:sp>
      <p:sp>
        <p:nvSpPr>
          <p:cNvPr id="15" name="Text 12"/>
          <p:cNvSpPr/>
          <p:nvPr/>
        </p:nvSpPr>
        <p:spPr>
          <a:xfrm>
            <a:off x="914400" y="2697480"/>
            <a:ext cx="10360152" cy="1645920"/>
          </a:xfrm>
          <a:prstGeom prst="rect">
            <a:avLst/>
          </a:prstGeom>
          <a:noFill/>
          <a:ln/>
        </p:spPr>
        <p:txBody>
          <a:bodyPr wrap="square" rtlCol="0" anchor="ctr"/>
          <a:lstStyle/>
          <a:p>
            <a:pPr algn="ctr" indent="0" marL="0">
              <a:lnSpc>
                <a:spcPct val="105000"/>
              </a:lnSpc>
              <a:buNone/>
            </a:pPr>
            <a:r>
              <a:rPr lang="en-US" sz="4000" b="1" dirty="0">
                <a:solidFill>
                  <a:srgbClr val="F5F8FA"/>
                </a:solidFill>
                <a:latin typeface="Cambria" pitchFamily="34" charset="0"/>
                <a:ea typeface="Cambria" pitchFamily="34" charset="-122"/>
                <a:cs typeface="Cambria" pitchFamily="34" charset="-120"/>
              </a:rPr>
              <a:t>Various Cyber Security Attacks</a:t>
            </a:r>
            <a:endParaRPr lang="en-US" sz="4000" dirty="0"/>
          </a:p>
          <a:p>
            <a:pPr algn="ctr" indent="0" marL="0">
              <a:lnSpc>
                <a:spcPct val="105000"/>
              </a:lnSpc>
              <a:buNone/>
            </a:pPr>
            <a:r>
              <a:rPr lang="en-US" sz="4000" b="1" dirty="0">
                <a:solidFill>
                  <a:srgbClr val="F5F8FA"/>
                </a:solidFill>
                <a:latin typeface="Cambria" pitchFamily="34" charset="0"/>
                <a:ea typeface="Cambria" pitchFamily="34" charset="-122"/>
                <a:cs typeface="Cambria" pitchFamily="34" charset="-120"/>
              </a:rPr>
              <a:t>and How They Happen</a:t>
            </a:r>
            <a:endParaRPr lang="en-US" sz="4000" dirty="0"/>
          </a:p>
        </p:txBody>
      </p:sp>
      <p:sp>
        <p:nvSpPr>
          <p:cNvPr id="16" name="Text 13"/>
          <p:cNvSpPr/>
          <p:nvPr/>
        </p:nvSpPr>
        <p:spPr>
          <a:xfrm>
            <a:off x="1828800" y="4434840"/>
            <a:ext cx="8531352" cy="548640"/>
          </a:xfrm>
          <a:prstGeom prst="rect">
            <a:avLst/>
          </a:prstGeom>
          <a:noFill/>
          <a:ln/>
        </p:spPr>
        <p:txBody>
          <a:bodyPr wrap="square" rtlCol="0" anchor="ctr"/>
          <a:lstStyle/>
          <a:p>
            <a:pPr algn="ctr" indent="0" marL="0">
              <a:buNone/>
            </a:pPr>
            <a:r>
              <a:rPr lang="en-US" sz="1500" i="1" dirty="0">
                <a:solidFill>
                  <a:srgbClr val="C3CDD6"/>
                </a:solidFill>
                <a:latin typeface="Calibri" pitchFamily="34" charset="0"/>
                <a:ea typeface="Calibri" pitchFamily="34" charset="-122"/>
                <a:cs typeface="Calibri" pitchFamily="34" charset="-120"/>
              </a:rPr>
              <a:t>Mechanics, real-world breaches, impact, and defense strategies across today's most common attack vectors</a:t>
            </a:r>
            <a:endParaRPr lang="en-US" sz="1500" dirty="0"/>
          </a:p>
        </p:txBody>
      </p:sp>
      <p:sp>
        <p:nvSpPr>
          <p:cNvPr id="17" name="Shape 14"/>
          <p:cNvSpPr/>
          <p:nvPr/>
        </p:nvSpPr>
        <p:spPr>
          <a:xfrm>
            <a:off x="608076" y="5623560"/>
            <a:ext cx="1691640" cy="457200"/>
          </a:xfrm>
          <a:prstGeom prst="roundRect">
            <a:avLst>
              <a:gd name="adj" fmla="val 50000"/>
            </a:avLst>
          </a:prstGeom>
          <a:solidFill>
            <a:srgbClr val="27333F"/>
          </a:solidFill>
          <a:ln w="12700">
            <a:solidFill>
              <a:srgbClr val="445362"/>
            </a:solidFill>
            <a:prstDash val="solid"/>
          </a:ln>
        </p:spPr>
      </p:sp>
      <p:sp>
        <p:nvSpPr>
          <p:cNvPr id="18" name="Text 15"/>
          <p:cNvSpPr/>
          <p:nvPr/>
        </p:nvSpPr>
        <p:spPr>
          <a:xfrm>
            <a:off x="608076" y="5623560"/>
            <a:ext cx="1691640" cy="457200"/>
          </a:xfrm>
          <a:prstGeom prst="rect">
            <a:avLst/>
          </a:prstGeom>
          <a:noFill/>
          <a:ln/>
        </p:spPr>
        <p:txBody>
          <a:bodyPr wrap="square" rtlCol="0" anchor="ctr"/>
          <a:lstStyle/>
          <a:p>
            <a:pPr algn="ctr" indent="0" marL="0">
              <a:buNone/>
            </a:pPr>
            <a:r>
              <a:rPr lang="en-US" sz="1100" b="1" dirty="0">
                <a:solidFill>
                  <a:srgbClr val="F5F8FA"/>
                </a:solidFill>
                <a:latin typeface="Calibri" pitchFamily="34" charset="0"/>
                <a:ea typeface="Calibri" pitchFamily="34" charset="-122"/>
                <a:cs typeface="Calibri" pitchFamily="34" charset="-120"/>
              </a:rPr>
              <a:t>Phishing</a:t>
            </a:r>
            <a:endParaRPr lang="en-US" sz="1100" dirty="0"/>
          </a:p>
        </p:txBody>
      </p:sp>
      <p:sp>
        <p:nvSpPr>
          <p:cNvPr id="19" name="Shape 16"/>
          <p:cNvSpPr/>
          <p:nvPr/>
        </p:nvSpPr>
        <p:spPr>
          <a:xfrm>
            <a:off x="2464308" y="5623560"/>
            <a:ext cx="1691640" cy="457200"/>
          </a:xfrm>
          <a:prstGeom prst="roundRect">
            <a:avLst>
              <a:gd name="adj" fmla="val 50000"/>
            </a:avLst>
          </a:prstGeom>
          <a:solidFill>
            <a:srgbClr val="27333F"/>
          </a:solidFill>
          <a:ln w="12700">
            <a:solidFill>
              <a:srgbClr val="445362"/>
            </a:solidFill>
            <a:prstDash val="solid"/>
          </a:ln>
        </p:spPr>
      </p:sp>
      <p:sp>
        <p:nvSpPr>
          <p:cNvPr id="20" name="Text 17"/>
          <p:cNvSpPr/>
          <p:nvPr/>
        </p:nvSpPr>
        <p:spPr>
          <a:xfrm>
            <a:off x="2464308" y="5623560"/>
            <a:ext cx="1691640" cy="457200"/>
          </a:xfrm>
          <a:prstGeom prst="rect">
            <a:avLst/>
          </a:prstGeom>
          <a:noFill/>
          <a:ln/>
        </p:spPr>
        <p:txBody>
          <a:bodyPr wrap="square" rtlCol="0" anchor="ctr"/>
          <a:lstStyle/>
          <a:p>
            <a:pPr algn="ctr" indent="0" marL="0">
              <a:buNone/>
            </a:pPr>
            <a:r>
              <a:rPr lang="en-US" sz="1100" b="1" dirty="0">
                <a:solidFill>
                  <a:srgbClr val="F5F8FA"/>
                </a:solidFill>
                <a:latin typeface="Calibri" pitchFamily="34" charset="0"/>
                <a:ea typeface="Calibri" pitchFamily="34" charset="-122"/>
                <a:cs typeface="Calibri" pitchFamily="34" charset="-120"/>
              </a:rPr>
              <a:t>Ransomware</a:t>
            </a:r>
            <a:endParaRPr lang="en-US" sz="1100" dirty="0"/>
          </a:p>
        </p:txBody>
      </p:sp>
      <p:sp>
        <p:nvSpPr>
          <p:cNvPr id="21" name="Shape 18"/>
          <p:cNvSpPr/>
          <p:nvPr/>
        </p:nvSpPr>
        <p:spPr>
          <a:xfrm>
            <a:off x="4320540" y="5623560"/>
            <a:ext cx="1691640" cy="457200"/>
          </a:xfrm>
          <a:prstGeom prst="roundRect">
            <a:avLst>
              <a:gd name="adj" fmla="val 50000"/>
            </a:avLst>
          </a:prstGeom>
          <a:solidFill>
            <a:srgbClr val="27333F"/>
          </a:solidFill>
          <a:ln w="12700">
            <a:solidFill>
              <a:srgbClr val="445362"/>
            </a:solidFill>
            <a:prstDash val="solid"/>
          </a:ln>
        </p:spPr>
      </p:sp>
      <p:sp>
        <p:nvSpPr>
          <p:cNvPr id="22" name="Text 19"/>
          <p:cNvSpPr/>
          <p:nvPr/>
        </p:nvSpPr>
        <p:spPr>
          <a:xfrm>
            <a:off x="4320540" y="5623560"/>
            <a:ext cx="1691640" cy="457200"/>
          </a:xfrm>
          <a:prstGeom prst="rect">
            <a:avLst/>
          </a:prstGeom>
          <a:noFill/>
          <a:ln/>
        </p:spPr>
        <p:txBody>
          <a:bodyPr wrap="square" rtlCol="0" anchor="ctr"/>
          <a:lstStyle/>
          <a:p>
            <a:pPr algn="ctr" indent="0" marL="0">
              <a:buNone/>
            </a:pPr>
            <a:r>
              <a:rPr lang="en-US" sz="1100" b="1" dirty="0">
                <a:solidFill>
                  <a:srgbClr val="F5F8FA"/>
                </a:solidFill>
                <a:latin typeface="Calibri" pitchFamily="34" charset="0"/>
                <a:ea typeface="Calibri" pitchFamily="34" charset="-122"/>
                <a:cs typeface="Calibri" pitchFamily="34" charset="-120"/>
              </a:rPr>
              <a:t>DDoS</a:t>
            </a:r>
            <a:endParaRPr lang="en-US" sz="1100" dirty="0"/>
          </a:p>
        </p:txBody>
      </p:sp>
      <p:sp>
        <p:nvSpPr>
          <p:cNvPr id="23" name="Shape 20"/>
          <p:cNvSpPr/>
          <p:nvPr/>
        </p:nvSpPr>
        <p:spPr>
          <a:xfrm>
            <a:off x="6176772" y="5623560"/>
            <a:ext cx="1691640" cy="457200"/>
          </a:xfrm>
          <a:prstGeom prst="roundRect">
            <a:avLst>
              <a:gd name="adj" fmla="val 50000"/>
            </a:avLst>
          </a:prstGeom>
          <a:solidFill>
            <a:srgbClr val="27333F"/>
          </a:solidFill>
          <a:ln w="12700">
            <a:solidFill>
              <a:srgbClr val="445362"/>
            </a:solidFill>
            <a:prstDash val="solid"/>
          </a:ln>
        </p:spPr>
      </p:sp>
      <p:sp>
        <p:nvSpPr>
          <p:cNvPr id="24" name="Text 21"/>
          <p:cNvSpPr/>
          <p:nvPr/>
        </p:nvSpPr>
        <p:spPr>
          <a:xfrm>
            <a:off x="6176772" y="5623560"/>
            <a:ext cx="1691640" cy="457200"/>
          </a:xfrm>
          <a:prstGeom prst="rect">
            <a:avLst/>
          </a:prstGeom>
          <a:noFill/>
          <a:ln/>
        </p:spPr>
        <p:txBody>
          <a:bodyPr wrap="square" rtlCol="0" anchor="ctr"/>
          <a:lstStyle/>
          <a:p>
            <a:pPr algn="ctr" indent="0" marL="0">
              <a:buNone/>
            </a:pPr>
            <a:r>
              <a:rPr lang="en-US" sz="1100" b="1" dirty="0">
                <a:solidFill>
                  <a:srgbClr val="F5F8FA"/>
                </a:solidFill>
                <a:latin typeface="Calibri" pitchFamily="34" charset="0"/>
                <a:ea typeface="Calibri" pitchFamily="34" charset="-122"/>
                <a:cs typeface="Calibri" pitchFamily="34" charset="-120"/>
              </a:rPr>
              <a:t>SQL Injection</a:t>
            </a:r>
            <a:endParaRPr lang="en-US" sz="1100" dirty="0"/>
          </a:p>
        </p:txBody>
      </p:sp>
      <p:sp>
        <p:nvSpPr>
          <p:cNvPr id="25" name="Shape 22"/>
          <p:cNvSpPr/>
          <p:nvPr/>
        </p:nvSpPr>
        <p:spPr>
          <a:xfrm>
            <a:off x="8033004" y="5623560"/>
            <a:ext cx="1691640" cy="457200"/>
          </a:xfrm>
          <a:prstGeom prst="roundRect">
            <a:avLst>
              <a:gd name="adj" fmla="val 50000"/>
            </a:avLst>
          </a:prstGeom>
          <a:solidFill>
            <a:srgbClr val="27333F"/>
          </a:solidFill>
          <a:ln w="12700">
            <a:solidFill>
              <a:srgbClr val="445362"/>
            </a:solidFill>
            <a:prstDash val="solid"/>
          </a:ln>
        </p:spPr>
      </p:sp>
      <p:sp>
        <p:nvSpPr>
          <p:cNvPr id="26" name="Text 23"/>
          <p:cNvSpPr/>
          <p:nvPr/>
        </p:nvSpPr>
        <p:spPr>
          <a:xfrm>
            <a:off x="8033004" y="5623560"/>
            <a:ext cx="1691640" cy="457200"/>
          </a:xfrm>
          <a:prstGeom prst="rect">
            <a:avLst/>
          </a:prstGeom>
          <a:noFill/>
          <a:ln/>
        </p:spPr>
        <p:txBody>
          <a:bodyPr wrap="square" rtlCol="0" anchor="ctr"/>
          <a:lstStyle/>
          <a:p>
            <a:pPr algn="ctr" indent="0" marL="0">
              <a:buNone/>
            </a:pPr>
            <a:r>
              <a:rPr lang="en-US" sz="1100" b="1" dirty="0">
                <a:solidFill>
                  <a:srgbClr val="F5F8FA"/>
                </a:solidFill>
                <a:latin typeface="Calibri" pitchFamily="34" charset="0"/>
                <a:ea typeface="Calibri" pitchFamily="34" charset="-122"/>
                <a:cs typeface="Calibri" pitchFamily="34" charset="-120"/>
              </a:rPr>
              <a:t>MITM</a:t>
            </a:r>
            <a:endParaRPr lang="en-US" sz="1100" dirty="0"/>
          </a:p>
        </p:txBody>
      </p:sp>
      <p:sp>
        <p:nvSpPr>
          <p:cNvPr id="27" name="Shape 24"/>
          <p:cNvSpPr/>
          <p:nvPr/>
        </p:nvSpPr>
        <p:spPr>
          <a:xfrm>
            <a:off x="9889236" y="5623560"/>
            <a:ext cx="1691640" cy="457200"/>
          </a:xfrm>
          <a:prstGeom prst="roundRect">
            <a:avLst>
              <a:gd name="adj" fmla="val 50000"/>
            </a:avLst>
          </a:prstGeom>
          <a:solidFill>
            <a:srgbClr val="27333F"/>
          </a:solidFill>
          <a:ln w="12700">
            <a:solidFill>
              <a:srgbClr val="445362"/>
            </a:solidFill>
            <a:prstDash val="solid"/>
          </a:ln>
        </p:spPr>
      </p:sp>
      <p:sp>
        <p:nvSpPr>
          <p:cNvPr id="28" name="Text 25"/>
          <p:cNvSpPr/>
          <p:nvPr/>
        </p:nvSpPr>
        <p:spPr>
          <a:xfrm>
            <a:off x="9889236" y="5623560"/>
            <a:ext cx="1691640" cy="457200"/>
          </a:xfrm>
          <a:prstGeom prst="rect">
            <a:avLst/>
          </a:prstGeom>
          <a:noFill/>
          <a:ln/>
        </p:spPr>
        <p:txBody>
          <a:bodyPr wrap="square" rtlCol="0" anchor="ctr"/>
          <a:lstStyle/>
          <a:p>
            <a:pPr algn="ctr" indent="0" marL="0">
              <a:buNone/>
            </a:pPr>
            <a:r>
              <a:rPr lang="en-US" sz="1100" b="1" dirty="0">
                <a:solidFill>
                  <a:srgbClr val="F5F8FA"/>
                </a:solidFill>
                <a:latin typeface="Calibri" pitchFamily="34" charset="0"/>
                <a:ea typeface="Calibri" pitchFamily="34" charset="-122"/>
                <a:cs typeface="Calibri" pitchFamily="34" charset="-120"/>
              </a:rPr>
              <a:t>Zero-Day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indent="0" marL="0">
              <a:buNone/>
            </a:pPr>
            <a:r>
              <a:rPr lang="en-US" sz="1300" b="1" spc="200" kern="0" dirty="0">
                <a:solidFill>
                  <a:srgbClr val="22E2FF"/>
                </a:solidFill>
                <a:latin typeface="Calibri" pitchFamily="34" charset="0"/>
                <a:ea typeface="Calibri" pitchFamily="34" charset="-122"/>
                <a:cs typeface="Calibri" pitchFamily="34" charset="-120"/>
              </a:rPr>
              <a:t>AGENDA</a:t>
            </a:r>
            <a:endParaRPr lang="en-US" sz="1300" dirty="0"/>
          </a:p>
        </p:txBody>
      </p:sp>
      <p:sp>
        <p:nvSpPr>
          <p:cNvPr id="3" name="Text 1"/>
          <p:cNvSpPr/>
          <p:nvPr/>
        </p:nvSpPr>
        <p:spPr>
          <a:xfrm>
            <a:off x="548640" y="612648"/>
            <a:ext cx="10515600" cy="640080"/>
          </a:xfrm>
          <a:prstGeom prst="rect">
            <a:avLst/>
          </a:prstGeom>
          <a:noFill/>
          <a:ln/>
        </p:spPr>
        <p:txBody>
          <a:bodyPr wrap="square" rtlCol="0" anchor="ctr"/>
          <a:lstStyle/>
          <a:p>
            <a:pPr indent="0" marL="0">
              <a:buNone/>
            </a:pPr>
            <a:r>
              <a:rPr lang="en-US" sz="3000" b="1" dirty="0">
                <a:solidFill>
                  <a:srgbClr val="F5F8FA"/>
                </a:solidFill>
                <a:latin typeface="Cambria" pitchFamily="34" charset="0"/>
                <a:ea typeface="Cambria" pitchFamily="34" charset="-122"/>
                <a:cs typeface="Cambria" pitchFamily="34" charset="-120"/>
              </a:rPr>
              <a:t>What We'll Cover</a:t>
            </a:r>
            <a:endParaRPr lang="en-US" sz="3000" dirty="0"/>
          </a:p>
        </p:txBody>
      </p:sp>
      <p:sp>
        <p:nvSpPr>
          <p:cNvPr id="4" name="Shape 2"/>
          <p:cNvSpPr/>
          <p:nvPr/>
        </p:nvSpPr>
        <p:spPr>
          <a:xfrm>
            <a:off x="548640" y="1417320"/>
            <a:ext cx="3544824" cy="1965960"/>
          </a:xfrm>
          <a:prstGeom prst="roundRect">
            <a:avLst>
              <a:gd name="adj" fmla="val 3721"/>
            </a:avLst>
          </a:prstGeom>
          <a:solidFill>
            <a:srgbClr val="1C2733"/>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5" name="Shape 3"/>
          <p:cNvSpPr/>
          <p:nvPr/>
        </p:nvSpPr>
        <p:spPr>
          <a:xfrm>
            <a:off x="822960" y="1691640"/>
            <a:ext cx="640080" cy="640080"/>
          </a:xfrm>
          <a:prstGeom prst="ellipse">
            <a:avLst/>
          </a:prstGeom>
          <a:solidFill>
            <a:srgbClr val="27333F"/>
          </a:solidFill>
          <a:ln w="19050">
            <a:solidFill>
              <a:srgbClr val="22E2FF"/>
            </a:solidFill>
            <a:prstDash val="solid"/>
          </a:ln>
        </p:spPr>
      </p:sp>
      <p:pic>
        <p:nvPicPr>
          <p:cNvPr id="6" name="Image 0" descr="/home/claude/cyberdeck/icons/phishing_cyan.png">    </p:cNvPr>
          <p:cNvPicPr>
            <a:picLocks noChangeAspect="1"/>
          </p:cNvPicPr>
          <p:nvPr/>
        </p:nvPicPr>
        <p:blipFill>
          <a:blip r:embed="rId1"/>
          <a:stretch>
            <a:fillRect/>
          </a:stretch>
        </p:blipFill>
        <p:spPr>
          <a:xfrm>
            <a:off x="989381" y="1858061"/>
            <a:ext cx="307238" cy="307238"/>
          </a:xfrm>
          <a:prstGeom prst="rect">
            <a:avLst/>
          </a:prstGeom>
        </p:spPr>
      </p:pic>
      <p:sp>
        <p:nvSpPr>
          <p:cNvPr id="7" name="Text 4"/>
          <p:cNvSpPr/>
          <p:nvPr/>
        </p:nvSpPr>
        <p:spPr>
          <a:xfrm>
            <a:off x="3270504" y="1618488"/>
            <a:ext cx="640080" cy="365760"/>
          </a:xfrm>
          <a:prstGeom prst="rect">
            <a:avLst/>
          </a:prstGeom>
          <a:noFill/>
          <a:ln/>
        </p:spPr>
        <p:txBody>
          <a:bodyPr wrap="square" rtlCol="0" anchor="ctr"/>
          <a:lstStyle/>
          <a:p>
            <a:pPr algn="r" indent="0" marL="0">
              <a:buNone/>
            </a:pPr>
            <a:r>
              <a:rPr lang="en-US" sz="2000" b="1" dirty="0">
                <a:solidFill>
                  <a:srgbClr val="445362"/>
                </a:solidFill>
                <a:latin typeface="Cambria" pitchFamily="34" charset="0"/>
                <a:ea typeface="Cambria" pitchFamily="34" charset="-122"/>
                <a:cs typeface="Cambria" pitchFamily="34" charset="-120"/>
              </a:rPr>
              <a:t>01</a:t>
            </a:r>
            <a:endParaRPr lang="en-US" sz="2000" dirty="0"/>
          </a:p>
        </p:txBody>
      </p:sp>
      <p:sp>
        <p:nvSpPr>
          <p:cNvPr id="8" name="Text 5"/>
          <p:cNvSpPr/>
          <p:nvPr/>
        </p:nvSpPr>
        <p:spPr>
          <a:xfrm>
            <a:off x="822960" y="2423160"/>
            <a:ext cx="2996184" cy="365760"/>
          </a:xfrm>
          <a:prstGeom prst="rect">
            <a:avLst/>
          </a:prstGeom>
          <a:noFill/>
          <a:ln/>
        </p:spPr>
        <p:txBody>
          <a:bodyPr wrap="square" lIns="0" tIns="0" rIns="0" bIns="0" rtlCol="0" anchor="ctr"/>
          <a:lstStyle/>
          <a:p>
            <a:pPr indent="0" marL="0">
              <a:buNone/>
            </a:pPr>
            <a:r>
              <a:rPr lang="en-US" sz="1600" b="1" dirty="0">
                <a:solidFill>
                  <a:srgbClr val="F5F8FA"/>
                </a:solidFill>
                <a:latin typeface="Calibri" pitchFamily="34" charset="0"/>
                <a:ea typeface="Calibri" pitchFamily="34" charset="-122"/>
                <a:cs typeface="Calibri" pitchFamily="34" charset="-120"/>
              </a:rPr>
              <a:t>Phishing</a:t>
            </a:r>
            <a:endParaRPr lang="en-US" sz="1600" dirty="0"/>
          </a:p>
        </p:txBody>
      </p:sp>
      <p:sp>
        <p:nvSpPr>
          <p:cNvPr id="9" name="Text 6"/>
          <p:cNvSpPr/>
          <p:nvPr/>
        </p:nvSpPr>
        <p:spPr>
          <a:xfrm>
            <a:off x="822960" y="2788920"/>
            <a:ext cx="2996184" cy="502920"/>
          </a:xfrm>
          <a:prstGeom prst="rect">
            <a:avLst/>
          </a:prstGeom>
          <a:noFill/>
          <a:ln/>
        </p:spPr>
        <p:txBody>
          <a:bodyPr wrap="square" lIns="0" tIns="0" rIns="0" bIns="0" rtlCol="0" anchor="ctr"/>
          <a:lstStyle/>
          <a:p>
            <a:pPr indent="0" marL="0">
              <a:buNone/>
            </a:pPr>
            <a:r>
              <a:rPr lang="en-US" sz="1150" dirty="0">
                <a:solidFill>
                  <a:srgbClr val="C3CDD6"/>
                </a:solidFill>
                <a:latin typeface="Calibri" pitchFamily="34" charset="0"/>
                <a:ea typeface="Calibri" pitchFamily="34" charset="-122"/>
                <a:cs typeface="Calibri" pitchFamily="34" charset="-120"/>
              </a:rPr>
              <a:t>Deceptive lures that steal credentials</a:t>
            </a:r>
            <a:endParaRPr lang="en-US" sz="1150" dirty="0"/>
          </a:p>
        </p:txBody>
      </p:sp>
      <p:sp>
        <p:nvSpPr>
          <p:cNvPr id="10" name="Shape 7"/>
          <p:cNvSpPr/>
          <p:nvPr/>
        </p:nvSpPr>
        <p:spPr>
          <a:xfrm>
            <a:off x="4413504" y="1417320"/>
            <a:ext cx="3544824" cy="1965960"/>
          </a:xfrm>
          <a:prstGeom prst="roundRect">
            <a:avLst>
              <a:gd name="adj" fmla="val 3721"/>
            </a:avLst>
          </a:prstGeom>
          <a:solidFill>
            <a:srgbClr val="1C2733"/>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11" name="Shape 8"/>
          <p:cNvSpPr/>
          <p:nvPr/>
        </p:nvSpPr>
        <p:spPr>
          <a:xfrm>
            <a:off x="4687824" y="1691640"/>
            <a:ext cx="640080" cy="640080"/>
          </a:xfrm>
          <a:prstGeom prst="ellipse">
            <a:avLst/>
          </a:prstGeom>
          <a:solidFill>
            <a:srgbClr val="27333F"/>
          </a:solidFill>
          <a:ln w="19050">
            <a:solidFill>
              <a:srgbClr val="22E2FF"/>
            </a:solidFill>
            <a:prstDash val="solid"/>
          </a:ln>
        </p:spPr>
      </p:sp>
      <p:pic>
        <p:nvPicPr>
          <p:cNvPr id="12" name="Image 1" descr="/home/claude/cyberdeck/icons/ransomware_cyan.png">    </p:cNvPr>
          <p:cNvPicPr>
            <a:picLocks noChangeAspect="1"/>
          </p:cNvPicPr>
          <p:nvPr/>
        </p:nvPicPr>
        <p:blipFill>
          <a:blip r:embed="rId2"/>
          <a:stretch>
            <a:fillRect/>
          </a:stretch>
        </p:blipFill>
        <p:spPr>
          <a:xfrm>
            <a:off x="4854245" y="1858061"/>
            <a:ext cx="307238" cy="307238"/>
          </a:xfrm>
          <a:prstGeom prst="rect">
            <a:avLst/>
          </a:prstGeom>
        </p:spPr>
      </p:pic>
      <p:sp>
        <p:nvSpPr>
          <p:cNvPr id="13" name="Text 9"/>
          <p:cNvSpPr/>
          <p:nvPr/>
        </p:nvSpPr>
        <p:spPr>
          <a:xfrm>
            <a:off x="7135368" y="1618488"/>
            <a:ext cx="640080" cy="365760"/>
          </a:xfrm>
          <a:prstGeom prst="rect">
            <a:avLst/>
          </a:prstGeom>
          <a:noFill/>
          <a:ln/>
        </p:spPr>
        <p:txBody>
          <a:bodyPr wrap="square" rtlCol="0" anchor="ctr"/>
          <a:lstStyle/>
          <a:p>
            <a:pPr algn="r" indent="0" marL="0">
              <a:buNone/>
            </a:pPr>
            <a:r>
              <a:rPr lang="en-US" sz="2000" b="1" dirty="0">
                <a:solidFill>
                  <a:srgbClr val="445362"/>
                </a:solidFill>
                <a:latin typeface="Cambria" pitchFamily="34" charset="0"/>
                <a:ea typeface="Cambria" pitchFamily="34" charset="-122"/>
                <a:cs typeface="Cambria" pitchFamily="34" charset="-120"/>
              </a:rPr>
              <a:t>02</a:t>
            </a:r>
            <a:endParaRPr lang="en-US" sz="2000" dirty="0"/>
          </a:p>
        </p:txBody>
      </p:sp>
      <p:sp>
        <p:nvSpPr>
          <p:cNvPr id="14" name="Text 10"/>
          <p:cNvSpPr/>
          <p:nvPr/>
        </p:nvSpPr>
        <p:spPr>
          <a:xfrm>
            <a:off x="4687824" y="2423160"/>
            <a:ext cx="2996184" cy="365760"/>
          </a:xfrm>
          <a:prstGeom prst="rect">
            <a:avLst/>
          </a:prstGeom>
          <a:noFill/>
          <a:ln/>
        </p:spPr>
        <p:txBody>
          <a:bodyPr wrap="square" lIns="0" tIns="0" rIns="0" bIns="0" rtlCol="0" anchor="ctr"/>
          <a:lstStyle/>
          <a:p>
            <a:pPr indent="0" marL="0">
              <a:buNone/>
            </a:pPr>
            <a:r>
              <a:rPr lang="en-US" sz="1600" b="1" dirty="0">
                <a:solidFill>
                  <a:srgbClr val="F5F8FA"/>
                </a:solidFill>
                <a:latin typeface="Calibri" pitchFamily="34" charset="0"/>
                <a:ea typeface="Calibri" pitchFamily="34" charset="-122"/>
                <a:cs typeface="Calibri" pitchFamily="34" charset="-120"/>
              </a:rPr>
              <a:t>Ransomware</a:t>
            </a:r>
            <a:endParaRPr lang="en-US" sz="1600" dirty="0"/>
          </a:p>
        </p:txBody>
      </p:sp>
      <p:sp>
        <p:nvSpPr>
          <p:cNvPr id="15" name="Text 11"/>
          <p:cNvSpPr/>
          <p:nvPr/>
        </p:nvSpPr>
        <p:spPr>
          <a:xfrm>
            <a:off x="4687824" y="2788920"/>
            <a:ext cx="2996184" cy="502920"/>
          </a:xfrm>
          <a:prstGeom prst="rect">
            <a:avLst/>
          </a:prstGeom>
          <a:noFill/>
          <a:ln/>
        </p:spPr>
        <p:txBody>
          <a:bodyPr wrap="square" lIns="0" tIns="0" rIns="0" bIns="0" rtlCol="0" anchor="ctr"/>
          <a:lstStyle/>
          <a:p>
            <a:pPr indent="0" marL="0">
              <a:buNone/>
            </a:pPr>
            <a:r>
              <a:rPr lang="en-US" sz="1150" dirty="0">
                <a:solidFill>
                  <a:srgbClr val="C3CDD6"/>
                </a:solidFill>
                <a:latin typeface="Calibri" pitchFamily="34" charset="0"/>
                <a:ea typeface="Calibri" pitchFamily="34" charset="-122"/>
                <a:cs typeface="Calibri" pitchFamily="34" charset="-120"/>
              </a:rPr>
              <a:t>Encrypt-and-extort file hijacking</a:t>
            </a:r>
            <a:endParaRPr lang="en-US" sz="1150" dirty="0"/>
          </a:p>
        </p:txBody>
      </p:sp>
      <p:sp>
        <p:nvSpPr>
          <p:cNvPr id="16" name="Shape 12"/>
          <p:cNvSpPr/>
          <p:nvPr/>
        </p:nvSpPr>
        <p:spPr>
          <a:xfrm>
            <a:off x="8278368" y="1417320"/>
            <a:ext cx="3544824" cy="1965960"/>
          </a:xfrm>
          <a:prstGeom prst="roundRect">
            <a:avLst>
              <a:gd name="adj" fmla="val 3721"/>
            </a:avLst>
          </a:prstGeom>
          <a:solidFill>
            <a:srgbClr val="1C2733"/>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17" name="Shape 13"/>
          <p:cNvSpPr/>
          <p:nvPr/>
        </p:nvSpPr>
        <p:spPr>
          <a:xfrm>
            <a:off x="8552688" y="1691640"/>
            <a:ext cx="640080" cy="640080"/>
          </a:xfrm>
          <a:prstGeom prst="ellipse">
            <a:avLst/>
          </a:prstGeom>
          <a:solidFill>
            <a:srgbClr val="27333F"/>
          </a:solidFill>
          <a:ln w="19050">
            <a:solidFill>
              <a:srgbClr val="22E2FF"/>
            </a:solidFill>
            <a:prstDash val="solid"/>
          </a:ln>
        </p:spPr>
      </p:sp>
      <p:pic>
        <p:nvPicPr>
          <p:cNvPr id="18" name="Image 2" descr="/home/claude/cyberdeck/icons/ddos_cyan.png">    </p:cNvPr>
          <p:cNvPicPr>
            <a:picLocks noChangeAspect="1"/>
          </p:cNvPicPr>
          <p:nvPr/>
        </p:nvPicPr>
        <p:blipFill>
          <a:blip r:embed="rId3"/>
          <a:stretch>
            <a:fillRect/>
          </a:stretch>
        </p:blipFill>
        <p:spPr>
          <a:xfrm>
            <a:off x="8719109" y="1858061"/>
            <a:ext cx="307238" cy="307238"/>
          </a:xfrm>
          <a:prstGeom prst="rect">
            <a:avLst/>
          </a:prstGeom>
        </p:spPr>
      </p:pic>
      <p:sp>
        <p:nvSpPr>
          <p:cNvPr id="19" name="Text 14"/>
          <p:cNvSpPr/>
          <p:nvPr/>
        </p:nvSpPr>
        <p:spPr>
          <a:xfrm>
            <a:off x="11000232" y="1618488"/>
            <a:ext cx="640080" cy="365760"/>
          </a:xfrm>
          <a:prstGeom prst="rect">
            <a:avLst/>
          </a:prstGeom>
          <a:noFill/>
          <a:ln/>
        </p:spPr>
        <p:txBody>
          <a:bodyPr wrap="square" rtlCol="0" anchor="ctr"/>
          <a:lstStyle/>
          <a:p>
            <a:pPr algn="r" indent="0" marL="0">
              <a:buNone/>
            </a:pPr>
            <a:r>
              <a:rPr lang="en-US" sz="2000" b="1" dirty="0">
                <a:solidFill>
                  <a:srgbClr val="445362"/>
                </a:solidFill>
                <a:latin typeface="Cambria" pitchFamily="34" charset="0"/>
                <a:ea typeface="Cambria" pitchFamily="34" charset="-122"/>
                <a:cs typeface="Cambria" pitchFamily="34" charset="-120"/>
              </a:rPr>
              <a:t>03</a:t>
            </a:r>
            <a:endParaRPr lang="en-US" sz="2000" dirty="0"/>
          </a:p>
        </p:txBody>
      </p:sp>
      <p:sp>
        <p:nvSpPr>
          <p:cNvPr id="20" name="Text 15"/>
          <p:cNvSpPr/>
          <p:nvPr/>
        </p:nvSpPr>
        <p:spPr>
          <a:xfrm>
            <a:off x="8552688" y="2423160"/>
            <a:ext cx="2996184" cy="365760"/>
          </a:xfrm>
          <a:prstGeom prst="rect">
            <a:avLst/>
          </a:prstGeom>
          <a:noFill/>
          <a:ln/>
        </p:spPr>
        <p:txBody>
          <a:bodyPr wrap="square" lIns="0" tIns="0" rIns="0" bIns="0" rtlCol="0" anchor="ctr"/>
          <a:lstStyle/>
          <a:p>
            <a:pPr indent="0" marL="0">
              <a:buNone/>
            </a:pPr>
            <a:r>
              <a:rPr lang="en-US" sz="1600" b="1" dirty="0">
                <a:solidFill>
                  <a:srgbClr val="F5F8FA"/>
                </a:solidFill>
                <a:latin typeface="Calibri" pitchFamily="34" charset="0"/>
                <a:ea typeface="Calibri" pitchFamily="34" charset="-122"/>
                <a:cs typeface="Calibri" pitchFamily="34" charset="-120"/>
              </a:rPr>
              <a:t>DDoS Attacks</a:t>
            </a:r>
            <a:endParaRPr lang="en-US" sz="1600" dirty="0"/>
          </a:p>
        </p:txBody>
      </p:sp>
      <p:sp>
        <p:nvSpPr>
          <p:cNvPr id="21" name="Text 16"/>
          <p:cNvSpPr/>
          <p:nvPr/>
        </p:nvSpPr>
        <p:spPr>
          <a:xfrm>
            <a:off x="8552688" y="2788920"/>
            <a:ext cx="2996184" cy="502920"/>
          </a:xfrm>
          <a:prstGeom prst="rect">
            <a:avLst/>
          </a:prstGeom>
          <a:noFill/>
          <a:ln/>
        </p:spPr>
        <p:txBody>
          <a:bodyPr wrap="square" lIns="0" tIns="0" rIns="0" bIns="0" rtlCol="0" anchor="ctr"/>
          <a:lstStyle/>
          <a:p>
            <a:pPr indent="0" marL="0">
              <a:buNone/>
            </a:pPr>
            <a:r>
              <a:rPr lang="en-US" sz="1150" dirty="0">
                <a:solidFill>
                  <a:srgbClr val="C3CDD6"/>
                </a:solidFill>
                <a:latin typeface="Calibri" pitchFamily="34" charset="0"/>
                <a:ea typeface="Calibri" pitchFamily="34" charset="-122"/>
                <a:cs typeface="Calibri" pitchFamily="34" charset="-120"/>
              </a:rPr>
              <a:t>Traffic floods that knock services offline</a:t>
            </a:r>
            <a:endParaRPr lang="en-US" sz="1150" dirty="0"/>
          </a:p>
        </p:txBody>
      </p:sp>
      <p:sp>
        <p:nvSpPr>
          <p:cNvPr id="22" name="Shape 17"/>
          <p:cNvSpPr/>
          <p:nvPr/>
        </p:nvSpPr>
        <p:spPr>
          <a:xfrm>
            <a:off x="548640" y="3703320"/>
            <a:ext cx="3544824" cy="1965960"/>
          </a:xfrm>
          <a:prstGeom prst="roundRect">
            <a:avLst>
              <a:gd name="adj" fmla="val 3721"/>
            </a:avLst>
          </a:prstGeom>
          <a:solidFill>
            <a:srgbClr val="1C2733"/>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23" name="Shape 18"/>
          <p:cNvSpPr/>
          <p:nvPr/>
        </p:nvSpPr>
        <p:spPr>
          <a:xfrm>
            <a:off x="822960" y="3977640"/>
            <a:ext cx="640080" cy="640080"/>
          </a:xfrm>
          <a:prstGeom prst="ellipse">
            <a:avLst/>
          </a:prstGeom>
          <a:solidFill>
            <a:srgbClr val="27333F"/>
          </a:solidFill>
          <a:ln w="19050">
            <a:solidFill>
              <a:srgbClr val="22E2FF"/>
            </a:solidFill>
            <a:prstDash val="solid"/>
          </a:ln>
        </p:spPr>
      </p:sp>
      <p:pic>
        <p:nvPicPr>
          <p:cNvPr id="24" name="Image 3" descr="/home/claude/cyberdeck/icons/sqli_cyan.png">    </p:cNvPr>
          <p:cNvPicPr>
            <a:picLocks noChangeAspect="1"/>
          </p:cNvPicPr>
          <p:nvPr/>
        </p:nvPicPr>
        <p:blipFill>
          <a:blip r:embed="rId4"/>
          <a:stretch>
            <a:fillRect/>
          </a:stretch>
        </p:blipFill>
        <p:spPr>
          <a:xfrm>
            <a:off x="989381" y="4144061"/>
            <a:ext cx="307238" cy="307238"/>
          </a:xfrm>
          <a:prstGeom prst="rect">
            <a:avLst/>
          </a:prstGeom>
        </p:spPr>
      </p:pic>
      <p:sp>
        <p:nvSpPr>
          <p:cNvPr id="25" name="Text 19"/>
          <p:cNvSpPr/>
          <p:nvPr/>
        </p:nvSpPr>
        <p:spPr>
          <a:xfrm>
            <a:off x="3270504" y="3904488"/>
            <a:ext cx="640080" cy="365760"/>
          </a:xfrm>
          <a:prstGeom prst="rect">
            <a:avLst/>
          </a:prstGeom>
          <a:noFill/>
          <a:ln/>
        </p:spPr>
        <p:txBody>
          <a:bodyPr wrap="square" rtlCol="0" anchor="ctr"/>
          <a:lstStyle/>
          <a:p>
            <a:pPr algn="r" indent="0" marL="0">
              <a:buNone/>
            </a:pPr>
            <a:r>
              <a:rPr lang="en-US" sz="2000" b="1" dirty="0">
                <a:solidFill>
                  <a:srgbClr val="445362"/>
                </a:solidFill>
                <a:latin typeface="Cambria" pitchFamily="34" charset="0"/>
                <a:ea typeface="Cambria" pitchFamily="34" charset="-122"/>
                <a:cs typeface="Cambria" pitchFamily="34" charset="-120"/>
              </a:rPr>
              <a:t>04</a:t>
            </a:r>
            <a:endParaRPr lang="en-US" sz="2000" dirty="0"/>
          </a:p>
        </p:txBody>
      </p:sp>
      <p:sp>
        <p:nvSpPr>
          <p:cNvPr id="26" name="Text 20"/>
          <p:cNvSpPr/>
          <p:nvPr/>
        </p:nvSpPr>
        <p:spPr>
          <a:xfrm>
            <a:off x="822960" y="4709160"/>
            <a:ext cx="2996184" cy="365760"/>
          </a:xfrm>
          <a:prstGeom prst="rect">
            <a:avLst/>
          </a:prstGeom>
          <a:noFill/>
          <a:ln/>
        </p:spPr>
        <p:txBody>
          <a:bodyPr wrap="square" lIns="0" tIns="0" rIns="0" bIns="0" rtlCol="0" anchor="ctr"/>
          <a:lstStyle/>
          <a:p>
            <a:pPr indent="0" marL="0">
              <a:buNone/>
            </a:pPr>
            <a:r>
              <a:rPr lang="en-US" sz="1600" b="1" dirty="0">
                <a:solidFill>
                  <a:srgbClr val="F5F8FA"/>
                </a:solidFill>
                <a:latin typeface="Calibri" pitchFamily="34" charset="0"/>
                <a:ea typeface="Calibri" pitchFamily="34" charset="-122"/>
                <a:cs typeface="Calibri" pitchFamily="34" charset="-120"/>
              </a:rPr>
              <a:t>SQL Injection</a:t>
            </a:r>
            <a:endParaRPr lang="en-US" sz="1600" dirty="0"/>
          </a:p>
        </p:txBody>
      </p:sp>
      <p:sp>
        <p:nvSpPr>
          <p:cNvPr id="27" name="Text 21"/>
          <p:cNvSpPr/>
          <p:nvPr/>
        </p:nvSpPr>
        <p:spPr>
          <a:xfrm>
            <a:off x="822960" y="5074920"/>
            <a:ext cx="2996184" cy="502920"/>
          </a:xfrm>
          <a:prstGeom prst="rect">
            <a:avLst/>
          </a:prstGeom>
          <a:noFill/>
          <a:ln/>
        </p:spPr>
        <p:txBody>
          <a:bodyPr wrap="square" lIns="0" tIns="0" rIns="0" bIns="0" rtlCol="0" anchor="ctr"/>
          <a:lstStyle/>
          <a:p>
            <a:pPr indent="0" marL="0">
              <a:buNone/>
            </a:pPr>
            <a:r>
              <a:rPr lang="en-US" sz="1150" dirty="0">
                <a:solidFill>
                  <a:srgbClr val="C3CDD6"/>
                </a:solidFill>
                <a:latin typeface="Calibri" pitchFamily="34" charset="0"/>
                <a:ea typeface="Calibri" pitchFamily="34" charset="-122"/>
                <a:cs typeface="Calibri" pitchFamily="34" charset="-120"/>
              </a:rPr>
              <a:t>Malicious queries that expose databases</a:t>
            </a:r>
            <a:endParaRPr lang="en-US" sz="1150" dirty="0"/>
          </a:p>
        </p:txBody>
      </p:sp>
      <p:sp>
        <p:nvSpPr>
          <p:cNvPr id="28" name="Shape 22"/>
          <p:cNvSpPr/>
          <p:nvPr/>
        </p:nvSpPr>
        <p:spPr>
          <a:xfrm>
            <a:off x="4413504" y="3703320"/>
            <a:ext cx="3544824" cy="1965960"/>
          </a:xfrm>
          <a:prstGeom prst="roundRect">
            <a:avLst>
              <a:gd name="adj" fmla="val 3721"/>
            </a:avLst>
          </a:prstGeom>
          <a:solidFill>
            <a:srgbClr val="1C2733"/>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29" name="Shape 23"/>
          <p:cNvSpPr/>
          <p:nvPr/>
        </p:nvSpPr>
        <p:spPr>
          <a:xfrm>
            <a:off x="4687824" y="3977640"/>
            <a:ext cx="640080" cy="640080"/>
          </a:xfrm>
          <a:prstGeom prst="ellipse">
            <a:avLst/>
          </a:prstGeom>
          <a:solidFill>
            <a:srgbClr val="27333F"/>
          </a:solidFill>
          <a:ln w="19050">
            <a:solidFill>
              <a:srgbClr val="22E2FF"/>
            </a:solidFill>
            <a:prstDash val="solid"/>
          </a:ln>
        </p:spPr>
      </p:sp>
      <p:pic>
        <p:nvPicPr>
          <p:cNvPr id="30" name="Image 4" descr="/home/claude/cyberdeck/icons/mitm_cyan.png">    </p:cNvPr>
          <p:cNvPicPr>
            <a:picLocks noChangeAspect="1"/>
          </p:cNvPicPr>
          <p:nvPr/>
        </p:nvPicPr>
        <p:blipFill>
          <a:blip r:embed="rId5"/>
          <a:stretch>
            <a:fillRect/>
          </a:stretch>
        </p:blipFill>
        <p:spPr>
          <a:xfrm>
            <a:off x="4854245" y="4144061"/>
            <a:ext cx="307238" cy="307238"/>
          </a:xfrm>
          <a:prstGeom prst="rect">
            <a:avLst/>
          </a:prstGeom>
        </p:spPr>
      </p:pic>
      <p:sp>
        <p:nvSpPr>
          <p:cNvPr id="31" name="Text 24"/>
          <p:cNvSpPr/>
          <p:nvPr/>
        </p:nvSpPr>
        <p:spPr>
          <a:xfrm>
            <a:off x="7135368" y="3904488"/>
            <a:ext cx="640080" cy="365760"/>
          </a:xfrm>
          <a:prstGeom prst="rect">
            <a:avLst/>
          </a:prstGeom>
          <a:noFill/>
          <a:ln/>
        </p:spPr>
        <p:txBody>
          <a:bodyPr wrap="square" rtlCol="0" anchor="ctr"/>
          <a:lstStyle/>
          <a:p>
            <a:pPr algn="r" indent="0" marL="0">
              <a:buNone/>
            </a:pPr>
            <a:r>
              <a:rPr lang="en-US" sz="2000" b="1" dirty="0">
                <a:solidFill>
                  <a:srgbClr val="445362"/>
                </a:solidFill>
                <a:latin typeface="Cambria" pitchFamily="34" charset="0"/>
                <a:ea typeface="Cambria" pitchFamily="34" charset="-122"/>
                <a:cs typeface="Cambria" pitchFamily="34" charset="-120"/>
              </a:rPr>
              <a:t>05</a:t>
            </a:r>
            <a:endParaRPr lang="en-US" sz="2000" dirty="0"/>
          </a:p>
        </p:txBody>
      </p:sp>
      <p:sp>
        <p:nvSpPr>
          <p:cNvPr id="32" name="Text 25"/>
          <p:cNvSpPr/>
          <p:nvPr/>
        </p:nvSpPr>
        <p:spPr>
          <a:xfrm>
            <a:off x="4687824" y="4709160"/>
            <a:ext cx="2996184" cy="365760"/>
          </a:xfrm>
          <a:prstGeom prst="rect">
            <a:avLst/>
          </a:prstGeom>
          <a:noFill/>
          <a:ln/>
        </p:spPr>
        <p:txBody>
          <a:bodyPr wrap="square" lIns="0" tIns="0" rIns="0" bIns="0" rtlCol="0" anchor="ctr"/>
          <a:lstStyle/>
          <a:p>
            <a:pPr indent="0" marL="0">
              <a:buNone/>
            </a:pPr>
            <a:r>
              <a:rPr lang="en-US" sz="1600" b="1" dirty="0">
                <a:solidFill>
                  <a:srgbClr val="F5F8FA"/>
                </a:solidFill>
                <a:latin typeface="Calibri" pitchFamily="34" charset="0"/>
                <a:ea typeface="Calibri" pitchFamily="34" charset="-122"/>
                <a:cs typeface="Calibri" pitchFamily="34" charset="-120"/>
              </a:rPr>
              <a:t>Man-in-the-Middle</a:t>
            </a:r>
            <a:endParaRPr lang="en-US" sz="1600" dirty="0"/>
          </a:p>
        </p:txBody>
      </p:sp>
      <p:sp>
        <p:nvSpPr>
          <p:cNvPr id="33" name="Text 26"/>
          <p:cNvSpPr/>
          <p:nvPr/>
        </p:nvSpPr>
        <p:spPr>
          <a:xfrm>
            <a:off x="4687824" y="5074920"/>
            <a:ext cx="2996184" cy="502920"/>
          </a:xfrm>
          <a:prstGeom prst="rect">
            <a:avLst/>
          </a:prstGeom>
          <a:noFill/>
          <a:ln/>
        </p:spPr>
        <p:txBody>
          <a:bodyPr wrap="square" lIns="0" tIns="0" rIns="0" bIns="0" rtlCol="0" anchor="ctr"/>
          <a:lstStyle/>
          <a:p>
            <a:pPr indent="0" marL="0">
              <a:buNone/>
            </a:pPr>
            <a:r>
              <a:rPr lang="en-US" sz="1150" dirty="0">
                <a:solidFill>
                  <a:srgbClr val="C3CDD6"/>
                </a:solidFill>
                <a:latin typeface="Calibri" pitchFamily="34" charset="0"/>
                <a:ea typeface="Calibri" pitchFamily="34" charset="-122"/>
                <a:cs typeface="Calibri" pitchFamily="34" charset="-120"/>
              </a:rPr>
              <a:t>Silent interception of live traffic</a:t>
            </a:r>
            <a:endParaRPr lang="en-US" sz="1150" dirty="0"/>
          </a:p>
        </p:txBody>
      </p:sp>
      <p:sp>
        <p:nvSpPr>
          <p:cNvPr id="34" name="Shape 27"/>
          <p:cNvSpPr/>
          <p:nvPr/>
        </p:nvSpPr>
        <p:spPr>
          <a:xfrm>
            <a:off x="8278368" y="3703320"/>
            <a:ext cx="3544824" cy="1965960"/>
          </a:xfrm>
          <a:prstGeom prst="roundRect">
            <a:avLst>
              <a:gd name="adj" fmla="val 3721"/>
            </a:avLst>
          </a:prstGeom>
          <a:solidFill>
            <a:srgbClr val="1C2733"/>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35" name="Shape 28"/>
          <p:cNvSpPr/>
          <p:nvPr/>
        </p:nvSpPr>
        <p:spPr>
          <a:xfrm>
            <a:off x="8552688" y="3977640"/>
            <a:ext cx="640080" cy="640080"/>
          </a:xfrm>
          <a:prstGeom prst="ellipse">
            <a:avLst/>
          </a:prstGeom>
          <a:solidFill>
            <a:srgbClr val="27333F"/>
          </a:solidFill>
          <a:ln w="19050">
            <a:solidFill>
              <a:srgbClr val="22E2FF"/>
            </a:solidFill>
            <a:prstDash val="solid"/>
          </a:ln>
        </p:spPr>
      </p:sp>
      <p:pic>
        <p:nvPicPr>
          <p:cNvPr id="36" name="Image 5" descr="/home/claude/cyberdeck/icons/zeroday_cyan.png">    </p:cNvPr>
          <p:cNvPicPr>
            <a:picLocks noChangeAspect="1"/>
          </p:cNvPicPr>
          <p:nvPr/>
        </p:nvPicPr>
        <p:blipFill>
          <a:blip r:embed="rId6"/>
          <a:stretch>
            <a:fillRect/>
          </a:stretch>
        </p:blipFill>
        <p:spPr>
          <a:xfrm>
            <a:off x="8719109" y="4144061"/>
            <a:ext cx="307238" cy="307238"/>
          </a:xfrm>
          <a:prstGeom prst="rect">
            <a:avLst/>
          </a:prstGeom>
        </p:spPr>
      </p:pic>
      <p:sp>
        <p:nvSpPr>
          <p:cNvPr id="37" name="Text 29"/>
          <p:cNvSpPr/>
          <p:nvPr/>
        </p:nvSpPr>
        <p:spPr>
          <a:xfrm>
            <a:off x="11000232" y="3904488"/>
            <a:ext cx="640080" cy="365760"/>
          </a:xfrm>
          <a:prstGeom prst="rect">
            <a:avLst/>
          </a:prstGeom>
          <a:noFill/>
          <a:ln/>
        </p:spPr>
        <p:txBody>
          <a:bodyPr wrap="square" rtlCol="0" anchor="ctr"/>
          <a:lstStyle/>
          <a:p>
            <a:pPr algn="r" indent="0" marL="0">
              <a:buNone/>
            </a:pPr>
            <a:r>
              <a:rPr lang="en-US" sz="2000" b="1" dirty="0">
                <a:solidFill>
                  <a:srgbClr val="445362"/>
                </a:solidFill>
                <a:latin typeface="Cambria" pitchFamily="34" charset="0"/>
                <a:ea typeface="Cambria" pitchFamily="34" charset="-122"/>
                <a:cs typeface="Cambria" pitchFamily="34" charset="-120"/>
              </a:rPr>
              <a:t>06</a:t>
            </a:r>
            <a:endParaRPr lang="en-US" sz="2000" dirty="0"/>
          </a:p>
        </p:txBody>
      </p:sp>
      <p:sp>
        <p:nvSpPr>
          <p:cNvPr id="38" name="Text 30"/>
          <p:cNvSpPr/>
          <p:nvPr/>
        </p:nvSpPr>
        <p:spPr>
          <a:xfrm>
            <a:off x="8552688" y="4709160"/>
            <a:ext cx="2996184" cy="365760"/>
          </a:xfrm>
          <a:prstGeom prst="rect">
            <a:avLst/>
          </a:prstGeom>
          <a:noFill/>
          <a:ln/>
        </p:spPr>
        <p:txBody>
          <a:bodyPr wrap="square" lIns="0" tIns="0" rIns="0" bIns="0" rtlCol="0" anchor="ctr"/>
          <a:lstStyle/>
          <a:p>
            <a:pPr indent="0" marL="0">
              <a:buNone/>
            </a:pPr>
            <a:r>
              <a:rPr lang="en-US" sz="1600" b="1" dirty="0">
                <a:solidFill>
                  <a:srgbClr val="F5F8FA"/>
                </a:solidFill>
                <a:latin typeface="Calibri" pitchFamily="34" charset="0"/>
                <a:ea typeface="Calibri" pitchFamily="34" charset="-122"/>
                <a:cs typeface="Calibri" pitchFamily="34" charset="-120"/>
              </a:rPr>
              <a:t>Zero-Day Exploits</a:t>
            </a:r>
            <a:endParaRPr lang="en-US" sz="1600" dirty="0"/>
          </a:p>
        </p:txBody>
      </p:sp>
      <p:sp>
        <p:nvSpPr>
          <p:cNvPr id="39" name="Text 31"/>
          <p:cNvSpPr/>
          <p:nvPr/>
        </p:nvSpPr>
        <p:spPr>
          <a:xfrm>
            <a:off x="8552688" y="5074920"/>
            <a:ext cx="2996184" cy="502920"/>
          </a:xfrm>
          <a:prstGeom prst="rect">
            <a:avLst/>
          </a:prstGeom>
          <a:noFill/>
          <a:ln/>
        </p:spPr>
        <p:txBody>
          <a:bodyPr wrap="square" lIns="0" tIns="0" rIns="0" bIns="0" rtlCol="0" anchor="ctr"/>
          <a:lstStyle/>
          <a:p>
            <a:pPr indent="0" marL="0">
              <a:buNone/>
            </a:pPr>
            <a:r>
              <a:rPr lang="en-US" sz="1150" dirty="0">
                <a:solidFill>
                  <a:srgbClr val="C3CDD6"/>
                </a:solidFill>
                <a:latin typeface="Calibri" pitchFamily="34" charset="0"/>
                <a:ea typeface="Calibri" pitchFamily="34" charset="-122"/>
                <a:cs typeface="Calibri" pitchFamily="34" charset="-120"/>
              </a:rPr>
              <a:t>Attacks on unpatched, unknown flaws</a:t>
            </a:r>
            <a:endParaRPr lang="en-US" sz="1150" dirty="0"/>
          </a:p>
        </p:txBody>
      </p:sp>
      <p:sp>
        <p:nvSpPr>
          <p:cNvPr id="40" name="Text 32"/>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C3CDD6"/>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indent="0" marL="0">
              <a:buNone/>
            </a:pPr>
            <a:r>
              <a:rPr lang="en-US" sz="1300" b="1" spc="200" kern="0" dirty="0">
                <a:solidFill>
                  <a:srgbClr val="22E2FF"/>
                </a:solidFill>
                <a:latin typeface="Calibri" pitchFamily="34" charset="0"/>
                <a:ea typeface="Calibri" pitchFamily="34" charset="-122"/>
                <a:cs typeface="Calibri" pitchFamily="34" charset="-120"/>
              </a:rPr>
              <a:t>CONTEXT</a:t>
            </a:r>
            <a:endParaRPr lang="en-US" sz="1300" dirty="0"/>
          </a:p>
        </p:txBody>
      </p:sp>
      <p:sp>
        <p:nvSpPr>
          <p:cNvPr id="3" name="Text 1"/>
          <p:cNvSpPr/>
          <p:nvPr/>
        </p:nvSpPr>
        <p:spPr>
          <a:xfrm>
            <a:off x="548640" y="612648"/>
            <a:ext cx="10515600" cy="640080"/>
          </a:xfrm>
          <a:prstGeom prst="rect">
            <a:avLst/>
          </a:prstGeom>
          <a:noFill/>
          <a:ln/>
        </p:spPr>
        <p:txBody>
          <a:bodyPr wrap="square" rtlCol="0" anchor="ctr"/>
          <a:lstStyle/>
          <a:p>
            <a:pPr indent="0" marL="0">
              <a:buNone/>
            </a:pPr>
            <a:r>
              <a:rPr lang="en-US" sz="3000" b="1" dirty="0">
                <a:solidFill>
                  <a:srgbClr val="F5F8FA"/>
                </a:solidFill>
                <a:latin typeface="Cambria" pitchFamily="34" charset="0"/>
                <a:ea typeface="Cambria" pitchFamily="34" charset="-122"/>
                <a:cs typeface="Cambria" pitchFamily="34" charset="-120"/>
              </a:rPr>
              <a:t>Why This Matters</a:t>
            </a:r>
            <a:endParaRPr lang="en-US" sz="3000" dirty="0"/>
          </a:p>
        </p:txBody>
      </p:sp>
      <p:sp>
        <p:nvSpPr>
          <p:cNvPr id="4" name="Text 2"/>
          <p:cNvSpPr/>
          <p:nvPr/>
        </p:nvSpPr>
        <p:spPr>
          <a:xfrm>
            <a:off x="548640" y="1234440"/>
            <a:ext cx="10789920" cy="457200"/>
          </a:xfrm>
          <a:prstGeom prst="rect">
            <a:avLst/>
          </a:prstGeom>
          <a:noFill/>
          <a:ln/>
        </p:spPr>
        <p:txBody>
          <a:bodyPr wrap="square" rtlCol="0" anchor="ctr"/>
          <a:lstStyle/>
          <a:p>
            <a:pPr indent="0" marL="0">
              <a:buNone/>
            </a:pPr>
            <a:r>
              <a:rPr lang="en-US" sz="1350" dirty="0">
                <a:solidFill>
                  <a:srgbClr val="C3CDD6"/>
                </a:solidFill>
                <a:latin typeface="Calibri" pitchFamily="34" charset="0"/>
                <a:ea typeface="Calibri" pitchFamily="34" charset="-122"/>
                <a:cs typeface="Calibri" pitchFamily="34" charset="-120"/>
              </a:rPr>
              <a:t>Cyberattacks have grown from isolated incidents into a persistent, well-funded global threat targeting every sector.</a:t>
            </a:r>
            <a:endParaRPr lang="en-US" sz="1350" dirty="0"/>
          </a:p>
        </p:txBody>
      </p:sp>
      <p:sp>
        <p:nvSpPr>
          <p:cNvPr id="5" name="Shape 3"/>
          <p:cNvSpPr/>
          <p:nvPr/>
        </p:nvSpPr>
        <p:spPr>
          <a:xfrm>
            <a:off x="548640" y="1965960"/>
            <a:ext cx="2612898" cy="2377440"/>
          </a:xfrm>
          <a:prstGeom prst="roundRect">
            <a:avLst>
              <a:gd name="adj" fmla="val 3077"/>
            </a:avLst>
          </a:prstGeom>
          <a:solidFill>
            <a:srgbClr val="1C2733"/>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6" name="Shape 4"/>
          <p:cNvSpPr/>
          <p:nvPr/>
        </p:nvSpPr>
        <p:spPr>
          <a:xfrm>
            <a:off x="1535049" y="2240280"/>
            <a:ext cx="640080" cy="640080"/>
          </a:xfrm>
          <a:prstGeom prst="ellipse">
            <a:avLst/>
          </a:prstGeom>
          <a:solidFill>
            <a:srgbClr val="27333F"/>
          </a:solidFill>
          <a:ln w="19050">
            <a:solidFill>
              <a:srgbClr val="22E2FF"/>
            </a:solidFill>
            <a:prstDash val="solid"/>
          </a:ln>
        </p:spPr>
      </p:sp>
      <p:pic>
        <p:nvPicPr>
          <p:cNvPr id="7" name="Image 0" descr="/home/claude/cyberdeck/icons/money_cyan.png">    </p:cNvPr>
          <p:cNvPicPr>
            <a:picLocks noChangeAspect="1"/>
          </p:cNvPicPr>
          <p:nvPr/>
        </p:nvPicPr>
        <p:blipFill>
          <a:blip r:embed="rId1"/>
          <a:stretch>
            <a:fillRect/>
          </a:stretch>
        </p:blipFill>
        <p:spPr>
          <a:xfrm>
            <a:off x="1701470" y="2406701"/>
            <a:ext cx="307238" cy="307238"/>
          </a:xfrm>
          <a:prstGeom prst="rect">
            <a:avLst/>
          </a:prstGeom>
        </p:spPr>
      </p:pic>
      <p:sp>
        <p:nvSpPr>
          <p:cNvPr id="8" name="Text 5"/>
          <p:cNvSpPr/>
          <p:nvPr/>
        </p:nvSpPr>
        <p:spPr>
          <a:xfrm>
            <a:off x="640080" y="3017520"/>
            <a:ext cx="2430018" cy="594360"/>
          </a:xfrm>
          <a:prstGeom prst="rect">
            <a:avLst/>
          </a:prstGeom>
          <a:noFill/>
          <a:ln/>
        </p:spPr>
        <p:txBody>
          <a:bodyPr wrap="square" lIns="0" tIns="0" rIns="0" bIns="0" rtlCol="0" anchor="ctr"/>
          <a:lstStyle/>
          <a:p>
            <a:pPr algn="ctr" indent="0" marL="0">
              <a:buNone/>
            </a:pPr>
            <a:r>
              <a:rPr lang="en-US" sz="2600" b="1" dirty="0">
                <a:solidFill>
                  <a:srgbClr val="22E2FF"/>
                </a:solidFill>
                <a:latin typeface="Cambria" pitchFamily="34" charset="0"/>
                <a:ea typeface="Cambria" pitchFamily="34" charset="-122"/>
                <a:cs typeface="Cambria" pitchFamily="34" charset="-120"/>
              </a:rPr>
              <a:t>$10.5T</a:t>
            </a:r>
            <a:endParaRPr lang="en-US" sz="2600" dirty="0"/>
          </a:p>
        </p:txBody>
      </p:sp>
      <p:sp>
        <p:nvSpPr>
          <p:cNvPr id="9" name="Text 6"/>
          <p:cNvSpPr/>
          <p:nvPr/>
        </p:nvSpPr>
        <p:spPr>
          <a:xfrm>
            <a:off x="731520" y="3657600"/>
            <a:ext cx="2247138" cy="640080"/>
          </a:xfrm>
          <a:prstGeom prst="rect">
            <a:avLst/>
          </a:prstGeom>
          <a:noFill/>
          <a:ln/>
        </p:spPr>
        <p:txBody>
          <a:bodyPr wrap="square" lIns="0" tIns="0" rIns="0" bIns="0" rtlCol="0" anchor="ctr"/>
          <a:lstStyle/>
          <a:p>
            <a:pPr algn="ctr" indent="0" marL="0">
              <a:buNone/>
            </a:pPr>
            <a:r>
              <a:rPr lang="en-US" sz="1050" dirty="0">
                <a:solidFill>
                  <a:srgbClr val="F5F8FA"/>
                </a:solidFill>
                <a:latin typeface="Calibri" pitchFamily="34" charset="0"/>
                <a:ea typeface="Calibri" pitchFamily="34" charset="-122"/>
                <a:cs typeface="Calibri" pitchFamily="34" charset="-120"/>
              </a:rPr>
              <a:t>Projected annual global cost of cybercrime (2025 est.)</a:t>
            </a:r>
            <a:endParaRPr lang="en-US" sz="1050" dirty="0"/>
          </a:p>
        </p:txBody>
      </p:sp>
      <p:sp>
        <p:nvSpPr>
          <p:cNvPr id="10" name="Shape 7"/>
          <p:cNvSpPr/>
          <p:nvPr/>
        </p:nvSpPr>
        <p:spPr>
          <a:xfrm>
            <a:off x="3435858" y="1965960"/>
            <a:ext cx="2612898" cy="2377440"/>
          </a:xfrm>
          <a:prstGeom prst="roundRect">
            <a:avLst>
              <a:gd name="adj" fmla="val 3077"/>
            </a:avLst>
          </a:prstGeom>
          <a:solidFill>
            <a:srgbClr val="1C2733"/>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11" name="Shape 8"/>
          <p:cNvSpPr/>
          <p:nvPr/>
        </p:nvSpPr>
        <p:spPr>
          <a:xfrm>
            <a:off x="4422267" y="2240280"/>
            <a:ext cx="640080" cy="640080"/>
          </a:xfrm>
          <a:prstGeom prst="ellipse">
            <a:avLst/>
          </a:prstGeom>
          <a:solidFill>
            <a:srgbClr val="27333F"/>
          </a:solidFill>
          <a:ln w="19050">
            <a:solidFill>
              <a:srgbClr val="22E2FF"/>
            </a:solidFill>
            <a:prstDash val="solid"/>
          </a:ln>
        </p:spPr>
      </p:sp>
      <p:pic>
        <p:nvPicPr>
          <p:cNvPr id="12" name="Image 1" descr="/home/claude/cyberdeck/icons/phishing_cyan.png">    </p:cNvPr>
          <p:cNvPicPr>
            <a:picLocks noChangeAspect="1"/>
          </p:cNvPicPr>
          <p:nvPr/>
        </p:nvPicPr>
        <p:blipFill>
          <a:blip r:embed="rId2"/>
          <a:stretch>
            <a:fillRect/>
          </a:stretch>
        </p:blipFill>
        <p:spPr>
          <a:xfrm>
            <a:off x="4588688" y="2406701"/>
            <a:ext cx="307238" cy="307238"/>
          </a:xfrm>
          <a:prstGeom prst="rect">
            <a:avLst/>
          </a:prstGeom>
        </p:spPr>
      </p:pic>
      <p:sp>
        <p:nvSpPr>
          <p:cNvPr id="13" name="Text 9"/>
          <p:cNvSpPr/>
          <p:nvPr/>
        </p:nvSpPr>
        <p:spPr>
          <a:xfrm>
            <a:off x="3527298" y="3017520"/>
            <a:ext cx="2430018" cy="594360"/>
          </a:xfrm>
          <a:prstGeom prst="rect">
            <a:avLst/>
          </a:prstGeom>
          <a:noFill/>
          <a:ln/>
        </p:spPr>
        <p:txBody>
          <a:bodyPr wrap="square" lIns="0" tIns="0" rIns="0" bIns="0" rtlCol="0" anchor="ctr"/>
          <a:lstStyle/>
          <a:p>
            <a:pPr algn="ctr" indent="0" marL="0">
              <a:buNone/>
            </a:pPr>
            <a:r>
              <a:rPr lang="en-US" sz="2600" b="1" dirty="0">
                <a:solidFill>
                  <a:srgbClr val="22E2FF"/>
                </a:solidFill>
                <a:latin typeface="Cambria" pitchFamily="34" charset="0"/>
                <a:ea typeface="Cambria" pitchFamily="34" charset="-122"/>
                <a:cs typeface="Cambria" pitchFamily="34" charset="-120"/>
              </a:rPr>
              <a:t>1 in 3</a:t>
            </a:r>
            <a:endParaRPr lang="en-US" sz="2600" dirty="0"/>
          </a:p>
        </p:txBody>
      </p:sp>
      <p:sp>
        <p:nvSpPr>
          <p:cNvPr id="14" name="Text 10"/>
          <p:cNvSpPr/>
          <p:nvPr/>
        </p:nvSpPr>
        <p:spPr>
          <a:xfrm>
            <a:off x="3618738" y="3657600"/>
            <a:ext cx="2247138" cy="640080"/>
          </a:xfrm>
          <a:prstGeom prst="rect">
            <a:avLst/>
          </a:prstGeom>
          <a:noFill/>
          <a:ln/>
        </p:spPr>
        <p:txBody>
          <a:bodyPr wrap="square" lIns="0" tIns="0" rIns="0" bIns="0" rtlCol="0" anchor="ctr"/>
          <a:lstStyle/>
          <a:p>
            <a:pPr algn="ctr" indent="0" marL="0">
              <a:buNone/>
            </a:pPr>
            <a:r>
              <a:rPr lang="en-US" sz="1050" dirty="0">
                <a:solidFill>
                  <a:srgbClr val="F5F8FA"/>
                </a:solidFill>
                <a:latin typeface="Calibri" pitchFamily="34" charset="0"/>
                <a:ea typeface="Calibri" pitchFamily="34" charset="-122"/>
                <a:cs typeface="Calibri" pitchFamily="34" charset="-120"/>
              </a:rPr>
              <a:t>Breaches that begin with a phishing email</a:t>
            </a:r>
            <a:endParaRPr lang="en-US" sz="1050" dirty="0"/>
          </a:p>
        </p:txBody>
      </p:sp>
      <p:sp>
        <p:nvSpPr>
          <p:cNvPr id="15" name="Shape 11"/>
          <p:cNvSpPr/>
          <p:nvPr/>
        </p:nvSpPr>
        <p:spPr>
          <a:xfrm>
            <a:off x="6323076" y="1965960"/>
            <a:ext cx="2612898" cy="2377440"/>
          </a:xfrm>
          <a:prstGeom prst="roundRect">
            <a:avLst>
              <a:gd name="adj" fmla="val 3077"/>
            </a:avLst>
          </a:prstGeom>
          <a:solidFill>
            <a:srgbClr val="1C2733"/>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16" name="Shape 12"/>
          <p:cNvSpPr/>
          <p:nvPr/>
        </p:nvSpPr>
        <p:spPr>
          <a:xfrm>
            <a:off x="7309485" y="2240280"/>
            <a:ext cx="640080" cy="640080"/>
          </a:xfrm>
          <a:prstGeom prst="ellipse">
            <a:avLst/>
          </a:prstGeom>
          <a:solidFill>
            <a:srgbClr val="27333F"/>
          </a:solidFill>
          <a:ln w="19050">
            <a:solidFill>
              <a:srgbClr val="22E2FF"/>
            </a:solidFill>
            <a:prstDash val="solid"/>
          </a:ln>
        </p:spPr>
      </p:sp>
      <p:pic>
        <p:nvPicPr>
          <p:cNvPr id="17" name="Image 2" descr="/home/claude/cyberdeck/icons/clock_cyan.png">    </p:cNvPr>
          <p:cNvPicPr>
            <a:picLocks noChangeAspect="1"/>
          </p:cNvPicPr>
          <p:nvPr/>
        </p:nvPicPr>
        <p:blipFill>
          <a:blip r:embed="rId3"/>
          <a:stretch>
            <a:fillRect/>
          </a:stretch>
        </p:blipFill>
        <p:spPr>
          <a:xfrm>
            <a:off x="7475906" y="2406701"/>
            <a:ext cx="307238" cy="307238"/>
          </a:xfrm>
          <a:prstGeom prst="rect">
            <a:avLst/>
          </a:prstGeom>
        </p:spPr>
      </p:pic>
      <p:sp>
        <p:nvSpPr>
          <p:cNvPr id="18" name="Text 13"/>
          <p:cNvSpPr/>
          <p:nvPr/>
        </p:nvSpPr>
        <p:spPr>
          <a:xfrm>
            <a:off x="6414516" y="3017520"/>
            <a:ext cx="2430018" cy="594360"/>
          </a:xfrm>
          <a:prstGeom prst="rect">
            <a:avLst/>
          </a:prstGeom>
          <a:noFill/>
          <a:ln/>
        </p:spPr>
        <p:txBody>
          <a:bodyPr wrap="square" lIns="0" tIns="0" rIns="0" bIns="0" rtlCol="0" anchor="ctr"/>
          <a:lstStyle/>
          <a:p>
            <a:pPr algn="ctr" indent="0" marL="0">
              <a:buNone/>
            </a:pPr>
            <a:r>
              <a:rPr lang="en-US" sz="2600" b="1" dirty="0">
                <a:solidFill>
                  <a:srgbClr val="22E2FF"/>
                </a:solidFill>
                <a:latin typeface="Cambria" pitchFamily="34" charset="0"/>
                <a:ea typeface="Cambria" pitchFamily="34" charset="-122"/>
                <a:cs typeface="Cambria" pitchFamily="34" charset="-120"/>
              </a:rPr>
              <a:t>11 sec</a:t>
            </a:r>
            <a:endParaRPr lang="en-US" sz="2600" dirty="0"/>
          </a:p>
        </p:txBody>
      </p:sp>
      <p:sp>
        <p:nvSpPr>
          <p:cNvPr id="19" name="Text 14"/>
          <p:cNvSpPr/>
          <p:nvPr/>
        </p:nvSpPr>
        <p:spPr>
          <a:xfrm>
            <a:off x="6505956" y="3657600"/>
            <a:ext cx="2247138" cy="640080"/>
          </a:xfrm>
          <a:prstGeom prst="rect">
            <a:avLst/>
          </a:prstGeom>
          <a:noFill/>
          <a:ln/>
        </p:spPr>
        <p:txBody>
          <a:bodyPr wrap="square" lIns="0" tIns="0" rIns="0" bIns="0" rtlCol="0" anchor="ctr"/>
          <a:lstStyle/>
          <a:p>
            <a:pPr algn="ctr" indent="0" marL="0">
              <a:buNone/>
            </a:pPr>
            <a:r>
              <a:rPr lang="en-US" sz="1050" dirty="0">
                <a:solidFill>
                  <a:srgbClr val="F5F8FA"/>
                </a:solidFill>
                <a:latin typeface="Calibri" pitchFamily="34" charset="0"/>
                <a:ea typeface="Calibri" pitchFamily="34" charset="-122"/>
                <a:cs typeface="Calibri" pitchFamily="34" charset="-120"/>
              </a:rPr>
              <a:t>Estimated interval between ransomware attacks worldwide</a:t>
            </a:r>
            <a:endParaRPr lang="en-US" sz="1050" dirty="0"/>
          </a:p>
        </p:txBody>
      </p:sp>
      <p:sp>
        <p:nvSpPr>
          <p:cNvPr id="20" name="Shape 15"/>
          <p:cNvSpPr/>
          <p:nvPr/>
        </p:nvSpPr>
        <p:spPr>
          <a:xfrm>
            <a:off x="9210294" y="1965960"/>
            <a:ext cx="2612898" cy="2377440"/>
          </a:xfrm>
          <a:prstGeom prst="roundRect">
            <a:avLst>
              <a:gd name="adj" fmla="val 3077"/>
            </a:avLst>
          </a:prstGeom>
          <a:solidFill>
            <a:srgbClr val="1C2733"/>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21" name="Shape 16"/>
          <p:cNvSpPr/>
          <p:nvPr/>
        </p:nvSpPr>
        <p:spPr>
          <a:xfrm>
            <a:off x="10196703" y="2240280"/>
            <a:ext cx="640080" cy="640080"/>
          </a:xfrm>
          <a:prstGeom prst="ellipse">
            <a:avLst/>
          </a:prstGeom>
          <a:solidFill>
            <a:srgbClr val="27333F"/>
          </a:solidFill>
          <a:ln w="19050">
            <a:solidFill>
              <a:srgbClr val="22E2FF"/>
            </a:solidFill>
            <a:prstDash val="solid"/>
          </a:ln>
        </p:spPr>
      </p:sp>
      <p:pic>
        <p:nvPicPr>
          <p:cNvPr id="22" name="Image 3" descr="/home/claude/cyberdeck/icons/eye_cyan.png">    </p:cNvPr>
          <p:cNvPicPr>
            <a:picLocks noChangeAspect="1"/>
          </p:cNvPicPr>
          <p:nvPr/>
        </p:nvPicPr>
        <p:blipFill>
          <a:blip r:embed="rId4"/>
          <a:stretch>
            <a:fillRect/>
          </a:stretch>
        </p:blipFill>
        <p:spPr>
          <a:xfrm>
            <a:off x="10363124" y="2406701"/>
            <a:ext cx="307238" cy="307238"/>
          </a:xfrm>
          <a:prstGeom prst="rect">
            <a:avLst/>
          </a:prstGeom>
        </p:spPr>
      </p:pic>
      <p:sp>
        <p:nvSpPr>
          <p:cNvPr id="23" name="Text 17"/>
          <p:cNvSpPr/>
          <p:nvPr/>
        </p:nvSpPr>
        <p:spPr>
          <a:xfrm>
            <a:off x="9301734" y="3017520"/>
            <a:ext cx="2430018" cy="594360"/>
          </a:xfrm>
          <a:prstGeom prst="rect">
            <a:avLst/>
          </a:prstGeom>
          <a:noFill/>
          <a:ln/>
        </p:spPr>
        <p:txBody>
          <a:bodyPr wrap="square" lIns="0" tIns="0" rIns="0" bIns="0" rtlCol="0" anchor="ctr"/>
          <a:lstStyle/>
          <a:p>
            <a:pPr algn="ctr" indent="0" marL="0">
              <a:buNone/>
            </a:pPr>
            <a:r>
              <a:rPr lang="en-US" sz="2600" b="1" dirty="0">
                <a:solidFill>
                  <a:srgbClr val="22E2FF"/>
                </a:solidFill>
                <a:latin typeface="Cambria" pitchFamily="34" charset="0"/>
                <a:ea typeface="Cambria" pitchFamily="34" charset="-122"/>
                <a:cs typeface="Cambria" pitchFamily="34" charset="-120"/>
              </a:rPr>
              <a:t>277 days</a:t>
            </a:r>
            <a:endParaRPr lang="en-US" sz="2600" dirty="0"/>
          </a:p>
        </p:txBody>
      </p:sp>
      <p:sp>
        <p:nvSpPr>
          <p:cNvPr id="24" name="Text 18"/>
          <p:cNvSpPr/>
          <p:nvPr/>
        </p:nvSpPr>
        <p:spPr>
          <a:xfrm>
            <a:off x="9393174" y="3657600"/>
            <a:ext cx="2247138" cy="640080"/>
          </a:xfrm>
          <a:prstGeom prst="rect">
            <a:avLst/>
          </a:prstGeom>
          <a:noFill/>
          <a:ln/>
        </p:spPr>
        <p:txBody>
          <a:bodyPr wrap="square" lIns="0" tIns="0" rIns="0" bIns="0" rtlCol="0" anchor="ctr"/>
          <a:lstStyle/>
          <a:p>
            <a:pPr algn="ctr" indent="0" marL="0">
              <a:buNone/>
            </a:pPr>
            <a:r>
              <a:rPr lang="en-US" sz="1050" dirty="0">
                <a:solidFill>
                  <a:srgbClr val="F5F8FA"/>
                </a:solidFill>
                <a:latin typeface="Calibri" pitchFamily="34" charset="0"/>
                <a:ea typeface="Calibri" pitchFamily="34" charset="-122"/>
                <a:cs typeface="Calibri" pitchFamily="34" charset="-120"/>
              </a:rPr>
              <a:t>Average time to identify and contain a breach</a:t>
            </a:r>
            <a:endParaRPr lang="en-US" sz="1050" dirty="0"/>
          </a:p>
        </p:txBody>
      </p:sp>
      <p:sp>
        <p:nvSpPr>
          <p:cNvPr id="25" name="Text 19"/>
          <p:cNvSpPr/>
          <p:nvPr/>
        </p:nvSpPr>
        <p:spPr>
          <a:xfrm>
            <a:off x="548640" y="4572000"/>
            <a:ext cx="10789920" cy="365760"/>
          </a:xfrm>
          <a:prstGeom prst="rect">
            <a:avLst/>
          </a:prstGeom>
          <a:noFill/>
          <a:ln/>
        </p:spPr>
        <p:txBody>
          <a:bodyPr wrap="square" rtlCol="0" anchor="ctr"/>
          <a:lstStyle/>
          <a:p>
            <a:pPr indent="0" marL="0">
              <a:buNone/>
            </a:pPr>
            <a:r>
              <a:rPr lang="en-US" sz="950" i="1" dirty="0">
                <a:solidFill>
                  <a:srgbClr val="C3CDD6"/>
                </a:solidFill>
                <a:latin typeface="Calibri" pitchFamily="34" charset="0"/>
                <a:ea typeface="Calibri" pitchFamily="34" charset="-122"/>
                <a:cs typeface="Calibri" pitchFamily="34" charset="-120"/>
              </a:rPr>
              <a:t>Figures are illustrative industry estimates compiled from public cybersecurity research; exact figures vary by source and year.</a:t>
            </a:r>
            <a:endParaRPr lang="en-US" sz="950" dirty="0"/>
          </a:p>
        </p:txBody>
      </p:sp>
      <p:sp>
        <p:nvSpPr>
          <p:cNvPr id="26" name="Text 20"/>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C3CDD6"/>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548640" y="347472"/>
            <a:ext cx="566928" cy="566928"/>
          </a:xfrm>
          <a:prstGeom prst="ellipse">
            <a:avLst/>
          </a:prstGeom>
          <a:solidFill>
            <a:srgbClr val="27333F"/>
          </a:solidFill>
          <a:ln w="19050">
            <a:solidFill>
              <a:srgbClr val="22E2FF"/>
            </a:solidFill>
            <a:prstDash val="solid"/>
          </a:ln>
        </p:spPr>
      </p:sp>
      <p:pic>
        <p:nvPicPr>
          <p:cNvPr id="3" name="Image 0" descr="/home/claude/cyberdeck/icons/phishing_cyan.png">    </p:cNvPr>
          <p:cNvPicPr>
            <a:picLocks noChangeAspect="1"/>
          </p:cNvPicPr>
          <p:nvPr/>
        </p:nvPicPr>
        <p:blipFill>
          <a:blip r:embed="rId1"/>
          <a:stretch>
            <a:fillRect/>
          </a:stretch>
        </p:blipFill>
        <p:spPr>
          <a:xfrm>
            <a:off x="696041" y="494873"/>
            <a:ext cx="272125" cy="272125"/>
          </a:xfrm>
          <a:prstGeom prst="rect">
            <a:avLst/>
          </a:prstGeom>
        </p:spPr>
      </p:pic>
      <p:sp>
        <p:nvSpPr>
          <p:cNvPr id="4" name="Text 1"/>
          <p:cNvSpPr/>
          <p:nvPr/>
        </p:nvSpPr>
        <p:spPr>
          <a:xfrm>
            <a:off x="1234440" y="320040"/>
            <a:ext cx="7315200" cy="411480"/>
          </a:xfrm>
          <a:prstGeom prst="rect">
            <a:avLst/>
          </a:prstGeom>
          <a:noFill/>
          <a:ln/>
        </p:spPr>
        <p:txBody>
          <a:bodyPr wrap="square" rtlCol="0" anchor="ctr"/>
          <a:lstStyle/>
          <a:p>
            <a:pPr indent="0" marL="0">
              <a:buNone/>
            </a:pPr>
            <a:r>
              <a:rPr lang="en-US" sz="2600" b="1" dirty="0">
                <a:solidFill>
                  <a:srgbClr val="F5F8FA"/>
                </a:solidFill>
                <a:latin typeface="Cambria" pitchFamily="34" charset="0"/>
                <a:ea typeface="Cambria" pitchFamily="34" charset="-122"/>
                <a:cs typeface="Cambria" pitchFamily="34" charset="-120"/>
              </a:rPr>
              <a:t>Phishing</a:t>
            </a:r>
            <a:endParaRPr lang="en-US" sz="2600" dirty="0"/>
          </a:p>
        </p:txBody>
      </p:sp>
      <p:sp>
        <p:nvSpPr>
          <p:cNvPr id="5" name="Text 2"/>
          <p:cNvSpPr/>
          <p:nvPr/>
        </p:nvSpPr>
        <p:spPr>
          <a:xfrm>
            <a:off x="1234440" y="713232"/>
            <a:ext cx="7315200" cy="274320"/>
          </a:xfrm>
          <a:prstGeom prst="rect">
            <a:avLst/>
          </a:prstGeom>
          <a:noFill/>
          <a:ln/>
        </p:spPr>
        <p:txBody>
          <a:bodyPr wrap="square" rtlCol="0" anchor="ctr"/>
          <a:lstStyle/>
          <a:p>
            <a:pPr indent="0" marL="0">
              <a:buNone/>
            </a:pPr>
            <a:r>
              <a:rPr lang="en-US" sz="1150" b="1" spc="200" kern="0" dirty="0">
                <a:solidFill>
                  <a:srgbClr val="22E2FF"/>
                </a:solidFill>
                <a:latin typeface="Calibri" pitchFamily="34" charset="0"/>
                <a:ea typeface="Calibri" pitchFamily="34" charset="-122"/>
                <a:cs typeface="Calibri" pitchFamily="34" charset="-120"/>
              </a:rPr>
              <a:t>HOW THE ATTACK WORKS</a:t>
            </a:r>
            <a:endParaRPr lang="en-US" sz="1150" dirty="0"/>
          </a:p>
        </p:txBody>
      </p:sp>
      <p:sp>
        <p:nvSpPr>
          <p:cNvPr id="6" name="Shape 3"/>
          <p:cNvSpPr/>
          <p:nvPr/>
        </p:nvSpPr>
        <p:spPr>
          <a:xfrm>
            <a:off x="548640" y="1143000"/>
            <a:ext cx="11091672" cy="777240"/>
          </a:xfrm>
          <a:prstGeom prst="roundRect">
            <a:avLst>
              <a:gd name="adj" fmla="val 7059"/>
            </a:avLst>
          </a:prstGeom>
          <a:solidFill>
            <a:srgbClr val="1C2733"/>
          </a:solidFill>
          <a:ln w="12700">
            <a:solidFill>
              <a:srgbClr val="445362"/>
            </a:solidFill>
            <a:prstDash val="solid"/>
          </a:ln>
        </p:spPr>
      </p:sp>
      <p:sp>
        <p:nvSpPr>
          <p:cNvPr id="7" name="Text 4"/>
          <p:cNvSpPr/>
          <p:nvPr/>
        </p:nvSpPr>
        <p:spPr>
          <a:xfrm>
            <a:off x="777240" y="1143000"/>
            <a:ext cx="10607040" cy="777240"/>
          </a:xfrm>
          <a:prstGeom prst="rect">
            <a:avLst/>
          </a:prstGeom>
          <a:noFill/>
          <a:ln/>
        </p:spPr>
        <p:txBody>
          <a:bodyPr wrap="square" lIns="0" tIns="0" rIns="0" bIns="0" rtlCol="0" anchor="ctr"/>
          <a:lstStyle/>
          <a:p>
            <a:pPr indent="0" marL="0">
              <a:buNone/>
            </a:pPr>
            <a:r>
              <a:rPr lang="en-US" sz="1250" dirty="0">
                <a:solidFill>
                  <a:srgbClr val="F5F8FA"/>
                </a:solidFill>
                <a:latin typeface="Calibri" pitchFamily="34" charset="0"/>
                <a:ea typeface="Calibri" pitchFamily="34" charset="-122"/>
                <a:cs typeface="Calibri" pitchFamily="34" charset="-120"/>
              </a:rPr>
              <a:t>A social-engineering attack where a fraudulent message impersonates a trusted source to trick victims into revealing credentials, payment details, or installing malware.</a:t>
            </a:r>
            <a:endParaRPr lang="en-US" sz="1250" dirty="0"/>
          </a:p>
        </p:txBody>
      </p:sp>
      <p:sp>
        <p:nvSpPr>
          <p:cNvPr id="8" name="Shape 5"/>
          <p:cNvSpPr/>
          <p:nvPr/>
        </p:nvSpPr>
        <p:spPr>
          <a:xfrm>
            <a:off x="548640" y="2148840"/>
            <a:ext cx="3514344" cy="1783080"/>
          </a:xfrm>
          <a:prstGeom prst="roundRect">
            <a:avLst>
              <a:gd name="adj" fmla="val 4103"/>
            </a:avLst>
          </a:prstGeom>
          <a:solidFill>
            <a:srgbClr val="27333F"/>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9" name="Shape 6"/>
          <p:cNvSpPr/>
          <p:nvPr/>
        </p:nvSpPr>
        <p:spPr>
          <a:xfrm>
            <a:off x="713232" y="2313432"/>
            <a:ext cx="457200" cy="457200"/>
          </a:xfrm>
          <a:prstGeom prst="ellipse">
            <a:avLst/>
          </a:prstGeom>
          <a:solidFill>
            <a:srgbClr val="0D1117"/>
          </a:solidFill>
          <a:ln w="19050">
            <a:solidFill>
              <a:srgbClr val="22E2FF"/>
            </a:solidFill>
            <a:prstDash val="solid"/>
          </a:ln>
        </p:spPr>
      </p:sp>
      <p:sp>
        <p:nvSpPr>
          <p:cNvPr id="10" name="Text 7"/>
          <p:cNvSpPr/>
          <p:nvPr/>
        </p:nvSpPr>
        <p:spPr>
          <a:xfrm>
            <a:off x="713232" y="2313432"/>
            <a:ext cx="457200" cy="457200"/>
          </a:xfrm>
          <a:prstGeom prst="rect">
            <a:avLst/>
          </a:prstGeom>
          <a:noFill/>
          <a:ln/>
        </p:spPr>
        <p:txBody>
          <a:bodyPr wrap="square" lIns="0" tIns="0" rIns="0" bIns="0" rtlCol="0" anchor="ctr"/>
          <a:lstStyle/>
          <a:p>
            <a:pPr algn="ctr" indent="0" marL="0">
              <a:buNone/>
            </a:pPr>
            <a:r>
              <a:rPr lang="en-US" sz="1600" b="1" dirty="0">
                <a:solidFill>
                  <a:srgbClr val="22E2FF"/>
                </a:solidFill>
                <a:latin typeface="Cambria" pitchFamily="34" charset="0"/>
                <a:ea typeface="Cambria" pitchFamily="34" charset="-122"/>
                <a:cs typeface="Cambria" pitchFamily="34" charset="-120"/>
              </a:rPr>
              <a:t>1</a:t>
            </a:r>
            <a:endParaRPr lang="en-US" sz="1600" dirty="0"/>
          </a:p>
        </p:txBody>
      </p:sp>
      <p:sp>
        <p:nvSpPr>
          <p:cNvPr id="11" name="Text 8"/>
          <p:cNvSpPr/>
          <p:nvPr/>
        </p:nvSpPr>
        <p:spPr>
          <a:xfrm>
            <a:off x="731520" y="2862072"/>
            <a:ext cx="3148584" cy="384048"/>
          </a:xfrm>
          <a:prstGeom prst="rect">
            <a:avLst/>
          </a:prstGeom>
          <a:noFill/>
          <a:ln/>
        </p:spPr>
        <p:txBody>
          <a:bodyPr wrap="square" lIns="0" tIns="0" rIns="0" bIns="0" rtlCol="0" anchor="ctr"/>
          <a:lstStyle/>
          <a:p>
            <a:pPr indent="0" marL="0">
              <a:buNone/>
            </a:pPr>
            <a:r>
              <a:rPr lang="en-US" sz="1300" b="1" dirty="0">
                <a:solidFill>
                  <a:srgbClr val="F5F8FA"/>
                </a:solidFill>
                <a:latin typeface="Calibri" pitchFamily="34" charset="0"/>
                <a:ea typeface="Calibri" pitchFamily="34" charset="-122"/>
                <a:cs typeface="Calibri" pitchFamily="34" charset="-120"/>
              </a:rPr>
              <a:t>Reconnaissance</a:t>
            </a:r>
            <a:endParaRPr lang="en-US" sz="1300" dirty="0"/>
          </a:p>
        </p:txBody>
      </p:sp>
      <p:sp>
        <p:nvSpPr>
          <p:cNvPr id="12" name="Text 9"/>
          <p:cNvSpPr/>
          <p:nvPr/>
        </p:nvSpPr>
        <p:spPr>
          <a:xfrm>
            <a:off x="731520" y="3227832"/>
            <a:ext cx="3148584" cy="640080"/>
          </a:xfrm>
          <a:prstGeom prst="rect">
            <a:avLst/>
          </a:prstGeom>
          <a:noFill/>
          <a:ln/>
        </p:spPr>
        <p:txBody>
          <a:bodyPr wrap="square" lIns="0" tIns="0" rIns="0" bIns="0" rtlCol="0" anchor="ctr"/>
          <a:lstStyle/>
          <a:p>
            <a:pPr indent="0" marL="0">
              <a:buNone/>
            </a:pPr>
            <a:r>
              <a:rPr lang="en-US" sz="1000" dirty="0">
                <a:solidFill>
                  <a:srgbClr val="C3CDD6"/>
                </a:solidFill>
                <a:latin typeface="Calibri" pitchFamily="34" charset="0"/>
                <a:ea typeface="Calibri" pitchFamily="34" charset="-122"/>
                <a:cs typeface="Calibri" pitchFamily="34" charset="-120"/>
              </a:rPr>
              <a:t>Attacker researches the target via social media, breached data, or company sites.</a:t>
            </a:r>
            <a:endParaRPr lang="en-US" sz="1000" dirty="0"/>
          </a:p>
        </p:txBody>
      </p:sp>
      <p:sp>
        <p:nvSpPr>
          <p:cNvPr id="13" name="Shape 10"/>
          <p:cNvSpPr/>
          <p:nvPr/>
        </p:nvSpPr>
        <p:spPr>
          <a:xfrm>
            <a:off x="4337304" y="2148840"/>
            <a:ext cx="3514344" cy="1783080"/>
          </a:xfrm>
          <a:prstGeom prst="roundRect">
            <a:avLst>
              <a:gd name="adj" fmla="val 4103"/>
            </a:avLst>
          </a:prstGeom>
          <a:solidFill>
            <a:srgbClr val="27333F"/>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14" name="Shape 11"/>
          <p:cNvSpPr/>
          <p:nvPr/>
        </p:nvSpPr>
        <p:spPr>
          <a:xfrm>
            <a:off x="4501896" y="2313432"/>
            <a:ext cx="457200" cy="457200"/>
          </a:xfrm>
          <a:prstGeom prst="ellipse">
            <a:avLst/>
          </a:prstGeom>
          <a:solidFill>
            <a:srgbClr val="0D1117"/>
          </a:solidFill>
          <a:ln w="19050">
            <a:solidFill>
              <a:srgbClr val="22E2FF"/>
            </a:solidFill>
            <a:prstDash val="solid"/>
          </a:ln>
        </p:spPr>
      </p:sp>
      <p:sp>
        <p:nvSpPr>
          <p:cNvPr id="15" name="Text 12"/>
          <p:cNvSpPr/>
          <p:nvPr/>
        </p:nvSpPr>
        <p:spPr>
          <a:xfrm>
            <a:off x="4501896" y="2313432"/>
            <a:ext cx="457200" cy="457200"/>
          </a:xfrm>
          <a:prstGeom prst="rect">
            <a:avLst/>
          </a:prstGeom>
          <a:noFill/>
          <a:ln/>
        </p:spPr>
        <p:txBody>
          <a:bodyPr wrap="square" lIns="0" tIns="0" rIns="0" bIns="0" rtlCol="0" anchor="ctr"/>
          <a:lstStyle/>
          <a:p>
            <a:pPr algn="ctr" indent="0" marL="0">
              <a:buNone/>
            </a:pPr>
            <a:r>
              <a:rPr lang="en-US" sz="1600" b="1" dirty="0">
                <a:solidFill>
                  <a:srgbClr val="22E2FF"/>
                </a:solidFill>
                <a:latin typeface="Cambria" pitchFamily="34" charset="0"/>
                <a:ea typeface="Cambria" pitchFamily="34" charset="-122"/>
                <a:cs typeface="Cambria" pitchFamily="34" charset="-120"/>
              </a:rPr>
              <a:t>2</a:t>
            </a:r>
            <a:endParaRPr lang="en-US" sz="1600" dirty="0"/>
          </a:p>
        </p:txBody>
      </p:sp>
      <p:sp>
        <p:nvSpPr>
          <p:cNvPr id="16" name="Text 13"/>
          <p:cNvSpPr/>
          <p:nvPr/>
        </p:nvSpPr>
        <p:spPr>
          <a:xfrm>
            <a:off x="4520184" y="2862072"/>
            <a:ext cx="3148584" cy="384048"/>
          </a:xfrm>
          <a:prstGeom prst="rect">
            <a:avLst/>
          </a:prstGeom>
          <a:noFill/>
          <a:ln/>
        </p:spPr>
        <p:txBody>
          <a:bodyPr wrap="square" lIns="0" tIns="0" rIns="0" bIns="0" rtlCol="0" anchor="ctr"/>
          <a:lstStyle/>
          <a:p>
            <a:pPr indent="0" marL="0">
              <a:buNone/>
            </a:pPr>
            <a:r>
              <a:rPr lang="en-US" sz="1300" b="1" dirty="0">
                <a:solidFill>
                  <a:srgbClr val="F5F8FA"/>
                </a:solidFill>
                <a:latin typeface="Calibri" pitchFamily="34" charset="0"/>
                <a:ea typeface="Calibri" pitchFamily="34" charset="-122"/>
                <a:cs typeface="Calibri" pitchFamily="34" charset="-120"/>
              </a:rPr>
              <a:t>Bait Crafted</a:t>
            </a:r>
            <a:endParaRPr lang="en-US" sz="1300" dirty="0"/>
          </a:p>
        </p:txBody>
      </p:sp>
      <p:sp>
        <p:nvSpPr>
          <p:cNvPr id="17" name="Text 14"/>
          <p:cNvSpPr/>
          <p:nvPr/>
        </p:nvSpPr>
        <p:spPr>
          <a:xfrm>
            <a:off x="4520184" y="3227832"/>
            <a:ext cx="3148584" cy="640080"/>
          </a:xfrm>
          <a:prstGeom prst="rect">
            <a:avLst/>
          </a:prstGeom>
          <a:noFill/>
          <a:ln/>
        </p:spPr>
        <p:txBody>
          <a:bodyPr wrap="square" lIns="0" tIns="0" rIns="0" bIns="0" rtlCol="0" anchor="ctr"/>
          <a:lstStyle/>
          <a:p>
            <a:pPr indent="0" marL="0">
              <a:buNone/>
            </a:pPr>
            <a:r>
              <a:rPr lang="en-US" sz="1000" dirty="0">
                <a:solidFill>
                  <a:srgbClr val="C3CDD6"/>
                </a:solidFill>
                <a:latin typeface="Calibri" pitchFamily="34" charset="0"/>
                <a:ea typeface="Calibri" pitchFamily="34" charset="-122"/>
                <a:cs typeface="Calibri" pitchFamily="34" charset="-120"/>
              </a:rPr>
              <a:t>A convincing fake email, site, or SMS is built to mimic a trusted brand.</a:t>
            </a:r>
            <a:endParaRPr lang="en-US" sz="1000" dirty="0"/>
          </a:p>
        </p:txBody>
      </p:sp>
      <p:sp>
        <p:nvSpPr>
          <p:cNvPr id="18" name="Shape 15"/>
          <p:cNvSpPr/>
          <p:nvPr/>
        </p:nvSpPr>
        <p:spPr>
          <a:xfrm>
            <a:off x="8125968" y="2148840"/>
            <a:ext cx="3514344" cy="1783080"/>
          </a:xfrm>
          <a:prstGeom prst="roundRect">
            <a:avLst>
              <a:gd name="adj" fmla="val 4103"/>
            </a:avLst>
          </a:prstGeom>
          <a:solidFill>
            <a:srgbClr val="27333F"/>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19" name="Shape 16"/>
          <p:cNvSpPr/>
          <p:nvPr/>
        </p:nvSpPr>
        <p:spPr>
          <a:xfrm>
            <a:off x="8290560" y="2313432"/>
            <a:ext cx="457200" cy="457200"/>
          </a:xfrm>
          <a:prstGeom prst="ellipse">
            <a:avLst/>
          </a:prstGeom>
          <a:solidFill>
            <a:srgbClr val="0D1117"/>
          </a:solidFill>
          <a:ln w="19050">
            <a:solidFill>
              <a:srgbClr val="22E2FF"/>
            </a:solidFill>
            <a:prstDash val="solid"/>
          </a:ln>
        </p:spPr>
      </p:sp>
      <p:sp>
        <p:nvSpPr>
          <p:cNvPr id="20" name="Text 17"/>
          <p:cNvSpPr/>
          <p:nvPr/>
        </p:nvSpPr>
        <p:spPr>
          <a:xfrm>
            <a:off x="8290560" y="2313432"/>
            <a:ext cx="457200" cy="457200"/>
          </a:xfrm>
          <a:prstGeom prst="rect">
            <a:avLst/>
          </a:prstGeom>
          <a:noFill/>
          <a:ln/>
        </p:spPr>
        <p:txBody>
          <a:bodyPr wrap="square" lIns="0" tIns="0" rIns="0" bIns="0" rtlCol="0" anchor="ctr"/>
          <a:lstStyle/>
          <a:p>
            <a:pPr algn="ctr" indent="0" marL="0">
              <a:buNone/>
            </a:pPr>
            <a:r>
              <a:rPr lang="en-US" sz="1600" b="1" dirty="0">
                <a:solidFill>
                  <a:srgbClr val="22E2FF"/>
                </a:solidFill>
                <a:latin typeface="Cambria" pitchFamily="34" charset="0"/>
                <a:ea typeface="Cambria" pitchFamily="34" charset="-122"/>
                <a:cs typeface="Cambria" pitchFamily="34" charset="-120"/>
              </a:rPr>
              <a:t>3</a:t>
            </a:r>
            <a:endParaRPr lang="en-US" sz="1600" dirty="0"/>
          </a:p>
        </p:txBody>
      </p:sp>
      <p:sp>
        <p:nvSpPr>
          <p:cNvPr id="21" name="Text 18"/>
          <p:cNvSpPr/>
          <p:nvPr/>
        </p:nvSpPr>
        <p:spPr>
          <a:xfrm>
            <a:off x="8308848" y="2862072"/>
            <a:ext cx="3148584" cy="384048"/>
          </a:xfrm>
          <a:prstGeom prst="rect">
            <a:avLst/>
          </a:prstGeom>
          <a:noFill/>
          <a:ln/>
        </p:spPr>
        <p:txBody>
          <a:bodyPr wrap="square" lIns="0" tIns="0" rIns="0" bIns="0" rtlCol="0" anchor="ctr"/>
          <a:lstStyle/>
          <a:p>
            <a:pPr indent="0" marL="0">
              <a:buNone/>
            </a:pPr>
            <a:r>
              <a:rPr lang="en-US" sz="1300" b="1" dirty="0">
                <a:solidFill>
                  <a:srgbClr val="F5F8FA"/>
                </a:solidFill>
                <a:latin typeface="Calibri" pitchFamily="34" charset="0"/>
                <a:ea typeface="Calibri" pitchFamily="34" charset="-122"/>
                <a:cs typeface="Calibri" pitchFamily="34" charset="-120"/>
              </a:rPr>
              <a:t>Delivery</a:t>
            </a:r>
            <a:endParaRPr lang="en-US" sz="1300" dirty="0"/>
          </a:p>
        </p:txBody>
      </p:sp>
      <p:sp>
        <p:nvSpPr>
          <p:cNvPr id="22" name="Text 19"/>
          <p:cNvSpPr/>
          <p:nvPr/>
        </p:nvSpPr>
        <p:spPr>
          <a:xfrm>
            <a:off x="8308848" y="3227832"/>
            <a:ext cx="3148584" cy="640080"/>
          </a:xfrm>
          <a:prstGeom prst="rect">
            <a:avLst/>
          </a:prstGeom>
          <a:noFill/>
          <a:ln/>
        </p:spPr>
        <p:txBody>
          <a:bodyPr wrap="square" lIns="0" tIns="0" rIns="0" bIns="0" rtlCol="0" anchor="ctr"/>
          <a:lstStyle/>
          <a:p>
            <a:pPr indent="0" marL="0">
              <a:buNone/>
            </a:pPr>
            <a:r>
              <a:rPr lang="en-US" sz="1000" dirty="0">
                <a:solidFill>
                  <a:srgbClr val="C3CDD6"/>
                </a:solidFill>
                <a:latin typeface="Calibri" pitchFamily="34" charset="0"/>
                <a:ea typeface="Calibri" pitchFamily="34" charset="-122"/>
                <a:cs typeface="Calibri" pitchFamily="34" charset="-120"/>
              </a:rPr>
              <a:t>The lure is sent to one person (spear phishing) or thousands at once.</a:t>
            </a:r>
            <a:endParaRPr lang="en-US" sz="1000" dirty="0"/>
          </a:p>
        </p:txBody>
      </p:sp>
      <p:sp>
        <p:nvSpPr>
          <p:cNvPr id="23" name="Shape 20"/>
          <p:cNvSpPr/>
          <p:nvPr/>
        </p:nvSpPr>
        <p:spPr>
          <a:xfrm>
            <a:off x="8125968" y="4434840"/>
            <a:ext cx="3514344" cy="1783080"/>
          </a:xfrm>
          <a:prstGeom prst="roundRect">
            <a:avLst>
              <a:gd name="adj" fmla="val 4103"/>
            </a:avLst>
          </a:prstGeom>
          <a:solidFill>
            <a:srgbClr val="27333F"/>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24" name="Shape 21"/>
          <p:cNvSpPr/>
          <p:nvPr/>
        </p:nvSpPr>
        <p:spPr>
          <a:xfrm>
            <a:off x="8290560" y="4599432"/>
            <a:ext cx="457200" cy="457200"/>
          </a:xfrm>
          <a:prstGeom prst="ellipse">
            <a:avLst/>
          </a:prstGeom>
          <a:solidFill>
            <a:srgbClr val="0D1117"/>
          </a:solidFill>
          <a:ln w="19050">
            <a:solidFill>
              <a:srgbClr val="22E2FF"/>
            </a:solidFill>
            <a:prstDash val="solid"/>
          </a:ln>
        </p:spPr>
      </p:sp>
      <p:sp>
        <p:nvSpPr>
          <p:cNvPr id="25" name="Text 22"/>
          <p:cNvSpPr/>
          <p:nvPr/>
        </p:nvSpPr>
        <p:spPr>
          <a:xfrm>
            <a:off x="8290560" y="4599432"/>
            <a:ext cx="457200" cy="457200"/>
          </a:xfrm>
          <a:prstGeom prst="rect">
            <a:avLst/>
          </a:prstGeom>
          <a:noFill/>
          <a:ln/>
        </p:spPr>
        <p:txBody>
          <a:bodyPr wrap="square" lIns="0" tIns="0" rIns="0" bIns="0" rtlCol="0" anchor="ctr"/>
          <a:lstStyle/>
          <a:p>
            <a:pPr algn="ctr" indent="0" marL="0">
              <a:buNone/>
            </a:pPr>
            <a:r>
              <a:rPr lang="en-US" sz="1600" b="1" dirty="0">
                <a:solidFill>
                  <a:srgbClr val="22E2FF"/>
                </a:solidFill>
                <a:latin typeface="Cambria" pitchFamily="34" charset="0"/>
                <a:ea typeface="Cambria" pitchFamily="34" charset="-122"/>
                <a:cs typeface="Cambria" pitchFamily="34" charset="-120"/>
              </a:rPr>
              <a:t>4</a:t>
            </a:r>
            <a:endParaRPr lang="en-US" sz="1600" dirty="0"/>
          </a:p>
        </p:txBody>
      </p:sp>
      <p:sp>
        <p:nvSpPr>
          <p:cNvPr id="26" name="Text 23"/>
          <p:cNvSpPr/>
          <p:nvPr/>
        </p:nvSpPr>
        <p:spPr>
          <a:xfrm>
            <a:off x="8308848" y="5148072"/>
            <a:ext cx="3148584" cy="384048"/>
          </a:xfrm>
          <a:prstGeom prst="rect">
            <a:avLst/>
          </a:prstGeom>
          <a:noFill/>
          <a:ln/>
        </p:spPr>
        <p:txBody>
          <a:bodyPr wrap="square" lIns="0" tIns="0" rIns="0" bIns="0" rtlCol="0" anchor="ctr"/>
          <a:lstStyle/>
          <a:p>
            <a:pPr indent="0" marL="0">
              <a:buNone/>
            </a:pPr>
            <a:r>
              <a:rPr lang="en-US" sz="1300" b="1" dirty="0">
                <a:solidFill>
                  <a:srgbClr val="F5F8FA"/>
                </a:solidFill>
                <a:latin typeface="Calibri" pitchFamily="34" charset="0"/>
                <a:ea typeface="Calibri" pitchFamily="34" charset="-122"/>
                <a:cs typeface="Calibri" pitchFamily="34" charset="-120"/>
              </a:rPr>
              <a:t>Deception</a:t>
            </a:r>
            <a:endParaRPr lang="en-US" sz="1300" dirty="0"/>
          </a:p>
        </p:txBody>
      </p:sp>
      <p:sp>
        <p:nvSpPr>
          <p:cNvPr id="27" name="Text 24"/>
          <p:cNvSpPr/>
          <p:nvPr/>
        </p:nvSpPr>
        <p:spPr>
          <a:xfrm>
            <a:off x="8308848" y="5513832"/>
            <a:ext cx="3148584" cy="640080"/>
          </a:xfrm>
          <a:prstGeom prst="rect">
            <a:avLst/>
          </a:prstGeom>
          <a:noFill/>
          <a:ln/>
        </p:spPr>
        <p:txBody>
          <a:bodyPr wrap="square" lIns="0" tIns="0" rIns="0" bIns="0" rtlCol="0" anchor="ctr"/>
          <a:lstStyle/>
          <a:p>
            <a:pPr indent="0" marL="0">
              <a:buNone/>
            </a:pPr>
            <a:r>
              <a:rPr lang="en-US" sz="1000" dirty="0">
                <a:solidFill>
                  <a:srgbClr val="C3CDD6"/>
                </a:solidFill>
                <a:latin typeface="Calibri" pitchFamily="34" charset="0"/>
                <a:ea typeface="Calibri" pitchFamily="34" charset="-122"/>
                <a:cs typeface="Calibri" pitchFamily="34" charset="-120"/>
              </a:rPr>
              <a:t>Victim clicks the link, opens the attachment, or replies with data.</a:t>
            </a:r>
            <a:endParaRPr lang="en-US" sz="1000" dirty="0"/>
          </a:p>
        </p:txBody>
      </p:sp>
      <p:sp>
        <p:nvSpPr>
          <p:cNvPr id="28" name="Shape 25"/>
          <p:cNvSpPr/>
          <p:nvPr/>
        </p:nvSpPr>
        <p:spPr>
          <a:xfrm>
            <a:off x="4337304" y="4434840"/>
            <a:ext cx="3514344" cy="1783080"/>
          </a:xfrm>
          <a:prstGeom prst="roundRect">
            <a:avLst>
              <a:gd name="adj" fmla="val 4103"/>
            </a:avLst>
          </a:prstGeom>
          <a:solidFill>
            <a:srgbClr val="27333F"/>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29" name="Shape 26"/>
          <p:cNvSpPr/>
          <p:nvPr/>
        </p:nvSpPr>
        <p:spPr>
          <a:xfrm>
            <a:off x="4501896" y="4599432"/>
            <a:ext cx="457200" cy="457200"/>
          </a:xfrm>
          <a:prstGeom prst="ellipse">
            <a:avLst/>
          </a:prstGeom>
          <a:solidFill>
            <a:srgbClr val="0D1117"/>
          </a:solidFill>
          <a:ln w="19050">
            <a:solidFill>
              <a:srgbClr val="22E2FF"/>
            </a:solidFill>
            <a:prstDash val="solid"/>
          </a:ln>
        </p:spPr>
      </p:sp>
      <p:sp>
        <p:nvSpPr>
          <p:cNvPr id="30" name="Text 27"/>
          <p:cNvSpPr/>
          <p:nvPr/>
        </p:nvSpPr>
        <p:spPr>
          <a:xfrm>
            <a:off x="4501896" y="4599432"/>
            <a:ext cx="457200" cy="457200"/>
          </a:xfrm>
          <a:prstGeom prst="rect">
            <a:avLst/>
          </a:prstGeom>
          <a:noFill/>
          <a:ln/>
        </p:spPr>
        <p:txBody>
          <a:bodyPr wrap="square" lIns="0" tIns="0" rIns="0" bIns="0" rtlCol="0" anchor="ctr"/>
          <a:lstStyle/>
          <a:p>
            <a:pPr algn="ctr" indent="0" marL="0">
              <a:buNone/>
            </a:pPr>
            <a:r>
              <a:rPr lang="en-US" sz="1600" b="1" dirty="0">
                <a:solidFill>
                  <a:srgbClr val="22E2FF"/>
                </a:solidFill>
                <a:latin typeface="Cambria" pitchFamily="34" charset="0"/>
                <a:ea typeface="Cambria" pitchFamily="34" charset="-122"/>
                <a:cs typeface="Cambria" pitchFamily="34" charset="-120"/>
              </a:rPr>
              <a:t>5</a:t>
            </a:r>
            <a:endParaRPr lang="en-US" sz="1600" dirty="0"/>
          </a:p>
        </p:txBody>
      </p:sp>
      <p:sp>
        <p:nvSpPr>
          <p:cNvPr id="31" name="Text 28"/>
          <p:cNvSpPr/>
          <p:nvPr/>
        </p:nvSpPr>
        <p:spPr>
          <a:xfrm>
            <a:off x="4520184" y="5148072"/>
            <a:ext cx="3148584" cy="384048"/>
          </a:xfrm>
          <a:prstGeom prst="rect">
            <a:avLst/>
          </a:prstGeom>
          <a:noFill/>
          <a:ln/>
        </p:spPr>
        <p:txBody>
          <a:bodyPr wrap="square" lIns="0" tIns="0" rIns="0" bIns="0" rtlCol="0" anchor="ctr"/>
          <a:lstStyle/>
          <a:p>
            <a:pPr indent="0" marL="0">
              <a:buNone/>
            </a:pPr>
            <a:r>
              <a:rPr lang="en-US" sz="1300" b="1" dirty="0">
                <a:solidFill>
                  <a:srgbClr val="F5F8FA"/>
                </a:solidFill>
                <a:latin typeface="Calibri" pitchFamily="34" charset="0"/>
                <a:ea typeface="Calibri" pitchFamily="34" charset="-122"/>
                <a:cs typeface="Calibri" pitchFamily="34" charset="-120"/>
              </a:rPr>
              <a:t>Credential Harvest</a:t>
            </a:r>
            <a:endParaRPr lang="en-US" sz="1300" dirty="0"/>
          </a:p>
        </p:txBody>
      </p:sp>
      <p:sp>
        <p:nvSpPr>
          <p:cNvPr id="32" name="Text 29"/>
          <p:cNvSpPr/>
          <p:nvPr/>
        </p:nvSpPr>
        <p:spPr>
          <a:xfrm>
            <a:off x="4520184" y="5513832"/>
            <a:ext cx="3148584" cy="640080"/>
          </a:xfrm>
          <a:prstGeom prst="rect">
            <a:avLst/>
          </a:prstGeom>
          <a:noFill/>
          <a:ln/>
        </p:spPr>
        <p:txBody>
          <a:bodyPr wrap="square" lIns="0" tIns="0" rIns="0" bIns="0" rtlCol="0" anchor="ctr"/>
          <a:lstStyle/>
          <a:p>
            <a:pPr indent="0" marL="0">
              <a:buNone/>
            </a:pPr>
            <a:r>
              <a:rPr lang="en-US" sz="1000" dirty="0">
                <a:solidFill>
                  <a:srgbClr val="C3CDD6"/>
                </a:solidFill>
                <a:latin typeface="Calibri" pitchFamily="34" charset="0"/>
                <a:ea typeface="Calibri" pitchFamily="34" charset="-122"/>
                <a:cs typeface="Calibri" pitchFamily="34" charset="-120"/>
              </a:rPr>
              <a:t>Login details are captured on a spoofed page or malware installs silently.</a:t>
            </a:r>
            <a:endParaRPr lang="en-US" sz="1000" dirty="0"/>
          </a:p>
        </p:txBody>
      </p:sp>
      <p:sp>
        <p:nvSpPr>
          <p:cNvPr id="33" name="Shape 30"/>
          <p:cNvSpPr/>
          <p:nvPr/>
        </p:nvSpPr>
        <p:spPr>
          <a:xfrm>
            <a:off x="548640" y="4434840"/>
            <a:ext cx="3514344" cy="1783080"/>
          </a:xfrm>
          <a:prstGeom prst="roundRect">
            <a:avLst>
              <a:gd name="adj" fmla="val 4103"/>
            </a:avLst>
          </a:prstGeom>
          <a:solidFill>
            <a:srgbClr val="27333F"/>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34" name="Shape 31"/>
          <p:cNvSpPr/>
          <p:nvPr/>
        </p:nvSpPr>
        <p:spPr>
          <a:xfrm>
            <a:off x="713232" y="4599432"/>
            <a:ext cx="457200" cy="457200"/>
          </a:xfrm>
          <a:prstGeom prst="ellipse">
            <a:avLst/>
          </a:prstGeom>
          <a:solidFill>
            <a:srgbClr val="0D1117"/>
          </a:solidFill>
          <a:ln w="19050">
            <a:solidFill>
              <a:srgbClr val="22E2FF"/>
            </a:solidFill>
            <a:prstDash val="solid"/>
          </a:ln>
        </p:spPr>
      </p:sp>
      <p:sp>
        <p:nvSpPr>
          <p:cNvPr id="35" name="Text 32"/>
          <p:cNvSpPr/>
          <p:nvPr/>
        </p:nvSpPr>
        <p:spPr>
          <a:xfrm>
            <a:off x="713232" y="4599432"/>
            <a:ext cx="457200" cy="457200"/>
          </a:xfrm>
          <a:prstGeom prst="rect">
            <a:avLst/>
          </a:prstGeom>
          <a:noFill/>
          <a:ln/>
        </p:spPr>
        <p:txBody>
          <a:bodyPr wrap="square" lIns="0" tIns="0" rIns="0" bIns="0" rtlCol="0" anchor="ctr"/>
          <a:lstStyle/>
          <a:p>
            <a:pPr algn="ctr" indent="0" marL="0">
              <a:buNone/>
            </a:pPr>
            <a:r>
              <a:rPr lang="en-US" sz="1600" b="1" dirty="0">
                <a:solidFill>
                  <a:srgbClr val="22E2FF"/>
                </a:solidFill>
                <a:latin typeface="Cambria" pitchFamily="34" charset="0"/>
                <a:ea typeface="Cambria" pitchFamily="34" charset="-122"/>
                <a:cs typeface="Cambria" pitchFamily="34" charset="-120"/>
              </a:rPr>
              <a:t>6</a:t>
            </a:r>
            <a:endParaRPr lang="en-US" sz="1600" dirty="0"/>
          </a:p>
        </p:txBody>
      </p:sp>
      <p:sp>
        <p:nvSpPr>
          <p:cNvPr id="36" name="Text 33"/>
          <p:cNvSpPr/>
          <p:nvPr/>
        </p:nvSpPr>
        <p:spPr>
          <a:xfrm>
            <a:off x="731520" y="5148072"/>
            <a:ext cx="3148584" cy="384048"/>
          </a:xfrm>
          <a:prstGeom prst="rect">
            <a:avLst/>
          </a:prstGeom>
          <a:noFill/>
          <a:ln/>
        </p:spPr>
        <p:txBody>
          <a:bodyPr wrap="square" lIns="0" tIns="0" rIns="0" bIns="0" rtlCol="0" anchor="ctr"/>
          <a:lstStyle/>
          <a:p>
            <a:pPr indent="0" marL="0">
              <a:buNone/>
            </a:pPr>
            <a:r>
              <a:rPr lang="en-US" sz="1300" b="1" dirty="0">
                <a:solidFill>
                  <a:srgbClr val="F5F8FA"/>
                </a:solidFill>
                <a:latin typeface="Calibri" pitchFamily="34" charset="0"/>
                <a:ea typeface="Calibri" pitchFamily="34" charset="-122"/>
                <a:cs typeface="Calibri" pitchFamily="34" charset="-120"/>
              </a:rPr>
              <a:t>Exploitation</a:t>
            </a:r>
            <a:endParaRPr lang="en-US" sz="1300" dirty="0"/>
          </a:p>
        </p:txBody>
      </p:sp>
      <p:sp>
        <p:nvSpPr>
          <p:cNvPr id="37" name="Text 34"/>
          <p:cNvSpPr/>
          <p:nvPr/>
        </p:nvSpPr>
        <p:spPr>
          <a:xfrm>
            <a:off x="731520" y="5513832"/>
            <a:ext cx="3148584" cy="640080"/>
          </a:xfrm>
          <a:prstGeom prst="rect">
            <a:avLst/>
          </a:prstGeom>
          <a:noFill/>
          <a:ln/>
        </p:spPr>
        <p:txBody>
          <a:bodyPr wrap="square" lIns="0" tIns="0" rIns="0" bIns="0" rtlCol="0" anchor="ctr"/>
          <a:lstStyle/>
          <a:p>
            <a:pPr indent="0" marL="0">
              <a:buNone/>
            </a:pPr>
            <a:r>
              <a:rPr lang="en-US" sz="1000" dirty="0">
                <a:solidFill>
                  <a:srgbClr val="C3CDD6"/>
                </a:solidFill>
                <a:latin typeface="Calibri" pitchFamily="34" charset="0"/>
                <a:ea typeface="Calibri" pitchFamily="34" charset="-122"/>
                <a:cs typeface="Calibri" pitchFamily="34" charset="-120"/>
              </a:rPr>
              <a:t>Attacker reuses stolen credentials or the malware foothold for further access.</a:t>
            </a:r>
            <a:endParaRPr lang="en-US" sz="1000" dirty="0"/>
          </a:p>
        </p:txBody>
      </p:sp>
      <p:sp>
        <p:nvSpPr>
          <p:cNvPr id="38" name="Shape 35"/>
          <p:cNvSpPr/>
          <p:nvPr/>
        </p:nvSpPr>
        <p:spPr>
          <a:xfrm>
            <a:off x="4081272" y="2958084"/>
            <a:ext cx="237744" cy="164592"/>
          </a:xfrm>
          <a:prstGeom prst="rightArrow">
            <a:avLst/>
          </a:prstGeom>
          <a:solidFill>
            <a:srgbClr val="22E2FF"/>
          </a:solidFill>
          <a:ln/>
        </p:spPr>
      </p:sp>
      <p:sp>
        <p:nvSpPr>
          <p:cNvPr id="39" name="Shape 36"/>
          <p:cNvSpPr/>
          <p:nvPr/>
        </p:nvSpPr>
        <p:spPr>
          <a:xfrm>
            <a:off x="7869936" y="2958084"/>
            <a:ext cx="237744" cy="164592"/>
          </a:xfrm>
          <a:prstGeom prst="rightArrow">
            <a:avLst/>
          </a:prstGeom>
          <a:solidFill>
            <a:srgbClr val="22E2FF"/>
          </a:solidFill>
          <a:ln/>
        </p:spPr>
      </p:sp>
      <p:sp>
        <p:nvSpPr>
          <p:cNvPr id="40" name="Shape 37"/>
          <p:cNvSpPr/>
          <p:nvPr/>
        </p:nvSpPr>
        <p:spPr>
          <a:xfrm>
            <a:off x="9800844" y="3959352"/>
            <a:ext cx="164592" cy="448056"/>
          </a:xfrm>
          <a:prstGeom prst="downArrow">
            <a:avLst/>
          </a:prstGeom>
          <a:solidFill>
            <a:srgbClr val="22E2FF"/>
          </a:solidFill>
          <a:ln/>
        </p:spPr>
      </p:sp>
      <p:sp>
        <p:nvSpPr>
          <p:cNvPr id="41" name="Shape 38"/>
          <p:cNvSpPr/>
          <p:nvPr/>
        </p:nvSpPr>
        <p:spPr>
          <a:xfrm>
            <a:off x="7869936" y="5244084"/>
            <a:ext cx="237744" cy="164592"/>
          </a:xfrm>
          <a:prstGeom prst="leftArrow">
            <a:avLst/>
          </a:prstGeom>
          <a:solidFill>
            <a:srgbClr val="22E2FF"/>
          </a:solidFill>
          <a:ln/>
        </p:spPr>
      </p:sp>
      <p:sp>
        <p:nvSpPr>
          <p:cNvPr id="42" name="Shape 39"/>
          <p:cNvSpPr/>
          <p:nvPr/>
        </p:nvSpPr>
        <p:spPr>
          <a:xfrm>
            <a:off x="4081272" y="5244084"/>
            <a:ext cx="237744" cy="164592"/>
          </a:xfrm>
          <a:prstGeom prst="leftArrow">
            <a:avLst/>
          </a:prstGeom>
          <a:solidFill>
            <a:srgbClr val="22E2FF"/>
          </a:solidFill>
          <a:ln/>
        </p:spPr>
      </p:sp>
      <p:sp>
        <p:nvSpPr>
          <p:cNvPr id="43" name="Text 40"/>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C3CDD6"/>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548640" y="347472"/>
            <a:ext cx="566928" cy="566928"/>
          </a:xfrm>
          <a:prstGeom prst="ellipse">
            <a:avLst/>
          </a:prstGeom>
          <a:solidFill>
            <a:srgbClr val="27333F"/>
          </a:solidFill>
          <a:ln w="19050">
            <a:solidFill>
              <a:srgbClr val="22E2FF"/>
            </a:solidFill>
            <a:prstDash val="solid"/>
          </a:ln>
        </p:spPr>
      </p:sp>
      <p:pic>
        <p:nvPicPr>
          <p:cNvPr id="3" name="Image 0" descr="/home/claude/cyberdeck/icons/phishing_cyan.png">    </p:cNvPr>
          <p:cNvPicPr>
            <a:picLocks noChangeAspect="1"/>
          </p:cNvPicPr>
          <p:nvPr/>
        </p:nvPicPr>
        <p:blipFill>
          <a:blip r:embed="rId1"/>
          <a:stretch>
            <a:fillRect/>
          </a:stretch>
        </p:blipFill>
        <p:spPr>
          <a:xfrm>
            <a:off x="696041" y="494873"/>
            <a:ext cx="272125" cy="272125"/>
          </a:xfrm>
          <a:prstGeom prst="rect">
            <a:avLst/>
          </a:prstGeom>
        </p:spPr>
      </p:pic>
      <p:sp>
        <p:nvSpPr>
          <p:cNvPr id="4" name="Text 1"/>
          <p:cNvSpPr/>
          <p:nvPr/>
        </p:nvSpPr>
        <p:spPr>
          <a:xfrm>
            <a:off x="1234440" y="320040"/>
            <a:ext cx="7315200" cy="411480"/>
          </a:xfrm>
          <a:prstGeom prst="rect">
            <a:avLst/>
          </a:prstGeom>
          <a:noFill/>
          <a:ln/>
        </p:spPr>
        <p:txBody>
          <a:bodyPr wrap="square" rtlCol="0" anchor="ctr"/>
          <a:lstStyle/>
          <a:p>
            <a:pPr indent="0" marL="0">
              <a:buNone/>
            </a:pPr>
            <a:r>
              <a:rPr lang="en-US" sz="2600" b="1" dirty="0">
                <a:solidFill>
                  <a:srgbClr val="F5F8FA"/>
                </a:solidFill>
                <a:latin typeface="Cambria" pitchFamily="34" charset="0"/>
                <a:ea typeface="Cambria" pitchFamily="34" charset="-122"/>
                <a:cs typeface="Cambria" pitchFamily="34" charset="-120"/>
              </a:rPr>
              <a:t>Phishing</a:t>
            </a:r>
            <a:endParaRPr lang="en-US" sz="2600" dirty="0"/>
          </a:p>
        </p:txBody>
      </p:sp>
      <p:sp>
        <p:nvSpPr>
          <p:cNvPr id="5" name="Text 2"/>
          <p:cNvSpPr/>
          <p:nvPr/>
        </p:nvSpPr>
        <p:spPr>
          <a:xfrm>
            <a:off x="1234440" y="713232"/>
            <a:ext cx="7315200" cy="274320"/>
          </a:xfrm>
          <a:prstGeom prst="rect">
            <a:avLst/>
          </a:prstGeom>
          <a:noFill/>
          <a:ln/>
        </p:spPr>
        <p:txBody>
          <a:bodyPr wrap="square" rtlCol="0" anchor="ctr"/>
          <a:lstStyle/>
          <a:p>
            <a:pPr indent="0" marL="0">
              <a:buNone/>
            </a:pPr>
            <a:r>
              <a:rPr lang="en-US" sz="1150" b="1" spc="200" kern="0" dirty="0">
                <a:solidFill>
                  <a:srgbClr val="22E2FF"/>
                </a:solidFill>
                <a:latin typeface="Calibri" pitchFamily="34" charset="0"/>
                <a:ea typeface="Calibri" pitchFamily="34" charset="-122"/>
                <a:cs typeface="Calibri" pitchFamily="34" charset="-120"/>
              </a:rPr>
              <a:t>REAL-WORLD IMPACT &amp; DEFENSE</a:t>
            </a:r>
            <a:endParaRPr lang="en-US" sz="1150" dirty="0"/>
          </a:p>
        </p:txBody>
      </p:sp>
      <p:sp>
        <p:nvSpPr>
          <p:cNvPr id="6" name="Shape 3"/>
          <p:cNvSpPr/>
          <p:nvPr/>
        </p:nvSpPr>
        <p:spPr>
          <a:xfrm>
            <a:off x="548640" y="1234440"/>
            <a:ext cx="6035040" cy="1783080"/>
          </a:xfrm>
          <a:prstGeom prst="roundRect">
            <a:avLst>
              <a:gd name="adj" fmla="val 4103"/>
            </a:avLst>
          </a:prstGeom>
          <a:solidFill>
            <a:srgbClr val="1C2733"/>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7" name="Shape 4"/>
          <p:cNvSpPr/>
          <p:nvPr/>
        </p:nvSpPr>
        <p:spPr>
          <a:xfrm>
            <a:off x="777240" y="1435608"/>
            <a:ext cx="502920" cy="502920"/>
          </a:xfrm>
          <a:prstGeom prst="ellipse">
            <a:avLst/>
          </a:prstGeom>
          <a:solidFill>
            <a:srgbClr val="27333F"/>
          </a:solidFill>
          <a:ln w="19050">
            <a:solidFill>
              <a:srgbClr val="22E2FF"/>
            </a:solidFill>
            <a:prstDash val="solid"/>
          </a:ln>
        </p:spPr>
      </p:sp>
      <p:pic>
        <p:nvPicPr>
          <p:cNvPr id="8" name="Image 1" descr="/home/claude/cyberdeck/icons/building_cyan.png">    </p:cNvPr>
          <p:cNvPicPr>
            <a:picLocks noChangeAspect="1"/>
          </p:cNvPicPr>
          <p:nvPr/>
        </p:nvPicPr>
        <p:blipFill>
          <a:blip r:embed="rId2"/>
          <a:stretch>
            <a:fillRect/>
          </a:stretch>
        </p:blipFill>
        <p:spPr>
          <a:xfrm>
            <a:off x="907999" y="1566367"/>
            <a:ext cx="241402" cy="241402"/>
          </a:xfrm>
          <a:prstGeom prst="rect">
            <a:avLst/>
          </a:prstGeom>
        </p:spPr>
      </p:pic>
      <p:sp>
        <p:nvSpPr>
          <p:cNvPr id="9" name="Text 5"/>
          <p:cNvSpPr/>
          <p:nvPr/>
        </p:nvSpPr>
        <p:spPr>
          <a:xfrm>
            <a:off x="1417320" y="1490472"/>
            <a:ext cx="4937760" cy="365760"/>
          </a:xfrm>
          <a:prstGeom prst="rect">
            <a:avLst/>
          </a:prstGeom>
          <a:noFill/>
          <a:ln/>
        </p:spPr>
        <p:txBody>
          <a:bodyPr wrap="square" lIns="0" tIns="0" rIns="0" bIns="0" rtlCol="0" anchor="ctr"/>
          <a:lstStyle/>
          <a:p>
            <a:pPr indent="0" marL="0">
              <a:buNone/>
            </a:pPr>
            <a:r>
              <a:rPr lang="en-US" sz="1450" b="1" dirty="0">
                <a:solidFill>
                  <a:srgbClr val="F5F8FA"/>
                </a:solidFill>
                <a:latin typeface="Calibri" pitchFamily="34" charset="0"/>
                <a:ea typeface="Calibri" pitchFamily="34" charset="-122"/>
                <a:cs typeface="Calibri" pitchFamily="34" charset="-120"/>
              </a:rPr>
              <a:t>Real-World Example</a:t>
            </a:r>
            <a:endParaRPr lang="en-US" sz="1450" dirty="0"/>
          </a:p>
        </p:txBody>
      </p:sp>
      <p:sp>
        <p:nvSpPr>
          <p:cNvPr id="10" name="Text 6"/>
          <p:cNvSpPr/>
          <p:nvPr/>
        </p:nvSpPr>
        <p:spPr>
          <a:xfrm>
            <a:off x="777240" y="2057400"/>
            <a:ext cx="5577840" cy="822960"/>
          </a:xfrm>
          <a:prstGeom prst="rect">
            <a:avLst/>
          </a:prstGeom>
          <a:noFill/>
          <a:ln/>
        </p:spPr>
        <p:txBody>
          <a:bodyPr wrap="square" lIns="0" tIns="0" rIns="0" bIns="0" rtlCol="0" anchor="t"/>
          <a:lstStyle/>
          <a:p>
            <a:pPr indent="0" marL="0">
              <a:buNone/>
            </a:pPr>
            <a:r>
              <a:rPr lang="en-US" sz="1100" dirty="0">
                <a:solidFill>
                  <a:srgbClr val="C3CDD6"/>
                </a:solidFill>
                <a:latin typeface="Calibri" pitchFamily="34" charset="0"/>
                <a:ea typeface="Calibri" pitchFamily="34" charset="-122"/>
                <a:cs typeface="Calibri" pitchFamily="34" charset="-120"/>
              </a:rPr>
              <a:t>In 2023, the Scattered Spider group used convincing phishing and help-desk impersonation calls to trick MGM Resorts and Caesars Entertainment employees into resetting credentials, leading to major ransomware follow-on breaches and estimated losses exceeding $100 million for MGM alone.</a:t>
            </a:r>
            <a:endParaRPr lang="en-US" sz="1100" dirty="0"/>
          </a:p>
        </p:txBody>
      </p:sp>
      <p:sp>
        <p:nvSpPr>
          <p:cNvPr id="11" name="Shape 7"/>
          <p:cNvSpPr/>
          <p:nvPr/>
        </p:nvSpPr>
        <p:spPr>
          <a:xfrm>
            <a:off x="6858000" y="1234440"/>
            <a:ext cx="4782312" cy="1783080"/>
          </a:xfrm>
          <a:prstGeom prst="roundRect">
            <a:avLst>
              <a:gd name="adj" fmla="val 4103"/>
            </a:avLst>
          </a:prstGeom>
          <a:solidFill>
            <a:srgbClr val="1C2733"/>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12" name="Shape 8"/>
          <p:cNvSpPr/>
          <p:nvPr/>
        </p:nvSpPr>
        <p:spPr>
          <a:xfrm>
            <a:off x="7086600" y="1435608"/>
            <a:ext cx="502920" cy="502920"/>
          </a:xfrm>
          <a:prstGeom prst="ellipse">
            <a:avLst/>
          </a:prstGeom>
          <a:solidFill>
            <a:srgbClr val="27333F"/>
          </a:solidFill>
          <a:ln w="19050">
            <a:solidFill>
              <a:srgbClr val="FF5C51"/>
            </a:solidFill>
            <a:prstDash val="solid"/>
          </a:ln>
        </p:spPr>
      </p:sp>
      <p:pic>
        <p:nvPicPr>
          <p:cNvPr id="13" name="Image 2" descr="/home/claude/cyberdeck/icons/warning_red.png">    </p:cNvPr>
          <p:cNvPicPr>
            <a:picLocks noChangeAspect="1"/>
          </p:cNvPicPr>
          <p:nvPr/>
        </p:nvPicPr>
        <p:blipFill>
          <a:blip r:embed="rId3"/>
          <a:stretch>
            <a:fillRect/>
          </a:stretch>
        </p:blipFill>
        <p:spPr>
          <a:xfrm>
            <a:off x="7217359" y="1566367"/>
            <a:ext cx="241402" cy="241402"/>
          </a:xfrm>
          <a:prstGeom prst="rect">
            <a:avLst/>
          </a:prstGeom>
        </p:spPr>
      </p:pic>
      <p:sp>
        <p:nvSpPr>
          <p:cNvPr id="14" name="Text 9"/>
          <p:cNvSpPr/>
          <p:nvPr/>
        </p:nvSpPr>
        <p:spPr>
          <a:xfrm>
            <a:off x="7726680" y="1490472"/>
            <a:ext cx="3685032" cy="365760"/>
          </a:xfrm>
          <a:prstGeom prst="rect">
            <a:avLst/>
          </a:prstGeom>
          <a:noFill/>
          <a:ln/>
        </p:spPr>
        <p:txBody>
          <a:bodyPr wrap="square" lIns="0" tIns="0" rIns="0" bIns="0" rtlCol="0" anchor="ctr"/>
          <a:lstStyle/>
          <a:p>
            <a:pPr indent="0" marL="0">
              <a:buNone/>
            </a:pPr>
            <a:r>
              <a:rPr lang="en-US" sz="1450" b="1" dirty="0">
                <a:solidFill>
                  <a:srgbClr val="F5F8FA"/>
                </a:solidFill>
                <a:latin typeface="Calibri" pitchFamily="34" charset="0"/>
                <a:ea typeface="Calibri" pitchFamily="34" charset="-122"/>
                <a:cs typeface="Calibri" pitchFamily="34" charset="-120"/>
              </a:rPr>
              <a:t>Impact</a:t>
            </a:r>
            <a:endParaRPr lang="en-US" sz="1450" dirty="0"/>
          </a:p>
        </p:txBody>
      </p:sp>
      <p:sp>
        <p:nvSpPr>
          <p:cNvPr id="15" name="Text 10"/>
          <p:cNvSpPr/>
          <p:nvPr/>
        </p:nvSpPr>
        <p:spPr>
          <a:xfrm>
            <a:off x="7086600" y="2057400"/>
            <a:ext cx="4325112" cy="822960"/>
          </a:xfrm>
          <a:prstGeom prst="rect">
            <a:avLst/>
          </a:prstGeom>
          <a:noFill/>
          <a:ln/>
        </p:spPr>
        <p:txBody>
          <a:bodyPr wrap="square" lIns="0" tIns="0" rIns="0" bIns="0" rtlCol="0" anchor="t"/>
          <a:lstStyle/>
          <a:p>
            <a:pPr marL="177800" indent="-177800">
              <a:spcAft>
                <a:spcPts val="400"/>
              </a:spcAft>
              <a:buSzPct val="100000"/>
              <a:buChar char="▪"/>
            </a:pPr>
            <a:r>
              <a:rPr lang="en-US" sz="1050" dirty="0">
                <a:solidFill>
                  <a:srgbClr val="F5F8FA"/>
                </a:solidFill>
                <a:latin typeface="Calibri" pitchFamily="34" charset="0"/>
                <a:ea typeface="Calibri" pitchFamily="34" charset="-122"/>
                <a:cs typeface="Calibri" pitchFamily="34" charset="-120"/>
              </a:rPr>
              <a:t>Stolen credentials enabling account takeover</a:t>
            </a:r>
            <a:endParaRPr lang="en-US" sz="1050" dirty="0"/>
          </a:p>
          <a:p>
            <a:pPr marL="177800" indent="-177800">
              <a:spcAft>
                <a:spcPts val="400"/>
              </a:spcAft>
              <a:buSzPct val="100000"/>
              <a:buChar char="▪"/>
            </a:pPr>
            <a:r>
              <a:rPr lang="en-US" sz="1050" dirty="0">
                <a:solidFill>
                  <a:srgbClr val="F5F8FA"/>
                </a:solidFill>
                <a:latin typeface="Calibri" pitchFamily="34" charset="0"/>
                <a:ea typeface="Calibri" pitchFamily="34" charset="-122"/>
                <a:cs typeface="Calibri" pitchFamily="34" charset="-120"/>
              </a:rPr>
              <a:t>Entry point for ransomware and data theft</a:t>
            </a:r>
            <a:endParaRPr lang="en-US" sz="1050" dirty="0"/>
          </a:p>
          <a:p>
            <a:pPr marL="177800" indent="-177800">
              <a:spcAft>
                <a:spcPts val="400"/>
              </a:spcAft>
              <a:buSzPct val="100000"/>
              <a:buChar char="▪"/>
            </a:pPr>
            <a:r>
              <a:rPr lang="en-US" sz="1050" dirty="0">
                <a:solidFill>
                  <a:srgbClr val="F5F8FA"/>
                </a:solidFill>
                <a:latin typeface="Calibri" pitchFamily="34" charset="0"/>
                <a:ea typeface="Calibri" pitchFamily="34" charset="-122"/>
                <a:cs typeface="Calibri" pitchFamily="34" charset="-120"/>
              </a:rPr>
              <a:t>Financial fraud and wire transfer scams</a:t>
            </a:r>
            <a:endParaRPr lang="en-US" sz="1050" dirty="0"/>
          </a:p>
          <a:p>
            <a:pPr marL="177800" indent="-177800">
              <a:spcAft>
                <a:spcPts val="400"/>
              </a:spcAft>
              <a:buSzPct val="100000"/>
              <a:buChar char="▪"/>
            </a:pPr>
            <a:r>
              <a:rPr lang="en-US" sz="1050" dirty="0">
                <a:solidFill>
                  <a:srgbClr val="F5F8FA"/>
                </a:solidFill>
                <a:latin typeface="Calibri" pitchFamily="34" charset="0"/>
                <a:ea typeface="Calibri" pitchFamily="34" charset="-122"/>
                <a:cs typeface="Calibri" pitchFamily="34" charset="-120"/>
              </a:rPr>
              <a:t>Reputational and regulatory fallout</a:t>
            </a:r>
            <a:endParaRPr lang="en-US" sz="1050" dirty="0"/>
          </a:p>
        </p:txBody>
      </p:sp>
      <p:sp>
        <p:nvSpPr>
          <p:cNvPr id="16" name="Shape 11"/>
          <p:cNvSpPr/>
          <p:nvPr/>
        </p:nvSpPr>
        <p:spPr>
          <a:xfrm>
            <a:off x="548640" y="3246120"/>
            <a:ext cx="6035040" cy="1783080"/>
          </a:xfrm>
          <a:prstGeom prst="roundRect">
            <a:avLst>
              <a:gd name="adj" fmla="val 4103"/>
            </a:avLst>
          </a:prstGeom>
          <a:solidFill>
            <a:srgbClr val="1C2733"/>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17" name="Shape 12"/>
          <p:cNvSpPr/>
          <p:nvPr/>
        </p:nvSpPr>
        <p:spPr>
          <a:xfrm>
            <a:off x="777240" y="3447288"/>
            <a:ext cx="502920" cy="502920"/>
          </a:xfrm>
          <a:prstGeom prst="ellipse">
            <a:avLst/>
          </a:prstGeom>
          <a:solidFill>
            <a:srgbClr val="27333F"/>
          </a:solidFill>
          <a:ln w="19050">
            <a:solidFill>
              <a:srgbClr val="22E2FF"/>
            </a:solidFill>
            <a:prstDash val="solid"/>
          </a:ln>
        </p:spPr>
      </p:sp>
      <p:pic>
        <p:nvPicPr>
          <p:cNvPr id="18" name="Image 3" descr="/home/claude/cyberdeck/icons/shield_cyan.png">    </p:cNvPr>
          <p:cNvPicPr>
            <a:picLocks noChangeAspect="1"/>
          </p:cNvPicPr>
          <p:nvPr/>
        </p:nvPicPr>
        <p:blipFill>
          <a:blip r:embed="rId4"/>
          <a:stretch>
            <a:fillRect/>
          </a:stretch>
        </p:blipFill>
        <p:spPr>
          <a:xfrm>
            <a:off x="907999" y="3578047"/>
            <a:ext cx="241402" cy="241402"/>
          </a:xfrm>
          <a:prstGeom prst="rect">
            <a:avLst/>
          </a:prstGeom>
        </p:spPr>
      </p:pic>
      <p:sp>
        <p:nvSpPr>
          <p:cNvPr id="19" name="Text 13"/>
          <p:cNvSpPr/>
          <p:nvPr/>
        </p:nvSpPr>
        <p:spPr>
          <a:xfrm>
            <a:off x="1417320" y="3502152"/>
            <a:ext cx="4937760" cy="365760"/>
          </a:xfrm>
          <a:prstGeom prst="rect">
            <a:avLst/>
          </a:prstGeom>
          <a:noFill/>
          <a:ln/>
        </p:spPr>
        <p:txBody>
          <a:bodyPr wrap="square" lIns="0" tIns="0" rIns="0" bIns="0" rtlCol="0" anchor="ctr"/>
          <a:lstStyle/>
          <a:p>
            <a:pPr indent="0" marL="0">
              <a:buNone/>
            </a:pPr>
            <a:r>
              <a:rPr lang="en-US" sz="1450" b="1" dirty="0">
                <a:solidFill>
                  <a:srgbClr val="F5F8FA"/>
                </a:solidFill>
                <a:latin typeface="Calibri" pitchFamily="34" charset="0"/>
                <a:ea typeface="Calibri" pitchFamily="34" charset="-122"/>
                <a:cs typeface="Calibri" pitchFamily="34" charset="-120"/>
              </a:rPr>
              <a:t>Prevention &amp; Mitigation</a:t>
            </a:r>
            <a:endParaRPr lang="en-US" sz="1450" dirty="0"/>
          </a:p>
        </p:txBody>
      </p:sp>
      <p:sp>
        <p:nvSpPr>
          <p:cNvPr id="20" name="Text 14"/>
          <p:cNvSpPr/>
          <p:nvPr/>
        </p:nvSpPr>
        <p:spPr>
          <a:xfrm>
            <a:off x="777240" y="4069080"/>
            <a:ext cx="5577840" cy="822960"/>
          </a:xfrm>
          <a:prstGeom prst="rect">
            <a:avLst/>
          </a:prstGeom>
          <a:noFill/>
          <a:ln/>
        </p:spPr>
        <p:txBody>
          <a:bodyPr wrap="square" lIns="0" tIns="0" rIns="0" bIns="0" rtlCol="0" anchor="t"/>
          <a:lstStyle/>
          <a:p>
            <a:pPr marL="177800" indent="-177800">
              <a:spcAft>
                <a:spcPts val="400"/>
              </a:spcAft>
              <a:buSzPct val="100000"/>
              <a:buChar char="▪"/>
            </a:pPr>
            <a:r>
              <a:rPr lang="en-US" sz="1100" dirty="0">
                <a:solidFill>
                  <a:srgbClr val="F5F8FA"/>
                </a:solidFill>
                <a:latin typeface="Calibri" pitchFamily="34" charset="0"/>
                <a:ea typeface="Calibri" pitchFamily="34" charset="-122"/>
                <a:cs typeface="Calibri" pitchFamily="34" charset="-120"/>
              </a:rPr>
              <a:t>Enforce multi-factor authentication (MFA)</a:t>
            </a:r>
            <a:endParaRPr lang="en-US" sz="1100" dirty="0"/>
          </a:p>
          <a:p>
            <a:pPr marL="177800" indent="-177800">
              <a:spcAft>
                <a:spcPts val="400"/>
              </a:spcAft>
              <a:buSzPct val="100000"/>
              <a:buChar char="▪"/>
            </a:pPr>
            <a:r>
              <a:rPr lang="en-US" sz="1100" dirty="0">
                <a:solidFill>
                  <a:srgbClr val="F5F8FA"/>
                </a:solidFill>
                <a:latin typeface="Calibri" pitchFamily="34" charset="0"/>
                <a:ea typeface="Calibri" pitchFamily="34" charset="-122"/>
                <a:cs typeface="Calibri" pitchFamily="34" charset="-120"/>
              </a:rPr>
              <a:t>Run regular phishing-simulation training</a:t>
            </a:r>
            <a:endParaRPr lang="en-US" sz="1100" dirty="0"/>
          </a:p>
          <a:p>
            <a:pPr marL="177800" indent="-177800">
              <a:spcAft>
                <a:spcPts val="400"/>
              </a:spcAft>
              <a:buSzPct val="100000"/>
              <a:buChar char="▪"/>
            </a:pPr>
            <a:r>
              <a:rPr lang="en-US" sz="1100" dirty="0">
                <a:solidFill>
                  <a:srgbClr val="F5F8FA"/>
                </a:solidFill>
                <a:latin typeface="Calibri" pitchFamily="34" charset="0"/>
                <a:ea typeface="Calibri" pitchFamily="34" charset="-122"/>
                <a:cs typeface="Calibri" pitchFamily="34" charset="-120"/>
              </a:rPr>
              <a:t>Deploy email authentication (SPF, DKIM, DMARC)</a:t>
            </a:r>
            <a:endParaRPr lang="en-US" sz="1100" dirty="0"/>
          </a:p>
          <a:p>
            <a:pPr marL="177800" indent="-177800">
              <a:spcAft>
                <a:spcPts val="400"/>
              </a:spcAft>
              <a:buSzPct val="100000"/>
              <a:buChar char="▪"/>
            </a:pPr>
            <a:r>
              <a:rPr lang="en-US" sz="1100" dirty="0">
                <a:solidFill>
                  <a:srgbClr val="F5F8FA"/>
                </a:solidFill>
                <a:latin typeface="Calibri" pitchFamily="34" charset="0"/>
                <a:ea typeface="Calibri" pitchFamily="34" charset="-122"/>
                <a:cs typeface="Calibri" pitchFamily="34" charset="-120"/>
              </a:rPr>
              <a:t>Verify unusual requests through a second channel</a:t>
            </a:r>
            <a:endParaRPr lang="en-US" sz="1100" dirty="0"/>
          </a:p>
        </p:txBody>
      </p:sp>
      <p:sp>
        <p:nvSpPr>
          <p:cNvPr id="21" name="Shape 15"/>
          <p:cNvSpPr/>
          <p:nvPr/>
        </p:nvSpPr>
        <p:spPr>
          <a:xfrm>
            <a:off x="6858000" y="3246120"/>
            <a:ext cx="4782312" cy="1783080"/>
          </a:xfrm>
          <a:prstGeom prst="roundRect">
            <a:avLst>
              <a:gd name="adj" fmla="val 4103"/>
            </a:avLst>
          </a:prstGeom>
          <a:solidFill>
            <a:srgbClr val="1C2733"/>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22" name="Shape 16"/>
          <p:cNvSpPr/>
          <p:nvPr/>
        </p:nvSpPr>
        <p:spPr>
          <a:xfrm>
            <a:off x="7086600" y="3447288"/>
            <a:ext cx="502920" cy="502920"/>
          </a:xfrm>
          <a:prstGeom prst="ellipse">
            <a:avLst/>
          </a:prstGeom>
          <a:solidFill>
            <a:srgbClr val="27333F"/>
          </a:solidFill>
          <a:ln w="19050">
            <a:solidFill>
              <a:srgbClr val="22E2FF"/>
            </a:solidFill>
            <a:prstDash val="solid"/>
          </a:ln>
        </p:spPr>
      </p:sp>
      <p:pic>
        <p:nvPicPr>
          <p:cNvPr id="23" name="Image 4" descr="/home/claude/cyberdeck/icons/search_cyan.png">    </p:cNvPr>
          <p:cNvPicPr>
            <a:picLocks noChangeAspect="1"/>
          </p:cNvPicPr>
          <p:nvPr/>
        </p:nvPicPr>
        <p:blipFill>
          <a:blip r:embed="rId5"/>
          <a:stretch>
            <a:fillRect/>
          </a:stretch>
        </p:blipFill>
        <p:spPr>
          <a:xfrm>
            <a:off x="7217359" y="3578047"/>
            <a:ext cx="241402" cy="241402"/>
          </a:xfrm>
          <a:prstGeom prst="rect">
            <a:avLst/>
          </a:prstGeom>
        </p:spPr>
      </p:pic>
      <p:sp>
        <p:nvSpPr>
          <p:cNvPr id="24" name="Text 17"/>
          <p:cNvSpPr/>
          <p:nvPr/>
        </p:nvSpPr>
        <p:spPr>
          <a:xfrm>
            <a:off x="7726680" y="3502152"/>
            <a:ext cx="3685032" cy="365760"/>
          </a:xfrm>
          <a:prstGeom prst="rect">
            <a:avLst/>
          </a:prstGeom>
          <a:noFill/>
          <a:ln/>
        </p:spPr>
        <p:txBody>
          <a:bodyPr wrap="square" lIns="0" tIns="0" rIns="0" bIns="0" rtlCol="0" anchor="ctr"/>
          <a:lstStyle/>
          <a:p>
            <a:pPr indent="0" marL="0">
              <a:buNone/>
            </a:pPr>
            <a:r>
              <a:rPr lang="en-US" sz="1450" b="1" dirty="0">
                <a:solidFill>
                  <a:srgbClr val="F5F8FA"/>
                </a:solidFill>
                <a:latin typeface="Calibri" pitchFamily="34" charset="0"/>
                <a:ea typeface="Calibri" pitchFamily="34" charset="-122"/>
                <a:cs typeface="Calibri" pitchFamily="34" charset="-120"/>
              </a:rPr>
              <a:t>Detection Methods</a:t>
            </a:r>
            <a:endParaRPr lang="en-US" sz="1450" dirty="0"/>
          </a:p>
        </p:txBody>
      </p:sp>
      <p:sp>
        <p:nvSpPr>
          <p:cNvPr id="25" name="Text 18"/>
          <p:cNvSpPr/>
          <p:nvPr/>
        </p:nvSpPr>
        <p:spPr>
          <a:xfrm>
            <a:off x="7086600" y="4069080"/>
            <a:ext cx="4325112" cy="822960"/>
          </a:xfrm>
          <a:prstGeom prst="rect">
            <a:avLst/>
          </a:prstGeom>
          <a:noFill/>
          <a:ln/>
        </p:spPr>
        <p:txBody>
          <a:bodyPr wrap="square" lIns="0" tIns="0" rIns="0" bIns="0" rtlCol="0" anchor="t"/>
          <a:lstStyle/>
          <a:p>
            <a:pPr marL="177800" indent="-177800">
              <a:spcAft>
                <a:spcPts val="400"/>
              </a:spcAft>
              <a:buSzPct val="100000"/>
              <a:buChar char="▪"/>
            </a:pPr>
            <a:r>
              <a:rPr lang="en-US" sz="1050" dirty="0">
                <a:solidFill>
                  <a:srgbClr val="F5F8FA"/>
                </a:solidFill>
                <a:latin typeface="Calibri" pitchFamily="34" charset="0"/>
                <a:ea typeface="Calibri" pitchFamily="34" charset="-122"/>
                <a:cs typeface="Calibri" pitchFamily="34" charset="-120"/>
              </a:rPr>
              <a:t>Email gateway link and attachment sandboxing</a:t>
            </a:r>
            <a:endParaRPr lang="en-US" sz="1050" dirty="0"/>
          </a:p>
          <a:p>
            <a:pPr marL="177800" indent="-177800">
              <a:spcAft>
                <a:spcPts val="400"/>
              </a:spcAft>
              <a:buSzPct val="100000"/>
              <a:buChar char="▪"/>
            </a:pPr>
            <a:r>
              <a:rPr lang="en-US" sz="1050" dirty="0">
                <a:solidFill>
                  <a:srgbClr val="F5F8FA"/>
                </a:solidFill>
                <a:latin typeface="Calibri" pitchFamily="34" charset="0"/>
                <a:ea typeface="Calibri" pitchFamily="34" charset="-122"/>
                <a:cs typeface="Calibri" pitchFamily="34" charset="-120"/>
              </a:rPr>
              <a:t>Anomalous login location or device alerts</a:t>
            </a:r>
            <a:endParaRPr lang="en-US" sz="1050" dirty="0"/>
          </a:p>
          <a:p>
            <a:pPr marL="177800" indent="-177800">
              <a:spcAft>
                <a:spcPts val="400"/>
              </a:spcAft>
              <a:buSzPct val="100000"/>
              <a:buChar char="▪"/>
            </a:pPr>
            <a:r>
              <a:rPr lang="en-US" sz="1050" dirty="0">
                <a:solidFill>
                  <a:srgbClr val="F5F8FA"/>
                </a:solidFill>
                <a:latin typeface="Calibri" pitchFamily="34" charset="0"/>
                <a:ea typeface="Calibri" pitchFamily="34" charset="-122"/>
                <a:cs typeface="Calibri" pitchFamily="34" charset="-120"/>
              </a:rPr>
              <a:t>User-reported suspicious email workflows</a:t>
            </a:r>
            <a:endParaRPr lang="en-US" sz="1050" dirty="0"/>
          </a:p>
          <a:p>
            <a:pPr marL="177800" indent="-177800">
              <a:spcAft>
                <a:spcPts val="400"/>
              </a:spcAft>
              <a:buSzPct val="100000"/>
              <a:buChar char="▪"/>
            </a:pPr>
            <a:r>
              <a:rPr lang="en-US" sz="1050" dirty="0">
                <a:solidFill>
                  <a:srgbClr val="F5F8FA"/>
                </a:solidFill>
                <a:latin typeface="Calibri" pitchFamily="34" charset="0"/>
                <a:ea typeface="Calibri" pitchFamily="34" charset="-122"/>
                <a:cs typeface="Calibri" pitchFamily="34" charset="-120"/>
              </a:rPr>
              <a:t>Domain look-alike and typosquat monitoring</a:t>
            </a:r>
            <a:endParaRPr lang="en-US" sz="1050" dirty="0"/>
          </a:p>
        </p:txBody>
      </p:sp>
      <p:sp>
        <p:nvSpPr>
          <p:cNvPr id="26" name="Shape 19"/>
          <p:cNvSpPr/>
          <p:nvPr/>
        </p:nvSpPr>
        <p:spPr>
          <a:xfrm>
            <a:off x="548640" y="5257800"/>
            <a:ext cx="11091672" cy="658368"/>
          </a:xfrm>
          <a:prstGeom prst="roundRect">
            <a:avLst>
              <a:gd name="adj" fmla="val 8333"/>
            </a:avLst>
          </a:prstGeom>
          <a:solidFill>
            <a:srgbClr val="27333F"/>
          </a:solidFill>
          <a:ln w="12700">
            <a:solidFill>
              <a:srgbClr val="22E2FF"/>
            </a:solidFill>
            <a:prstDash val="solid"/>
          </a:ln>
        </p:spPr>
      </p:sp>
      <p:sp>
        <p:nvSpPr>
          <p:cNvPr id="27" name="Text 20"/>
          <p:cNvSpPr/>
          <p:nvPr/>
        </p:nvSpPr>
        <p:spPr>
          <a:xfrm>
            <a:off x="777240" y="5257800"/>
            <a:ext cx="1737360" cy="658368"/>
          </a:xfrm>
          <a:prstGeom prst="rect">
            <a:avLst/>
          </a:prstGeom>
          <a:noFill/>
          <a:ln/>
        </p:spPr>
        <p:txBody>
          <a:bodyPr wrap="square" lIns="0" tIns="0" rIns="0" bIns="0" rtlCol="0" anchor="ctr"/>
          <a:lstStyle/>
          <a:p>
            <a:pPr indent="0" marL="0">
              <a:buNone/>
            </a:pPr>
            <a:r>
              <a:rPr lang="en-US" sz="2200" b="1" dirty="0">
                <a:solidFill>
                  <a:srgbClr val="22E2FF"/>
                </a:solidFill>
                <a:latin typeface="Cambria" pitchFamily="34" charset="0"/>
                <a:ea typeface="Cambria" pitchFamily="34" charset="-122"/>
                <a:cs typeface="Cambria" pitchFamily="34" charset="-120"/>
              </a:rPr>
              <a:t>94%</a:t>
            </a:r>
            <a:endParaRPr lang="en-US" sz="2200" dirty="0"/>
          </a:p>
        </p:txBody>
      </p:sp>
      <p:sp>
        <p:nvSpPr>
          <p:cNvPr id="28" name="Text 21"/>
          <p:cNvSpPr/>
          <p:nvPr/>
        </p:nvSpPr>
        <p:spPr>
          <a:xfrm>
            <a:off x="2606040" y="5257800"/>
            <a:ext cx="8778240" cy="658368"/>
          </a:xfrm>
          <a:prstGeom prst="rect">
            <a:avLst/>
          </a:prstGeom>
          <a:noFill/>
          <a:ln/>
        </p:spPr>
        <p:txBody>
          <a:bodyPr wrap="square" lIns="0" tIns="0" rIns="0" bIns="0" rtlCol="0" anchor="ctr"/>
          <a:lstStyle/>
          <a:p>
            <a:pPr indent="0" marL="0">
              <a:buNone/>
            </a:pPr>
            <a:r>
              <a:rPr lang="en-US" sz="1150" dirty="0">
                <a:solidFill>
                  <a:srgbClr val="F5F8FA"/>
                </a:solidFill>
                <a:latin typeface="Calibri" pitchFamily="34" charset="0"/>
                <a:ea typeface="Calibri" pitchFamily="34" charset="-122"/>
                <a:cs typeface="Calibri" pitchFamily="34" charset="-120"/>
              </a:rPr>
              <a:t>of malware is still delivered via email, making phishing the top initial-access vector</a:t>
            </a:r>
            <a:endParaRPr lang="en-US" sz="1150" dirty="0"/>
          </a:p>
        </p:txBody>
      </p:sp>
      <p:sp>
        <p:nvSpPr>
          <p:cNvPr id="29" name="Text 22"/>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C3CDD6"/>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548640" y="347472"/>
            <a:ext cx="566928" cy="566928"/>
          </a:xfrm>
          <a:prstGeom prst="ellipse">
            <a:avLst/>
          </a:prstGeom>
          <a:solidFill>
            <a:srgbClr val="27333F"/>
          </a:solidFill>
          <a:ln w="19050">
            <a:solidFill>
              <a:srgbClr val="22E2FF"/>
            </a:solidFill>
            <a:prstDash val="solid"/>
          </a:ln>
        </p:spPr>
      </p:sp>
      <p:pic>
        <p:nvPicPr>
          <p:cNvPr id="3" name="Image 0" descr="/home/claude/cyberdeck/icons/ransomware_cyan.png">    </p:cNvPr>
          <p:cNvPicPr>
            <a:picLocks noChangeAspect="1"/>
          </p:cNvPicPr>
          <p:nvPr/>
        </p:nvPicPr>
        <p:blipFill>
          <a:blip r:embed="rId1"/>
          <a:stretch>
            <a:fillRect/>
          </a:stretch>
        </p:blipFill>
        <p:spPr>
          <a:xfrm>
            <a:off x="696041" y="494873"/>
            <a:ext cx="272125" cy="272125"/>
          </a:xfrm>
          <a:prstGeom prst="rect">
            <a:avLst/>
          </a:prstGeom>
        </p:spPr>
      </p:pic>
      <p:sp>
        <p:nvSpPr>
          <p:cNvPr id="4" name="Text 1"/>
          <p:cNvSpPr/>
          <p:nvPr/>
        </p:nvSpPr>
        <p:spPr>
          <a:xfrm>
            <a:off x="1234440" y="320040"/>
            <a:ext cx="7315200" cy="411480"/>
          </a:xfrm>
          <a:prstGeom prst="rect">
            <a:avLst/>
          </a:prstGeom>
          <a:noFill/>
          <a:ln/>
        </p:spPr>
        <p:txBody>
          <a:bodyPr wrap="square" rtlCol="0" anchor="ctr"/>
          <a:lstStyle/>
          <a:p>
            <a:pPr indent="0" marL="0">
              <a:buNone/>
            </a:pPr>
            <a:r>
              <a:rPr lang="en-US" sz="2600" b="1" dirty="0">
                <a:solidFill>
                  <a:srgbClr val="F5F8FA"/>
                </a:solidFill>
                <a:latin typeface="Cambria" pitchFamily="34" charset="0"/>
                <a:ea typeface="Cambria" pitchFamily="34" charset="-122"/>
                <a:cs typeface="Cambria" pitchFamily="34" charset="-120"/>
              </a:rPr>
              <a:t>Ransomware</a:t>
            </a:r>
            <a:endParaRPr lang="en-US" sz="2600" dirty="0"/>
          </a:p>
        </p:txBody>
      </p:sp>
      <p:sp>
        <p:nvSpPr>
          <p:cNvPr id="5" name="Text 2"/>
          <p:cNvSpPr/>
          <p:nvPr/>
        </p:nvSpPr>
        <p:spPr>
          <a:xfrm>
            <a:off x="1234440" y="713232"/>
            <a:ext cx="7315200" cy="274320"/>
          </a:xfrm>
          <a:prstGeom prst="rect">
            <a:avLst/>
          </a:prstGeom>
          <a:noFill/>
          <a:ln/>
        </p:spPr>
        <p:txBody>
          <a:bodyPr wrap="square" rtlCol="0" anchor="ctr"/>
          <a:lstStyle/>
          <a:p>
            <a:pPr indent="0" marL="0">
              <a:buNone/>
            </a:pPr>
            <a:r>
              <a:rPr lang="en-US" sz="1150" b="1" spc="200" kern="0" dirty="0">
                <a:solidFill>
                  <a:srgbClr val="22E2FF"/>
                </a:solidFill>
                <a:latin typeface="Calibri" pitchFamily="34" charset="0"/>
                <a:ea typeface="Calibri" pitchFamily="34" charset="-122"/>
                <a:cs typeface="Calibri" pitchFamily="34" charset="-120"/>
              </a:rPr>
              <a:t>HOW THE ATTACK WORKS</a:t>
            </a:r>
            <a:endParaRPr lang="en-US" sz="1150" dirty="0"/>
          </a:p>
        </p:txBody>
      </p:sp>
      <p:sp>
        <p:nvSpPr>
          <p:cNvPr id="6" name="Shape 3"/>
          <p:cNvSpPr/>
          <p:nvPr/>
        </p:nvSpPr>
        <p:spPr>
          <a:xfrm>
            <a:off x="548640" y="1143000"/>
            <a:ext cx="11091672" cy="777240"/>
          </a:xfrm>
          <a:prstGeom prst="roundRect">
            <a:avLst>
              <a:gd name="adj" fmla="val 7059"/>
            </a:avLst>
          </a:prstGeom>
          <a:solidFill>
            <a:srgbClr val="1C2733"/>
          </a:solidFill>
          <a:ln w="12700">
            <a:solidFill>
              <a:srgbClr val="445362"/>
            </a:solidFill>
            <a:prstDash val="solid"/>
          </a:ln>
        </p:spPr>
      </p:sp>
      <p:sp>
        <p:nvSpPr>
          <p:cNvPr id="7" name="Text 4"/>
          <p:cNvSpPr/>
          <p:nvPr/>
        </p:nvSpPr>
        <p:spPr>
          <a:xfrm>
            <a:off x="777240" y="1143000"/>
            <a:ext cx="10607040" cy="777240"/>
          </a:xfrm>
          <a:prstGeom prst="rect">
            <a:avLst/>
          </a:prstGeom>
          <a:noFill/>
          <a:ln/>
        </p:spPr>
        <p:txBody>
          <a:bodyPr wrap="square" lIns="0" tIns="0" rIns="0" bIns="0" rtlCol="0" anchor="ctr"/>
          <a:lstStyle/>
          <a:p>
            <a:pPr indent="0" marL="0">
              <a:buNone/>
            </a:pPr>
            <a:r>
              <a:rPr lang="en-US" sz="1250" dirty="0">
                <a:solidFill>
                  <a:srgbClr val="F5F8FA"/>
                </a:solidFill>
                <a:latin typeface="Calibri" pitchFamily="34" charset="0"/>
                <a:ea typeface="Calibri" pitchFamily="34" charset="-122"/>
                <a:cs typeface="Calibri" pitchFamily="34" charset="-120"/>
              </a:rPr>
              <a:t>Malware that encrypts a victim's files or systems and demands payment for the decryption key, often paired with data theft for added leverage.</a:t>
            </a:r>
            <a:endParaRPr lang="en-US" sz="1250" dirty="0"/>
          </a:p>
        </p:txBody>
      </p:sp>
      <p:sp>
        <p:nvSpPr>
          <p:cNvPr id="8" name="Shape 5"/>
          <p:cNvSpPr/>
          <p:nvPr/>
        </p:nvSpPr>
        <p:spPr>
          <a:xfrm>
            <a:off x="548640" y="2148840"/>
            <a:ext cx="3514344" cy="1783080"/>
          </a:xfrm>
          <a:prstGeom prst="roundRect">
            <a:avLst>
              <a:gd name="adj" fmla="val 4103"/>
            </a:avLst>
          </a:prstGeom>
          <a:solidFill>
            <a:srgbClr val="27333F"/>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9" name="Shape 6"/>
          <p:cNvSpPr/>
          <p:nvPr/>
        </p:nvSpPr>
        <p:spPr>
          <a:xfrm>
            <a:off x="713232" y="2313432"/>
            <a:ext cx="457200" cy="457200"/>
          </a:xfrm>
          <a:prstGeom prst="ellipse">
            <a:avLst/>
          </a:prstGeom>
          <a:solidFill>
            <a:srgbClr val="0D1117"/>
          </a:solidFill>
          <a:ln w="19050">
            <a:solidFill>
              <a:srgbClr val="22E2FF"/>
            </a:solidFill>
            <a:prstDash val="solid"/>
          </a:ln>
        </p:spPr>
      </p:sp>
      <p:sp>
        <p:nvSpPr>
          <p:cNvPr id="10" name="Text 7"/>
          <p:cNvSpPr/>
          <p:nvPr/>
        </p:nvSpPr>
        <p:spPr>
          <a:xfrm>
            <a:off x="713232" y="2313432"/>
            <a:ext cx="457200" cy="457200"/>
          </a:xfrm>
          <a:prstGeom prst="rect">
            <a:avLst/>
          </a:prstGeom>
          <a:noFill/>
          <a:ln/>
        </p:spPr>
        <p:txBody>
          <a:bodyPr wrap="square" lIns="0" tIns="0" rIns="0" bIns="0" rtlCol="0" anchor="ctr"/>
          <a:lstStyle/>
          <a:p>
            <a:pPr algn="ctr" indent="0" marL="0">
              <a:buNone/>
            </a:pPr>
            <a:r>
              <a:rPr lang="en-US" sz="1600" b="1" dirty="0">
                <a:solidFill>
                  <a:srgbClr val="22E2FF"/>
                </a:solidFill>
                <a:latin typeface="Cambria" pitchFamily="34" charset="0"/>
                <a:ea typeface="Cambria" pitchFamily="34" charset="-122"/>
                <a:cs typeface="Cambria" pitchFamily="34" charset="-120"/>
              </a:rPr>
              <a:t>1</a:t>
            </a:r>
            <a:endParaRPr lang="en-US" sz="1600" dirty="0"/>
          </a:p>
        </p:txBody>
      </p:sp>
      <p:sp>
        <p:nvSpPr>
          <p:cNvPr id="11" name="Text 8"/>
          <p:cNvSpPr/>
          <p:nvPr/>
        </p:nvSpPr>
        <p:spPr>
          <a:xfrm>
            <a:off x="731520" y="2862072"/>
            <a:ext cx="3148584" cy="384048"/>
          </a:xfrm>
          <a:prstGeom prst="rect">
            <a:avLst/>
          </a:prstGeom>
          <a:noFill/>
          <a:ln/>
        </p:spPr>
        <p:txBody>
          <a:bodyPr wrap="square" lIns="0" tIns="0" rIns="0" bIns="0" rtlCol="0" anchor="ctr"/>
          <a:lstStyle/>
          <a:p>
            <a:pPr indent="0" marL="0">
              <a:buNone/>
            </a:pPr>
            <a:r>
              <a:rPr lang="en-US" sz="1300" b="1" dirty="0">
                <a:solidFill>
                  <a:srgbClr val="F5F8FA"/>
                </a:solidFill>
                <a:latin typeface="Calibri" pitchFamily="34" charset="0"/>
                <a:ea typeface="Calibri" pitchFamily="34" charset="-122"/>
                <a:cs typeface="Calibri" pitchFamily="34" charset="-120"/>
              </a:rPr>
              <a:t>Initial Access</a:t>
            </a:r>
            <a:endParaRPr lang="en-US" sz="1300" dirty="0"/>
          </a:p>
        </p:txBody>
      </p:sp>
      <p:sp>
        <p:nvSpPr>
          <p:cNvPr id="12" name="Text 9"/>
          <p:cNvSpPr/>
          <p:nvPr/>
        </p:nvSpPr>
        <p:spPr>
          <a:xfrm>
            <a:off x="731520" y="3227832"/>
            <a:ext cx="3148584" cy="640080"/>
          </a:xfrm>
          <a:prstGeom prst="rect">
            <a:avLst/>
          </a:prstGeom>
          <a:noFill/>
          <a:ln/>
        </p:spPr>
        <p:txBody>
          <a:bodyPr wrap="square" lIns="0" tIns="0" rIns="0" bIns="0" rtlCol="0" anchor="ctr"/>
          <a:lstStyle/>
          <a:p>
            <a:pPr indent="0" marL="0">
              <a:buNone/>
            </a:pPr>
            <a:r>
              <a:rPr lang="en-US" sz="1000" dirty="0">
                <a:solidFill>
                  <a:srgbClr val="C3CDD6"/>
                </a:solidFill>
                <a:latin typeface="Calibri" pitchFamily="34" charset="0"/>
                <a:ea typeface="Calibri" pitchFamily="34" charset="-122"/>
                <a:cs typeface="Calibri" pitchFamily="34" charset="-120"/>
              </a:rPr>
              <a:t>Entry via phishing, exposed RDP, or an unpatched vulnerability.</a:t>
            </a:r>
            <a:endParaRPr lang="en-US" sz="1000" dirty="0"/>
          </a:p>
        </p:txBody>
      </p:sp>
      <p:sp>
        <p:nvSpPr>
          <p:cNvPr id="13" name="Shape 10"/>
          <p:cNvSpPr/>
          <p:nvPr/>
        </p:nvSpPr>
        <p:spPr>
          <a:xfrm>
            <a:off x="4337304" y="2148840"/>
            <a:ext cx="3514344" cy="1783080"/>
          </a:xfrm>
          <a:prstGeom prst="roundRect">
            <a:avLst>
              <a:gd name="adj" fmla="val 4103"/>
            </a:avLst>
          </a:prstGeom>
          <a:solidFill>
            <a:srgbClr val="27333F"/>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14" name="Shape 11"/>
          <p:cNvSpPr/>
          <p:nvPr/>
        </p:nvSpPr>
        <p:spPr>
          <a:xfrm>
            <a:off x="4501896" y="2313432"/>
            <a:ext cx="457200" cy="457200"/>
          </a:xfrm>
          <a:prstGeom prst="ellipse">
            <a:avLst/>
          </a:prstGeom>
          <a:solidFill>
            <a:srgbClr val="0D1117"/>
          </a:solidFill>
          <a:ln w="19050">
            <a:solidFill>
              <a:srgbClr val="22E2FF"/>
            </a:solidFill>
            <a:prstDash val="solid"/>
          </a:ln>
        </p:spPr>
      </p:sp>
      <p:sp>
        <p:nvSpPr>
          <p:cNvPr id="15" name="Text 12"/>
          <p:cNvSpPr/>
          <p:nvPr/>
        </p:nvSpPr>
        <p:spPr>
          <a:xfrm>
            <a:off x="4501896" y="2313432"/>
            <a:ext cx="457200" cy="457200"/>
          </a:xfrm>
          <a:prstGeom prst="rect">
            <a:avLst/>
          </a:prstGeom>
          <a:noFill/>
          <a:ln/>
        </p:spPr>
        <p:txBody>
          <a:bodyPr wrap="square" lIns="0" tIns="0" rIns="0" bIns="0" rtlCol="0" anchor="ctr"/>
          <a:lstStyle/>
          <a:p>
            <a:pPr algn="ctr" indent="0" marL="0">
              <a:buNone/>
            </a:pPr>
            <a:r>
              <a:rPr lang="en-US" sz="1600" b="1" dirty="0">
                <a:solidFill>
                  <a:srgbClr val="22E2FF"/>
                </a:solidFill>
                <a:latin typeface="Cambria" pitchFamily="34" charset="0"/>
                <a:ea typeface="Cambria" pitchFamily="34" charset="-122"/>
                <a:cs typeface="Cambria" pitchFamily="34" charset="-120"/>
              </a:rPr>
              <a:t>2</a:t>
            </a:r>
            <a:endParaRPr lang="en-US" sz="1600" dirty="0"/>
          </a:p>
        </p:txBody>
      </p:sp>
      <p:sp>
        <p:nvSpPr>
          <p:cNvPr id="16" name="Text 13"/>
          <p:cNvSpPr/>
          <p:nvPr/>
        </p:nvSpPr>
        <p:spPr>
          <a:xfrm>
            <a:off x="4520184" y="2862072"/>
            <a:ext cx="3148584" cy="384048"/>
          </a:xfrm>
          <a:prstGeom prst="rect">
            <a:avLst/>
          </a:prstGeom>
          <a:noFill/>
          <a:ln/>
        </p:spPr>
        <p:txBody>
          <a:bodyPr wrap="square" lIns="0" tIns="0" rIns="0" bIns="0" rtlCol="0" anchor="ctr"/>
          <a:lstStyle/>
          <a:p>
            <a:pPr indent="0" marL="0">
              <a:buNone/>
            </a:pPr>
            <a:r>
              <a:rPr lang="en-US" sz="1300" b="1" dirty="0">
                <a:solidFill>
                  <a:srgbClr val="F5F8FA"/>
                </a:solidFill>
                <a:latin typeface="Calibri" pitchFamily="34" charset="0"/>
                <a:ea typeface="Calibri" pitchFamily="34" charset="-122"/>
                <a:cs typeface="Calibri" pitchFamily="34" charset="-120"/>
              </a:rPr>
              <a:t>Execution</a:t>
            </a:r>
            <a:endParaRPr lang="en-US" sz="1300" dirty="0"/>
          </a:p>
        </p:txBody>
      </p:sp>
      <p:sp>
        <p:nvSpPr>
          <p:cNvPr id="17" name="Text 14"/>
          <p:cNvSpPr/>
          <p:nvPr/>
        </p:nvSpPr>
        <p:spPr>
          <a:xfrm>
            <a:off x="4520184" y="3227832"/>
            <a:ext cx="3148584" cy="640080"/>
          </a:xfrm>
          <a:prstGeom prst="rect">
            <a:avLst/>
          </a:prstGeom>
          <a:noFill/>
          <a:ln/>
        </p:spPr>
        <p:txBody>
          <a:bodyPr wrap="square" lIns="0" tIns="0" rIns="0" bIns="0" rtlCol="0" anchor="ctr"/>
          <a:lstStyle/>
          <a:p>
            <a:pPr indent="0" marL="0">
              <a:buNone/>
            </a:pPr>
            <a:r>
              <a:rPr lang="en-US" sz="1000" dirty="0">
                <a:solidFill>
                  <a:srgbClr val="C3CDD6"/>
                </a:solidFill>
                <a:latin typeface="Calibri" pitchFamily="34" charset="0"/>
                <a:ea typeface="Calibri" pitchFamily="34" charset="-122"/>
                <a:cs typeface="Calibri" pitchFamily="34" charset="-120"/>
              </a:rPr>
              <a:t>Payload runs and establishes persistence on the host.</a:t>
            </a:r>
            <a:endParaRPr lang="en-US" sz="1000" dirty="0"/>
          </a:p>
        </p:txBody>
      </p:sp>
      <p:sp>
        <p:nvSpPr>
          <p:cNvPr id="18" name="Shape 15"/>
          <p:cNvSpPr/>
          <p:nvPr/>
        </p:nvSpPr>
        <p:spPr>
          <a:xfrm>
            <a:off x="8125968" y="2148840"/>
            <a:ext cx="3514344" cy="1783080"/>
          </a:xfrm>
          <a:prstGeom prst="roundRect">
            <a:avLst>
              <a:gd name="adj" fmla="val 4103"/>
            </a:avLst>
          </a:prstGeom>
          <a:solidFill>
            <a:srgbClr val="27333F"/>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19" name="Shape 16"/>
          <p:cNvSpPr/>
          <p:nvPr/>
        </p:nvSpPr>
        <p:spPr>
          <a:xfrm>
            <a:off x="8290560" y="2313432"/>
            <a:ext cx="457200" cy="457200"/>
          </a:xfrm>
          <a:prstGeom prst="ellipse">
            <a:avLst/>
          </a:prstGeom>
          <a:solidFill>
            <a:srgbClr val="0D1117"/>
          </a:solidFill>
          <a:ln w="19050">
            <a:solidFill>
              <a:srgbClr val="22E2FF"/>
            </a:solidFill>
            <a:prstDash val="solid"/>
          </a:ln>
        </p:spPr>
      </p:sp>
      <p:sp>
        <p:nvSpPr>
          <p:cNvPr id="20" name="Text 17"/>
          <p:cNvSpPr/>
          <p:nvPr/>
        </p:nvSpPr>
        <p:spPr>
          <a:xfrm>
            <a:off x="8290560" y="2313432"/>
            <a:ext cx="457200" cy="457200"/>
          </a:xfrm>
          <a:prstGeom prst="rect">
            <a:avLst/>
          </a:prstGeom>
          <a:noFill/>
          <a:ln/>
        </p:spPr>
        <p:txBody>
          <a:bodyPr wrap="square" lIns="0" tIns="0" rIns="0" bIns="0" rtlCol="0" anchor="ctr"/>
          <a:lstStyle/>
          <a:p>
            <a:pPr algn="ctr" indent="0" marL="0">
              <a:buNone/>
            </a:pPr>
            <a:r>
              <a:rPr lang="en-US" sz="1600" b="1" dirty="0">
                <a:solidFill>
                  <a:srgbClr val="22E2FF"/>
                </a:solidFill>
                <a:latin typeface="Cambria" pitchFamily="34" charset="0"/>
                <a:ea typeface="Cambria" pitchFamily="34" charset="-122"/>
                <a:cs typeface="Cambria" pitchFamily="34" charset="-120"/>
              </a:rPr>
              <a:t>3</a:t>
            </a:r>
            <a:endParaRPr lang="en-US" sz="1600" dirty="0"/>
          </a:p>
        </p:txBody>
      </p:sp>
      <p:sp>
        <p:nvSpPr>
          <p:cNvPr id="21" name="Text 18"/>
          <p:cNvSpPr/>
          <p:nvPr/>
        </p:nvSpPr>
        <p:spPr>
          <a:xfrm>
            <a:off x="8308848" y="2862072"/>
            <a:ext cx="3148584" cy="384048"/>
          </a:xfrm>
          <a:prstGeom prst="rect">
            <a:avLst/>
          </a:prstGeom>
          <a:noFill/>
          <a:ln/>
        </p:spPr>
        <p:txBody>
          <a:bodyPr wrap="square" lIns="0" tIns="0" rIns="0" bIns="0" rtlCol="0" anchor="ctr"/>
          <a:lstStyle/>
          <a:p>
            <a:pPr indent="0" marL="0">
              <a:buNone/>
            </a:pPr>
            <a:r>
              <a:rPr lang="en-US" sz="1300" b="1" dirty="0">
                <a:solidFill>
                  <a:srgbClr val="F5F8FA"/>
                </a:solidFill>
                <a:latin typeface="Calibri" pitchFamily="34" charset="0"/>
                <a:ea typeface="Calibri" pitchFamily="34" charset="-122"/>
                <a:cs typeface="Calibri" pitchFamily="34" charset="-120"/>
              </a:rPr>
              <a:t>Lateral Movement</a:t>
            </a:r>
            <a:endParaRPr lang="en-US" sz="1300" dirty="0"/>
          </a:p>
        </p:txBody>
      </p:sp>
      <p:sp>
        <p:nvSpPr>
          <p:cNvPr id="22" name="Text 19"/>
          <p:cNvSpPr/>
          <p:nvPr/>
        </p:nvSpPr>
        <p:spPr>
          <a:xfrm>
            <a:off x="8308848" y="3227832"/>
            <a:ext cx="3148584" cy="640080"/>
          </a:xfrm>
          <a:prstGeom prst="rect">
            <a:avLst/>
          </a:prstGeom>
          <a:noFill/>
          <a:ln/>
        </p:spPr>
        <p:txBody>
          <a:bodyPr wrap="square" lIns="0" tIns="0" rIns="0" bIns="0" rtlCol="0" anchor="ctr"/>
          <a:lstStyle/>
          <a:p>
            <a:pPr indent="0" marL="0">
              <a:buNone/>
            </a:pPr>
            <a:r>
              <a:rPr lang="en-US" sz="1000" dirty="0">
                <a:solidFill>
                  <a:srgbClr val="C3CDD6"/>
                </a:solidFill>
                <a:latin typeface="Calibri" pitchFamily="34" charset="0"/>
                <a:ea typeface="Calibri" pitchFamily="34" charset="-122"/>
                <a:cs typeface="Calibri" pitchFamily="34" charset="-120"/>
              </a:rPr>
              <a:t>Attacker escalates privileges and spreads across the network.</a:t>
            </a:r>
            <a:endParaRPr lang="en-US" sz="1000" dirty="0"/>
          </a:p>
        </p:txBody>
      </p:sp>
      <p:sp>
        <p:nvSpPr>
          <p:cNvPr id="23" name="Shape 20"/>
          <p:cNvSpPr/>
          <p:nvPr/>
        </p:nvSpPr>
        <p:spPr>
          <a:xfrm>
            <a:off x="8125968" y="4434840"/>
            <a:ext cx="3514344" cy="1783080"/>
          </a:xfrm>
          <a:prstGeom prst="roundRect">
            <a:avLst>
              <a:gd name="adj" fmla="val 4103"/>
            </a:avLst>
          </a:prstGeom>
          <a:solidFill>
            <a:srgbClr val="27333F"/>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24" name="Shape 21"/>
          <p:cNvSpPr/>
          <p:nvPr/>
        </p:nvSpPr>
        <p:spPr>
          <a:xfrm>
            <a:off x="8290560" y="4599432"/>
            <a:ext cx="457200" cy="457200"/>
          </a:xfrm>
          <a:prstGeom prst="ellipse">
            <a:avLst/>
          </a:prstGeom>
          <a:solidFill>
            <a:srgbClr val="0D1117"/>
          </a:solidFill>
          <a:ln w="19050">
            <a:solidFill>
              <a:srgbClr val="22E2FF"/>
            </a:solidFill>
            <a:prstDash val="solid"/>
          </a:ln>
        </p:spPr>
      </p:sp>
      <p:sp>
        <p:nvSpPr>
          <p:cNvPr id="25" name="Text 22"/>
          <p:cNvSpPr/>
          <p:nvPr/>
        </p:nvSpPr>
        <p:spPr>
          <a:xfrm>
            <a:off x="8290560" y="4599432"/>
            <a:ext cx="457200" cy="457200"/>
          </a:xfrm>
          <a:prstGeom prst="rect">
            <a:avLst/>
          </a:prstGeom>
          <a:noFill/>
          <a:ln/>
        </p:spPr>
        <p:txBody>
          <a:bodyPr wrap="square" lIns="0" tIns="0" rIns="0" bIns="0" rtlCol="0" anchor="ctr"/>
          <a:lstStyle/>
          <a:p>
            <a:pPr algn="ctr" indent="0" marL="0">
              <a:buNone/>
            </a:pPr>
            <a:r>
              <a:rPr lang="en-US" sz="1600" b="1" dirty="0">
                <a:solidFill>
                  <a:srgbClr val="22E2FF"/>
                </a:solidFill>
                <a:latin typeface="Cambria" pitchFamily="34" charset="0"/>
                <a:ea typeface="Cambria" pitchFamily="34" charset="-122"/>
                <a:cs typeface="Cambria" pitchFamily="34" charset="-120"/>
              </a:rPr>
              <a:t>4</a:t>
            </a:r>
            <a:endParaRPr lang="en-US" sz="1600" dirty="0"/>
          </a:p>
        </p:txBody>
      </p:sp>
      <p:sp>
        <p:nvSpPr>
          <p:cNvPr id="26" name="Text 23"/>
          <p:cNvSpPr/>
          <p:nvPr/>
        </p:nvSpPr>
        <p:spPr>
          <a:xfrm>
            <a:off x="8308848" y="5148072"/>
            <a:ext cx="3148584" cy="384048"/>
          </a:xfrm>
          <a:prstGeom prst="rect">
            <a:avLst/>
          </a:prstGeom>
          <a:noFill/>
          <a:ln/>
        </p:spPr>
        <p:txBody>
          <a:bodyPr wrap="square" lIns="0" tIns="0" rIns="0" bIns="0" rtlCol="0" anchor="ctr"/>
          <a:lstStyle/>
          <a:p>
            <a:pPr indent="0" marL="0">
              <a:buNone/>
            </a:pPr>
            <a:r>
              <a:rPr lang="en-US" sz="1300" b="1" dirty="0">
                <a:solidFill>
                  <a:srgbClr val="F5F8FA"/>
                </a:solidFill>
                <a:latin typeface="Calibri" pitchFamily="34" charset="0"/>
                <a:ea typeface="Calibri" pitchFamily="34" charset="-122"/>
                <a:cs typeface="Calibri" pitchFamily="34" charset="-120"/>
              </a:rPr>
              <a:t>Exfiltration</a:t>
            </a:r>
            <a:endParaRPr lang="en-US" sz="1300" dirty="0"/>
          </a:p>
        </p:txBody>
      </p:sp>
      <p:sp>
        <p:nvSpPr>
          <p:cNvPr id="27" name="Text 24"/>
          <p:cNvSpPr/>
          <p:nvPr/>
        </p:nvSpPr>
        <p:spPr>
          <a:xfrm>
            <a:off x="8308848" y="5513832"/>
            <a:ext cx="3148584" cy="640080"/>
          </a:xfrm>
          <a:prstGeom prst="rect">
            <a:avLst/>
          </a:prstGeom>
          <a:noFill/>
          <a:ln/>
        </p:spPr>
        <p:txBody>
          <a:bodyPr wrap="square" lIns="0" tIns="0" rIns="0" bIns="0" rtlCol="0" anchor="ctr"/>
          <a:lstStyle/>
          <a:p>
            <a:pPr indent="0" marL="0">
              <a:buNone/>
            </a:pPr>
            <a:r>
              <a:rPr lang="en-US" sz="1000" dirty="0">
                <a:solidFill>
                  <a:srgbClr val="C3CDD6"/>
                </a:solidFill>
                <a:latin typeface="Calibri" pitchFamily="34" charset="0"/>
                <a:ea typeface="Calibri" pitchFamily="34" charset="-122"/>
                <a:cs typeface="Calibri" pitchFamily="34" charset="-120"/>
              </a:rPr>
              <a:t>Sensitive data is copied out for double-extortion leverage.</a:t>
            </a:r>
            <a:endParaRPr lang="en-US" sz="1000" dirty="0"/>
          </a:p>
        </p:txBody>
      </p:sp>
      <p:sp>
        <p:nvSpPr>
          <p:cNvPr id="28" name="Shape 25"/>
          <p:cNvSpPr/>
          <p:nvPr/>
        </p:nvSpPr>
        <p:spPr>
          <a:xfrm>
            <a:off x="4337304" y="4434840"/>
            <a:ext cx="3514344" cy="1783080"/>
          </a:xfrm>
          <a:prstGeom prst="roundRect">
            <a:avLst>
              <a:gd name="adj" fmla="val 4103"/>
            </a:avLst>
          </a:prstGeom>
          <a:solidFill>
            <a:srgbClr val="27333F"/>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29" name="Shape 26"/>
          <p:cNvSpPr/>
          <p:nvPr/>
        </p:nvSpPr>
        <p:spPr>
          <a:xfrm>
            <a:off x="4501896" y="4599432"/>
            <a:ext cx="457200" cy="457200"/>
          </a:xfrm>
          <a:prstGeom prst="ellipse">
            <a:avLst/>
          </a:prstGeom>
          <a:solidFill>
            <a:srgbClr val="0D1117"/>
          </a:solidFill>
          <a:ln w="19050">
            <a:solidFill>
              <a:srgbClr val="22E2FF"/>
            </a:solidFill>
            <a:prstDash val="solid"/>
          </a:ln>
        </p:spPr>
      </p:sp>
      <p:sp>
        <p:nvSpPr>
          <p:cNvPr id="30" name="Text 27"/>
          <p:cNvSpPr/>
          <p:nvPr/>
        </p:nvSpPr>
        <p:spPr>
          <a:xfrm>
            <a:off x="4501896" y="4599432"/>
            <a:ext cx="457200" cy="457200"/>
          </a:xfrm>
          <a:prstGeom prst="rect">
            <a:avLst/>
          </a:prstGeom>
          <a:noFill/>
          <a:ln/>
        </p:spPr>
        <p:txBody>
          <a:bodyPr wrap="square" lIns="0" tIns="0" rIns="0" bIns="0" rtlCol="0" anchor="ctr"/>
          <a:lstStyle/>
          <a:p>
            <a:pPr algn="ctr" indent="0" marL="0">
              <a:buNone/>
            </a:pPr>
            <a:r>
              <a:rPr lang="en-US" sz="1600" b="1" dirty="0">
                <a:solidFill>
                  <a:srgbClr val="22E2FF"/>
                </a:solidFill>
                <a:latin typeface="Cambria" pitchFamily="34" charset="0"/>
                <a:ea typeface="Cambria" pitchFamily="34" charset="-122"/>
                <a:cs typeface="Cambria" pitchFamily="34" charset="-120"/>
              </a:rPr>
              <a:t>5</a:t>
            </a:r>
            <a:endParaRPr lang="en-US" sz="1600" dirty="0"/>
          </a:p>
        </p:txBody>
      </p:sp>
      <p:sp>
        <p:nvSpPr>
          <p:cNvPr id="31" name="Text 28"/>
          <p:cNvSpPr/>
          <p:nvPr/>
        </p:nvSpPr>
        <p:spPr>
          <a:xfrm>
            <a:off x="4520184" y="5148072"/>
            <a:ext cx="3148584" cy="384048"/>
          </a:xfrm>
          <a:prstGeom prst="rect">
            <a:avLst/>
          </a:prstGeom>
          <a:noFill/>
          <a:ln/>
        </p:spPr>
        <p:txBody>
          <a:bodyPr wrap="square" lIns="0" tIns="0" rIns="0" bIns="0" rtlCol="0" anchor="ctr"/>
          <a:lstStyle/>
          <a:p>
            <a:pPr indent="0" marL="0">
              <a:buNone/>
            </a:pPr>
            <a:r>
              <a:rPr lang="en-US" sz="1300" b="1" dirty="0">
                <a:solidFill>
                  <a:srgbClr val="F5F8FA"/>
                </a:solidFill>
                <a:latin typeface="Calibri" pitchFamily="34" charset="0"/>
                <a:ea typeface="Calibri" pitchFamily="34" charset="-122"/>
                <a:cs typeface="Calibri" pitchFamily="34" charset="-120"/>
              </a:rPr>
              <a:t>Encryption</a:t>
            </a:r>
            <a:endParaRPr lang="en-US" sz="1300" dirty="0"/>
          </a:p>
        </p:txBody>
      </p:sp>
      <p:sp>
        <p:nvSpPr>
          <p:cNvPr id="32" name="Text 29"/>
          <p:cNvSpPr/>
          <p:nvPr/>
        </p:nvSpPr>
        <p:spPr>
          <a:xfrm>
            <a:off x="4520184" y="5513832"/>
            <a:ext cx="3148584" cy="640080"/>
          </a:xfrm>
          <a:prstGeom prst="rect">
            <a:avLst/>
          </a:prstGeom>
          <a:noFill/>
          <a:ln/>
        </p:spPr>
        <p:txBody>
          <a:bodyPr wrap="square" lIns="0" tIns="0" rIns="0" bIns="0" rtlCol="0" anchor="ctr"/>
          <a:lstStyle/>
          <a:p>
            <a:pPr indent="0" marL="0">
              <a:buNone/>
            </a:pPr>
            <a:r>
              <a:rPr lang="en-US" sz="1000" dirty="0">
                <a:solidFill>
                  <a:srgbClr val="C3CDD6"/>
                </a:solidFill>
                <a:latin typeface="Calibri" pitchFamily="34" charset="0"/>
                <a:ea typeface="Calibri" pitchFamily="34" charset="-122"/>
                <a:cs typeface="Calibri" pitchFamily="34" charset="-120"/>
              </a:rPr>
              <a:t>Files, backups, and systems are locked with strong encryption.</a:t>
            </a:r>
            <a:endParaRPr lang="en-US" sz="1000" dirty="0"/>
          </a:p>
        </p:txBody>
      </p:sp>
      <p:sp>
        <p:nvSpPr>
          <p:cNvPr id="33" name="Shape 30"/>
          <p:cNvSpPr/>
          <p:nvPr/>
        </p:nvSpPr>
        <p:spPr>
          <a:xfrm>
            <a:off x="548640" y="4434840"/>
            <a:ext cx="3514344" cy="1783080"/>
          </a:xfrm>
          <a:prstGeom prst="roundRect">
            <a:avLst>
              <a:gd name="adj" fmla="val 4103"/>
            </a:avLst>
          </a:prstGeom>
          <a:solidFill>
            <a:srgbClr val="27333F"/>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34" name="Shape 31"/>
          <p:cNvSpPr/>
          <p:nvPr/>
        </p:nvSpPr>
        <p:spPr>
          <a:xfrm>
            <a:off x="713232" y="4599432"/>
            <a:ext cx="457200" cy="457200"/>
          </a:xfrm>
          <a:prstGeom prst="ellipse">
            <a:avLst/>
          </a:prstGeom>
          <a:solidFill>
            <a:srgbClr val="0D1117"/>
          </a:solidFill>
          <a:ln w="19050">
            <a:solidFill>
              <a:srgbClr val="22E2FF"/>
            </a:solidFill>
            <a:prstDash val="solid"/>
          </a:ln>
        </p:spPr>
      </p:sp>
      <p:sp>
        <p:nvSpPr>
          <p:cNvPr id="35" name="Text 32"/>
          <p:cNvSpPr/>
          <p:nvPr/>
        </p:nvSpPr>
        <p:spPr>
          <a:xfrm>
            <a:off x="713232" y="4599432"/>
            <a:ext cx="457200" cy="457200"/>
          </a:xfrm>
          <a:prstGeom prst="rect">
            <a:avLst/>
          </a:prstGeom>
          <a:noFill/>
          <a:ln/>
        </p:spPr>
        <p:txBody>
          <a:bodyPr wrap="square" lIns="0" tIns="0" rIns="0" bIns="0" rtlCol="0" anchor="ctr"/>
          <a:lstStyle/>
          <a:p>
            <a:pPr algn="ctr" indent="0" marL="0">
              <a:buNone/>
            </a:pPr>
            <a:r>
              <a:rPr lang="en-US" sz="1600" b="1" dirty="0">
                <a:solidFill>
                  <a:srgbClr val="22E2FF"/>
                </a:solidFill>
                <a:latin typeface="Cambria" pitchFamily="34" charset="0"/>
                <a:ea typeface="Cambria" pitchFamily="34" charset="-122"/>
                <a:cs typeface="Cambria" pitchFamily="34" charset="-120"/>
              </a:rPr>
              <a:t>6</a:t>
            </a:r>
            <a:endParaRPr lang="en-US" sz="1600" dirty="0"/>
          </a:p>
        </p:txBody>
      </p:sp>
      <p:sp>
        <p:nvSpPr>
          <p:cNvPr id="36" name="Text 33"/>
          <p:cNvSpPr/>
          <p:nvPr/>
        </p:nvSpPr>
        <p:spPr>
          <a:xfrm>
            <a:off x="731520" y="5148072"/>
            <a:ext cx="3148584" cy="384048"/>
          </a:xfrm>
          <a:prstGeom prst="rect">
            <a:avLst/>
          </a:prstGeom>
          <a:noFill/>
          <a:ln/>
        </p:spPr>
        <p:txBody>
          <a:bodyPr wrap="square" lIns="0" tIns="0" rIns="0" bIns="0" rtlCol="0" anchor="ctr"/>
          <a:lstStyle/>
          <a:p>
            <a:pPr indent="0" marL="0">
              <a:buNone/>
            </a:pPr>
            <a:r>
              <a:rPr lang="en-US" sz="1300" b="1" dirty="0">
                <a:solidFill>
                  <a:srgbClr val="F5F8FA"/>
                </a:solidFill>
                <a:latin typeface="Calibri" pitchFamily="34" charset="0"/>
                <a:ea typeface="Calibri" pitchFamily="34" charset="-122"/>
                <a:cs typeface="Calibri" pitchFamily="34" charset="-120"/>
              </a:rPr>
              <a:t>Extortion</a:t>
            </a:r>
            <a:endParaRPr lang="en-US" sz="1300" dirty="0"/>
          </a:p>
        </p:txBody>
      </p:sp>
      <p:sp>
        <p:nvSpPr>
          <p:cNvPr id="37" name="Text 34"/>
          <p:cNvSpPr/>
          <p:nvPr/>
        </p:nvSpPr>
        <p:spPr>
          <a:xfrm>
            <a:off x="731520" y="5513832"/>
            <a:ext cx="3148584" cy="640080"/>
          </a:xfrm>
          <a:prstGeom prst="rect">
            <a:avLst/>
          </a:prstGeom>
          <a:noFill/>
          <a:ln/>
        </p:spPr>
        <p:txBody>
          <a:bodyPr wrap="square" lIns="0" tIns="0" rIns="0" bIns="0" rtlCol="0" anchor="ctr"/>
          <a:lstStyle/>
          <a:p>
            <a:pPr indent="0" marL="0">
              <a:buNone/>
            </a:pPr>
            <a:r>
              <a:rPr lang="en-US" sz="1000" dirty="0">
                <a:solidFill>
                  <a:srgbClr val="C3CDD6"/>
                </a:solidFill>
                <a:latin typeface="Calibri" pitchFamily="34" charset="0"/>
                <a:ea typeface="Calibri" pitchFamily="34" charset="-122"/>
                <a:cs typeface="Calibri" pitchFamily="34" charset="-120"/>
              </a:rPr>
              <a:t>A ransom note demands payment, threatening to leak stolen data.</a:t>
            </a:r>
            <a:endParaRPr lang="en-US" sz="1000" dirty="0"/>
          </a:p>
        </p:txBody>
      </p:sp>
      <p:sp>
        <p:nvSpPr>
          <p:cNvPr id="38" name="Shape 35"/>
          <p:cNvSpPr/>
          <p:nvPr/>
        </p:nvSpPr>
        <p:spPr>
          <a:xfrm>
            <a:off x="4081272" y="2958084"/>
            <a:ext cx="237744" cy="164592"/>
          </a:xfrm>
          <a:prstGeom prst="rightArrow">
            <a:avLst/>
          </a:prstGeom>
          <a:solidFill>
            <a:srgbClr val="22E2FF"/>
          </a:solidFill>
          <a:ln/>
        </p:spPr>
      </p:sp>
      <p:sp>
        <p:nvSpPr>
          <p:cNvPr id="39" name="Shape 36"/>
          <p:cNvSpPr/>
          <p:nvPr/>
        </p:nvSpPr>
        <p:spPr>
          <a:xfrm>
            <a:off x="7869936" y="2958084"/>
            <a:ext cx="237744" cy="164592"/>
          </a:xfrm>
          <a:prstGeom prst="rightArrow">
            <a:avLst/>
          </a:prstGeom>
          <a:solidFill>
            <a:srgbClr val="22E2FF"/>
          </a:solidFill>
          <a:ln/>
        </p:spPr>
      </p:sp>
      <p:sp>
        <p:nvSpPr>
          <p:cNvPr id="40" name="Shape 37"/>
          <p:cNvSpPr/>
          <p:nvPr/>
        </p:nvSpPr>
        <p:spPr>
          <a:xfrm>
            <a:off x="9800844" y="3959352"/>
            <a:ext cx="164592" cy="448056"/>
          </a:xfrm>
          <a:prstGeom prst="downArrow">
            <a:avLst/>
          </a:prstGeom>
          <a:solidFill>
            <a:srgbClr val="22E2FF"/>
          </a:solidFill>
          <a:ln/>
        </p:spPr>
      </p:sp>
      <p:sp>
        <p:nvSpPr>
          <p:cNvPr id="41" name="Shape 38"/>
          <p:cNvSpPr/>
          <p:nvPr/>
        </p:nvSpPr>
        <p:spPr>
          <a:xfrm>
            <a:off x="7869936" y="5244084"/>
            <a:ext cx="237744" cy="164592"/>
          </a:xfrm>
          <a:prstGeom prst="leftArrow">
            <a:avLst/>
          </a:prstGeom>
          <a:solidFill>
            <a:srgbClr val="22E2FF"/>
          </a:solidFill>
          <a:ln/>
        </p:spPr>
      </p:sp>
      <p:sp>
        <p:nvSpPr>
          <p:cNvPr id="42" name="Shape 39"/>
          <p:cNvSpPr/>
          <p:nvPr/>
        </p:nvSpPr>
        <p:spPr>
          <a:xfrm>
            <a:off x="4081272" y="5244084"/>
            <a:ext cx="237744" cy="164592"/>
          </a:xfrm>
          <a:prstGeom prst="leftArrow">
            <a:avLst/>
          </a:prstGeom>
          <a:solidFill>
            <a:srgbClr val="22E2FF"/>
          </a:solidFill>
          <a:ln/>
        </p:spPr>
      </p:sp>
      <p:sp>
        <p:nvSpPr>
          <p:cNvPr id="43" name="Text 40"/>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C3CDD6"/>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548640" y="347472"/>
            <a:ext cx="566928" cy="566928"/>
          </a:xfrm>
          <a:prstGeom prst="ellipse">
            <a:avLst/>
          </a:prstGeom>
          <a:solidFill>
            <a:srgbClr val="27333F"/>
          </a:solidFill>
          <a:ln w="19050">
            <a:solidFill>
              <a:srgbClr val="22E2FF"/>
            </a:solidFill>
            <a:prstDash val="solid"/>
          </a:ln>
        </p:spPr>
      </p:sp>
      <p:pic>
        <p:nvPicPr>
          <p:cNvPr id="3" name="Image 0" descr="/home/claude/cyberdeck/icons/ransomware_cyan.png">    </p:cNvPr>
          <p:cNvPicPr>
            <a:picLocks noChangeAspect="1"/>
          </p:cNvPicPr>
          <p:nvPr/>
        </p:nvPicPr>
        <p:blipFill>
          <a:blip r:embed="rId1"/>
          <a:stretch>
            <a:fillRect/>
          </a:stretch>
        </p:blipFill>
        <p:spPr>
          <a:xfrm>
            <a:off x="696041" y="494873"/>
            <a:ext cx="272125" cy="272125"/>
          </a:xfrm>
          <a:prstGeom prst="rect">
            <a:avLst/>
          </a:prstGeom>
        </p:spPr>
      </p:pic>
      <p:sp>
        <p:nvSpPr>
          <p:cNvPr id="4" name="Text 1"/>
          <p:cNvSpPr/>
          <p:nvPr/>
        </p:nvSpPr>
        <p:spPr>
          <a:xfrm>
            <a:off x="1234440" y="320040"/>
            <a:ext cx="7315200" cy="411480"/>
          </a:xfrm>
          <a:prstGeom prst="rect">
            <a:avLst/>
          </a:prstGeom>
          <a:noFill/>
          <a:ln/>
        </p:spPr>
        <p:txBody>
          <a:bodyPr wrap="square" rtlCol="0" anchor="ctr"/>
          <a:lstStyle/>
          <a:p>
            <a:pPr indent="0" marL="0">
              <a:buNone/>
            </a:pPr>
            <a:r>
              <a:rPr lang="en-US" sz="2600" b="1" dirty="0">
                <a:solidFill>
                  <a:srgbClr val="F5F8FA"/>
                </a:solidFill>
                <a:latin typeface="Cambria" pitchFamily="34" charset="0"/>
                <a:ea typeface="Cambria" pitchFamily="34" charset="-122"/>
                <a:cs typeface="Cambria" pitchFamily="34" charset="-120"/>
              </a:rPr>
              <a:t>Ransomware</a:t>
            </a:r>
            <a:endParaRPr lang="en-US" sz="2600" dirty="0"/>
          </a:p>
        </p:txBody>
      </p:sp>
      <p:sp>
        <p:nvSpPr>
          <p:cNvPr id="5" name="Text 2"/>
          <p:cNvSpPr/>
          <p:nvPr/>
        </p:nvSpPr>
        <p:spPr>
          <a:xfrm>
            <a:off x="1234440" y="713232"/>
            <a:ext cx="7315200" cy="274320"/>
          </a:xfrm>
          <a:prstGeom prst="rect">
            <a:avLst/>
          </a:prstGeom>
          <a:noFill/>
          <a:ln/>
        </p:spPr>
        <p:txBody>
          <a:bodyPr wrap="square" rtlCol="0" anchor="ctr"/>
          <a:lstStyle/>
          <a:p>
            <a:pPr indent="0" marL="0">
              <a:buNone/>
            </a:pPr>
            <a:r>
              <a:rPr lang="en-US" sz="1150" b="1" spc="200" kern="0" dirty="0">
                <a:solidFill>
                  <a:srgbClr val="22E2FF"/>
                </a:solidFill>
                <a:latin typeface="Calibri" pitchFamily="34" charset="0"/>
                <a:ea typeface="Calibri" pitchFamily="34" charset="-122"/>
                <a:cs typeface="Calibri" pitchFamily="34" charset="-120"/>
              </a:rPr>
              <a:t>REAL-WORLD IMPACT &amp; DEFENSE</a:t>
            </a:r>
            <a:endParaRPr lang="en-US" sz="1150" dirty="0"/>
          </a:p>
        </p:txBody>
      </p:sp>
      <p:sp>
        <p:nvSpPr>
          <p:cNvPr id="6" name="Shape 3"/>
          <p:cNvSpPr/>
          <p:nvPr/>
        </p:nvSpPr>
        <p:spPr>
          <a:xfrm>
            <a:off x="548640" y="1234440"/>
            <a:ext cx="6035040" cy="1783080"/>
          </a:xfrm>
          <a:prstGeom prst="roundRect">
            <a:avLst>
              <a:gd name="adj" fmla="val 4103"/>
            </a:avLst>
          </a:prstGeom>
          <a:solidFill>
            <a:srgbClr val="1C2733"/>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7" name="Shape 4"/>
          <p:cNvSpPr/>
          <p:nvPr/>
        </p:nvSpPr>
        <p:spPr>
          <a:xfrm>
            <a:off x="777240" y="1435608"/>
            <a:ext cx="502920" cy="502920"/>
          </a:xfrm>
          <a:prstGeom prst="ellipse">
            <a:avLst/>
          </a:prstGeom>
          <a:solidFill>
            <a:srgbClr val="27333F"/>
          </a:solidFill>
          <a:ln w="19050">
            <a:solidFill>
              <a:srgbClr val="22E2FF"/>
            </a:solidFill>
            <a:prstDash val="solid"/>
          </a:ln>
        </p:spPr>
      </p:sp>
      <p:pic>
        <p:nvPicPr>
          <p:cNvPr id="8" name="Image 1" descr="/home/claude/cyberdeck/icons/building_cyan.png">    </p:cNvPr>
          <p:cNvPicPr>
            <a:picLocks noChangeAspect="1"/>
          </p:cNvPicPr>
          <p:nvPr/>
        </p:nvPicPr>
        <p:blipFill>
          <a:blip r:embed="rId2"/>
          <a:stretch>
            <a:fillRect/>
          </a:stretch>
        </p:blipFill>
        <p:spPr>
          <a:xfrm>
            <a:off x="907999" y="1566367"/>
            <a:ext cx="241402" cy="241402"/>
          </a:xfrm>
          <a:prstGeom prst="rect">
            <a:avLst/>
          </a:prstGeom>
        </p:spPr>
      </p:pic>
      <p:sp>
        <p:nvSpPr>
          <p:cNvPr id="9" name="Text 5"/>
          <p:cNvSpPr/>
          <p:nvPr/>
        </p:nvSpPr>
        <p:spPr>
          <a:xfrm>
            <a:off x="1417320" y="1490472"/>
            <a:ext cx="4937760" cy="365760"/>
          </a:xfrm>
          <a:prstGeom prst="rect">
            <a:avLst/>
          </a:prstGeom>
          <a:noFill/>
          <a:ln/>
        </p:spPr>
        <p:txBody>
          <a:bodyPr wrap="square" lIns="0" tIns="0" rIns="0" bIns="0" rtlCol="0" anchor="ctr"/>
          <a:lstStyle/>
          <a:p>
            <a:pPr indent="0" marL="0">
              <a:buNone/>
            </a:pPr>
            <a:r>
              <a:rPr lang="en-US" sz="1450" b="1" dirty="0">
                <a:solidFill>
                  <a:srgbClr val="F5F8FA"/>
                </a:solidFill>
                <a:latin typeface="Calibri" pitchFamily="34" charset="0"/>
                <a:ea typeface="Calibri" pitchFamily="34" charset="-122"/>
                <a:cs typeface="Calibri" pitchFamily="34" charset="-120"/>
              </a:rPr>
              <a:t>Real-World Example</a:t>
            </a:r>
            <a:endParaRPr lang="en-US" sz="1450" dirty="0"/>
          </a:p>
        </p:txBody>
      </p:sp>
      <p:sp>
        <p:nvSpPr>
          <p:cNvPr id="10" name="Text 6"/>
          <p:cNvSpPr/>
          <p:nvPr/>
        </p:nvSpPr>
        <p:spPr>
          <a:xfrm>
            <a:off x="777240" y="2057400"/>
            <a:ext cx="5577840" cy="822960"/>
          </a:xfrm>
          <a:prstGeom prst="rect">
            <a:avLst/>
          </a:prstGeom>
          <a:noFill/>
          <a:ln/>
        </p:spPr>
        <p:txBody>
          <a:bodyPr wrap="square" lIns="0" tIns="0" rIns="0" bIns="0" rtlCol="0" anchor="t"/>
          <a:lstStyle/>
          <a:p>
            <a:pPr indent="0" marL="0">
              <a:buNone/>
            </a:pPr>
            <a:r>
              <a:rPr lang="en-US" sz="1100" dirty="0">
                <a:solidFill>
                  <a:srgbClr val="C3CDD6"/>
                </a:solidFill>
                <a:latin typeface="Calibri" pitchFamily="34" charset="0"/>
                <a:ea typeface="Calibri" pitchFamily="34" charset="-122"/>
                <a:cs typeface="Calibri" pitchFamily="34" charset="-120"/>
              </a:rPr>
              <a:t>The May 2021 Colonial Pipeline attack by the DarkSide ransomware group forced the shutdown of a major U.S. fuel pipeline for several days, triggering regional fuel shortages; the company paid roughly $4.4 million in ransom, part of which was later recovered by the FBI.</a:t>
            </a:r>
            <a:endParaRPr lang="en-US" sz="1100" dirty="0"/>
          </a:p>
        </p:txBody>
      </p:sp>
      <p:sp>
        <p:nvSpPr>
          <p:cNvPr id="11" name="Shape 7"/>
          <p:cNvSpPr/>
          <p:nvPr/>
        </p:nvSpPr>
        <p:spPr>
          <a:xfrm>
            <a:off x="6858000" y="1234440"/>
            <a:ext cx="4782312" cy="1783080"/>
          </a:xfrm>
          <a:prstGeom prst="roundRect">
            <a:avLst>
              <a:gd name="adj" fmla="val 4103"/>
            </a:avLst>
          </a:prstGeom>
          <a:solidFill>
            <a:srgbClr val="1C2733"/>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12" name="Shape 8"/>
          <p:cNvSpPr/>
          <p:nvPr/>
        </p:nvSpPr>
        <p:spPr>
          <a:xfrm>
            <a:off x="7086600" y="1435608"/>
            <a:ext cx="502920" cy="502920"/>
          </a:xfrm>
          <a:prstGeom prst="ellipse">
            <a:avLst/>
          </a:prstGeom>
          <a:solidFill>
            <a:srgbClr val="27333F"/>
          </a:solidFill>
          <a:ln w="19050">
            <a:solidFill>
              <a:srgbClr val="FF5C51"/>
            </a:solidFill>
            <a:prstDash val="solid"/>
          </a:ln>
        </p:spPr>
      </p:sp>
      <p:pic>
        <p:nvPicPr>
          <p:cNvPr id="13" name="Image 2" descr="/home/claude/cyberdeck/icons/warning_red.png">    </p:cNvPr>
          <p:cNvPicPr>
            <a:picLocks noChangeAspect="1"/>
          </p:cNvPicPr>
          <p:nvPr/>
        </p:nvPicPr>
        <p:blipFill>
          <a:blip r:embed="rId3"/>
          <a:stretch>
            <a:fillRect/>
          </a:stretch>
        </p:blipFill>
        <p:spPr>
          <a:xfrm>
            <a:off x="7217359" y="1566367"/>
            <a:ext cx="241402" cy="241402"/>
          </a:xfrm>
          <a:prstGeom prst="rect">
            <a:avLst/>
          </a:prstGeom>
        </p:spPr>
      </p:pic>
      <p:sp>
        <p:nvSpPr>
          <p:cNvPr id="14" name="Text 9"/>
          <p:cNvSpPr/>
          <p:nvPr/>
        </p:nvSpPr>
        <p:spPr>
          <a:xfrm>
            <a:off x="7726680" y="1490472"/>
            <a:ext cx="3685032" cy="365760"/>
          </a:xfrm>
          <a:prstGeom prst="rect">
            <a:avLst/>
          </a:prstGeom>
          <a:noFill/>
          <a:ln/>
        </p:spPr>
        <p:txBody>
          <a:bodyPr wrap="square" lIns="0" tIns="0" rIns="0" bIns="0" rtlCol="0" anchor="ctr"/>
          <a:lstStyle/>
          <a:p>
            <a:pPr indent="0" marL="0">
              <a:buNone/>
            </a:pPr>
            <a:r>
              <a:rPr lang="en-US" sz="1450" b="1" dirty="0">
                <a:solidFill>
                  <a:srgbClr val="F5F8FA"/>
                </a:solidFill>
                <a:latin typeface="Calibri" pitchFamily="34" charset="0"/>
                <a:ea typeface="Calibri" pitchFamily="34" charset="-122"/>
                <a:cs typeface="Calibri" pitchFamily="34" charset="-120"/>
              </a:rPr>
              <a:t>Impact</a:t>
            </a:r>
            <a:endParaRPr lang="en-US" sz="1450" dirty="0"/>
          </a:p>
        </p:txBody>
      </p:sp>
      <p:sp>
        <p:nvSpPr>
          <p:cNvPr id="15" name="Text 10"/>
          <p:cNvSpPr/>
          <p:nvPr/>
        </p:nvSpPr>
        <p:spPr>
          <a:xfrm>
            <a:off x="7086600" y="2057400"/>
            <a:ext cx="4325112" cy="822960"/>
          </a:xfrm>
          <a:prstGeom prst="rect">
            <a:avLst/>
          </a:prstGeom>
          <a:noFill/>
          <a:ln/>
        </p:spPr>
        <p:txBody>
          <a:bodyPr wrap="square" lIns="0" tIns="0" rIns="0" bIns="0" rtlCol="0" anchor="t"/>
          <a:lstStyle/>
          <a:p>
            <a:pPr marL="177800" indent="-177800">
              <a:spcAft>
                <a:spcPts val="400"/>
              </a:spcAft>
              <a:buSzPct val="100000"/>
              <a:buChar char="▪"/>
            </a:pPr>
            <a:r>
              <a:rPr lang="en-US" sz="1050" dirty="0">
                <a:solidFill>
                  <a:srgbClr val="F5F8FA"/>
                </a:solidFill>
                <a:latin typeface="Calibri" pitchFamily="34" charset="0"/>
                <a:ea typeface="Calibri" pitchFamily="34" charset="-122"/>
                <a:cs typeface="Calibri" pitchFamily="34" charset="-120"/>
              </a:rPr>
              <a:t>Operational downtime and service disruption</a:t>
            </a:r>
            <a:endParaRPr lang="en-US" sz="1050" dirty="0"/>
          </a:p>
          <a:p>
            <a:pPr marL="177800" indent="-177800">
              <a:spcAft>
                <a:spcPts val="400"/>
              </a:spcAft>
              <a:buSzPct val="100000"/>
              <a:buChar char="▪"/>
            </a:pPr>
            <a:r>
              <a:rPr lang="en-US" sz="1050" dirty="0">
                <a:solidFill>
                  <a:srgbClr val="F5F8FA"/>
                </a:solidFill>
                <a:latin typeface="Calibri" pitchFamily="34" charset="0"/>
                <a:ea typeface="Calibri" pitchFamily="34" charset="-122"/>
                <a:cs typeface="Calibri" pitchFamily="34" charset="-120"/>
              </a:rPr>
              <a:t>Costly recovery, ransom, and legal exposure</a:t>
            </a:r>
            <a:endParaRPr lang="en-US" sz="1050" dirty="0"/>
          </a:p>
          <a:p>
            <a:pPr marL="177800" indent="-177800">
              <a:spcAft>
                <a:spcPts val="400"/>
              </a:spcAft>
              <a:buSzPct val="100000"/>
              <a:buChar char="▪"/>
            </a:pPr>
            <a:r>
              <a:rPr lang="en-US" sz="1050" dirty="0">
                <a:solidFill>
                  <a:srgbClr val="F5F8FA"/>
                </a:solidFill>
                <a:latin typeface="Calibri" pitchFamily="34" charset="0"/>
                <a:ea typeface="Calibri" pitchFamily="34" charset="-122"/>
                <a:cs typeface="Calibri" pitchFamily="34" charset="-120"/>
              </a:rPr>
              <a:t>Permanent data loss if backups are also hit</a:t>
            </a:r>
            <a:endParaRPr lang="en-US" sz="1050" dirty="0"/>
          </a:p>
          <a:p>
            <a:pPr marL="177800" indent="-177800">
              <a:spcAft>
                <a:spcPts val="400"/>
              </a:spcAft>
              <a:buSzPct val="100000"/>
              <a:buChar char="▪"/>
            </a:pPr>
            <a:r>
              <a:rPr lang="en-US" sz="1050" dirty="0">
                <a:solidFill>
                  <a:srgbClr val="F5F8FA"/>
                </a:solidFill>
                <a:latin typeface="Calibri" pitchFamily="34" charset="0"/>
                <a:ea typeface="Calibri" pitchFamily="34" charset="-122"/>
                <a:cs typeface="Calibri" pitchFamily="34" charset="-120"/>
              </a:rPr>
              <a:t>Regulatory penalties for exposed personal data</a:t>
            </a:r>
            <a:endParaRPr lang="en-US" sz="1050" dirty="0"/>
          </a:p>
        </p:txBody>
      </p:sp>
      <p:sp>
        <p:nvSpPr>
          <p:cNvPr id="16" name="Shape 11"/>
          <p:cNvSpPr/>
          <p:nvPr/>
        </p:nvSpPr>
        <p:spPr>
          <a:xfrm>
            <a:off x="548640" y="3246120"/>
            <a:ext cx="6035040" cy="1783080"/>
          </a:xfrm>
          <a:prstGeom prst="roundRect">
            <a:avLst>
              <a:gd name="adj" fmla="val 4103"/>
            </a:avLst>
          </a:prstGeom>
          <a:solidFill>
            <a:srgbClr val="1C2733"/>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17" name="Shape 12"/>
          <p:cNvSpPr/>
          <p:nvPr/>
        </p:nvSpPr>
        <p:spPr>
          <a:xfrm>
            <a:off x="777240" y="3447288"/>
            <a:ext cx="502920" cy="502920"/>
          </a:xfrm>
          <a:prstGeom prst="ellipse">
            <a:avLst/>
          </a:prstGeom>
          <a:solidFill>
            <a:srgbClr val="27333F"/>
          </a:solidFill>
          <a:ln w="19050">
            <a:solidFill>
              <a:srgbClr val="22E2FF"/>
            </a:solidFill>
            <a:prstDash val="solid"/>
          </a:ln>
        </p:spPr>
      </p:sp>
      <p:pic>
        <p:nvPicPr>
          <p:cNvPr id="18" name="Image 3" descr="/home/claude/cyberdeck/icons/shield_cyan.png">    </p:cNvPr>
          <p:cNvPicPr>
            <a:picLocks noChangeAspect="1"/>
          </p:cNvPicPr>
          <p:nvPr/>
        </p:nvPicPr>
        <p:blipFill>
          <a:blip r:embed="rId4"/>
          <a:stretch>
            <a:fillRect/>
          </a:stretch>
        </p:blipFill>
        <p:spPr>
          <a:xfrm>
            <a:off x="907999" y="3578047"/>
            <a:ext cx="241402" cy="241402"/>
          </a:xfrm>
          <a:prstGeom prst="rect">
            <a:avLst/>
          </a:prstGeom>
        </p:spPr>
      </p:pic>
      <p:sp>
        <p:nvSpPr>
          <p:cNvPr id="19" name="Text 13"/>
          <p:cNvSpPr/>
          <p:nvPr/>
        </p:nvSpPr>
        <p:spPr>
          <a:xfrm>
            <a:off x="1417320" y="3502152"/>
            <a:ext cx="4937760" cy="365760"/>
          </a:xfrm>
          <a:prstGeom prst="rect">
            <a:avLst/>
          </a:prstGeom>
          <a:noFill/>
          <a:ln/>
        </p:spPr>
        <p:txBody>
          <a:bodyPr wrap="square" lIns="0" tIns="0" rIns="0" bIns="0" rtlCol="0" anchor="ctr"/>
          <a:lstStyle/>
          <a:p>
            <a:pPr indent="0" marL="0">
              <a:buNone/>
            </a:pPr>
            <a:r>
              <a:rPr lang="en-US" sz="1450" b="1" dirty="0">
                <a:solidFill>
                  <a:srgbClr val="F5F8FA"/>
                </a:solidFill>
                <a:latin typeface="Calibri" pitchFamily="34" charset="0"/>
                <a:ea typeface="Calibri" pitchFamily="34" charset="-122"/>
                <a:cs typeface="Calibri" pitchFamily="34" charset="-120"/>
              </a:rPr>
              <a:t>Prevention &amp; Mitigation</a:t>
            </a:r>
            <a:endParaRPr lang="en-US" sz="1450" dirty="0"/>
          </a:p>
        </p:txBody>
      </p:sp>
      <p:sp>
        <p:nvSpPr>
          <p:cNvPr id="20" name="Text 14"/>
          <p:cNvSpPr/>
          <p:nvPr/>
        </p:nvSpPr>
        <p:spPr>
          <a:xfrm>
            <a:off x="777240" y="4069080"/>
            <a:ext cx="5577840" cy="822960"/>
          </a:xfrm>
          <a:prstGeom prst="rect">
            <a:avLst/>
          </a:prstGeom>
          <a:noFill/>
          <a:ln/>
        </p:spPr>
        <p:txBody>
          <a:bodyPr wrap="square" lIns="0" tIns="0" rIns="0" bIns="0" rtlCol="0" anchor="t"/>
          <a:lstStyle/>
          <a:p>
            <a:pPr marL="177800" indent="-177800">
              <a:spcAft>
                <a:spcPts val="400"/>
              </a:spcAft>
              <a:buSzPct val="100000"/>
              <a:buChar char="▪"/>
            </a:pPr>
            <a:r>
              <a:rPr lang="en-US" sz="1100" dirty="0">
                <a:solidFill>
                  <a:srgbClr val="F5F8FA"/>
                </a:solidFill>
                <a:latin typeface="Calibri" pitchFamily="34" charset="0"/>
                <a:ea typeface="Calibri" pitchFamily="34" charset="-122"/>
                <a:cs typeface="Calibri" pitchFamily="34" charset="-120"/>
              </a:rPr>
              <a:t>Maintain offline, tested, immutable backups</a:t>
            </a:r>
            <a:endParaRPr lang="en-US" sz="1100" dirty="0"/>
          </a:p>
          <a:p>
            <a:pPr marL="177800" indent="-177800">
              <a:spcAft>
                <a:spcPts val="400"/>
              </a:spcAft>
              <a:buSzPct val="100000"/>
              <a:buChar char="▪"/>
            </a:pPr>
            <a:r>
              <a:rPr lang="en-US" sz="1100" dirty="0">
                <a:solidFill>
                  <a:srgbClr val="F5F8FA"/>
                </a:solidFill>
                <a:latin typeface="Calibri" pitchFamily="34" charset="0"/>
                <a:ea typeface="Calibri" pitchFamily="34" charset="-122"/>
                <a:cs typeface="Calibri" pitchFamily="34" charset="-120"/>
              </a:rPr>
              <a:t>Patch internet-facing systems promptly</a:t>
            </a:r>
            <a:endParaRPr lang="en-US" sz="1100" dirty="0"/>
          </a:p>
          <a:p>
            <a:pPr marL="177800" indent="-177800">
              <a:spcAft>
                <a:spcPts val="400"/>
              </a:spcAft>
              <a:buSzPct val="100000"/>
              <a:buChar char="▪"/>
            </a:pPr>
            <a:r>
              <a:rPr lang="en-US" sz="1100" dirty="0">
                <a:solidFill>
                  <a:srgbClr val="F5F8FA"/>
                </a:solidFill>
                <a:latin typeface="Calibri" pitchFamily="34" charset="0"/>
                <a:ea typeface="Calibri" pitchFamily="34" charset="-122"/>
                <a:cs typeface="Calibri" pitchFamily="34" charset="-120"/>
              </a:rPr>
              <a:t>Segment networks to limit lateral movement</a:t>
            </a:r>
            <a:endParaRPr lang="en-US" sz="1100" dirty="0"/>
          </a:p>
          <a:p>
            <a:pPr marL="177800" indent="-177800">
              <a:spcAft>
                <a:spcPts val="400"/>
              </a:spcAft>
              <a:buSzPct val="100000"/>
              <a:buChar char="▪"/>
            </a:pPr>
            <a:r>
              <a:rPr lang="en-US" sz="1100" dirty="0">
                <a:solidFill>
                  <a:srgbClr val="F5F8FA"/>
                </a:solidFill>
                <a:latin typeface="Calibri" pitchFamily="34" charset="0"/>
                <a:ea typeface="Calibri" pitchFamily="34" charset="-122"/>
                <a:cs typeface="Calibri" pitchFamily="34" charset="-120"/>
              </a:rPr>
              <a:t>Restrict and monitor RDP/remote access</a:t>
            </a:r>
            <a:endParaRPr lang="en-US" sz="1100" dirty="0"/>
          </a:p>
        </p:txBody>
      </p:sp>
      <p:sp>
        <p:nvSpPr>
          <p:cNvPr id="21" name="Shape 15"/>
          <p:cNvSpPr/>
          <p:nvPr/>
        </p:nvSpPr>
        <p:spPr>
          <a:xfrm>
            <a:off x="6858000" y="3246120"/>
            <a:ext cx="4782312" cy="1783080"/>
          </a:xfrm>
          <a:prstGeom prst="roundRect">
            <a:avLst>
              <a:gd name="adj" fmla="val 4103"/>
            </a:avLst>
          </a:prstGeom>
          <a:solidFill>
            <a:srgbClr val="1C2733"/>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22" name="Shape 16"/>
          <p:cNvSpPr/>
          <p:nvPr/>
        </p:nvSpPr>
        <p:spPr>
          <a:xfrm>
            <a:off x="7086600" y="3447288"/>
            <a:ext cx="502920" cy="502920"/>
          </a:xfrm>
          <a:prstGeom prst="ellipse">
            <a:avLst/>
          </a:prstGeom>
          <a:solidFill>
            <a:srgbClr val="27333F"/>
          </a:solidFill>
          <a:ln w="19050">
            <a:solidFill>
              <a:srgbClr val="22E2FF"/>
            </a:solidFill>
            <a:prstDash val="solid"/>
          </a:ln>
        </p:spPr>
      </p:sp>
      <p:pic>
        <p:nvPicPr>
          <p:cNvPr id="23" name="Image 4" descr="/home/claude/cyberdeck/icons/search_cyan.png">    </p:cNvPr>
          <p:cNvPicPr>
            <a:picLocks noChangeAspect="1"/>
          </p:cNvPicPr>
          <p:nvPr/>
        </p:nvPicPr>
        <p:blipFill>
          <a:blip r:embed="rId5"/>
          <a:stretch>
            <a:fillRect/>
          </a:stretch>
        </p:blipFill>
        <p:spPr>
          <a:xfrm>
            <a:off x="7217359" y="3578047"/>
            <a:ext cx="241402" cy="241402"/>
          </a:xfrm>
          <a:prstGeom prst="rect">
            <a:avLst/>
          </a:prstGeom>
        </p:spPr>
      </p:pic>
      <p:sp>
        <p:nvSpPr>
          <p:cNvPr id="24" name="Text 17"/>
          <p:cNvSpPr/>
          <p:nvPr/>
        </p:nvSpPr>
        <p:spPr>
          <a:xfrm>
            <a:off x="7726680" y="3502152"/>
            <a:ext cx="3685032" cy="365760"/>
          </a:xfrm>
          <a:prstGeom prst="rect">
            <a:avLst/>
          </a:prstGeom>
          <a:noFill/>
          <a:ln/>
        </p:spPr>
        <p:txBody>
          <a:bodyPr wrap="square" lIns="0" tIns="0" rIns="0" bIns="0" rtlCol="0" anchor="ctr"/>
          <a:lstStyle/>
          <a:p>
            <a:pPr indent="0" marL="0">
              <a:buNone/>
            </a:pPr>
            <a:r>
              <a:rPr lang="en-US" sz="1450" b="1" dirty="0">
                <a:solidFill>
                  <a:srgbClr val="F5F8FA"/>
                </a:solidFill>
                <a:latin typeface="Calibri" pitchFamily="34" charset="0"/>
                <a:ea typeface="Calibri" pitchFamily="34" charset="-122"/>
                <a:cs typeface="Calibri" pitchFamily="34" charset="-120"/>
              </a:rPr>
              <a:t>Detection Methods</a:t>
            </a:r>
            <a:endParaRPr lang="en-US" sz="1450" dirty="0"/>
          </a:p>
        </p:txBody>
      </p:sp>
      <p:sp>
        <p:nvSpPr>
          <p:cNvPr id="25" name="Text 18"/>
          <p:cNvSpPr/>
          <p:nvPr/>
        </p:nvSpPr>
        <p:spPr>
          <a:xfrm>
            <a:off x="7086600" y="4069080"/>
            <a:ext cx="4325112" cy="822960"/>
          </a:xfrm>
          <a:prstGeom prst="rect">
            <a:avLst/>
          </a:prstGeom>
          <a:noFill/>
          <a:ln/>
        </p:spPr>
        <p:txBody>
          <a:bodyPr wrap="square" lIns="0" tIns="0" rIns="0" bIns="0" rtlCol="0" anchor="t"/>
          <a:lstStyle/>
          <a:p>
            <a:pPr marL="177800" indent="-177800">
              <a:spcAft>
                <a:spcPts val="400"/>
              </a:spcAft>
              <a:buSzPct val="100000"/>
              <a:buChar char="▪"/>
            </a:pPr>
            <a:r>
              <a:rPr lang="en-US" sz="1050" dirty="0">
                <a:solidFill>
                  <a:srgbClr val="F5F8FA"/>
                </a:solidFill>
                <a:latin typeface="Calibri" pitchFamily="34" charset="0"/>
                <a:ea typeface="Calibri" pitchFamily="34" charset="-122"/>
                <a:cs typeface="Calibri" pitchFamily="34" charset="-120"/>
              </a:rPr>
              <a:t>EDR alerts on mass file-encryption behavior</a:t>
            </a:r>
            <a:endParaRPr lang="en-US" sz="1050" dirty="0"/>
          </a:p>
          <a:p>
            <a:pPr marL="177800" indent="-177800">
              <a:spcAft>
                <a:spcPts val="400"/>
              </a:spcAft>
              <a:buSzPct val="100000"/>
              <a:buChar char="▪"/>
            </a:pPr>
            <a:r>
              <a:rPr lang="en-US" sz="1050" dirty="0">
                <a:solidFill>
                  <a:srgbClr val="F5F8FA"/>
                </a:solidFill>
                <a:latin typeface="Calibri" pitchFamily="34" charset="0"/>
                <a:ea typeface="Calibri" pitchFamily="34" charset="-122"/>
                <a:cs typeface="Calibri" pitchFamily="34" charset="-120"/>
              </a:rPr>
              <a:t>Unusual outbound data transfer volumes</a:t>
            </a:r>
            <a:endParaRPr lang="en-US" sz="1050" dirty="0"/>
          </a:p>
          <a:p>
            <a:pPr marL="177800" indent="-177800">
              <a:spcAft>
                <a:spcPts val="400"/>
              </a:spcAft>
              <a:buSzPct val="100000"/>
              <a:buChar char="▪"/>
            </a:pPr>
            <a:r>
              <a:rPr lang="en-US" sz="1050" dirty="0">
                <a:solidFill>
                  <a:srgbClr val="F5F8FA"/>
                </a:solidFill>
                <a:latin typeface="Calibri" pitchFamily="34" charset="0"/>
                <a:ea typeface="Calibri" pitchFamily="34" charset="-122"/>
                <a:cs typeface="Calibri" pitchFamily="34" charset="-120"/>
              </a:rPr>
              <a:t>Unexpected admin/privilege escalation</a:t>
            </a:r>
            <a:endParaRPr lang="en-US" sz="1050" dirty="0"/>
          </a:p>
          <a:p>
            <a:pPr marL="177800" indent="-177800">
              <a:spcAft>
                <a:spcPts val="400"/>
              </a:spcAft>
              <a:buSzPct val="100000"/>
              <a:buChar char="▪"/>
            </a:pPr>
            <a:r>
              <a:rPr lang="en-US" sz="1050" dirty="0">
                <a:solidFill>
                  <a:srgbClr val="F5F8FA"/>
                </a:solidFill>
                <a:latin typeface="Calibri" pitchFamily="34" charset="0"/>
                <a:ea typeface="Calibri" pitchFamily="34" charset="-122"/>
                <a:cs typeface="Calibri" pitchFamily="34" charset="-120"/>
              </a:rPr>
              <a:t>Known ransomware IOC and hash matching</a:t>
            </a:r>
            <a:endParaRPr lang="en-US" sz="1050" dirty="0"/>
          </a:p>
        </p:txBody>
      </p:sp>
      <p:sp>
        <p:nvSpPr>
          <p:cNvPr id="26" name="Shape 19"/>
          <p:cNvSpPr/>
          <p:nvPr/>
        </p:nvSpPr>
        <p:spPr>
          <a:xfrm>
            <a:off x="548640" y="5257800"/>
            <a:ext cx="11091672" cy="658368"/>
          </a:xfrm>
          <a:prstGeom prst="roundRect">
            <a:avLst>
              <a:gd name="adj" fmla="val 8333"/>
            </a:avLst>
          </a:prstGeom>
          <a:solidFill>
            <a:srgbClr val="27333F"/>
          </a:solidFill>
          <a:ln w="12700">
            <a:solidFill>
              <a:srgbClr val="22E2FF"/>
            </a:solidFill>
            <a:prstDash val="solid"/>
          </a:ln>
        </p:spPr>
      </p:sp>
      <p:sp>
        <p:nvSpPr>
          <p:cNvPr id="27" name="Text 20"/>
          <p:cNvSpPr/>
          <p:nvPr/>
        </p:nvSpPr>
        <p:spPr>
          <a:xfrm>
            <a:off x="777240" y="5257800"/>
            <a:ext cx="1737360" cy="658368"/>
          </a:xfrm>
          <a:prstGeom prst="rect">
            <a:avLst/>
          </a:prstGeom>
          <a:noFill/>
          <a:ln/>
        </p:spPr>
        <p:txBody>
          <a:bodyPr wrap="square" lIns="0" tIns="0" rIns="0" bIns="0" rtlCol="0" anchor="ctr"/>
          <a:lstStyle/>
          <a:p>
            <a:pPr indent="0" marL="0">
              <a:buNone/>
            </a:pPr>
            <a:r>
              <a:rPr lang="en-US" sz="2200" b="1" dirty="0">
                <a:solidFill>
                  <a:srgbClr val="22E2FF"/>
                </a:solidFill>
                <a:latin typeface="Cambria" pitchFamily="34" charset="0"/>
                <a:ea typeface="Cambria" pitchFamily="34" charset="-122"/>
                <a:cs typeface="Cambria" pitchFamily="34" charset="-120"/>
              </a:rPr>
              <a:t>~$5.2B</a:t>
            </a:r>
            <a:endParaRPr lang="en-US" sz="2200" dirty="0"/>
          </a:p>
        </p:txBody>
      </p:sp>
      <p:sp>
        <p:nvSpPr>
          <p:cNvPr id="28" name="Text 21"/>
          <p:cNvSpPr/>
          <p:nvPr/>
        </p:nvSpPr>
        <p:spPr>
          <a:xfrm>
            <a:off x="2606040" y="5257800"/>
            <a:ext cx="8778240" cy="658368"/>
          </a:xfrm>
          <a:prstGeom prst="rect">
            <a:avLst/>
          </a:prstGeom>
          <a:noFill/>
          <a:ln/>
        </p:spPr>
        <p:txBody>
          <a:bodyPr wrap="square" lIns="0" tIns="0" rIns="0" bIns="0" rtlCol="0" anchor="ctr"/>
          <a:lstStyle/>
          <a:p>
            <a:pPr indent="0" marL="0">
              <a:buNone/>
            </a:pPr>
            <a:r>
              <a:rPr lang="en-US" sz="1150" dirty="0">
                <a:solidFill>
                  <a:srgbClr val="F5F8FA"/>
                </a:solidFill>
                <a:latin typeface="Calibri" pitchFamily="34" charset="0"/>
                <a:ea typeface="Calibri" pitchFamily="34" charset="-122"/>
                <a:cs typeface="Calibri" pitchFamily="34" charset="-120"/>
              </a:rPr>
              <a:t>in extorted ransomware payments tracked globally in recent years, with double-extortion now standard practice</a:t>
            </a:r>
            <a:endParaRPr lang="en-US" sz="1150" dirty="0"/>
          </a:p>
        </p:txBody>
      </p:sp>
      <p:sp>
        <p:nvSpPr>
          <p:cNvPr id="29" name="Text 22"/>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C3CDD6"/>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548640" y="347472"/>
            <a:ext cx="566928" cy="566928"/>
          </a:xfrm>
          <a:prstGeom prst="ellipse">
            <a:avLst/>
          </a:prstGeom>
          <a:solidFill>
            <a:srgbClr val="27333F"/>
          </a:solidFill>
          <a:ln w="19050">
            <a:solidFill>
              <a:srgbClr val="22E2FF"/>
            </a:solidFill>
            <a:prstDash val="solid"/>
          </a:ln>
        </p:spPr>
      </p:sp>
      <p:pic>
        <p:nvPicPr>
          <p:cNvPr id="3" name="Image 0" descr="/home/claude/cyberdeck/icons/ddos_cyan.png">    </p:cNvPr>
          <p:cNvPicPr>
            <a:picLocks noChangeAspect="1"/>
          </p:cNvPicPr>
          <p:nvPr/>
        </p:nvPicPr>
        <p:blipFill>
          <a:blip r:embed="rId1"/>
          <a:stretch>
            <a:fillRect/>
          </a:stretch>
        </p:blipFill>
        <p:spPr>
          <a:xfrm>
            <a:off x="696041" y="494873"/>
            <a:ext cx="272125" cy="272125"/>
          </a:xfrm>
          <a:prstGeom prst="rect">
            <a:avLst/>
          </a:prstGeom>
        </p:spPr>
      </p:pic>
      <p:sp>
        <p:nvSpPr>
          <p:cNvPr id="4" name="Text 1"/>
          <p:cNvSpPr/>
          <p:nvPr/>
        </p:nvSpPr>
        <p:spPr>
          <a:xfrm>
            <a:off x="1234440" y="320040"/>
            <a:ext cx="7315200" cy="411480"/>
          </a:xfrm>
          <a:prstGeom prst="rect">
            <a:avLst/>
          </a:prstGeom>
          <a:noFill/>
          <a:ln/>
        </p:spPr>
        <p:txBody>
          <a:bodyPr wrap="square" rtlCol="0" anchor="ctr"/>
          <a:lstStyle/>
          <a:p>
            <a:pPr indent="0" marL="0">
              <a:buNone/>
            </a:pPr>
            <a:r>
              <a:rPr lang="en-US" sz="2600" b="1" dirty="0">
                <a:solidFill>
                  <a:srgbClr val="F5F8FA"/>
                </a:solidFill>
                <a:latin typeface="Cambria" pitchFamily="34" charset="0"/>
                <a:ea typeface="Cambria" pitchFamily="34" charset="-122"/>
                <a:cs typeface="Cambria" pitchFamily="34" charset="-120"/>
              </a:rPr>
              <a:t>DDoS Attack</a:t>
            </a:r>
            <a:endParaRPr lang="en-US" sz="2600" dirty="0"/>
          </a:p>
        </p:txBody>
      </p:sp>
      <p:sp>
        <p:nvSpPr>
          <p:cNvPr id="5" name="Text 2"/>
          <p:cNvSpPr/>
          <p:nvPr/>
        </p:nvSpPr>
        <p:spPr>
          <a:xfrm>
            <a:off x="1234440" y="713232"/>
            <a:ext cx="7315200" cy="274320"/>
          </a:xfrm>
          <a:prstGeom prst="rect">
            <a:avLst/>
          </a:prstGeom>
          <a:noFill/>
          <a:ln/>
        </p:spPr>
        <p:txBody>
          <a:bodyPr wrap="square" rtlCol="0" anchor="ctr"/>
          <a:lstStyle/>
          <a:p>
            <a:pPr indent="0" marL="0">
              <a:buNone/>
            </a:pPr>
            <a:r>
              <a:rPr lang="en-US" sz="1150" b="1" spc="200" kern="0" dirty="0">
                <a:solidFill>
                  <a:srgbClr val="22E2FF"/>
                </a:solidFill>
                <a:latin typeface="Calibri" pitchFamily="34" charset="0"/>
                <a:ea typeface="Calibri" pitchFamily="34" charset="-122"/>
                <a:cs typeface="Calibri" pitchFamily="34" charset="-120"/>
              </a:rPr>
              <a:t>HOW THE ATTACK WORKS</a:t>
            </a:r>
            <a:endParaRPr lang="en-US" sz="1150" dirty="0"/>
          </a:p>
        </p:txBody>
      </p:sp>
      <p:sp>
        <p:nvSpPr>
          <p:cNvPr id="6" name="Shape 3"/>
          <p:cNvSpPr/>
          <p:nvPr/>
        </p:nvSpPr>
        <p:spPr>
          <a:xfrm>
            <a:off x="548640" y="1143000"/>
            <a:ext cx="11091672" cy="777240"/>
          </a:xfrm>
          <a:prstGeom prst="roundRect">
            <a:avLst>
              <a:gd name="adj" fmla="val 7059"/>
            </a:avLst>
          </a:prstGeom>
          <a:solidFill>
            <a:srgbClr val="1C2733"/>
          </a:solidFill>
          <a:ln w="12700">
            <a:solidFill>
              <a:srgbClr val="445362"/>
            </a:solidFill>
            <a:prstDash val="solid"/>
          </a:ln>
        </p:spPr>
      </p:sp>
      <p:sp>
        <p:nvSpPr>
          <p:cNvPr id="7" name="Text 4"/>
          <p:cNvSpPr/>
          <p:nvPr/>
        </p:nvSpPr>
        <p:spPr>
          <a:xfrm>
            <a:off x="777240" y="1143000"/>
            <a:ext cx="10607040" cy="777240"/>
          </a:xfrm>
          <a:prstGeom prst="rect">
            <a:avLst/>
          </a:prstGeom>
          <a:noFill/>
          <a:ln/>
        </p:spPr>
        <p:txBody>
          <a:bodyPr wrap="square" lIns="0" tIns="0" rIns="0" bIns="0" rtlCol="0" anchor="ctr"/>
          <a:lstStyle/>
          <a:p>
            <a:pPr indent="0" marL="0">
              <a:buNone/>
            </a:pPr>
            <a:r>
              <a:rPr lang="en-US" sz="1250" dirty="0">
                <a:solidFill>
                  <a:srgbClr val="F5F8FA"/>
                </a:solidFill>
                <a:latin typeface="Calibri" pitchFamily="34" charset="0"/>
                <a:ea typeface="Calibri" pitchFamily="34" charset="-122"/>
                <a:cs typeface="Calibri" pitchFamily="34" charset="-120"/>
              </a:rPr>
              <a:t>A Distributed Denial-of-Service attack floods a target with traffic from many compromised devices until it can no longer serve legitimate users.</a:t>
            </a:r>
            <a:endParaRPr lang="en-US" sz="1250" dirty="0"/>
          </a:p>
        </p:txBody>
      </p:sp>
      <p:sp>
        <p:nvSpPr>
          <p:cNvPr id="8" name="Shape 5"/>
          <p:cNvSpPr/>
          <p:nvPr/>
        </p:nvSpPr>
        <p:spPr>
          <a:xfrm>
            <a:off x="548640" y="2148840"/>
            <a:ext cx="3514344" cy="1783080"/>
          </a:xfrm>
          <a:prstGeom prst="roundRect">
            <a:avLst>
              <a:gd name="adj" fmla="val 4103"/>
            </a:avLst>
          </a:prstGeom>
          <a:solidFill>
            <a:srgbClr val="27333F"/>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9" name="Shape 6"/>
          <p:cNvSpPr/>
          <p:nvPr/>
        </p:nvSpPr>
        <p:spPr>
          <a:xfrm>
            <a:off x="713232" y="2313432"/>
            <a:ext cx="457200" cy="457200"/>
          </a:xfrm>
          <a:prstGeom prst="ellipse">
            <a:avLst/>
          </a:prstGeom>
          <a:solidFill>
            <a:srgbClr val="0D1117"/>
          </a:solidFill>
          <a:ln w="19050">
            <a:solidFill>
              <a:srgbClr val="22E2FF"/>
            </a:solidFill>
            <a:prstDash val="solid"/>
          </a:ln>
        </p:spPr>
      </p:sp>
      <p:sp>
        <p:nvSpPr>
          <p:cNvPr id="10" name="Text 7"/>
          <p:cNvSpPr/>
          <p:nvPr/>
        </p:nvSpPr>
        <p:spPr>
          <a:xfrm>
            <a:off x="713232" y="2313432"/>
            <a:ext cx="457200" cy="457200"/>
          </a:xfrm>
          <a:prstGeom prst="rect">
            <a:avLst/>
          </a:prstGeom>
          <a:noFill/>
          <a:ln/>
        </p:spPr>
        <p:txBody>
          <a:bodyPr wrap="square" lIns="0" tIns="0" rIns="0" bIns="0" rtlCol="0" anchor="ctr"/>
          <a:lstStyle/>
          <a:p>
            <a:pPr algn="ctr" indent="0" marL="0">
              <a:buNone/>
            </a:pPr>
            <a:r>
              <a:rPr lang="en-US" sz="1600" b="1" dirty="0">
                <a:solidFill>
                  <a:srgbClr val="22E2FF"/>
                </a:solidFill>
                <a:latin typeface="Cambria" pitchFamily="34" charset="0"/>
                <a:ea typeface="Cambria" pitchFamily="34" charset="-122"/>
                <a:cs typeface="Cambria" pitchFamily="34" charset="-120"/>
              </a:rPr>
              <a:t>1</a:t>
            </a:r>
            <a:endParaRPr lang="en-US" sz="1600" dirty="0"/>
          </a:p>
        </p:txBody>
      </p:sp>
      <p:sp>
        <p:nvSpPr>
          <p:cNvPr id="11" name="Text 8"/>
          <p:cNvSpPr/>
          <p:nvPr/>
        </p:nvSpPr>
        <p:spPr>
          <a:xfrm>
            <a:off x="731520" y="2862072"/>
            <a:ext cx="3148584" cy="384048"/>
          </a:xfrm>
          <a:prstGeom prst="rect">
            <a:avLst/>
          </a:prstGeom>
          <a:noFill/>
          <a:ln/>
        </p:spPr>
        <p:txBody>
          <a:bodyPr wrap="square" lIns="0" tIns="0" rIns="0" bIns="0" rtlCol="0" anchor="ctr"/>
          <a:lstStyle/>
          <a:p>
            <a:pPr indent="0" marL="0">
              <a:buNone/>
            </a:pPr>
            <a:r>
              <a:rPr lang="en-US" sz="1300" b="1" dirty="0">
                <a:solidFill>
                  <a:srgbClr val="F5F8FA"/>
                </a:solidFill>
                <a:latin typeface="Calibri" pitchFamily="34" charset="0"/>
                <a:ea typeface="Calibri" pitchFamily="34" charset="-122"/>
                <a:cs typeface="Calibri" pitchFamily="34" charset="-120"/>
              </a:rPr>
              <a:t>Botnet Build</a:t>
            </a:r>
            <a:endParaRPr lang="en-US" sz="1300" dirty="0"/>
          </a:p>
        </p:txBody>
      </p:sp>
      <p:sp>
        <p:nvSpPr>
          <p:cNvPr id="12" name="Text 9"/>
          <p:cNvSpPr/>
          <p:nvPr/>
        </p:nvSpPr>
        <p:spPr>
          <a:xfrm>
            <a:off x="731520" y="3227832"/>
            <a:ext cx="3148584" cy="640080"/>
          </a:xfrm>
          <a:prstGeom prst="rect">
            <a:avLst/>
          </a:prstGeom>
          <a:noFill/>
          <a:ln/>
        </p:spPr>
        <p:txBody>
          <a:bodyPr wrap="square" lIns="0" tIns="0" rIns="0" bIns="0" rtlCol="0" anchor="ctr"/>
          <a:lstStyle/>
          <a:p>
            <a:pPr indent="0" marL="0">
              <a:buNone/>
            </a:pPr>
            <a:r>
              <a:rPr lang="en-US" sz="1000" dirty="0">
                <a:solidFill>
                  <a:srgbClr val="C3CDD6"/>
                </a:solidFill>
                <a:latin typeface="Calibri" pitchFamily="34" charset="0"/>
                <a:ea typeface="Calibri" pitchFamily="34" charset="-122"/>
                <a:cs typeface="Calibri" pitchFamily="34" charset="-120"/>
              </a:rPr>
              <a:t>Attacker infects IoT devices, servers, or PCs to form a botnet.</a:t>
            </a:r>
            <a:endParaRPr lang="en-US" sz="1000" dirty="0"/>
          </a:p>
        </p:txBody>
      </p:sp>
      <p:sp>
        <p:nvSpPr>
          <p:cNvPr id="13" name="Shape 10"/>
          <p:cNvSpPr/>
          <p:nvPr/>
        </p:nvSpPr>
        <p:spPr>
          <a:xfrm>
            <a:off x="4337304" y="2148840"/>
            <a:ext cx="3514344" cy="1783080"/>
          </a:xfrm>
          <a:prstGeom prst="roundRect">
            <a:avLst>
              <a:gd name="adj" fmla="val 4103"/>
            </a:avLst>
          </a:prstGeom>
          <a:solidFill>
            <a:srgbClr val="27333F"/>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14" name="Shape 11"/>
          <p:cNvSpPr/>
          <p:nvPr/>
        </p:nvSpPr>
        <p:spPr>
          <a:xfrm>
            <a:off x="4501896" y="2313432"/>
            <a:ext cx="457200" cy="457200"/>
          </a:xfrm>
          <a:prstGeom prst="ellipse">
            <a:avLst/>
          </a:prstGeom>
          <a:solidFill>
            <a:srgbClr val="0D1117"/>
          </a:solidFill>
          <a:ln w="19050">
            <a:solidFill>
              <a:srgbClr val="22E2FF"/>
            </a:solidFill>
            <a:prstDash val="solid"/>
          </a:ln>
        </p:spPr>
      </p:sp>
      <p:sp>
        <p:nvSpPr>
          <p:cNvPr id="15" name="Text 12"/>
          <p:cNvSpPr/>
          <p:nvPr/>
        </p:nvSpPr>
        <p:spPr>
          <a:xfrm>
            <a:off x="4501896" y="2313432"/>
            <a:ext cx="457200" cy="457200"/>
          </a:xfrm>
          <a:prstGeom prst="rect">
            <a:avLst/>
          </a:prstGeom>
          <a:noFill/>
          <a:ln/>
        </p:spPr>
        <p:txBody>
          <a:bodyPr wrap="square" lIns="0" tIns="0" rIns="0" bIns="0" rtlCol="0" anchor="ctr"/>
          <a:lstStyle/>
          <a:p>
            <a:pPr algn="ctr" indent="0" marL="0">
              <a:buNone/>
            </a:pPr>
            <a:r>
              <a:rPr lang="en-US" sz="1600" b="1" dirty="0">
                <a:solidFill>
                  <a:srgbClr val="22E2FF"/>
                </a:solidFill>
                <a:latin typeface="Cambria" pitchFamily="34" charset="0"/>
                <a:ea typeface="Cambria" pitchFamily="34" charset="-122"/>
                <a:cs typeface="Cambria" pitchFamily="34" charset="-120"/>
              </a:rPr>
              <a:t>2</a:t>
            </a:r>
            <a:endParaRPr lang="en-US" sz="1600" dirty="0"/>
          </a:p>
        </p:txBody>
      </p:sp>
      <p:sp>
        <p:nvSpPr>
          <p:cNvPr id="16" name="Text 13"/>
          <p:cNvSpPr/>
          <p:nvPr/>
        </p:nvSpPr>
        <p:spPr>
          <a:xfrm>
            <a:off x="4520184" y="2862072"/>
            <a:ext cx="3148584" cy="384048"/>
          </a:xfrm>
          <a:prstGeom prst="rect">
            <a:avLst/>
          </a:prstGeom>
          <a:noFill/>
          <a:ln/>
        </p:spPr>
        <p:txBody>
          <a:bodyPr wrap="square" lIns="0" tIns="0" rIns="0" bIns="0" rtlCol="0" anchor="ctr"/>
          <a:lstStyle/>
          <a:p>
            <a:pPr indent="0" marL="0">
              <a:buNone/>
            </a:pPr>
            <a:r>
              <a:rPr lang="en-US" sz="1300" b="1" dirty="0">
                <a:solidFill>
                  <a:srgbClr val="F5F8FA"/>
                </a:solidFill>
                <a:latin typeface="Calibri" pitchFamily="34" charset="0"/>
                <a:ea typeface="Calibri" pitchFamily="34" charset="-122"/>
                <a:cs typeface="Calibri" pitchFamily="34" charset="-120"/>
              </a:rPr>
              <a:t>C2 Coordination</a:t>
            </a:r>
            <a:endParaRPr lang="en-US" sz="1300" dirty="0"/>
          </a:p>
        </p:txBody>
      </p:sp>
      <p:sp>
        <p:nvSpPr>
          <p:cNvPr id="17" name="Text 14"/>
          <p:cNvSpPr/>
          <p:nvPr/>
        </p:nvSpPr>
        <p:spPr>
          <a:xfrm>
            <a:off x="4520184" y="3227832"/>
            <a:ext cx="3148584" cy="640080"/>
          </a:xfrm>
          <a:prstGeom prst="rect">
            <a:avLst/>
          </a:prstGeom>
          <a:noFill/>
          <a:ln/>
        </p:spPr>
        <p:txBody>
          <a:bodyPr wrap="square" lIns="0" tIns="0" rIns="0" bIns="0" rtlCol="0" anchor="ctr"/>
          <a:lstStyle/>
          <a:p>
            <a:pPr indent="0" marL="0">
              <a:buNone/>
            </a:pPr>
            <a:r>
              <a:rPr lang="en-US" sz="1000" dirty="0">
                <a:solidFill>
                  <a:srgbClr val="C3CDD6"/>
                </a:solidFill>
                <a:latin typeface="Calibri" pitchFamily="34" charset="0"/>
                <a:ea typeface="Calibri" pitchFamily="34" charset="-122"/>
                <a:cs typeface="Calibri" pitchFamily="34" charset="-120"/>
              </a:rPr>
              <a:t>A command-and-control server issues synchronized attack instructions.</a:t>
            </a:r>
            <a:endParaRPr lang="en-US" sz="1000" dirty="0"/>
          </a:p>
        </p:txBody>
      </p:sp>
      <p:sp>
        <p:nvSpPr>
          <p:cNvPr id="18" name="Shape 15"/>
          <p:cNvSpPr/>
          <p:nvPr/>
        </p:nvSpPr>
        <p:spPr>
          <a:xfrm>
            <a:off x="8125968" y="2148840"/>
            <a:ext cx="3514344" cy="1783080"/>
          </a:xfrm>
          <a:prstGeom prst="roundRect">
            <a:avLst>
              <a:gd name="adj" fmla="val 4103"/>
            </a:avLst>
          </a:prstGeom>
          <a:solidFill>
            <a:srgbClr val="27333F"/>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19" name="Shape 16"/>
          <p:cNvSpPr/>
          <p:nvPr/>
        </p:nvSpPr>
        <p:spPr>
          <a:xfrm>
            <a:off x="8290560" y="2313432"/>
            <a:ext cx="457200" cy="457200"/>
          </a:xfrm>
          <a:prstGeom prst="ellipse">
            <a:avLst/>
          </a:prstGeom>
          <a:solidFill>
            <a:srgbClr val="0D1117"/>
          </a:solidFill>
          <a:ln w="19050">
            <a:solidFill>
              <a:srgbClr val="22E2FF"/>
            </a:solidFill>
            <a:prstDash val="solid"/>
          </a:ln>
        </p:spPr>
      </p:sp>
      <p:sp>
        <p:nvSpPr>
          <p:cNvPr id="20" name="Text 17"/>
          <p:cNvSpPr/>
          <p:nvPr/>
        </p:nvSpPr>
        <p:spPr>
          <a:xfrm>
            <a:off x="8290560" y="2313432"/>
            <a:ext cx="457200" cy="457200"/>
          </a:xfrm>
          <a:prstGeom prst="rect">
            <a:avLst/>
          </a:prstGeom>
          <a:noFill/>
          <a:ln/>
        </p:spPr>
        <p:txBody>
          <a:bodyPr wrap="square" lIns="0" tIns="0" rIns="0" bIns="0" rtlCol="0" anchor="ctr"/>
          <a:lstStyle/>
          <a:p>
            <a:pPr algn="ctr" indent="0" marL="0">
              <a:buNone/>
            </a:pPr>
            <a:r>
              <a:rPr lang="en-US" sz="1600" b="1" dirty="0">
                <a:solidFill>
                  <a:srgbClr val="22E2FF"/>
                </a:solidFill>
                <a:latin typeface="Cambria" pitchFamily="34" charset="0"/>
                <a:ea typeface="Cambria" pitchFamily="34" charset="-122"/>
                <a:cs typeface="Cambria" pitchFamily="34" charset="-120"/>
              </a:rPr>
              <a:t>3</a:t>
            </a:r>
            <a:endParaRPr lang="en-US" sz="1600" dirty="0"/>
          </a:p>
        </p:txBody>
      </p:sp>
      <p:sp>
        <p:nvSpPr>
          <p:cNvPr id="21" name="Text 18"/>
          <p:cNvSpPr/>
          <p:nvPr/>
        </p:nvSpPr>
        <p:spPr>
          <a:xfrm>
            <a:off x="8308848" y="2862072"/>
            <a:ext cx="3148584" cy="384048"/>
          </a:xfrm>
          <a:prstGeom prst="rect">
            <a:avLst/>
          </a:prstGeom>
          <a:noFill/>
          <a:ln/>
        </p:spPr>
        <p:txBody>
          <a:bodyPr wrap="square" lIns="0" tIns="0" rIns="0" bIns="0" rtlCol="0" anchor="ctr"/>
          <a:lstStyle/>
          <a:p>
            <a:pPr indent="0" marL="0">
              <a:buNone/>
            </a:pPr>
            <a:r>
              <a:rPr lang="en-US" sz="1300" b="1" dirty="0">
                <a:solidFill>
                  <a:srgbClr val="F5F8FA"/>
                </a:solidFill>
                <a:latin typeface="Calibri" pitchFamily="34" charset="0"/>
                <a:ea typeface="Calibri" pitchFamily="34" charset="-122"/>
                <a:cs typeface="Calibri" pitchFamily="34" charset="-120"/>
              </a:rPr>
              <a:t>Traffic Flood</a:t>
            </a:r>
            <a:endParaRPr lang="en-US" sz="1300" dirty="0"/>
          </a:p>
        </p:txBody>
      </p:sp>
      <p:sp>
        <p:nvSpPr>
          <p:cNvPr id="22" name="Text 19"/>
          <p:cNvSpPr/>
          <p:nvPr/>
        </p:nvSpPr>
        <p:spPr>
          <a:xfrm>
            <a:off x="8308848" y="3227832"/>
            <a:ext cx="3148584" cy="640080"/>
          </a:xfrm>
          <a:prstGeom prst="rect">
            <a:avLst/>
          </a:prstGeom>
          <a:noFill/>
          <a:ln/>
        </p:spPr>
        <p:txBody>
          <a:bodyPr wrap="square" lIns="0" tIns="0" rIns="0" bIns="0" rtlCol="0" anchor="ctr"/>
          <a:lstStyle/>
          <a:p>
            <a:pPr indent="0" marL="0">
              <a:buNone/>
            </a:pPr>
            <a:r>
              <a:rPr lang="en-US" sz="1000" dirty="0">
                <a:solidFill>
                  <a:srgbClr val="C3CDD6"/>
                </a:solidFill>
                <a:latin typeface="Calibri" pitchFamily="34" charset="0"/>
                <a:ea typeface="Calibri" pitchFamily="34" charset="-122"/>
                <a:cs typeface="Calibri" pitchFamily="34" charset="-120"/>
              </a:rPr>
              <a:t>Thousands of nodes send requests at the target simultaneously.</a:t>
            </a:r>
            <a:endParaRPr lang="en-US" sz="1000" dirty="0"/>
          </a:p>
        </p:txBody>
      </p:sp>
      <p:sp>
        <p:nvSpPr>
          <p:cNvPr id="23" name="Shape 20"/>
          <p:cNvSpPr/>
          <p:nvPr/>
        </p:nvSpPr>
        <p:spPr>
          <a:xfrm>
            <a:off x="8125968" y="4434840"/>
            <a:ext cx="3514344" cy="1783080"/>
          </a:xfrm>
          <a:prstGeom prst="roundRect">
            <a:avLst>
              <a:gd name="adj" fmla="val 4103"/>
            </a:avLst>
          </a:prstGeom>
          <a:solidFill>
            <a:srgbClr val="27333F"/>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24" name="Shape 21"/>
          <p:cNvSpPr/>
          <p:nvPr/>
        </p:nvSpPr>
        <p:spPr>
          <a:xfrm>
            <a:off x="8290560" y="4599432"/>
            <a:ext cx="457200" cy="457200"/>
          </a:xfrm>
          <a:prstGeom prst="ellipse">
            <a:avLst/>
          </a:prstGeom>
          <a:solidFill>
            <a:srgbClr val="0D1117"/>
          </a:solidFill>
          <a:ln w="19050">
            <a:solidFill>
              <a:srgbClr val="22E2FF"/>
            </a:solidFill>
            <a:prstDash val="solid"/>
          </a:ln>
        </p:spPr>
      </p:sp>
      <p:sp>
        <p:nvSpPr>
          <p:cNvPr id="25" name="Text 22"/>
          <p:cNvSpPr/>
          <p:nvPr/>
        </p:nvSpPr>
        <p:spPr>
          <a:xfrm>
            <a:off x="8290560" y="4599432"/>
            <a:ext cx="457200" cy="457200"/>
          </a:xfrm>
          <a:prstGeom prst="rect">
            <a:avLst/>
          </a:prstGeom>
          <a:noFill/>
          <a:ln/>
        </p:spPr>
        <p:txBody>
          <a:bodyPr wrap="square" lIns="0" tIns="0" rIns="0" bIns="0" rtlCol="0" anchor="ctr"/>
          <a:lstStyle/>
          <a:p>
            <a:pPr algn="ctr" indent="0" marL="0">
              <a:buNone/>
            </a:pPr>
            <a:r>
              <a:rPr lang="en-US" sz="1600" b="1" dirty="0">
                <a:solidFill>
                  <a:srgbClr val="22E2FF"/>
                </a:solidFill>
                <a:latin typeface="Cambria" pitchFamily="34" charset="0"/>
                <a:ea typeface="Cambria" pitchFamily="34" charset="-122"/>
                <a:cs typeface="Cambria" pitchFamily="34" charset="-120"/>
              </a:rPr>
              <a:t>4</a:t>
            </a:r>
            <a:endParaRPr lang="en-US" sz="1600" dirty="0"/>
          </a:p>
        </p:txBody>
      </p:sp>
      <p:sp>
        <p:nvSpPr>
          <p:cNvPr id="26" name="Text 23"/>
          <p:cNvSpPr/>
          <p:nvPr/>
        </p:nvSpPr>
        <p:spPr>
          <a:xfrm>
            <a:off x="8308848" y="5148072"/>
            <a:ext cx="3148584" cy="384048"/>
          </a:xfrm>
          <a:prstGeom prst="rect">
            <a:avLst/>
          </a:prstGeom>
          <a:noFill/>
          <a:ln/>
        </p:spPr>
        <p:txBody>
          <a:bodyPr wrap="square" lIns="0" tIns="0" rIns="0" bIns="0" rtlCol="0" anchor="ctr"/>
          <a:lstStyle/>
          <a:p>
            <a:pPr indent="0" marL="0">
              <a:buNone/>
            </a:pPr>
            <a:r>
              <a:rPr lang="en-US" sz="1300" b="1" dirty="0">
                <a:solidFill>
                  <a:srgbClr val="F5F8FA"/>
                </a:solidFill>
                <a:latin typeface="Calibri" pitchFamily="34" charset="0"/>
                <a:ea typeface="Calibri" pitchFamily="34" charset="-122"/>
                <a:cs typeface="Calibri" pitchFamily="34" charset="-120"/>
              </a:rPr>
              <a:t>Resource Exhaustion</a:t>
            </a:r>
            <a:endParaRPr lang="en-US" sz="1300" dirty="0"/>
          </a:p>
        </p:txBody>
      </p:sp>
      <p:sp>
        <p:nvSpPr>
          <p:cNvPr id="27" name="Text 24"/>
          <p:cNvSpPr/>
          <p:nvPr/>
        </p:nvSpPr>
        <p:spPr>
          <a:xfrm>
            <a:off x="8308848" y="5513832"/>
            <a:ext cx="3148584" cy="640080"/>
          </a:xfrm>
          <a:prstGeom prst="rect">
            <a:avLst/>
          </a:prstGeom>
          <a:noFill/>
          <a:ln/>
        </p:spPr>
        <p:txBody>
          <a:bodyPr wrap="square" lIns="0" tIns="0" rIns="0" bIns="0" rtlCol="0" anchor="ctr"/>
          <a:lstStyle/>
          <a:p>
            <a:pPr indent="0" marL="0">
              <a:buNone/>
            </a:pPr>
            <a:r>
              <a:rPr lang="en-US" sz="1000" dirty="0">
                <a:solidFill>
                  <a:srgbClr val="C3CDD6"/>
                </a:solidFill>
                <a:latin typeface="Calibri" pitchFamily="34" charset="0"/>
                <a:ea typeface="Calibri" pitchFamily="34" charset="-122"/>
                <a:cs typeface="Calibri" pitchFamily="34" charset="-120"/>
              </a:rPr>
              <a:t>Bandwidth, CPU, or connection limits are overwhelmed.</a:t>
            </a:r>
            <a:endParaRPr lang="en-US" sz="1000" dirty="0"/>
          </a:p>
        </p:txBody>
      </p:sp>
      <p:sp>
        <p:nvSpPr>
          <p:cNvPr id="28" name="Shape 25"/>
          <p:cNvSpPr/>
          <p:nvPr/>
        </p:nvSpPr>
        <p:spPr>
          <a:xfrm>
            <a:off x="4337304" y="4434840"/>
            <a:ext cx="3514344" cy="1783080"/>
          </a:xfrm>
          <a:prstGeom prst="roundRect">
            <a:avLst>
              <a:gd name="adj" fmla="val 4103"/>
            </a:avLst>
          </a:prstGeom>
          <a:solidFill>
            <a:srgbClr val="27333F"/>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29" name="Shape 26"/>
          <p:cNvSpPr/>
          <p:nvPr/>
        </p:nvSpPr>
        <p:spPr>
          <a:xfrm>
            <a:off x="4501896" y="4599432"/>
            <a:ext cx="457200" cy="457200"/>
          </a:xfrm>
          <a:prstGeom prst="ellipse">
            <a:avLst/>
          </a:prstGeom>
          <a:solidFill>
            <a:srgbClr val="0D1117"/>
          </a:solidFill>
          <a:ln w="19050">
            <a:solidFill>
              <a:srgbClr val="22E2FF"/>
            </a:solidFill>
            <a:prstDash val="solid"/>
          </a:ln>
        </p:spPr>
      </p:sp>
      <p:sp>
        <p:nvSpPr>
          <p:cNvPr id="30" name="Text 27"/>
          <p:cNvSpPr/>
          <p:nvPr/>
        </p:nvSpPr>
        <p:spPr>
          <a:xfrm>
            <a:off x="4501896" y="4599432"/>
            <a:ext cx="457200" cy="457200"/>
          </a:xfrm>
          <a:prstGeom prst="rect">
            <a:avLst/>
          </a:prstGeom>
          <a:noFill/>
          <a:ln/>
        </p:spPr>
        <p:txBody>
          <a:bodyPr wrap="square" lIns="0" tIns="0" rIns="0" bIns="0" rtlCol="0" anchor="ctr"/>
          <a:lstStyle/>
          <a:p>
            <a:pPr algn="ctr" indent="0" marL="0">
              <a:buNone/>
            </a:pPr>
            <a:r>
              <a:rPr lang="en-US" sz="1600" b="1" dirty="0">
                <a:solidFill>
                  <a:srgbClr val="22E2FF"/>
                </a:solidFill>
                <a:latin typeface="Cambria" pitchFamily="34" charset="0"/>
                <a:ea typeface="Cambria" pitchFamily="34" charset="-122"/>
                <a:cs typeface="Cambria" pitchFamily="34" charset="-120"/>
              </a:rPr>
              <a:t>5</a:t>
            </a:r>
            <a:endParaRPr lang="en-US" sz="1600" dirty="0"/>
          </a:p>
        </p:txBody>
      </p:sp>
      <p:sp>
        <p:nvSpPr>
          <p:cNvPr id="31" name="Text 28"/>
          <p:cNvSpPr/>
          <p:nvPr/>
        </p:nvSpPr>
        <p:spPr>
          <a:xfrm>
            <a:off x="4520184" y="5148072"/>
            <a:ext cx="3148584" cy="384048"/>
          </a:xfrm>
          <a:prstGeom prst="rect">
            <a:avLst/>
          </a:prstGeom>
          <a:noFill/>
          <a:ln/>
        </p:spPr>
        <p:txBody>
          <a:bodyPr wrap="square" lIns="0" tIns="0" rIns="0" bIns="0" rtlCol="0" anchor="ctr"/>
          <a:lstStyle/>
          <a:p>
            <a:pPr indent="0" marL="0">
              <a:buNone/>
            </a:pPr>
            <a:r>
              <a:rPr lang="en-US" sz="1300" b="1" dirty="0">
                <a:solidFill>
                  <a:srgbClr val="F5F8FA"/>
                </a:solidFill>
                <a:latin typeface="Calibri" pitchFamily="34" charset="0"/>
                <a:ea typeface="Calibri" pitchFamily="34" charset="-122"/>
                <a:cs typeface="Calibri" pitchFamily="34" charset="-120"/>
              </a:rPr>
              <a:t>Service Outage</a:t>
            </a:r>
            <a:endParaRPr lang="en-US" sz="1300" dirty="0"/>
          </a:p>
        </p:txBody>
      </p:sp>
      <p:sp>
        <p:nvSpPr>
          <p:cNvPr id="32" name="Text 29"/>
          <p:cNvSpPr/>
          <p:nvPr/>
        </p:nvSpPr>
        <p:spPr>
          <a:xfrm>
            <a:off x="4520184" y="5513832"/>
            <a:ext cx="3148584" cy="640080"/>
          </a:xfrm>
          <a:prstGeom prst="rect">
            <a:avLst/>
          </a:prstGeom>
          <a:noFill/>
          <a:ln/>
        </p:spPr>
        <p:txBody>
          <a:bodyPr wrap="square" lIns="0" tIns="0" rIns="0" bIns="0" rtlCol="0" anchor="ctr"/>
          <a:lstStyle/>
          <a:p>
            <a:pPr indent="0" marL="0">
              <a:buNone/>
            </a:pPr>
            <a:r>
              <a:rPr lang="en-US" sz="1000" dirty="0">
                <a:solidFill>
                  <a:srgbClr val="C3CDD6"/>
                </a:solidFill>
                <a:latin typeface="Calibri" pitchFamily="34" charset="0"/>
                <a:ea typeface="Calibri" pitchFamily="34" charset="-122"/>
                <a:cs typeface="Calibri" pitchFamily="34" charset="-120"/>
              </a:rPr>
              <a:t>Legitimate users can no longer reach the site or service.</a:t>
            </a:r>
            <a:endParaRPr lang="en-US" sz="1000" dirty="0"/>
          </a:p>
        </p:txBody>
      </p:sp>
      <p:sp>
        <p:nvSpPr>
          <p:cNvPr id="33" name="Shape 30"/>
          <p:cNvSpPr/>
          <p:nvPr/>
        </p:nvSpPr>
        <p:spPr>
          <a:xfrm>
            <a:off x="548640" y="4434840"/>
            <a:ext cx="3514344" cy="1783080"/>
          </a:xfrm>
          <a:prstGeom prst="roundRect">
            <a:avLst>
              <a:gd name="adj" fmla="val 4103"/>
            </a:avLst>
          </a:prstGeom>
          <a:solidFill>
            <a:srgbClr val="27333F"/>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34" name="Shape 31"/>
          <p:cNvSpPr/>
          <p:nvPr/>
        </p:nvSpPr>
        <p:spPr>
          <a:xfrm>
            <a:off x="713232" y="4599432"/>
            <a:ext cx="457200" cy="457200"/>
          </a:xfrm>
          <a:prstGeom prst="ellipse">
            <a:avLst/>
          </a:prstGeom>
          <a:solidFill>
            <a:srgbClr val="0D1117"/>
          </a:solidFill>
          <a:ln w="19050">
            <a:solidFill>
              <a:srgbClr val="22E2FF"/>
            </a:solidFill>
            <a:prstDash val="solid"/>
          </a:ln>
        </p:spPr>
      </p:sp>
      <p:sp>
        <p:nvSpPr>
          <p:cNvPr id="35" name="Text 32"/>
          <p:cNvSpPr/>
          <p:nvPr/>
        </p:nvSpPr>
        <p:spPr>
          <a:xfrm>
            <a:off x="713232" y="4599432"/>
            <a:ext cx="457200" cy="457200"/>
          </a:xfrm>
          <a:prstGeom prst="rect">
            <a:avLst/>
          </a:prstGeom>
          <a:noFill/>
          <a:ln/>
        </p:spPr>
        <p:txBody>
          <a:bodyPr wrap="square" lIns="0" tIns="0" rIns="0" bIns="0" rtlCol="0" anchor="ctr"/>
          <a:lstStyle/>
          <a:p>
            <a:pPr algn="ctr" indent="0" marL="0">
              <a:buNone/>
            </a:pPr>
            <a:r>
              <a:rPr lang="en-US" sz="1600" b="1" dirty="0">
                <a:solidFill>
                  <a:srgbClr val="22E2FF"/>
                </a:solidFill>
                <a:latin typeface="Cambria" pitchFamily="34" charset="0"/>
                <a:ea typeface="Cambria" pitchFamily="34" charset="-122"/>
                <a:cs typeface="Cambria" pitchFamily="34" charset="-120"/>
              </a:rPr>
              <a:t>6</a:t>
            </a:r>
            <a:endParaRPr lang="en-US" sz="1600" dirty="0"/>
          </a:p>
        </p:txBody>
      </p:sp>
      <p:sp>
        <p:nvSpPr>
          <p:cNvPr id="36" name="Text 33"/>
          <p:cNvSpPr/>
          <p:nvPr/>
        </p:nvSpPr>
        <p:spPr>
          <a:xfrm>
            <a:off x="731520" y="5148072"/>
            <a:ext cx="3148584" cy="384048"/>
          </a:xfrm>
          <a:prstGeom prst="rect">
            <a:avLst/>
          </a:prstGeom>
          <a:noFill/>
          <a:ln/>
        </p:spPr>
        <p:txBody>
          <a:bodyPr wrap="square" lIns="0" tIns="0" rIns="0" bIns="0" rtlCol="0" anchor="ctr"/>
          <a:lstStyle/>
          <a:p>
            <a:pPr indent="0" marL="0">
              <a:buNone/>
            </a:pPr>
            <a:r>
              <a:rPr lang="en-US" sz="1300" b="1" dirty="0">
                <a:solidFill>
                  <a:srgbClr val="F5F8FA"/>
                </a:solidFill>
                <a:latin typeface="Calibri" pitchFamily="34" charset="0"/>
                <a:ea typeface="Calibri" pitchFamily="34" charset="-122"/>
                <a:cs typeface="Calibri" pitchFamily="34" charset="-120"/>
              </a:rPr>
              <a:t>Cover / Extortion</a:t>
            </a:r>
            <a:endParaRPr lang="en-US" sz="1300" dirty="0"/>
          </a:p>
        </p:txBody>
      </p:sp>
      <p:sp>
        <p:nvSpPr>
          <p:cNvPr id="37" name="Text 34"/>
          <p:cNvSpPr/>
          <p:nvPr/>
        </p:nvSpPr>
        <p:spPr>
          <a:xfrm>
            <a:off x="731520" y="5513832"/>
            <a:ext cx="3148584" cy="640080"/>
          </a:xfrm>
          <a:prstGeom prst="rect">
            <a:avLst/>
          </a:prstGeom>
          <a:noFill/>
          <a:ln/>
        </p:spPr>
        <p:txBody>
          <a:bodyPr wrap="square" lIns="0" tIns="0" rIns="0" bIns="0" rtlCol="0" anchor="ctr"/>
          <a:lstStyle/>
          <a:p>
            <a:pPr indent="0" marL="0">
              <a:buNone/>
            </a:pPr>
            <a:r>
              <a:rPr lang="en-US" sz="1000" dirty="0">
                <a:solidFill>
                  <a:srgbClr val="C3CDD6"/>
                </a:solidFill>
                <a:latin typeface="Calibri" pitchFamily="34" charset="0"/>
                <a:ea typeface="Calibri" pitchFamily="34" charset="-122"/>
                <a:cs typeface="Calibri" pitchFamily="34" charset="-120"/>
              </a:rPr>
              <a:t>Attack may mask a separate intrusion or demand ransom to stop.</a:t>
            </a:r>
            <a:endParaRPr lang="en-US" sz="1000" dirty="0"/>
          </a:p>
        </p:txBody>
      </p:sp>
      <p:sp>
        <p:nvSpPr>
          <p:cNvPr id="38" name="Shape 35"/>
          <p:cNvSpPr/>
          <p:nvPr/>
        </p:nvSpPr>
        <p:spPr>
          <a:xfrm>
            <a:off x="4081272" y="2958084"/>
            <a:ext cx="237744" cy="164592"/>
          </a:xfrm>
          <a:prstGeom prst="rightArrow">
            <a:avLst/>
          </a:prstGeom>
          <a:solidFill>
            <a:srgbClr val="22E2FF"/>
          </a:solidFill>
          <a:ln/>
        </p:spPr>
      </p:sp>
      <p:sp>
        <p:nvSpPr>
          <p:cNvPr id="39" name="Shape 36"/>
          <p:cNvSpPr/>
          <p:nvPr/>
        </p:nvSpPr>
        <p:spPr>
          <a:xfrm>
            <a:off x="7869936" y="2958084"/>
            <a:ext cx="237744" cy="164592"/>
          </a:xfrm>
          <a:prstGeom prst="rightArrow">
            <a:avLst/>
          </a:prstGeom>
          <a:solidFill>
            <a:srgbClr val="22E2FF"/>
          </a:solidFill>
          <a:ln/>
        </p:spPr>
      </p:sp>
      <p:sp>
        <p:nvSpPr>
          <p:cNvPr id="40" name="Shape 37"/>
          <p:cNvSpPr/>
          <p:nvPr/>
        </p:nvSpPr>
        <p:spPr>
          <a:xfrm>
            <a:off x="9800844" y="3959352"/>
            <a:ext cx="164592" cy="448056"/>
          </a:xfrm>
          <a:prstGeom prst="downArrow">
            <a:avLst/>
          </a:prstGeom>
          <a:solidFill>
            <a:srgbClr val="22E2FF"/>
          </a:solidFill>
          <a:ln/>
        </p:spPr>
      </p:sp>
      <p:sp>
        <p:nvSpPr>
          <p:cNvPr id="41" name="Shape 38"/>
          <p:cNvSpPr/>
          <p:nvPr/>
        </p:nvSpPr>
        <p:spPr>
          <a:xfrm>
            <a:off x="7869936" y="5244084"/>
            <a:ext cx="237744" cy="164592"/>
          </a:xfrm>
          <a:prstGeom prst="leftArrow">
            <a:avLst/>
          </a:prstGeom>
          <a:solidFill>
            <a:srgbClr val="22E2FF"/>
          </a:solidFill>
          <a:ln/>
        </p:spPr>
      </p:sp>
      <p:sp>
        <p:nvSpPr>
          <p:cNvPr id="42" name="Shape 39"/>
          <p:cNvSpPr/>
          <p:nvPr/>
        </p:nvSpPr>
        <p:spPr>
          <a:xfrm>
            <a:off x="4081272" y="5244084"/>
            <a:ext cx="237744" cy="164592"/>
          </a:xfrm>
          <a:prstGeom prst="leftArrow">
            <a:avLst/>
          </a:prstGeom>
          <a:solidFill>
            <a:srgbClr val="22E2FF"/>
          </a:solidFill>
          <a:ln/>
        </p:spPr>
      </p:sp>
      <p:sp>
        <p:nvSpPr>
          <p:cNvPr id="43" name="Text 40"/>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C3CDD6"/>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548640" y="347472"/>
            <a:ext cx="566928" cy="566928"/>
          </a:xfrm>
          <a:prstGeom prst="ellipse">
            <a:avLst/>
          </a:prstGeom>
          <a:solidFill>
            <a:srgbClr val="27333F"/>
          </a:solidFill>
          <a:ln w="19050">
            <a:solidFill>
              <a:srgbClr val="22E2FF"/>
            </a:solidFill>
            <a:prstDash val="solid"/>
          </a:ln>
        </p:spPr>
      </p:sp>
      <p:pic>
        <p:nvPicPr>
          <p:cNvPr id="3" name="Image 0" descr="/home/claude/cyberdeck/icons/ddos_cyan.png">    </p:cNvPr>
          <p:cNvPicPr>
            <a:picLocks noChangeAspect="1"/>
          </p:cNvPicPr>
          <p:nvPr/>
        </p:nvPicPr>
        <p:blipFill>
          <a:blip r:embed="rId1"/>
          <a:stretch>
            <a:fillRect/>
          </a:stretch>
        </p:blipFill>
        <p:spPr>
          <a:xfrm>
            <a:off x="696041" y="494873"/>
            <a:ext cx="272125" cy="272125"/>
          </a:xfrm>
          <a:prstGeom prst="rect">
            <a:avLst/>
          </a:prstGeom>
        </p:spPr>
      </p:pic>
      <p:sp>
        <p:nvSpPr>
          <p:cNvPr id="4" name="Text 1"/>
          <p:cNvSpPr/>
          <p:nvPr/>
        </p:nvSpPr>
        <p:spPr>
          <a:xfrm>
            <a:off x="1234440" y="320040"/>
            <a:ext cx="7315200" cy="411480"/>
          </a:xfrm>
          <a:prstGeom prst="rect">
            <a:avLst/>
          </a:prstGeom>
          <a:noFill/>
          <a:ln/>
        </p:spPr>
        <p:txBody>
          <a:bodyPr wrap="square" rtlCol="0" anchor="ctr"/>
          <a:lstStyle/>
          <a:p>
            <a:pPr indent="0" marL="0">
              <a:buNone/>
            </a:pPr>
            <a:r>
              <a:rPr lang="en-US" sz="2600" b="1" dirty="0">
                <a:solidFill>
                  <a:srgbClr val="F5F8FA"/>
                </a:solidFill>
                <a:latin typeface="Cambria" pitchFamily="34" charset="0"/>
                <a:ea typeface="Cambria" pitchFamily="34" charset="-122"/>
                <a:cs typeface="Cambria" pitchFamily="34" charset="-120"/>
              </a:rPr>
              <a:t>DDoS Attack</a:t>
            </a:r>
            <a:endParaRPr lang="en-US" sz="2600" dirty="0"/>
          </a:p>
        </p:txBody>
      </p:sp>
      <p:sp>
        <p:nvSpPr>
          <p:cNvPr id="5" name="Text 2"/>
          <p:cNvSpPr/>
          <p:nvPr/>
        </p:nvSpPr>
        <p:spPr>
          <a:xfrm>
            <a:off x="1234440" y="713232"/>
            <a:ext cx="7315200" cy="274320"/>
          </a:xfrm>
          <a:prstGeom prst="rect">
            <a:avLst/>
          </a:prstGeom>
          <a:noFill/>
          <a:ln/>
        </p:spPr>
        <p:txBody>
          <a:bodyPr wrap="square" rtlCol="0" anchor="ctr"/>
          <a:lstStyle/>
          <a:p>
            <a:pPr indent="0" marL="0">
              <a:buNone/>
            </a:pPr>
            <a:r>
              <a:rPr lang="en-US" sz="1150" b="1" spc="200" kern="0" dirty="0">
                <a:solidFill>
                  <a:srgbClr val="22E2FF"/>
                </a:solidFill>
                <a:latin typeface="Calibri" pitchFamily="34" charset="0"/>
                <a:ea typeface="Calibri" pitchFamily="34" charset="-122"/>
                <a:cs typeface="Calibri" pitchFamily="34" charset="-120"/>
              </a:rPr>
              <a:t>REAL-WORLD IMPACT &amp; DEFENSE</a:t>
            </a:r>
            <a:endParaRPr lang="en-US" sz="1150" dirty="0"/>
          </a:p>
        </p:txBody>
      </p:sp>
      <p:sp>
        <p:nvSpPr>
          <p:cNvPr id="6" name="Shape 3"/>
          <p:cNvSpPr/>
          <p:nvPr/>
        </p:nvSpPr>
        <p:spPr>
          <a:xfrm>
            <a:off x="548640" y="1234440"/>
            <a:ext cx="6035040" cy="1783080"/>
          </a:xfrm>
          <a:prstGeom prst="roundRect">
            <a:avLst>
              <a:gd name="adj" fmla="val 4103"/>
            </a:avLst>
          </a:prstGeom>
          <a:solidFill>
            <a:srgbClr val="1C2733"/>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7" name="Shape 4"/>
          <p:cNvSpPr/>
          <p:nvPr/>
        </p:nvSpPr>
        <p:spPr>
          <a:xfrm>
            <a:off x="777240" y="1435608"/>
            <a:ext cx="502920" cy="502920"/>
          </a:xfrm>
          <a:prstGeom prst="ellipse">
            <a:avLst/>
          </a:prstGeom>
          <a:solidFill>
            <a:srgbClr val="27333F"/>
          </a:solidFill>
          <a:ln w="19050">
            <a:solidFill>
              <a:srgbClr val="22E2FF"/>
            </a:solidFill>
            <a:prstDash val="solid"/>
          </a:ln>
        </p:spPr>
      </p:sp>
      <p:pic>
        <p:nvPicPr>
          <p:cNvPr id="8" name="Image 1" descr="/home/claude/cyberdeck/icons/building_cyan.png">    </p:cNvPr>
          <p:cNvPicPr>
            <a:picLocks noChangeAspect="1"/>
          </p:cNvPicPr>
          <p:nvPr/>
        </p:nvPicPr>
        <p:blipFill>
          <a:blip r:embed="rId2"/>
          <a:stretch>
            <a:fillRect/>
          </a:stretch>
        </p:blipFill>
        <p:spPr>
          <a:xfrm>
            <a:off x="907999" y="1566367"/>
            <a:ext cx="241402" cy="241402"/>
          </a:xfrm>
          <a:prstGeom prst="rect">
            <a:avLst/>
          </a:prstGeom>
        </p:spPr>
      </p:pic>
      <p:sp>
        <p:nvSpPr>
          <p:cNvPr id="9" name="Text 5"/>
          <p:cNvSpPr/>
          <p:nvPr/>
        </p:nvSpPr>
        <p:spPr>
          <a:xfrm>
            <a:off x="1417320" y="1490472"/>
            <a:ext cx="4937760" cy="365760"/>
          </a:xfrm>
          <a:prstGeom prst="rect">
            <a:avLst/>
          </a:prstGeom>
          <a:noFill/>
          <a:ln/>
        </p:spPr>
        <p:txBody>
          <a:bodyPr wrap="square" lIns="0" tIns="0" rIns="0" bIns="0" rtlCol="0" anchor="ctr"/>
          <a:lstStyle/>
          <a:p>
            <a:pPr indent="0" marL="0">
              <a:buNone/>
            </a:pPr>
            <a:r>
              <a:rPr lang="en-US" sz="1450" b="1" dirty="0">
                <a:solidFill>
                  <a:srgbClr val="F5F8FA"/>
                </a:solidFill>
                <a:latin typeface="Calibri" pitchFamily="34" charset="0"/>
                <a:ea typeface="Calibri" pitchFamily="34" charset="-122"/>
                <a:cs typeface="Calibri" pitchFamily="34" charset="-120"/>
              </a:rPr>
              <a:t>Real-World Example</a:t>
            </a:r>
            <a:endParaRPr lang="en-US" sz="1450" dirty="0"/>
          </a:p>
        </p:txBody>
      </p:sp>
      <p:sp>
        <p:nvSpPr>
          <p:cNvPr id="10" name="Text 6"/>
          <p:cNvSpPr/>
          <p:nvPr/>
        </p:nvSpPr>
        <p:spPr>
          <a:xfrm>
            <a:off x="777240" y="2057400"/>
            <a:ext cx="5577840" cy="822960"/>
          </a:xfrm>
          <a:prstGeom prst="rect">
            <a:avLst/>
          </a:prstGeom>
          <a:noFill/>
          <a:ln/>
        </p:spPr>
        <p:txBody>
          <a:bodyPr wrap="square" lIns="0" tIns="0" rIns="0" bIns="0" rtlCol="0" anchor="t"/>
          <a:lstStyle/>
          <a:p>
            <a:pPr indent="0" marL="0">
              <a:buNone/>
            </a:pPr>
            <a:r>
              <a:rPr lang="en-US" sz="1100" dirty="0">
                <a:solidFill>
                  <a:srgbClr val="C3CDD6"/>
                </a:solidFill>
                <a:latin typeface="Calibri" pitchFamily="34" charset="0"/>
                <a:ea typeface="Calibri" pitchFamily="34" charset="-122"/>
                <a:cs typeface="Calibri" pitchFamily="34" charset="-120"/>
              </a:rPr>
              <a:t>In October 2016, the Mirai botnet of hijacked IoT cameras and routers flooded DNS provider Dyn with traffic, knocking major sites including Twitter, Netflix, Reddit, and Spotify offline across the U.S. for hours.</a:t>
            </a:r>
            <a:endParaRPr lang="en-US" sz="1100" dirty="0"/>
          </a:p>
        </p:txBody>
      </p:sp>
      <p:sp>
        <p:nvSpPr>
          <p:cNvPr id="11" name="Shape 7"/>
          <p:cNvSpPr/>
          <p:nvPr/>
        </p:nvSpPr>
        <p:spPr>
          <a:xfrm>
            <a:off x="6858000" y="1234440"/>
            <a:ext cx="4782312" cy="1783080"/>
          </a:xfrm>
          <a:prstGeom prst="roundRect">
            <a:avLst>
              <a:gd name="adj" fmla="val 4103"/>
            </a:avLst>
          </a:prstGeom>
          <a:solidFill>
            <a:srgbClr val="1C2733"/>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12" name="Shape 8"/>
          <p:cNvSpPr/>
          <p:nvPr/>
        </p:nvSpPr>
        <p:spPr>
          <a:xfrm>
            <a:off x="7086600" y="1435608"/>
            <a:ext cx="502920" cy="502920"/>
          </a:xfrm>
          <a:prstGeom prst="ellipse">
            <a:avLst/>
          </a:prstGeom>
          <a:solidFill>
            <a:srgbClr val="27333F"/>
          </a:solidFill>
          <a:ln w="19050">
            <a:solidFill>
              <a:srgbClr val="FF5C51"/>
            </a:solidFill>
            <a:prstDash val="solid"/>
          </a:ln>
        </p:spPr>
      </p:sp>
      <p:pic>
        <p:nvPicPr>
          <p:cNvPr id="13" name="Image 2" descr="/home/claude/cyberdeck/icons/warning_red.png">    </p:cNvPr>
          <p:cNvPicPr>
            <a:picLocks noChangeAspect="1"/>
          </p:cNvPicPr>
          <p:nvPr/>
        </p:nvPicPr>
        <p:blipFill>
          <a:blip r:embed="rId3"/>
          <a:stretch>
            <a:fillRect/>
          </a:stretch>
        </p:blipFill>
        <p:spPr>
          <a:xfrm>
            <a:off x="7217359" y="1566367"/>
            <a:ext cx="241402" cy="241402"/>
          </a:xfrm>
          <a:prstGeom prst="rect">
            <a:avLst/>
          </a:prstGeom>
        </p:spPr>
      </p:pic>
      <p:sp>
        <p:nvSpPr>
          <p:cNvPr id="14" name="Text 9"/>
          <p:cNvSpPr/>
          <p:nvPr/>
        </p:nvSpPr>
        <p:spPr>
          <a:xfrm>
            <a:off x="7726680" y="1490472"/>
            <a:ext cx="3685032" cy="365760"/>
          </a:xfrm>
          <a:prstGeom prst="rect">
            <a:avLst/>
          </a:prstGeom>
          <a:noFill/>
          <a:ln/>
        </p:spPr>
        <p:txBody>
          <a:bodyPr wrap="square" lIns="0" tIns="0" rIns="0" bIns="0" rtlCol="0" anchor="ctr"/>
          <a:lstStyle/>
          <a:p>
            <a:pPr indent="0" marL="0">
              <a:buNone/>
            </a:pPr>
            <a:r>
              <a:rPr lang="en-US" sz="1450" b="1" dirty="0">
                <a:solidFill>
                  <a:srgbClr val="F5F8FA"/>
                </a:solidFill>
                <a:latin typeface="Calibri" pitchFamily="34" charset="0"/>
                <a:ea typeface="Calibri" pitchFamily="34" charset="-122"/>
                <a:cs typeface="Calibri" pitchFamily="34" charset="-120"/>
              </a:rPr>
              <a:t>Impact</a:t>
            </a:r>
            <a:endParaRPr lang="en-US" sz="1450" dirty="0"/>
          </a:p>
        </p:txBody>
      </p:sp>
      <p:sp>
        <p:nvSpPr>
          <p:cNvPr id="15" name="Text 10"/>
          <p:cNvSpPr/>
          <p:nvPr/>
        </p:nvSpPr>
        <p:spPr>
          <a:xfrm>
            <a:off x="7086600" y="2057400"/>
            <a:ext cx="4325112" cy="822960"/>
          </a:xfrm>
          <a:prstGeom prst="rect">
            <a:avLst/>
          </a:prstGeom>
          <a:noFill/>
          <a:ln/>
        </p:spPr>
        <p:txBody>
          <a:bodyPr wrap="square" lIns="0" tIns="0" rIns="0" bIns="0" rtlCol="0" anchor="t"/>
          <a:lstStyle/>
          <a:p>
            <a:pPr marL="177800" indent="-177800">
              <a:spcAft>
                <a:spcPts val="400"/>
              </a:spcAft>
              <a:buSzPct val="100000"/>
              <a:buChar char="▪"/>
            </a:pPr>
            <a:r>
              <a:rPr lang="en-US" sz="1050" dirty="0">
                <a:solidFill>
                  <a:srgbClr val="F5F8FA"/>
                </a:solidFill>
                <a:latin typeface="Calibri" pitchFamily="34" charset="0"/>
                <a:ea typeface="Calibri" pitchFamily="34" charset="-122"/>
                <a:cs typeface="Calibri" pitchFamily="34" charset="-120"/>
              </a:rPr>
              <a:t>Website and application downtime</a:t>
            </a:r>
            <a:endParaRPr lang="en-US" sz="1050" dirty="0"/>
          </a:p>
          <a:p>
            <a:pPr marL="177800" indent="-177800">
              <a:spcAft>
                <a:spcPts val="400"/>
              </a:spcAft>
              <a:buSzPct val="100000"/>
              <a:buChar char="▪"/>
            </a:pPr>
            <a:r>
              <a:rPr lang="en-US" sz="1050" dirty="0">
                <a:solidFill>
                  <a:srgbClr val="F5F8FA"/>
                </a:solidFill>
                <a:latin typeface="Calibri" pitchFamily="34" charset="0"/>
                <a:ea typeface="Calibri" pitchFamily="34" charset="-122"/>
                <a:cs typeface="Calibri" pitchFamily="34" charset="-120"/>
              </a:rPr>
              <a:t>Lost revenue during outage windows</a:t>
            </a:r>
            <a:endParaRPr lang="en-US" sz="1050" dirty="0"/>
          </a:p>
          <a:p>
            <a:pPr marL="177800" indent="-177800">
              <a:spcAft>
                <a:spcPts val="400"/>
              </a:spcAft>
              <a:buSzPct val="100000"/>
              <a:buChar char="▪"/>
            </a:pPr>
            <a:r>
              <a:rPr lang="en-US" sz="1050" dirty="0">
                <a:solidFill>
                  <a:srgbClr val="F5F8FA"/>
                </a:solidFill>
                <a:latin typeface="Calibri" pitchFamily="34" charset="0"/>
                <a:ea typeface="Calibri" pitchFamily="34" charset="-122"/>
                <a:cs typeface="Calibri" pitchFamily="34" charset="-120"/>
              </a:rPr>
              <a:t>Strained customer trust and SLAs</a:t>
            </a:r>
            <a:endParaRPr lang="en-US" sz="1050" dirty="0"/>
          </a:p>
          <a:p>
            <a:pPr marL="177800" indent="-177800">
              <a:spcAft>
                <a:spcPts val="400"/>
              </a:spcAft>
              <a:buSzPct val="100000"/>
              <a:buChar char="▪"/>
            </a:pPr>
            <a:r>
              <a:rPr lang="en-US" sz="1050" dirty="0">
                <a:solidFill>
                  <a:srgbClr val="F5F8FA"/>
                </a:solidFill>
                <a:latin typeface="Calibri" pitchFamily="34" charset="0"/>
                <a:ea typeface="Calibri" pitchFamily="34" charset="-122"/>
                <a:cs typeface="Calibri" pitchFamily="34" charset="-120"/>
              </a:rPr>
              <a:t>Can serve as a distraction for a second attack</a:t>
            </a:r>
            <a:endParaRPr lang="en-US" sz="1050" dirty="0"/>
          </a:p>
        </p:txBody>
      </p:sp>
      <p:sp>
        <p:nvSpPr>
          <p:cNvPr id="16" name="Shape 11"/>
          <p:cNvSpPr/>
          <p:nvPr/>
        </p:nvSpPr>
        <p:spPr>
          <a:xfrm>
            <a:off x="548640" y="3246120"/>
            <a:ext cx="6035040" cy="1783080"/>
          </a:xfrm>
          <a:prstGeom prst="roundRect">
            <a:avLst>
              <a:gd name="adj" fmla="val 4103"/>
            </a:avLst>
          </a:prstGeom>
          <a:solidFill>
            <a:srgbClr val="1C2733"/>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17" name="Shape 12"/>
          <p:cNvSpPr/>
          <p:nvPr/>
        </p:nvSpPr>
        <p:spPr>
          <a:xfrm>
            <a:off x="777240" y="3447288"/>
            <a:ext cx="502920" cy="502920"/>
          </a:xfrm>
          <a:prstGeom prst="ellipse">
            <a:avLst/>
          </a:prstGeom>
          <a:solidFill>
            <a:srgbClr val="27333F"/>
          </a:solidFill>
          <a:ln w="19050">
            <a:solidFill>
              <a:srgbClr val="22E2FF"/>
            </a:solidFill>
            <a:prstDash val="solid"/>
          </a:ln>
        </p:spPr>
      </p:sp>
      <p:pic>
        <p:nvPicPr>
          <p:cNvPr id="18" name="Image 3" descr="/home/claude/cyberdeck/icons/shield_cyan.png">    </p:cNvPr>
          <p:cNvPicPr>
            <a:picLocks noChangeAspect="1"/>
          </p:cNvPicPr>
          <p:nvPr/>
        </p:nvPicPr>
        <p:blipFill>
          <a:blip r:embed="rId4"/>
          <a:stretch>
            <a:fillRect/>
          </a:stretch>
        </p:blipFill>
        <p:spPr>
          <a:xfrm>
            <a:off x="907999" y="3578047"/>
            <a:ext cx="241402" cy="241402"/>
          </a:xfrm>
          <a:prstGeom prst="rect">
            <a:avLst/>
          </a:prstGeom>
        </p:spPr>
      </p:pic>
      <p:sp>
        <p:nvSpPr>
          <p:cNvPr id="19" name="Text 13"/>
          <p:cNvSpPr/>
          <p:nvPr/>
        </p:nvSpPr>
        <p:spPr>
          <a:xfrm>
            <a:off x="1417320" y="3502152"/>
            <a:ext cx="4937760" cy="365760"/>
          </a:xfrm>
          <a:prstGeom prst="rect">
            <a:avLst/>
          </a:prstGeom>
          <a:noFill/>
          <a:ln/>
        </p:spPr>
        <p:txBody>
          <a:bodyPr wrap="square" lIns="0" tIns="0" rIns="0" bIns="0" rtlCol="0" anchor="ctr"/>
          <a:lstStyle/>
          <a:p>
            <a:pPr indent="0" marL="0">
              <a:buNone/>
            </a:pPr>
            <a:r>
              <a:rPr lang="en-US" sz="1450" b="1" dirty="0">
                <a:solidFill>
                  <a:srgbClr val="F5F8FA"/>
                </a:solidFill>
                <a:latin typeface="Calibri" pitchFamily="34" charset="0"/>
                <a:ea typeface="Calibri" pitchFamily="34" charset="-122"/>
                <a:cs typeface="Calibri" pitchFamily="34" charset="-120"/>
              </a:rPr>
              <a:t>Prevention &amp; Mitigation</a:t>
            </a:r>
            <a:endParaRPr lang="en-US" sz="1450" dirty="0"/>
          </a:p>
        </p:txBody>
      </p:sp>
      <p:sp>
        <p:nvSpPr>
          <p:cNvPr id="20" name="Text 14"/>
          <p:cNvSpPr/>
          <p:nvPr/>
        </p:nvSpPr>
        <p:spPr>
          <a:xfrm>
            <a:off x="777240" y="4069080"/>
            <a:ext cx="5577840" cy="822960"/>
          </a:xfrm>
          <a:prstGeom prst="rect">
            <a:avLst/>
          </a:prstGeom>
          <a:noFill/>
          <a:ln/>
        </p:spPr>
        <p:txBody>
          <a:bodyPr wrap="square" lIns="0" tIns="0" rIns="0" bIns="0" rtlCol="0" anchor="t"/>
          <a:lstStyle/>
          <a:p>
            <a:pPr marL="177800" indent="-177800">
              <a:spcAft>
                <a:spcPts val="400"/>
              </a:spcAft>
              <a:buSzPct val="100000"/>
              <a:buChar char="▪"/>
            </a:pPr>
            <a:r>
              <a:rPr lang="en-US" sz="1100" dirty="0">
                <a:solidFill>
                  <a:srgbClr val="F5F8FA"/>
                </a:solidFill>
                <a:latin typeface="Calibri" pitchFamily="34" charset="0"/>
                <a:ea typeface="Calibri" pitchFamily="34" charset="-122"/>
                <a:cs typeface="Calibri" pitchFamily="34" charset="-120"/>
              </a:rPr>
              <a:t>Use CDN and DDoS-scrubbing services</a:t>
            </a:r>
            <a:endParaRPr lang="en-US" sz="1100" dirty="0"/>
          </a:p>
          <a:p>
            <a:pPr marL="177800" indent="-177800">
              <a:spcAft>
                <a:spcPts val="400"/>
              </a:spcAft>
              <a:buSzPct val="100000"/>
              <a:buChar char="▪"/>
            </a:pPr>
            <a:r>
              <a:rPr lang="en-US" sz="1100" dirty="0">
                <a:solidFill>
                  <a:srgbClr val="F5F8FA"/>
                </a:solidFill>
                <a:latin typeface="Calibri" pitchFamily="34" charset="0"/>
                <a:ea typeface="Calibri" pitchFamily="34" charset="-122"/>
                <a:cs typeface="Calibri" pitchFamily="34" charset="-120"/>
              </a:rPr>
              <a:t>Provision extra bandwidth and autoscaling</a:t>
            </a:r>
            <a:endParaRPr lang="en-US" sz="1100" dirty="0"/>
          </a:p>
          <a:p>
            <a:pPr marL="177800" indent="-177800">
              <a:spcAft>
                <a:spcPts val="400"/>
              </a:spcAft>
              <a:buSzPct val="100000"/>
              <a:buChar char="▪"/>
            </a:pPr>
            <a:r>
              <a:rPr lang="en-US" sz="1100" dirty="0">
                <a:solidFill>
                  <a:srgbClr val="F5F8FA"/>
                </a:solidFill>
                <a:latin typeface="Calibri" pitchFamily="34" charset="0"/>
                <a:ea typeface="Calibri" pitchFamily="34" charset="-122"/>
                <a:cs typeface="Calibri" pitchFamily="34" charset="-120"/>
              </a:rPr>
              <a:t>Harden IoT devices and default credentials</a:t>
            </a:r>
            <a:endParaRPr lang="en-US" sz="1100" dirty="0"/>
          </a:p>
          <a:p>
            <a:pPr marL="177800" indent="-177800">
              <a:spcAft>
                <a:spcPts val="400"/>
              </a:spcAft>
              <a:buSzPct val="100000"/>
              <a:buChar char="▪"/>
            </a:pPr>
            <a:r>
              <a:rPr lang="en-US" sz="1100" dirty="0">
                <a:solidFill>
                  <a:srgbClr val="F5F8FA"/>
                </a:solidFill>
                <a:latin typeface="Calibri" pitchFamily="34" charset="0"/>
                <a:ea typeface="Calibri" pitchFamily="34" charset="-122"/>
                <a:cs typeface="Calibri" pitchFamily="34" charset="-120"/>
              </a:rPr>
              <a:t>Prepare a tested incident-response runbook</a:t>
            </a:r>
            <a:endParaRPr lang="en-US" sz="1100" dirty="0"/>
          </a:p>
        </p:txBody>
      </p:sp>
      <p:sp>
        <p:nvSpPr>
          <p:cNvPr id="21" name="Shape 15"/>
          <p:cNvSpPr/>
          <p:nvPr/>
        </p:nvSpPr>
        <p:spPr>
          <a:xfrm>
            <a:off x="6858000" y="3246120"/>
            <a:ext cx="4782312" cy="1783080"/>
          </a:xfrm>
          <a:prstGeom prst="roundRect">
            <a:avLst>
              <a:gd name="adj" fmla="val 4103"/>
            </a:avLst>
          </a:prstGeom>
          <a:solidFill>
            <a:srgbClr val="1C2733"/>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22" name="Shape 16"/>
          <p:cNvSpPr/>
          <p:nvPr/>
        </p:nvSpPr>
        <p:spPr>
          <a:xfrm>
            <a:off x="7086600" y="3447288"/>
            <a:ext cx="502920" cy="502920"/>
          </a:xfrm>
          <a:prstGeom prst="ellipse">
            <a:avLst/>
          </a:prstGeom>
          <a:solidFill>
            <a:srgbClr val="27333F"/>
          </a:solidFill>
          <a:ln w="19050">
            <a:solidFill>
              <a:srgbClr val="22E2FF"/>
            </a:solidFill>
            <a:prstDash val="solid"/>
          </a:ln>
        </p:spPr>
      </p:sp>
      <p:pic>
        <p:nvPicPr>
          <p:cNvPr id="23" name="Image 4" descr="/home/claude/cyberdeck/icons/search_cyan.png">    </p:cNvPr>
          <p:cNvPicPr>
            <a:picLocks noChangeAspect="1"/>
          </p:cNvPicPr>
          <p:nvPr/>
        </p:nvPicPr>
        <p:blipFill>
          <a:blip r:embed="rId5"/>
          <a:stretch>
            <a:fillRect/>
          </a:stretch>
        </p:blipFill>
        <p:spPr>
          <a:xfrm>
            <a:off x="7217359" y="3578047"/>
            <a:ext cx="241402" cy="241402"/>
          </a:xfrm>
          <a:prstGeom prst="rect">
            <a:avLst/>
          </a:prstGeom>
        </p:spPr>
      </p:pic>
      <p:sp>
        <p:nvSpPr>
          <p:cNvPr id="24" name="Text 17"/>
          <p:cNvSpPr/>
          <p:nvPr/>
        </p:nvSpPr>
        <p:spPr>
          <a:xfrm>
            <a:off x="7726680" y="3502152"/>
            <a:ext cx="3685032" cy="365760"/>
          </a:xfrm>
          <a:prstGeom prst="rect">
            <a:avLst/>
          </a:prstGeom>
          <a:noFill/>
          <a:ln/>
        </p:spPr>
        <p:txBody>
          <a:bodyPr wrap="square" lIns="0" tIns="0" rIns="0" bIns="0" rtlCol="0" anchor="ctr"/>
          <a:lstStyle/>
          <a:p>
            <a:pPr indent="0" marL="0">
              <a:buNone/>
            </a:pPr>
            <a:r>
              <a:rPr lang="en-US" sz="1450" b="1" dirty="0">
                <a:solidFill>
                  <a:srgbClr val="F5F8FA"/>
                </a:solidFill>
                <a:latin typeface="Calibri" pitchFamily="34" charset="0"/>
                <a:ea typeface="Calibri" pitchFamily="34" charset="-122"/>
                <a:cs typeface="Calibri" pitchFamily="34" charset="-120"/>
              </a:rPr>
              <a:t>Detection Methods</a:t>
            </a:r>
            <a:endParaRPr lang="en-US" sz="1450" dirty="0"/>
          </a:p>
        </p:txBody>
      </p:sp>
      <p:sp>
        <p:nvSpPr>
          <p:cNvPr id="25" name="Text 18"/>
          <p:cNvSpPr/>
          <p:nvPr/>
        </p:nvSpPr>
        <p:spPr>
          <a:xfrm>
            <a:off x="7086600" y="4069080"/>
            <a:ext cx="4325112" cy="822960"/>
          </a:xfrm>
          <a:prstGeom prst="rect">
            <a:avLst/>
          </a:prstGeom>
          <a:noFill/>
          <a:ln/>
        </p:spPr>
        <p:txBody>
          <a:bodyPr wrap="square" lIns="0" tIns="0" rIns="0" bIns="0" rtlCol="0" anchor="t"/>
          <a:lstStyle/>
          <a:p>
            <a:pPr marL="177800" indent="-177800">
              <a:spcAft>
                <a:spcPts val="400"/>
              </a:spcAft>
              <a:buSzPct val="100000"/>
              <a:buChar char="▪"/>
            </a:pPr>
            <a:r>
              <a:rPr lang="en-US" sz="1050" dirty="0">
                <a:solidFill>
                  <a:srgbClr val="F5F8FA"/>
                </a:solidFill>
                <a:latin typeface="Calibri" pitchFamily="34" charset="0"/>
                <a:ea typeface="Calibri" pitchFamily="34" charset="-122"/>
                <a:cs typeface="Calibri" pitchFamily="34" charset="-120"/>
              </a:rPr>
              <a:t>Real-time traffic and flow-rate monitoring</a:t>
            </a:r>
            <a:endParaRPr lang="en-US" sz="1050" dirty="0"/>
          </a:p>
          <a:p>
            <a:pPr marL="177800" indent="-177800">
              <a:spcAft>
                <a:spcPts val="400"/>
              </a:spcAft>
              <a:buSzPct val="100000"/>
              <a:buChar char="▪"/>
            </a:pPr>
            <a:r>
              <a:rPr lang="en-US" sz="1050" dirty="0">
                <a:solidFill>
                  <a:srgbClr val="F5F8FA"/>
                </a:solidFill>
                <a:latin typeface="Calibri" pitchFamily="34" charset="0"/>
                <a:ea typeface="Calibri" pitchFamily="34" charset="-122"/>
                <a:cs typeface="Calibri" pitchFamily="34" charset="-120"/>
              </a:rPr>
              <a:t>Anomaly detection on request-per-second spikes</a:t>
            </a:r>
            <a:endParaRPr lang="en-US" sz="1050" dirty="0"/>
          </a:p>
          <a:p>
            <a:pPr marL="177800" indent="-177800">
              <a:spcAft>
                <a:spcPts val="400"/>
              </a:spcAft>
              <a:buSzPct val="100000"/>
              <a:buChar char="▪"/>
            </a:pPr>
            <a:r>
              <a:rPr lang="en-US" sz="1050" dirty="0">
                <a:solidFill>
                  <a:srgbClr val="F5F8FA"/>
                </a:solidFill>
                <a:latin typeface="Calibri" pitchFamily="34" charset="0"/>
                <a:ea typeface="Calibri" pitchFamily="34" charset="-122"/>
                <a:cs typeface="Calibri" pitchFamily="34" charset="-120"/>
              </a:rPr>
              <a:t>Geographic and source-IP distribution analysis</a:t>
            </a:r>
            <a:endParaRPr lang="en-US" sz="1050" dirty="0"/>
          </a:p>
          <a:p>
            <a:pPr marL="177800" indent="-177800">
              <a:spcAft>
                <a:spcPts val="400"/>
              </a:spcAft>
              <a:buSzPct val="100000"/>
              <a:buChar char="▪"/>
            </a:pPr>
            <a:r>
              <a:rPr lang="en-US" sz="1050" dirty="0">
                <a:solidFill>
                  <a:srgbClr val="F5F8FA"/>
                </a:solidFill>
                <a:latin typeface="Calibri" pitchFamily="34" charset="0"/>
                <a:ea typeface="Calibri" pitchFamily="34" charset="-122"/>
                <a:cs typeface="Calibri" pitchFamily="34" charset="-120"/>
              </a:rPr>
              <a:t>Upstream ISP and CDN alerting</a:t>
            </a:r>
            <a:endParaRPr lang="en-US" sz="1050" dirty="0"/>
          </a:p>
        </p:txBody>
      </p:sp>
      <p:sp>
        <p:nvSpPr>
          <p:cNvPr id="26" name="Shape 19"/>
          <p:cNvSpPr/>
          <p:nvPr/>
        </p:nvSpPr>
        <p:spPr>
          <a:xfrm>
            <a:off x="548640" y="5257800"/>
            <a:ext cx="11091672" cy="658368"/>
          </a:xfrm>
          <a:prstGeom prst="roundRect">
            <a:avLst>
              <a:gd name="adj" fmla="val 8333"/>
            </a:avLst>
          </a:prstGeom>
          <a:solidFill>
            <a:srgbClr val="27333F"/>
          </a:solidFill>
          <a:ln w="12700">
            <a:solidFill>
              <a:srgbClr val="22E2FF"/>
            </a:solidFill>
            <a:prstDash val="solid"/>
          </a:ln>
        </p:spPr>
      </p:sp>
      <p:sp>
        <p:nvSpPr>
          <p:cNvPr id="27" name="Text 20"/>
          <p:cNvSpPr/>
          <p:nvPr/>
        </p:nvSpPr>
        <p:spPr>
          <a:xfrm>
            <a:off x="777240" y="5257800"/>
            <a:ext cx="1737360" cy="658368"/>
          </a:xfrm>
          <a:prstGeom prst="rect">
            <a:avLst/>
          </a:prstGeom>
          <a:noFill/>
          <a:ln/>
        </p:spPr>
        <p:txBody>
          <a:bodyPr wrap="square" lIns="0" tIns="0" rIns="0" bIns="0" rtlCol="0" anchor="ctr"/>
          <a:lstStyle/>
          <a:p>
            <a:pPr indent="0" marL="0">
              <a:buNone/>
            </a:pPr>
            <a:r>
              <a:rPr lang="en-US" sz="2200" b="1" dirty="0">
                <a:solidFill>
                  <a:srgbClr val="22E2FF"/>
                </a:solidFill>
                <a:latin typeface="Cambria" pitchFamily="34" charset="0"/>
                <a:ea typeface="Cambria" pitchFamily="34" charset="-122"/>
                <a:cs typeface="Cambria" pitchFamily="34" charset="-120"/>
              </a:rPr>
              <a:t>3.15 Tbps</a:t>
            </a:r>
            <a:endParaRPr lang="en-US" sz="2200" dirty="0"/>
          </a:p>
        </p:txBody>
      </p:sp>
      <p:sp>
        <p:nvSpPr>
          <p:cNvPr id="28" name="Text 21"/>
          <p:cNvSpPr/>
          <p:nvPr/>
        </p:nvSpPr>
        <p:spPr>
          <a:xfrm>
            <a:off x="2606040" y="5257800"/>
            <a:ext cx="8778240" cy="658368"/>
          </a:xfrm>
          <a:prstGeom prst="rect">
            <a:avLst/>
          </a:prstGeom>
          <a:noFill/>
          <a:ln/>
        </p:spPr>
        <p:txBody>
          <a:bodyPr wrap="square" lIns="0" tIns="0" rIns="0" bIns="0" rtlCol="0" anchor="ctr"/>
          <a:lstStyle/>
          <a:p>
            <a:pPr indent="0" marL="0">
              <a:buNone/>
            </a:pPr>
            <a:r>
              <a:rPr lang="en-US" sz="1150" dirty="0">
                <a:solidFill>
                  <a:srgbClr val="F5F8FA"/>
                </a:solidFill>
                <a:latin typeface="Calibri" pitchFamily="34" charset="0"/>
                <a:ea typeface="Calibri" pitchFamily="34" charset="-122"/>
                <a:cs typeface="Calibri" pitchFamily="34" charset="-120"/>
              </a:rPr>
              <a:t>was among the largest volumetric DDoS attacks mitigated in recent years, and attack sizes keep climbing</a:t>
            </a:r>
            <a:endParaRPr lang="en-US" sz="1150" dirty="0"/>
          </a:p>
        </p:txBody>
      </p:sp>
      <p:sp>
        <p:nvSpPr>
          <p:cNvPr id="29" name="Text 22"/>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C3CDD6"/>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548640" y="347472"/>
            <a:ext cx="566928" cy="566928"/>
          </a:xfrm>
          <a:prstGeom prst="ellipse">
            <a:avLst/>
          </a:prstGeom>
          <a:solidFill>
            <a:srgbClr val="27333F"/>
          </a:solidFill>
          <a:ln w="19050">
            <a:solidFill>
              <a:srgbClr val="22E2FF"/>
            </a:solidFill>
            <a:prstDash val="solid"/>
          </a:ln>
        </p:spPr>
      </p:sp>
      <p:pic>
        <p:nvPicPr>
          <p:cNvPr id="3" name="Image 0" descr="/home/claude/cyberdeck/icons/sqli_cyan.png">    </p:cNvPr>
          <p:cNvPicPr>
            <a:picLocks noChangeAspect="1"/>
          </p:cNvPicPr>
          <p:nvPr/>
        </p:nvPicPr>
        <p:blipFill>
          <a:blip r:embed="rId1"/>
          <a:stretch>
            <a:fillRect/>
          </a:stretch>
        </p:blipFill>
        <p:spPr>
          <a:xfrm>
            <a:off x="696041" y="494873"/>
            <a:ext cx="272125" cy="272125"/>
          </a:xfrm>
          <a:prstGeom prst="rect">
            <a:avLst/>
          </a:prstGeom>
        </p:spPr>
      </p:pic>
      <p:sp>
        <p:nvSpPr>
          <p:cNvPr id="4" name="Text 1"/>
          <p:cNvSpPr/>
          <p:nvPr/>
        </p:nvSpPr>
        <p:spPr>
          <a:xfrm>
            <a:off x="1234440" y="320040"/>
            <a:ext cx="7315200" cy="411480"/>
          </a:xfrm>
          <a:prstGeom prst="rect">
            <a:avLst/>
          </a:prstGeom>
          <a:noFill/>
          <a:ln/>
        </p:spPr>
        <p:txBody>
          <a:bodyPr wrap="square" rtlCol="0" anchor="ctr"/>
          <a:lstStyle/>
          <a:p>
            <a:pPr indent="0" marL="0">
              <a:buNone/>
            </a:pPr>
            <a:r>
              <a:rPr lang="en-US" sz="2600" b="1" dirty="0">
                <a:solidFill>
                  <a:srgbClr val="F5F8FA"/>
                </a:solidFill>
                <a:latin typeface="Cambria" pitchFamily="34" charset="0"/>
                <a:ea typeface="Cambria" pitchFamily="34" charset="-122"/>
                <a:cs typeface="Cambria" pitchFamily="34" charset="-120"/>
              </a:rPr>
              <a:t>SQL Injection</a:t>
            </a:r>
            <a:endParaRPr lang="en-US" sz="2600" dirty="0"/>
          </a:p>
        </p:txBody>
      </p:sp>
      <p:sp>
        <p:nvSpPr>
          <p:cNvPr id="5" name="Text 2"/>
          <p:cNvSpPr/>
          <p:nvPr/>
        </p:nvSpPr>
        <p:spPr>
          <a:xfrm>
            <a:off x="1234440" y="713232"/>
            <a:ext cx="7315200" cy="274320"/>
          </a:xfrm>
          <a:prstGeom prst="rect">
            <a:avLst/>
          </a:prstGeom>
          <a:noFill/>
          <a:ln/>
        </p:spPr>
        <p:txBody>
          <a:bodyPr wrap="square" rtlCol="0" anchor="ctr"/>
          <a:lstStyle/>
          <a:p>
            <a:pPr indent="0" marL="0">
              <a:buNone/>
            </a:pPr>
            <a:r>
              <a:rPr lang="en-US" sz="1150" b="1" spc="200" kern="0" dirty="0">
                <a:solidFill>
                  <a:srgbClr val="22E2FF"/>
                </a:solidFill>
                <a:latin typeface="Calibri" pitchFamily="34" charset="0"/>
                <a:ea typeface="Calibri" pitchFamily="34" charset="-122"/>
                <a:cs typeface="Calibri" pitchFamily="34" charset="-120"/>
              </a:rPr>
              <a:t>HOW THE ATTACK WORKS</a:t>
            </a:r>
            <a:endParaRPr lang="en-US" sz="1150" dirty="0"/>
          </a:p>
        </p:txBody>
      </p:sp>
      <p:sp>
        <p:nvSpPr>
          <p:cNvPr id="6" name="Shape 3"/>
          <p:cNvSpPr/>
          <p:nvPr/>
        </p:nvSpPr>
        <p:spPr>
          <a:xfrm>
            <a:off x="548640" y="1143000"/>
            <a:ext cx="11091672" cy="777240"/>
          </a:xfrm>
          <a:prstGeom prst="roundRect">
            <a:avLst>
              <a:gd name="adj" fmla="val 7059"/>
            </a:avLst>
          </a:prstGeom>
          <a:solidFill>
            <a:srgbClr val="1C2733"/>
          </a:solidFill>
          <a:ln w="12700">
            <a:solidFill>
              <a:srgbClr val="445362"/>
            </a:solidFill>
            <a:prstDash val="solid"/>
          </a:ln>
        </p:spPr>
      </p:sp>
      <p:sp>
        <p:nvSpPr>
          <p:cNvPr id="7" name="Text 4"/>
          <p:cNvSpPr/>
          <p:nvPr/>
        </p:nvSpPr>
        <p:spPr>
          <a:xfrm>
            <a:off x="777240" y="1143000"/>
            <a:ext cx="10607040" cy="777240"/>
          </a:xfrm>
          <a:prstGeom prst="rect">
            <a:avLst/>
          </a:prstGeom>
          <a:noFill/>
          <a:ln/>
        </p:spPr>
        <p:txBody>
          <a:bodyPr wrap="square" lIns="0" tIns="0" rIns="0" bIns="0" rtlCol="0" anchor="ctr"/>
          <a:lstStyle/>
          <a:p>
            <a:pPr indent="0" marL="0">
              <a:buNone/>
            </a:pPr>
            <a:r>
              <a:rPr lang="en-US" sz="1250" dirty="0">
                <a:solidFill>
                  <a:srgbClr val="F5F8FA"/>
                </a:solidFill>
                <a:latin typeface="Calibri" pitchFamily="34" charset="0"/>
                <a:ea typeface="Calibri" pitchFamily="34" charset="-122"/>
                <a:cs typeface="Calibri" pitchFamily="34" charset="-120"/>
              </a:rPr>
              <a:t>An injection attack where malicious SQL statements are inserted into an input field, tricking the database into running unintended commands.</a:t>
            </a:r>
            <a:endParaRPr lang="en-US" sz="1250" dirty="0"/>
          </a:p>
        </p:txBody>
      </p:sp>
      <p:sp>
        <p:nvSpPr>
          <p:cNvPr id="8" name="Shape 5"/>
          <p:cNvSpPr/>
          <p:nvPr/>
        </p:nvSpPr>
        <p:spPr>
          <a:xfrm>
            <a:off x="548640" y="2148840"/>
            <a:ext cx="3514344" cy="1783080"/>
          </a:xfrm>
          <a:prstGeom prst="roundRect">
            <a:avLst>
              <a:gd name="adj" fmla="val 4103"/>
            </a:avLst>
          </a:prstGeom>
          <a:solidFill>
            <a:srgbClr val="27333F"/>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9" name="Shape 6"/>
          <p:cNvSpPr/>
          <p:nvPr/>
        </p:nvSpPr>
        <p:spPr>
          <a:xfrm>
            <a:off x="713232" y="2313432"/>
            <a:ext cx="457200" cy="457200"/>
          </a:xfrm>
          <a:prstGeom prst="ellipse">
            <a:avLst/>
          </a:prstGeom>
          <a:solidFill>
            <a:srgbClr val="0D1117"/>
          </a:solidFill>
          <a:ln w="19050">
            <a:solidFill>
              <a:srgbClr val="22E2FF"/>
            </a:solidFill>
            <a:prstDash val="solid"/>
          </a:ln>
        </p:spPr>
      </p:sp>
      <p:sp>
        <p:nvSpPr>
          <p:cNvPr id="10" name="Text 7"/>
          <p:cNvSpPr/>
          <p:nvPr/>
        </p:nvSpPr>
        <p:spPr>
          <a:xfrm>
            <a:off x="713232" y="2313432"/>
            <a:ext cx="457200" cy="457200"/>
          </a:xfrm>
          <a:prstGeom prst="rect">
            <a:avLst/>
          </a:prstGeom>
          <a:noFill/>
          <a:ln/>
        </p:spPr>
        <p:txBody>
          <a:bodyPr wrap="square" lIns="0" tIns="0" rIns="0" bIns="0" rtlCol="0" anchor="ctr"/>
          <a:lstStyle/>
          <a:p>
            <a:pPr algn="ctr" indent="0" marL="0">
              <a:buNone/>
            </a:pPr>
            <a:r>
              <a:rPr lang="en-US" sz="1600" b="1" dirty="0">
                <a:solidFill>
                  <a:srgbClr val="22E2FF"/>
                </a:solidFill>
                <a:latin typeface="Cambria" pitchFamily="34" charset="0"/>
                <a:ea typeface="Cambria" pitchFamily="34" charset="-122"/>
                <a:cs typeface="Cambria" pitchFamily="34" charset="-120"/>
              </a:rPr>
              <a:t>1</a:t>
            </a:r>
            <a:endParaRPr lang="en-US" sz="1600" dirty="0"/>
          </a:p>
        </p:txBody>
      </p:sp>
      <p:sp>
        <p:nvSpPr>
          <p:cNvPr id="11" name="Text 8"/>
          <p:cNvSpPr/>
          <p:nvPr/>
        </p:nvSpPr>
        <p:spPr>
          <a:xfrm>
            <a:off x="731520" y="2862072"/>
            <a:ext cx="3148584" cy="384048"/>
          </a:xfrm>
          <a:prstGeom prst="rect">
            <a:avLst/>
          </a:prstGeom>
          <a:noFill/>
          <a:ln/>
        </p:spPr>
        <p:txBody>
          <a:bodyPr wrap="square" lIns="0" tIns="0" rIns="0" bIns="0" rtlCol="0" anchor="ctr"/>
          <a:lstStyle/>
          <a:p>
            <a:pPr indent="0" marL="0">
              <a:buNone/>
            </a:pPr>
            <a:r>
              <a:rPr lang="en-US" sz="1300" b="1" dirty="0">
                <a:solidFill>
                  <a:srgbClr val="F5F8FA"/>
                </a:solidFill>
                <a:latin typeface="Calibri" pitchFamily="34" charset="0"/>
                <a:ea typeface="Calibri" pitchFamily="34" charset="-122"/>
                <a:cs typeface="Calibri" pitchFamily="34" charset="-120"/>
              </a:rPr>
              <a:t>Find Input</a:t>
            </a:r>
            <a:endParaRPr lang="en-US" sz="1300" dirty="0"/>
          </a:p>
        </p:txBody>
      </p:sp>
      <p:sp>
        <p:nvSpPr>
          <p:cNvPr id="12" name="Text 9"/>
          <p:cNvSpPr/>
          <p:nvPr/>
        </p:nvSpPr>
        <p:spPr>
          <a:xfrm>
            <a:off x="731520" y="3227832"/>
            <a:ext cx="3148584" cy="640080"/>
          </a:xfrm>
          <a:prstGeom prst="rect">
            <a:avLst/>
          </a:prstGeom>
          <a:noFill/>
          <a:ln/>
        </p:spPr>
        <p:txBody>
          <a:bodyPr wrap="square" lIns="0" tIns="0" rIns="0" bIns="0" rtlCol="0" anchor="ctr"/>
          <a:lstStyle/>
          <a:p>
            <a:pPr indent="0" marL="0">
              <a:buNone/>
            </a:pPr>
            <a:r>
              <a:rPr lang="en-US" sz="1000" dirty="0">
                <a:solidFill>
                  <a:srgbClr val="C3CDD6"/>
                </a:solidFill>
                <a:latin typeface="Calibri" pitchFamily="34" charset="0"/>
                <a:ea typeface="Calibri" pitchFamily="34" charset="-122"/>
                <a:cs typeface="Calibri" pitchFamily="34" charset="-120"/>
              </a:rPr>
              <a:t>Attacker identifies a form, search box, or API that touches the database.</a:t>
            </a:r>
            <a:endParaRPr lang="en-US" sz="1000" dirty="0"/>
          </a:p>
        </p:txBody>
      </p:sp>
      <p:sp>
        <p:nvSpPr>
          <p:cNvPr id="13" name="Shape 10"/>
          <p:cNvSpPr/>
          <p:nvPr/>
        </p:nvSpPr>
        <p:spPr>
          <a:xfrm>
            <a:off x="4337304" y="2148840"/>
            <a:ext cx="3514344" cy="1783080"/>
          </a:xfrm>
          <a:prstGeom prst="roundRect">
            <a:avLst>
              <a:gd name="adj" fmla="val 4103"/>
            </a:avLst>
          </a:prstGeom>
          <a:solidFill>
            <a:srgbClr val="27333F"/>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14" name="Shape 11"/>
          <p:cNvSpPr/>
          <p:nvPr/>
        </p:nvSpPr>
        <p:spPr>
          <a:xfrm>
            <a:off x="4501896" y="2313432"/>
            <a:ext cx="457200" cy="457200"/>
          </a:xfrm>
          <a:prstGeom prst="ellipse">
            <a:avLst/>
          </a:prstGeom>
          <a:solidFill>
            <a:srgbClr val="0D1117"/>
          </a:solidFill>
          <a:ln w="19050">
            <a:solidFill>
              <a:srgbClr val="22E2FF"/>
            </a:solidFill>
            <a:prstDash val="solid"/>
          </a:ln>
        </p:spPr>
      </p:sp>
      <p:sp>
        <p:nvSpPr>
          <p:cNvPr id="15" name="Text 12"/>
          <p:cNvSpPr/>
          <p:nvPr/>
        </p:nvSpPr>
        <p:spPr>
          <a:xfrm>
            <a:off x="4501896" y="2313432"/>
            <a:ext cx="457200" cy="457200"/>
          </a:xfrm>
          <a:prstGeom prst="rect">
            <a:avLst/>
          </a:prstGeom>
          <a:noFill/>
          <a:ln/>
        </p:spPr>
        <p:txBody>
          <a:bodyPr wrap="square" lIns="0" tIns="0" rIns="0" bIns="0" rtlCol="0" anchor="ctr"/>
          <a:lstStyle/>
          <a:p>
            <a:pPr algn="ctr" indent="0" marL="0">
              <a:buNone/>
            </a:pPr>
            <a:r>
              <a:rPr lang="en-US" sz="1600" b="1" dirty="0">
                <a:solidFill>
                  <a:srgbClr val="22E2FF"/>
                </a:solidFill>
                <a:latin typeface="Cambria" pitchFamily="34" charset="0"/>
                <a:ea typeface="Cambria" pitchFamily="34" charset="-122"/>
                <a:cs typeface="Cambria" pitchFamily="34" charset="-120"/>
              </a:rPr>
              <a:t>2</a:t>
            </a:r>
            <a:endParaRPr lang="en-US" sz="1600" dirty="0"/>
          </a:p>
        </p:txBody>
      </p:sp>
      <p:sp>
        <p:nvSpPr>
          <p:cNvPr id="16" name="Text 13"/>
          <p:cNvSpPr/>
          <p:nvPr/>
        </p:nvSpPr>
        <p:spPr>
          <a:xfrm>
            <a:off x="4520184" y="2862072"/>
            <a:ext cx="3148584" cy="384048"/>
          </a:xfrm>
          <a:prstGeom prst="rect">
            <a:avLst/>
          </a:prstGeom>
          <a:noFill/>
          <a:ln/>
        </p:spPr>
        <p:txBody>
          <a:bodyPr wrap="square" lIns="0" tIns="0" rIns="0" bIns="0" rtlCol="0" anchor="ctr"/>
          <a:lstStyle/>
          <a:p>
            <a:pPr indent="0" marL="0">
              <a:buNone/>
            </a:pPr>
            <a:r>
              <a:rPr lang="en-US" sz="1300" b="1" dirty="0">
                <a:solidFill>
                  <a:srgbClr val="F5F8FA"/>
                </a:solidFill>
                <a:latin typeface="Calibri" pitchFamily="34" charset="0"/>
                <a:ea typeface="Calibri" pitchFamily="34" charset="-122"/>
                <a:cs typeface="Calibri" pitchFamily="34" charset="-120"/>
              </a:rPr>
              <a:t>Craft Payload</a:t>
            </a:r>
            <a:endParaRPr lang="en-US" sz="1300" dirty="0"/>
          </a:p>
        </p:txBody>
      </p:sp>
      <p:sp>
        <p:nvSpPr>
          <p:cNvPr id="17" name="Text 14"/>
          <p:cNvSpPr/>
          <p:nvPr/>
        </p:nvSpPr>
        <p:spPr>
          <a:xfrm>
            <a:off x="4520184" y="3227832"/>
            <a:ext cx="3148584" cy="640080"/>
          </a:xfrm>
          <a:prstGeom prst="rect">
            <a:avLst/>
          </a:prstGeom>
          <a:noFill/>
          <a:ln/>
        </p:spPr>
        <p:txBody>
          <a:bodyPr wrap="square" lIns="0" tIns="0" rIns="0" bIns="0" rtlCol="0" anchor="ctr"/>
          <a:lstStyle/>
          <a:p>
            <a:pPr indent="0" marL="0">
              <a:buNone/>
            </a:pPr>
            <a:r>
              <a:rPr lang="en-US" sz="1000" dirty="0">
                <a:solidFill>
                  <a:srgbClr val="C3CDD6"/>
                </a:solidFill>
                <a:latin typeface="Calibri" pitchFamily="34" charset="0"/>
                <a:ea typeface="Calibri" pitchFamily="34" charset="-122"/>
                <a:cs typeface="Calibri" pitchFamily="34" charset="-120"/>
              </a:rPr>
              <a:t>A string like ' OR '1'='1 is built to alter query logic.</a:t>
            </a:r>
            <a:endParaRPr lang="en-US" sz="1000" dirty="0"/>
          </a:p>
        </p:txBody>
      </p:sp>
      <p:sp>
        <p:nvSpPr>
          <p:cNvPr id="18" name="Shape 15"/>
          <p:cNvSpPr/>
          <p:nvPr/>
        </p:nvSpPr>
        <p:spPr>
          <a:xfrm>
            <a:off x="8125968" y="2148840"/>
            <a:ext cx="3514344" cy="1783080"/>
          </a:xfrm>
          <a:prstGeom prst="roundRect">
            <a:avLst>
              <a:gd name="adj" fmla="val 4103"/>
            </a:avLst>
          </a:prstGeom>
          <a:solidFill>
            <a:srgbClr val="27333F"/>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19" name="Shape 16"/>
          <p:cNvSpPr/>
          <p:nvPr/>
        </p:nvSpPr>
        <p:spPr>
          <a:xfrm>
            <a:off x="8290560" y="2313432"/>
            <a:ext cx="457200" cy="457200"/>
          </a:xfrm>
          <a:prstGeom prst="ellipse">
            <a:avLst/>
          </a:prstGeom>
          <a:solidFill>
            <a:srgbClr val="0D1117"/>
          </a:solidFill>
          <a:ln w="19050">
            <a:solidFill>
              <a:srgbClr val="22E2FF"/>
            </a:solidFill>
            <a:prstDash val="solid"/>
          </a:ln>
        </p:spPr>
      </p:sp>
      <p:sp>
        <p:nvSpPr>
          <p:cNvPr id="20" name="Text 17"/>
          <p:cNvSpPr/>
          <p:nvPr/>
        </p:nvSpPr>
        <p:spPr>
          <a:xfrm>
            <a:off x="8290560" y="2313432"/>
            <a:ext cx="457200" cy="457200"/>
          </a:xfrm>
          <a:prstGeom prst="rect">
            <a:avLst/>
          </a:prstGeom>
          <a:noFill/>
          <a:ln/>
        </p:spPr>
        <p:txBody>
          <a:bodyPr wrap="square" lIns="0" tIns="0" rIns="0" bIns="0" rtlCol="0" anchor="ctr"/>
          <a:lstStyle/>
          <a:p>
            <a:pPr algn="ctr" indent="0" marL="0">
              <a:buNone/>
            </a:pPr>
            <a:r>
              <a:rPr lang="en-US" sz="1600" b="1" dirty="0">
                <a:solidFill>
                  <a:srgbClr val="22E2FF"/>
                </a:solidFill>
                <a:latin typeface="Cambria" pitchFamily="34" charset="0"/>
                <a:ea typeface="Cambria" pitchFamily="34" charset="-122"/>
                <a:cs typeface="Cambria" pitchFamily="34" charset="-120"/>
              </a:rPr>
              <a:t>3</a:t>
            </a:r>
            <a:endParaRPr lang="en-US" sz="1600" dirty="0"/>
          </a:p>
        </p:txBody>
      </p:sp>
      <p:sp>
        <p:nvSpPr>
          <p:cNvPr id="21" name="Text 18"/>
          <p:cNvSpPr/>
          <p:nvPr/>
        </p:nvSpPr>
        <p:spPr>
          <a:xfrm>
            <a:off x="8308848" y="2862072"/>
            <a:ext cx="3148584" cy="384048"/>
          </a:xfrm>
          <a:prstGeom prst="rect">
            <a:avLst/>
          </a:prstGeom>
          <a:noFill/>
          <a:ln/>
        </p:spPr>
        <p:txBody>
          <a:bodyPr wrap="square" lIns="0" tIns="0" rIns="0" bIns="0" rtlCol="0" anchor="ctr"/>
          <a:lstStyle/>
          <a:p>
            <a:pPr indent="0" marL="0">
              <a:buNone/>
            </a:pPr>
            <a:r>
              <a:rPr lang="en-US" sz="1300" b="1" dirty="0">
                <a:solidFill>
                  <a:srgbClr val="F5F8FA"/>
                </a:solidFill>
                <a:latin typeface="Calibri" pitchFamily="34" charset="0"/>
                <a:ea typeface="Calibri" pitchFamily="34" charset="-122"/>
                <a:cs typeface="Calibri" pitchFamily="34" charset="-120"/>
              </a:rPr>
              <a:t>Submit Payload</a:t>
            </a:r>
            <a:endParaRPr lang="en-US" sz="1300" dirty="0"/>
          </a:p>
        </p:txBody>
      </p:sp>
      <p:sp>
        <p:nvSpPr>
          <p:cNvPr id="22" name="Text 19"/>
          <p:cNvSpPr/>
          <p:nvPr/>
        </p:nvSpPr>
        <p:spPr>
          <a:xfrm>
            <a:off x="8308848" y="3227832"/>
            <a:ext cx="3148584" cy="640080"/>
          </a:xfrm>
          <a:prstGeom prst="rect">
            <a:avLst/>
          </a:prstGeom>
          <a:noFill/>
          <a:ln/>
        </p:spPr>
        <p:txBody>
          <a:bodyPr wrap="square" lIns="0" tIns="0" rIns="0" bIns="0" rtlCol="0" anchor="ctr"/>
          <a:lstStyle/>
          <a:p>
            <a:pPr indent="0" marL="0">
              <a:buNone/>
            </a:pPr>
            <a:r>
              <a:rPr lang="en-US" sz="1000" dirty="0">
                <a:solidFill>
                  <a:srgbClr val="C3CDD6"/>
                </a:solidFill>
                <a:latin typeface="Calibri" pitchFamily="34" charset="0"/>
                <a:ea typeface="Calibri" pitchFamily="34" charset="-122"/>
                <a:cs typeface="Calibri" pitchFamily="34" charset="-120"/>
              </a:rPr>
              <a:t>The malicious input is entered through the vulnerable field.</a:t>
            </a:r>
            <a:endParaRPr lang="en-US" sz="1000" dirty="0"/>
          </a:p>
        </p:txBody>
      </p:sp>
      <p:sp>
        <p:nvSpPr>
          <p:cNvPr id="23" name="Shape 20"/>
          <p:cNvSpPr/>
          <p:nvPr/>
        </p:nvSpPr>
        <p:spPr>
          <a:xfrm>
            <a:off x="8125968" y="4434840"/>
            <a:ext cx="3514344" cy="1783080"/>
          </a:xfrm>
          <a:prstGeom prst="roundRect">
            <a:avLst>
              <a:gd name="adj" fmla="val 4103"/>
            </a:avLst>
          </a:prstGeom>
          <a:solidFill>
            <a:srgbClr val="27333F"/>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24" name="Shape 21"/>
          <p:cNvSpPr/>
          <p:nvPr/>
        </p:nvSpPr>
        <p:spPr>
          <a:xfrm>
            <a:off x="8290560" y="4599432"/>
            <a:ext cx="457200" cy="457200"/>
          </a:xfrm>
          <a:prstGeom prst="ellipse">
            <a:avLst/>
          </a:prstGeom>
          <a:solidFill>
            <a:srgbClr val="0D1117"/>
          </a:solidFill>
          <a:ln w="19050">
            <a:solidFill>
              <a:srgbClr val="22E2FF"/>
            </a:solidFill>
            <a:prstDash val="solid"/>
          </a:ln>
        </p:spPr>
      </p:sp>
      <p:sp>
        <p:nvSpPr>
          <p:cNvPr id="25" name="Text 22"/>
          <p:cNvSpPr/>
          <p:nvPr/>
        </p:nvSpPr>
        <p:spPr>
          <a:xfrm>
            <a:off x="8290560" y="4599432"/>
            <a:ext cx="457200" cy="457200"/>
          </a:xfrm>
          <a:prstGeom prst="rect">
            <a:avLst/>
          </a:prstGeom>
          <a:noFill/>
          <a:ln/>
        </p:spPr>
        <p:txBody>
          <a:bodyPr wrap="square" lIns="0" tIns="0" rIns="0" bIns="0" rtlCol="0" anchor="ctr"/>
          <a:lstStyle/>
          <a:p>
            <a:pPr algn="ctr" indent="0" marL="0">
              <a:buNone/>
            </a:pPr>
            <a:r>
              <a:rPr lang="en-US" sz="1600" b="1" dirty="0">
                <a:solidFill>
                  <a:srgbClr val="22E2FF"/>
                </a:solidFill>
                <a:latin typeface="Cambria" pitchFamily="34" charset="0"/>
                <a:ea typeface="Cambria" pitchFamily="34" charset="-122"/>
                <a:cs typeface="Cambria" pitchFamily="34" charset="-120"/>
              </a:rPr>
              <a:t>4</a:t>
            </a:r>
            <a:endParaRPr lang="en-US" sz="1600" dirty="0"/>
          </a:p>
        </p:txBody>
      </p:sp>
      <p:sp>
        <p:nvSpPr>
          <p:cNvPr id="26" name="Text 23"/>
          <p:cNvSpPr/>
          <p:nvPr/>
        </p:nvSpPr>
        <p:spPr>
          <a:xfrm>
            <a:off x="8308848" y="5148072"/>
            <a:ext cx="3148584" cy="384048"/>
          </a:xfrm>
          <a:prstGeom prst="rect">
            <a:avLst/>
          </a:prstGeom>
          <a:noFill/>
          <a:ln/>
        </p:spPr>
        <p:txBody>
          <a:bodyPr wrap="square" lIns="0" tIns="0" rIns="0" bIns="0" rtlCol="0" anchor="ctr"/>
          <a:lstStyle/>
          <a:p>
            <a:pPr indent="0" marL="0">
              <a:buNone/>
            </a:pPr>
            <a:r>
              <a:rPr lang="en-US" sz="1300" b="1" dirty="0">
                <a:solidFill>
                  <a:srgbClr val="F5F8FA"/>
                </a:solidFill>
                <a:latin typeface="Calibri" pitchFamily="34" charset="0"/>
                <a:ea typeface="Calibri" pitchFamily="34" charset="-122"/>
                <a:cs typeface="Calibri" pitchFamily="34" charset="-120"/>
              </a:rPr>
              <a:t>Bypass Logic</a:t>
            </a:r>
            <a:endParaRPr lang="en-US" sz="1300" dirty="0"/>
          </a:p>
        </p:txBody>
      </p:sp>
      <p:sp>
        <p:nvSpPr>
          <p:cNvPr id="27" name="Text 24"/>
          <p:cNvSpPr/>
          <p:nvPr/>
        </p:nvSpPr>
        <p:spPr>
          <a:xfrm>
            <a:off x="8308848" y="5513832"/>
            <a:ext cx="3148584" cy="640080"/>
          </a:xfrm>
          <a:prstGeom prst="rect">
            <a:avLst/>
          </a:prstGeom>
          <a:noFill/>
          <a:ln/>
        </p:spPr>
        <p:txBody>
          <a:bodyPr wrap="square" lIns="0" tIns="0" rIns="0" bIns="0" rtlCol="0" anchor="ctr"/>
          <a:lstStyle/>
          <a:p>
            <a:pPr indent="0" marL="0">
              <a:buNone/>
            </a:pPr>
            <a:r>
              <a:rPr lang="en-US" sz="1000" dirty="0">
                <a:solidFill>
                  <a:srgbClr val="C3CDD6"/>
                </a:solidFill>
                <a:latin typeface="Calibri" pitchFamily="34" charset="0"/>
                <a:ea typeface="Calibri" pitchFamily="34" charset="-122"/>
                <a:cs typeface="Calibri" pitchFamily="34" charset="-120"/>
              </a:rPr>
              <a:t>The database executes the tampered query as if it were valid.</a:t>
            </a:r>
            <a:endParaRPr lang="en-US" sz="1000" dirty="0"/>
          </a:p>
        </p:txBody>
      </p:sp>
      <p:sp>
        <p:nvSpPr>
          <p:cNvPr id="28" name="Shape 25"/>
          <p:cNvSpPr/>
          <p:nvPr/>
        </p:nvSpPr>
        <p:spPr>
          <a:xfrm>
            <a:off x="4337304" y="4434840"/>
            <a:ext cx="3514344" cy="1783080"/>
          </a:xfrm>
          <a:prstGeom prst="roundRect">
            <a:avLst>
              <a:gd name="adj" fmla="val 4103"/>
            </a:avLst>
          </a:prstGeom>
          <a:solidFill>
            <a:srgbClr val="27333F"/>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29" name="Shape 26"/>
          <p:cNvSpPr/>
          <p:nvPr/>
        </p:nvSpPr>
        <p:spPr>
          <a:xfrm>
            <a:off x="4501896" y="4599432"/>
            <a:ext cx="457200" cy="457200"/>
          </a:xfrm>
          <a:prstGeom prst="ellipse">
            <a:avLst/>
          </a:prstGeom>
          <a:solidFill>
            <a:srgbClr val="0D1117"/>
          </a:solidFill>
          <a:ln w="19050">
            <a:solidFill>
              <a:srgbClr val="22E2FF"/>
            </a:solidFill>
            <a:prstDash val="solid"/>
          </a:ln>
        </p:spPr>
      </p:sp>
      <p:sp>
        <p:nvSpPr>
          <p:cNvPr id="30" name="Text 27"/>
          <p:cNvSpPr/>
          <p:nvPr/>
        </p:nvSpPr>
        <p:spPr>
          <a:xfrm>
            <a:off x="4501896" y="4599432"/>
            <a:ext cx="457200" cy="457200"/>
          </a:xfrm>
          <a:prstGeom prst="rect">
            <a:avLst/>
          </a:prstGeom>
          <a:noFill/>
          <a:ln/>
        </p:spPr>
        <p:txBody>
          <a:bodyPr wrap="square" lIns="0" tIns="0" rIns="0" bIns="0" rtlCol="0" anchor="ctr"/>
          <a:lstStyle/>
          <a:p>
            <a:pPr algn="ctr" indent="0" marL="0">
              <a:buNone/>
            </a:pPr>
            <a:r>
              <a:rPr lang="en-US" sz="1600" b="1" dirty="0">
                <a:solidFill>
                  <a:srgbClr val="22E2FF"/>
                </a:solidFill>
                <a:latin typeface="Cambria" pitchFamily="34" charset="0"/>
                <a:ea typeface="Cambria" pitchFamily="34" charset="-122"/>
                <a:cs typeface="Cambria" pitchFamily="34" charset="-120"/>
              </a:rPr>
              <a:t>5</a:t>
            </a:r>
            <a:endParaRPr lang="en-US" sz="1600" dirty="0"/>
          </a:p>
        </p:txBody>
      </p:sp>
      <p:sp>
        <p:nvSpPr>
          <p:cNvPr id="31" name="Text 28"/>
          <p:cNvSpPr/>
          <p:nvPr/>
        </p:nvSpPr>
        <p:spPr>
          <a:xfrm>
            <a:off x="4520184" y="5148072"/>
            <a:ext cx="3148584" cy="384048"/>
          </a:xfrm>
          <a:prstGeom prst="rect">
            <a:avLst/>
          </a:prstGeom>
          <a:noFill/>
          <a:ln/>
        </p:spPr>
        <p:txBody>
          <a:bodyPr wrap="square" lIns="0" tIns="0" rIns="0" bIns="0" rtlCol="0" anchor="ctr"/>
          <a:lstStyle/>
          <a:p>
            <a:pPr indent="0" marL="0">
              <a:buNone/>
            </a:pPr>
            <a:r>
              <a:rPr lang="en-US" sz="1300" b="1" dirty="0">
                <a:solidFill>
                  <a:srgbClr val="F5F8FA"/>
                </a:solidFill>
                <a:latin typeface="Calibri" pitchFamily="34" charset="0"/>
                <a:ea typeface="Calibri" pitchFamily="34" charset="-122"/>
                <a:cs typeface="Calibri" pitchFamily="34" charset="-120"/>
              </a:rPr>
              <a:t>Data Returned</a:t>
            </a:r>
            <a:endParaRPr lang="en-US" sz="1300" dirty="0"/>
          </a:p>
        </p:txBody>
      </p:sp>
      <p:sp>
        <p:nvSpPr>
          <p:cNvPr id="32" name="Text 29"/>
          <p:cNvSpPr/>
          <p:nvPr/>
        </p:nvSpPr>
        <p:spPr>
          <a:xfrm>
            <a:off x="4520184" y="5513832"/>
            <a:ext cx="3148584" cy="640080"/>
          </a:xfrm>
          <a:prstGeom prst="rect">
            <a:avLst/>
          </a:prstGeom>
          <a:noFill/>
          <a:ln/>
        </p:spPr>
        <p:txBody>
          <a:bodyPr wrap="square" lIns="0" tIns="0" rIns="0" bIns="0" rtlCol="0" anchor="ctr"/>
          <a:lstStyle/>
          <a:p>
            <a:pPr indent="0" marL="0">
              <a:buNone/>
            </a:pPr>
            <a:r>
              <a:rPr lang="en-US" sz="1000" dirty="0">
                <a:solidFill>
                  <a:srgbClr val="C3CDD6"/>
                </a:solidFill>
                <a:latin typeface="Calibri" pitchFamily="34" charset="0"/>
                <a:ea typeface="Calibri" pitchFamily="34" charset="-122"/>
                <a:cs typeface="Calibri" pitchFamily="34" charset="-120"/>
              </a:rPr>
              <a:t>Hidden records, tables, or credentials are exposed in the response.</a:t>
            </a:r>
            <a:endParaRPr lang="en-US" sz="1000" dirty="0"/>
          </a:p>
        </p:txBody>
      </p:sp>
      <p:sp>
        <p:nvSpPr>
          <p:cNvPr id="33" name="Shape 30"/>
          <p:cNvSpPr/>
          <p:nvPr/>
        </p:nvSpPr>
        <p:spPr>
          <a:xfrm>
            <a:off x="548640" y="4434840"/>
            <a:ext cx="3514344" cy="1783080"/>
          </a:xfrm>
          <a:prstGeom prst="roundRect">
            <a:avLst>
              <a:gd name="adj" fmla="val 4103"/>
            </a:avLst>
          </a:prstGeom>
          <a:solidFill>
            <a:srgbClr val="27333F"/>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34" name="Shape 31"/>
          <p:cNvSpPr/>
          <p:nvPr/>
        </p:nvSpPr>
        <p:spPr>
          <a:xfrm>
            <a:off x="713232" y="4599432"/>
            <a:ext cx="457200" cy="457200"/>
          </a:xfrm>
          <a:prstGeom prst="ellipse">
            <a:avLst/>
          </a:prstGeom>
          <a:solidFill>
            <a:srgbClr val="0D1117"/>
          </a:solidFill>
          <a:ln w="19050">
            <a:solidFill>
              <a:srgbClr val="22E2FF"/>
            </a:solidFill>
            <a:prstDash val="solid"/>
          </a:ln>
        </p:spPr>
      </p:sp>
      <p:sp>
        <p:nvSpPr>
          <p:cNvPr id="35" name="Text 32"/>
          <p:cNvSpPr/>
          <p:nvPr/>
        </p:nvSpPr>
        <p:spPr>
          <a:xfrm>
            <a:off x="713232" y="4599432"/>
            <a:ext cx="457200" cy="457200"/>
          </a:xfrm>
          <a:prstGeom prst="rect">
            <a:avLst/>
          </a:prstGeom>
          <a:noFill/>
          <a:ln/>
        </p:spPr>
        <p:txBody>
          <a:bodyPr wrap="square" lIns="0" tIns="0" rIns="0" bIns="0" rtlCol="0" anchor="ctr"/>
          <a:lstStyle/>
          <a:p>
            <a:pPr algn="ctr" indent="0" marL="0">
              <a:buNone/>
            </a:pPr>
            <a:r>
              <a:rPr lang="en-US" sz="1600" b="1" dirty="0">
                <a:solidFill>
                  <a:srgbClr val="22E2FF"/>
                </a:solidFill>
                <a:latin typeface="Cambria" pitchFamily="34" charset="0"/>
                <a:ea typeface="Cambria" pitchFamily="34" charset="-122"/>
                <a:cs typeface="Cambria" pitchFamily="34" charset="-120"/>
              </a:rPr>
              <a:t>6</a:t>
            </a:r>
            <a:endParaRPr lang="en-US" sz="1600" dirty="0"/>
          </a:p>
        </p:txBody>
      </p:sp>
      <p:sp>
        <p:nvSpPr>
          <p:cNvPr id="36" name="Text 33"/>
          <p:cNvSpPr/>
          <p:nvPr/>
        </p:nvSpPr>
        <p:spPr>
          <a:xfrm>
            <a:off x="731520" y="5148072"/>
            <a:ext cx="3148584" cy="384048"/>
          </a:xfrm>
          <a:prstGeom prst="rect">
            <a:avLst/>
          </a:prstGeom>
          <a:noFill/>
          <a:ln/>
        </p:spPr>
        <p:txBody>
          <a:bodyPr wrap="square" lIns="0" tIns="0" rIns="0" bIns="0" rtlCol="0" anchor="ctr"/>
          <a:lstStyle/>
          <a:p>
            <a:pPr indent="0" marL="0">
              <a:buNone/>
            </a:pPr>
            <a:r>
              <a:rPr lang="en-US" sz="1300" b="1" dirty="0">
                <a:solidFill>
                  <a:srgbClr val="F5F8FA"/>
                </a:solidFill>
                <a:latin typeface="Calibri" pitchFamily="34" charset="0"/>
                <a:ea typeface="Calibri" pitchFamily="34" charset="-122"/>
                <a:cs typeface="Calibri" pitchFamily="34" charset="-120"/>
              </a:rPr>
              <a:t>Exploit Further</a:t>
            </a:r>
            <a:endParaRPr lang="en-US" sz="1300" dirty="0"/>
          </a:p>
        </p:txBody>
      </p:sp>
      <p:sp>
        <p:nvSpPr>
          <p:cNvPr id="37" name="Text 34"/>
          <p:cNvSpPr/>
          <p:nvPr/>
        </p:nvSpPr>
        <p:spPr>
          <a:xfrm>
            <a:off x="731520" y="5513832"/>
            <a:ext cx="3148584" cy="640080"/>
          </a:xfrm>
          <a:prstGeom prst="rect">
            <a:avLst/>
          </a:prstGeom>
          <a:noFill/>
          <a:ln/>
        </p:spPr>
        <p:txBody>
          <a:bodyPr wrap="square" lIns="0" tIns="0" rIns="0" bIns="0" rtlCol="0" anchor="ctr"/>
          <a:lstStyle/>
          <a:p>
            <a:pPr indent="0" marL="0">
              <a:buNone/>
            </a:pPr>
            <a:r>
              <a:rPr lang="en-US" sz="1000" dirty="0">
                <a:solidFill>
                  <a:srgbClr val="C3CDD6"/>
                </a:solidFill>
                <a:latin typeface="Calibri" pitchFamily="34" charset="0"/>
                <a:ea typeface="Calibri" pitchFamily="34" charset="-122"/>
                <a:cs typeface="Calibri" pitchFamily="34" charset="-120"/>
              </a:rPr>
              <a:t>Attacker dumps, modifies, or deletes data at scale.</a:t>
            </a:r>
            <a:endParaRPr lang="en-US" sz="1000" dirty="0"/>
          </a:p>
        </p:txBody>
      </p:sp>
      <p:sp>
        <p:nvSpPr>
          <p:cNvPr id="38" name="Shape 35"/>
          <p:cNvSpPr/>
          <p:nvPr/>
        </p:nvSpPr>
        <p:spPr>
          <a:xfrm>
            <a:off x="4081272" y="2958084"/>
            <a:ext cx="237744" cy="164592"/>
          </a:xfrm>
          <a:prstGeom prst="rightArrow">
            <a:avLst/>
          </a:prstGeom>
          <a:solidFill>
            <a:srgbClr val="22E2FF"/>
          </a:solidFill>
          <a:ln/>
        </p:spPr>
      </p:sp>
      <p:sp>
        <p:nvSpPr>
          <p:cNvPr id="39" name="Shape 36"/>
          <p:cNvSpPr/>
          <p:nvPr/>
        </p:nvSpPr>
        <p:spPr>
          <a:xfrm>
            <a:off x="7869936" y="2958084"/>
            <a:ext cx="237744" cy="164592"/>
          </a:xfrm>
          <a:prstGeom prst="rightArrow">
            <a:avLst/>
          </a:prstGeom>
          <a:solidFill>
            <a:srgbClr val="22E2FF"/>
          </a:solidFill>
          <a:ln/>
        </p:spPr>
      </p:sp>
      <p:sp>
        <p:nvSpPr>
          <p:cNvPr id="40" name="Shape 37"/>
          <p:cNvSpPr/>
          <p:nvPr/>
        </p:nvSpPr>
        <p:spPr>
          <a:xfrm>
            <a:off x="9800844" y="3959352"/>
            <a:ext cx="164592" cy="448056"/>
          </a:xfrm>
          <a:prstGeom prst="downArrow">
            <a:avLst/>
          </a:prstGeom>
          <a:solidFill>
            <a:srgbClr val="22E2FF"/>
          </a:solidFill>
          <a:ln/>
        </p:spPr>
      </p:sp>
      <p:sp>
        <p:nvSpPr>
          <p:cNvPr id="41" name="Shape 38"/>
          <p:cNvSpPr/>
          <p:nvPr/>
        </p:nvSpPr>
        <p:spPr>
          <a:xfrm>
            <a:off x="7869936" y="5244084"/>
            <a:ext cx="237744" cy="164592"/>
          </a:xfrm>
          <a:prstGeom prst="leftArrow">
            <a:avLst/>
          </a:prstGeom>
          <a:solidFill>
            <a:srgbClr val="22E2FF"/>
          </a:solidFill>
          <a:ln/>
        </p:spPr>
      </p:sp>
      <p:sp>
        <p:nvSpPr>
          <p:cNvPr id="42" name="Shape 39"/>
          <p:cNvSpPr/>
          <p:nvPr/>
        </p:nvSpPr>
        <p:spPr>
          <a:xfrm>
            <a:off x="4081272" y="5244084"/>
            <a:ext cx="237744" cy="164592"/>
          </a:xfrm>
          <a:prstGeom prst="leftArrow">
            <a:avLst/>
          </a:prstGeom>
          <a:solidFill>
            <a:srgbClr val="22E2FF"/>
          </a:solidFill>
          <a:ln/>
        </p:spPr>
      </p:sp>
      <p:sp>
        <p:nvSpPr>
          <p:cNvPr id="43" name="Text 40"/>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C3CDD6"/>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548640" y="347472"/>
            <a:ext cx="566928" cy="566928"/>
          </a:xfrm>
          <a:prstGeom prst="ellipse">
            <a:avLst/>
          </a:prstGeom>
          <a:solidFill>
            <a:srgbClr val="27333F"/>
          </a:solidFill>
          <a:ln w="19050">
            <a:solidFill>
              <a:srgbClr val="22E2FF"/>
            </a:solidFill>
            <a:prstDash val="solid"/>
          </a:ln>
        </p:spPr>
      </p:sp>
      <p:pic>
        <p:nvPicPr>
          <p:cNvPr id="3" name="Image 0" descr="/home/claude/cyberdeck/icons/sqli_cyan.png">    </p:cNvPr>
          <p:cNvPicPr>
            <a:picLocks noChangeAspect="1"/>
          </p:cNvPicPr>
          <p:nvPr/>
        </p:nvPicPr>
        <p:blipFill>
          <a:blip r:embed="rId1"/>
          <a:stretch>
            <a:fillRect/>
          </a:stretch>
        </p:blipFill>
        <p:spPr>
          <a:xfrm>
            <a:off x="696041" y="494873"/>
            <a:ext cx="272125" cy="272125"/>
          </a:xfrm>
          <a:prstGeom prst="rect">
            <a:avLst/>
          </a:prstGeom>
        </p:spPr>
      </p:pic>
      <p:sp>
        <p:nvSpPr>
          <p:cNvPr id="4" name="Text 1"/>
          <p:cNvSpPr/>
          <p:nvPr/>
        </p:nvSpPr>
        <p:spPr>
          <a:xfrm>
            <a:off x="1234440" y="320040"/>
            <a:ext cx="7315200" cy="411480"/>
          </a:xfrm>
          <a:prstGeom prst="rect">
            <a:avLst/>
          </a:prstGeom>
          <a:noFill/>
          <a:ln/>
        </p:spPr>
        <p:txBody>
          <a:bodyPr wrap="square" rtlCol="0" anchor="ctr"/>
          <a:lstStyle/>
          <a:p>
            <a:pPr indent="0" marL="0">
              <a:buNone/>
            </a:pPr>
            <a:r>
              <a:rPr lang="en-US" sz="2600" b="1" dirty="0">
                <a:solidFill>
                  <a:srgbClr val="F5F8FA"/>
                </a:solidFill>
                <a:latin typeface="Cambria" pitchFamily="34" charset="0"/>
                <a:ea typeface="Cambria" pitchFamily="34" charset="-122"/>
                <a:cs typeface="Cambria" pitchFamily="34" charset="-120"/>
              </a:rPr>
              <a:t>SQL Injection</a:t>
            </a:r>
            <a:endParaRPr lang="en-US" sz="2600" dirty="0"/>
          </a:p>
        </p:txBody>
      </p:sp>
      <p:sp>
        <p:nvSpPr>
          <p:cNvPr id="5" name="Text 2"/>
          <p:cNvSpPr/>
          <p:nvPr/>
        </p:nvSpPr>
        <p:spPr>
          <a:xfrm>
            <a:off x="1234440" y="713232"/>
            <a:ext cx="7315200" cy="274320"/>
          </a:xfrm>
          <a:prstGeom prst="rect">
            <a:avLst/>
          </a:prstGeom>
          <a:noFill/>
          <a:ln/>
        </p:spPr>
        <p:txBody>
          <a:bodyPr wrap="square" rtlCol="0" anchor="ctr"/>
          <a:lstStyle/>
          <a:p>
            <a:pPr indent="0" marL="0">
              <a:buNone/>
            </a:pPr>
            <a:r>
              <a:rPr lang="en-US" sz="1150" b="1" spc="200" kern="0" dirty="0">
                <a:solidFill>
                  <a:srgbClr val="22E2FF"/>
                </a:solidFill>
                <a:latin typeface="Calibri" pitchFamily="34" charset="0"/>
                <a:ea typeface="Calibri" pitchFamily="34" charset="-122"/>
                <a:cs typeface="Calibri" pitchFamily="34" charset="-120"/>
              </a:rPr>
              <a:t>REAL-WORLD IMPACT &amp; DEFENSE</a:t>
            </a:r>
            <a:endParaRPr lang="en-US" sz="1150" dirty="0"/>
          </a:p>
        </p:txBody>
      </p:sp>
      <p:sp>
        <p:nvSpPr>
          <p:cNvPr id="6" name="Shape 3"/>
          <p:cNvSpPr/>
          <p:nvPr/>
        </p:nvSpPr>
        <p:spPr>
          <a:xfrm>
            <a:off x="548640" y="1234440"/>
            <a:ext cx="6035040" cy="1783080"/>
          </a:xfrm>
          <a:prstGeom prst="roundRect">
            <a:avLst>
              <a:gd name="adj" fmla="val 4103"/>
            </a:avLst>
          </a:prstGeom>
          <a:solidFill>
            <a:srgbClr val="1C2733"/>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7" name="Shape 4"/>
          <p:cNvSpPr/>
          <p:nvPr/>
        </p:nvSpPr>
        <p:spPr>
          <a:xfrm>
            <a:off x="777240" y="1435608"/>
            <a:ext cx="502920" cy="502920"/>
          </a:xfrm>
          <a:prstGeom prst="ellipse">
            <a:avLst/>
          </a:prstGeom>
          <a:solidFill>
            <a:srgbClr val="27333F"/>
          </a:solidFill>
          <a:ln w="19050">
            <a:solidFill>
              <a:srgbClr val="22E2FF"/>
            </a:solidFill>
            <a:prstDash val="solid"/>
          </a:ln>
        </p:spPr>
      </p:sp>
      <p:pic>
        <p:nvPicPr>
          <p:cNvPr id="8" name="Image 1" descr="/home/claude/cyberdeck/icons/building_cyan.png">    </p:cNvPr>
          <p:cNvPicPr>
            <a:picLocks noChangeAspect="1"/>
          </p:cNvPicPr>
          <p:nvPr/>
        </p:nvPicPr>
        <p:blipFill>
          <a:blip r:embed="rId2"/>
          <a:stretch>
            <a:fillRect/>
          </a:stretch>
        </p:blipFill>
        <p:spPr>
          <a:xfrm>
            <a:off x="907999" y="1566367"/>
            <a:ext cx="241402" cy="241402"/>
          </a:xfrm>
          <a:prstGeom prst="rect">
            <a:avLst/>
          </a:prstGeom>
        </p:spPr>
      </p:pic>
      <p:sp>
        <p:nvSpPr>
          <p:cNvPr id="9" name="Text 5"/>
          <p:cNvSpPr/>
          <p:nvPr/>
        </p:nvSpPr>
        <p:spPr>
          <a:xfrm>
            <a:off x="1417320" y="1490472"/>
            <a:ext cx="4937760" cy="365760"/>
          </a:xfrm>
          <a:prstGeom prst="rect">
            <a:avLst/>
          </a:prstGeom>
          <a:noFill/>
          <a:ln/>
        </p:spPr>
        <p:txBody>
          <a:bodyPr wrap="square" lIns="0" tIns="0" rIns="0" bIns="0" rtlCol="0" anchor="ctr"/>
          <a:lstStyle/>
          <a:p>
            <a:pPr indent="0" marL="0">
              <a:buNone/>
            </a:pPr>
            <a:r>
              <a:rPr lang="en-US" sz="1450" b="1" dirty="0">
                <a:solidFill>
                  <a:srgbClr val="F5F8FA"/>
                </a:solidFill>
                <a:latin typeface="Calibri" pitchFamily="34" charset="0"/>
                <a:ea typeface="Calibri" pitchFamily="34" charset="-122"/>
                <a:cs typeface="Calibri" pitchFamily="34" charset="-120"/>
              </a:rPr>
              <a:t>Real-World Example</a:t>
            </a:r>
            <a:endParaRPr lang="en-US" sz="1450" dirty="0"/>
          </a:p>
        </p:txBody>
      </p:sp>
      <p:sp>
        <p:nvSpPr>
          <p:cNvPr id="10" name="Text 6"/>
          <p:cNvSpPr/>
          <p:nvPr/>
        </p:nvSpPr>
        <p:spPr>
          <a:xfrm>
            <a:off x="777240" y="2057400"/>
            <a:ext cx="5577840" cy="822960"/>
          </a:xfrm>
          <a:prstGeom prst="rect">
            <a:avLst/>
          </a:prstGeom>
          <a:noFill/>
          <a:ln/>
        </p:spPr>
        <p:txBody>
          <a:bodyPr wrap="square" lIns="0" tIns="0" rIns="0" bIns="0" rtlCol="0" anchor="t"/>
          <a:lstStyle/>
          <a:p>
            <a:pPr indent="0" marL="0">
              <a:buNone/>
            </a:pPr>
            <a:r>
              <a:rPr lang="en-US" sz="1100" dirty="0">
                <a:solidFill>
                  <a:srgbClr val="C3CDD6"/>
                </a:solidFill>
                <a:latin typeface="Calibri" pitchFamily="34" charset="0"/>
                <a:ea typeface="Calibri" pitchFamily="34" charset="-122"/>
                <a:cs typeface="Calibri" pitchFamily="34" charset="-120"/>
              </a:rPr>
              <a:t>The 2015 TalkTalk breach exploited a SQL injection flaw in a legacy web page, exposing the personal and banking details of roughly 157,000 customers and resulting in a record UK regulatory fine at the time.</a:t>
            </a:r>
            <a:endParaRPr lang="en-US" sz="1100" dirty="0"/>
          </a:p>
        </p:txBody>
      </p:sp>
      <p:sp>
        <p:nvSpPr>
          <p:cNvPr id="11" name="Shape 7"/>
          <p:cNvSpPr/>
          <p:nvPr/>
        </p:nvSpPr>
        <p:spPr>
          <a:xfrm>
            <a:off x="6858000" y="1234440"/>
            <a:ext cx="4782312" cy="1783080"/>
          </a:xfrm>
          <a:prstGeom prst="roundRect">
            <a:avLst>
              <a:gd name="adj" fmla="val 4103"/>
            </a:avLst>
          </a:prstGeom>
          <a:solidFill>
            <a:srgbClr val="1C2733"/>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12" name="Shape 8"/>
          <p:cNvSpPr/>
          <p:nvPr/>
        </p:nvSpPr>
        <p:spPr>
          <a:xfrm>
            <a:off x="7086600" y="1435608"/>
            <a:ext cx="502920" cy="502920"/>
          </a:xfrm>
          <a:prstGeom prst="ellipse">
            <a:avLst/>
          </a:prstGeom>
          <a:solidFill>
            <a:srgbClr val="27333F"/>
          </a:solidFill>
          <a:ln w="19050">
            <a:solidFill>
              <a:srgbClr val="FF5C51"/>
            </a:solidFill>
            <a:prstDash val="solid"/>
          </a:ln>
        </p:spPr>
      </p:sp>
      <p:pic>
        <p:nvPicPr>
          <p:cNvPr id="13" name="Image 2" descr="/home/claude/cyberdeck/icons/warning_red.png">    </p:cNvPr>
          <p:cNvPicPr>
            <a:picLocks noChangeAspect="1"/>
          </p:cNvPicPr>
          <p:nvPr/>
        </p:nvPicPr>
        <p:blipFill>
          <a:blip r:embed="rId3"/>
          <a:stretch>
            <a:fillRect/>
          </a:stretch>
        </p:blipFill>
        <p:spPr>
          <a:xfrm>
            <a:off x="7217359" y="1566367"/>
            <a:ext cx="241402" cy="241402"/>
          </a:xfrm>
          <a:prstGeom prst="rect">
            <a:avLst/>
          </a:prstGeom>
        </p:spPr>
      </p:pic>
      <p:sp>
        <p:nvSpPr>
          <p:cNvPr id="14" name="Text 9"/>
          <p:cNvSpPr/>
          <p:nvPr/>
        </p:nvSpPr>
        <p:spPr>
          <a:xfrm>
            <a:off x="7726680" y="1490472"/>
            <a:ext cx="3685032" cy="365760"/>
          </a:xfrm>
          <a:prstGeom prst="rect">
            <a:avLst/>
          </a:prstGeom>
          <a:noFill/>
          <a:ln/>
        </p:spPr>
        <p:txBody>
          <a:bodyPr wrap="square" lIns="0" tIns="0" rIns="0" bIns="0" rtlCol="0" anchor="ctr"/>
          <a:lstStyle/>
          <a:p>
            <a:pPr indent="0" marL="0">
              <a:buNone/>
            </a:pPr>
            <a:r>
              <a:rPr lang="en-US" sz="1450" b="1" dirty="0">
                <a:solidFill>
                  <a:srgbClr val="F5F8FA"/>
                </a:solidFill>
                <a:latin typeface="Calibri" pitchFamily="34" charset="0"/>
                <a:ea typeface="Calibri" pitchFamily="34" charset="-122"/>
                <a:cs typeface="Calibri" pitchFamily="34" charset="-120"/>
              </a:rPr>
              <a:t>Impact</a:t>
            </a:r>
            <a:endParaRPr lang="en-US" sz="1450" dirty="0"/>
          </a:p>
        </p:txBody>
      </p:sp>
      <p:sp>
        <p:nvSpPr>
          <p:cNvPr id="15" name="Text 10"/>
          <p:cNvSpPr/>
          <p:nvPr/>
        </p:nvSpPr>
        <p:spPr>
          <a:xfrm>
            <a:off x="7086600" y="2057400"/>
            <a:ext cx="4325112" cy="822960"/>
          </a:xfrm>
          <a:prstGeom prst="rect">
            <a:avLst/>
          </a:prstGeom>
          <a:noFill/>
          <a:ln/>
        </p:spPr>
        <p:txBody>
          <a:bodyPr wrap="square" lIns="0" tIns="0" rIns="0" bIns="0" rtlCol="0" anchor="t"/>
          <a:lstStyle/>
          <a:p>
            <a:pPr marL="177800" indent="-177800">
              <a:spcAft>
                <a:spcPts val="400"/>
              </a:spcAft>
              <a:buSzPct val="100000"/>
              <a:buChar char="▪"/>
            </a:pPr>
            <a:r>
              <a:rPr lang="en-US" sz="1050" dirty="0">
                <a:solidFill>
                  <a:srgbClr val="F5F8FA"/>
                </a:solidFill>
                <a:latin typeface="Calibri" pitchFamily="34" charset="0"/>
                <a:ea typeface="Calibri" pitchFamily="34" charset="-122"/>
                <a:cs typeface="Calibri" pitchFamily="34" charset="-120"/>
              </a:rPr>
              <a:t>Full database read, modification, or deletion</a:t>
            </a:r>
            <a:endParaRPr lang="en-US" sz="1050" dirty="0"/>
          </a:p>
          <a:p>
            <a:pPr marL="177800" indent="-177800">
              <a:spcAft>
                <a:spcPts val="400"/>
              </a:spcAft>
              <a:buSzPct val="100000"/>
              <a:buChar char="▪"/>
            </a:pPr>
            <a:r>
              <a:rPr lang="en-US" sz="1050" dirty="0">
                <a:solidFill>
                  <a:srgbClr val="F5F8FA"/>
                </a:solidFill>
                <a:latin typeface="Calibri" pitchFamily="34" charset="0"/>
                <a:ea typeface="Calibri" pitchFamily="34" charset="-122"/>
                <a:cs typeface="Calibri" pitchFamily="34" charset="-120"/>
              </a:rPr>
              <a:t>Exposure of customer and payment data</a:t>
            </a:r>
            <a:endParaRPr lang="en-US" sz="1050" dirty="0"/>
          </a:p>
          <a:p>
            <a:pPr marL="177800" indent="-177800">
              <a:spcAft>
                <a:spcPts val="400"/>
              </a:spcAft>
              <a:buSzPct val="100000"/>
              <a:buChar char="▪"/>
            </a:pPr>
            <a:r>
              <a:rPr lang="en-US" sz="1050" dirty="0">
                <a:solidFill>
                  <a:srgbClr val="F5F8FA"/>
                </a:solidFill>
                <a:latin typeface="Calibri" pitchFamily="34" charset="0"/>
                <a:ea typeface="Calibri" pitchFamily="34" charset="-122"/>
                <a:cs typeface="Calibri" pitchFamily="34" charset="-120"/>
              </a:rPr>
              <a:t>Authentication bypass into admin accounts</a:t>
            </a:r>
            <a:endParaRPr lang="en-US" sz="1050" dirty="0"/>
          </a:p>
          <a:p>
            <a:pPr marL="177800" indent="-177800">
              <a:spcAft>
                <a:spcPts val="400"/>
              </a:spcAft>
              <a:buSzPct val="100000"/>
              <a:buChar char="▪"/>
            </a:pPr>
            <a:r>
              <a:rPr lang="en-US" sz="1050" dirty="0">
                <a:solidFill>
                  <a:srgbClr val="F5F8FA"/>
                </a:solidFill>
                <a:latin typeface="Calibri" pitchFamily="34" charset="0"/>
                <a:ea typeface="Calibri" pitchFamily="34" charset="-122"/>
                <a:cs typeface="Calibri" pitchFamily="34" charset="-120"/>
              </a:rPr>
              <a:t>Regulatory fines and breach-notification costs</a:t>
            </a:r>
            <a:endParaRPr lang="en-US" sz="1050" dirty="0"/>
          </a:p>
        </p:txBody>
      </p:sp>
      <p:sp>
        <p:nvSpPr>
          <p:cNvPr id="16" name="Shape 11"/>
          <p:cNvSpPr/>
          <p:nvPr/>
        </p:nvSpPr>
        <p:spPr>
          <a:xfrm>
            <a:off x="548640" y="3246120"/>
            <a:ext cx="6035040" cy="1783080"/>
          </a:xfrm>
          <a:prstGeom prst="roundRect">
            <a:avLst>
              <a:gd name="adj" fmla="val 4103"/>
            </a:avLst>
          </a:prstGeom>
          <a:solidFill>
            <a:srgbClr val="1C2733"/>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17" name="Shape 12"/>
          <p:cNvSpPr/>
          <p:nvPr/>
        </p:nvSpPr>
        <p:spPr>
          <a:xfrm>
            <a:off x="777240" y="3447288"/>
            <a:ext cx="502920" cy="502920"/>
          </a:xfrm>
          <a:prstGeom prst="ellipse">
            <a:avLst/>
          </a:prstGeom>
          <a:solidFill>
            <a:srgbClr val="27333F"/>
          </a:solidFill>
          <a:ln w="19050">
            <a:solidFill>
              <a:srgbClr val="22E2FF"/>
            </a:solidFill>
            <a:prstDash val="solid"/>
          </a:ln>
        </p:spPr>
      </p:sp>
      <p:pic>
        <p:nvPicPr>
          <p:cNvPr id="18" name="Image 3" descr="/home/claude/cyberdeck/icons/shield_cyan.png">    </p:cNvPr>
          <p:cNvPicPr>
            <a:picLocks noChangeAspect="1"/>
          </p:cNvPicPr>
          <p:nvPr/>
        </p:nvPicPr>
        <p:blipFill>
          <a:blip r:embed="rId4"/>
          <a:stretch>
            <a:fillRect/>
          </a:stretch>
        </p:blipFill>
        <p:spPr>
          <a:xfrm>
            <a:off x="907999" y="3578047"/>
            <a:ext cx="241402" cy="241402"/>
          </a:xfrm>
          <a:prstGeom prst="rect">
            <a:avLst/>
          </a:prstGeom>
        </p:spPr>
      </p:pic>
      <p:sp>
        <p:nvSpPr>
          <p:cNvPr id="19" name="Text 13"/>
          <p:cNvSpPr/>
          <p:nvPr/>
        </p:nvSpPr>
        <p:spPr>
          <a:xfrm>
            <a:off x="1417320" y="3502152"/>
            <a:ext cx="4937760" cy="365760"/>
          </a:xfrm>
          <a:prstGeom prst="rect">
            <a:avLst/>
          </a:prstGeom>
          <a:noFill/>
          <a:ln/>
        </p:spPr>
        <p:txBody>
          <a:bodyPr wrap="square" lIns="0" tIns="0" rIns="0" bIns="0" rtlCol="0" anchor="ctr"/>
          <a:lstStyle/>
          <a:p>
            <a:pPr indent="0" marL="0">
              <a:buNone/>
            </a:pPr>
            <a:r>
              <a:rPr lang="en-US" sz="1450" b="1" dirty="0">
                <a:solidFill>
                  <a:srgbClr val="F5F8FA"/>
                </a:solidFill>
                <a:latin typeface="Calibri" pitchFamily="34" charset="0"/>
                <a:ea typeface="Calibri" pitchFamily="34" charset="-122"/>
                <a:cs typeface="Calibri" pitchFamily="34" charset="-120"/>
              </a:rPr>
              <a:t>Prevention &amp; Mitigation</a:t>
            </a:r>
            <a:endParaRPr lang="en-US" sz="1450" dirty="0"/>
          </a:p>
        </p:txBody>
      </p:sp>
      <p:sp>
        <p:nvSpPr>
          <p:cNvPr id="20" name="Text 14"/>
          <p:cNvSpPr/>
          <p:nvPr/>
        </p:nvSpPr>
        <p:spPr>
          <a:xfrm>
            <a:off x="777240" y="4069080"/>
            <a:ext cx="5577840" cy="822960"/>
          </a:xfrm>
          <a:prstGeom prst="rect">
            <a:avLst/>
          </a:prstGeom>
          <a:noFill/>
          <a:ln/>
        </p:spPr>
        <p:txBody>
          <a:bodyPr wrap="square" lIns="0" tIns="0" rIns="0" bIns="0" rtlCol="0" anchor="t"/>
          <a:lstStyle/>
          <a:p>
            <a:pPr marL="177800" indent="-177800">
              <a:spcAft>
                <a:spcPts val="400"/>
              </a:spcAft>
              <a:buSzPct val="100000"/>
              <a:buChar char="▪"/>
            </a:pPr>
            <a:r>
              <a:rPr lang="en-US" sz="1100" dirty="0">
                <a:solidFill>
                  <a:srgbClr val="F5F8FA"/>
                </a:solidFill>
                <a:latin typeface="Calibri" pitchFamily="34" charset="0"/>
                <a:ea typeface="Calibri" pitchFamily="34" charset="-122"/>
                <a:cs typeface="Calibri" pitchFamily="34" charset="-120"/>
              </a:rPr>
              <a:t>Use parameterized queries / prepared statements</a:t>
            </a:r>
            <a:endParaRPr lang="en-US" sz="1100" dirty="0"/>
          </a:p>
          <a:p>
            <a:pPr marL="177800" indent="-177800">
              <a:spcAft>
                <a:spcPts val="400"/>
              </a:spcAft>
              <a:buSzPct val="100000"/>
              <a:buChar char="▪"/>
            </a:pPr>
            <a:r>
              <a:rPr lang="en-US" sz="1100" dirty="0">
                <a:solidFill>
                  <a:srgbClr val="F5F8FA"/>
                </a:solidFill>
                <a:latin typeface="Calibri" pitchFamily="34" charset="0"/>
                <a:ea typeface="Calibri" pitchFamily="34" charset="-122"/>
                <a:cs typeface="Calibri" pitchFamily="34" charset="-120"/>
              </a:rPr>
              <a:t>Apply strict input validation and allow-lists</a:t>
            </a:r>
            <a:endParaRPr lang="en-US" sz="1100" dirty="0"/>
          </a:p>
          <a:p>
            <a:pPr marL="177800" indent="-177800">
              <a:spcAft>
                <a:spcPts val="400"/>
              </a:spcAft>
              <a:buSzPct val="100000"/>
              <a:buChar char="▪"/>
            </a:pPr>
            <a:r>
              <a:rPr lang="en-US" sz="1100" dirty="0">
                <a:solidFill>
                  <a:srgbClr val="F5F8FA"/>
                </a:solidFill>
                <a:latin typeface="Calibri" pitchFamily="34" charset="0"/>
                <a:ea typeface="Calibri" pitchFamily="34" charset="-122"/>
                <a:cs typeface="Calibri" pitchFamily="34" charset="-120"/>
              </a:rPr>
              <a:t>Run least-privilege database accounts</a:t>
            </a:r>
            <a:endParaRPr lang="en-US" sz="1100" dirty="0"/>
          </a:p>
          <a:p>
            <a:pPr marL="177800" indent="-177800">
              <a:spcAft>
                <a:spcPts val="400"/>
              </a:spcAft>
              <a:buSzPct val="100000"/>
              <a:buChar char="▪"/>
            </a:pPr>
            <a:r>
              <a:rPr lang="en-US" sz="1100" dirty="0">
                <a:solidFill>
                  <a:srgbClr val="F5F8FA"/>
                </a:solidFill>
                <a:latin typeface="Calibri" pitchFamily="34" charset="0"/>
                <a:ea typeface="Calibri" pitchFamily="34" charset="-122"/>
                <a:cs typeface="Calibri" pitchFamily="34" charset="-120"/>
              </a:rPr>
              <a:t>Deploy a web application firewall (WAF)</a:t>
            </a:r>
            <a:endParaRPr lang="en-US" sz="1100" dirty="0"/>
          </a:p>
        </p:txBody>
      </p:sp>
      <p:sp>
        <p:nvSpPr>
          <p:cNvPr id="21" name="Shape 15"/>
          <p:cNvSpPr/>
          <p:nvPr/>
        </p:nvSpPr>
        <p:spPr>
          <a:xfrm>
            <a:off x="6858000" y="3246120"/>
            <a:ext cx="4782312" cy="1783080"/>
          </a:xfrm>
          <a:prstGeom prst="roundRect">
            <a:avLst>
              <a:gd name="adj" fmla="val 4103"/>
            </a:avLst>
          </a:prstGeom>
          <a:solidFill>
            <a:srgbClr val="1C2733"/>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22" name="Shape 16"/>
          <p:cNvSpPr/>
          <p:nvPr/>
        </p:nvSpPr>
        <p:spPr>
          <a:xfrm>
            <a:off x="7086600" y="3447288"/>
            <a:ext cx="502920" cy="502920"/>
          </a:xfrm>
          <a:prstGeom prst="ellipse">
            <a:avLst/>
          </a:prstGeom>
          <a:solidFill>
            <a:srgbClr val="27333F"/>
          </a:solidFill>
          <a:ln w="19050">
            <a:solidFill>
              <a:srgbClr val="22E2FF"/>
            </a:solidFill>
            <a:prstDash val="solid"/>
          </a:ln>
        </p:spPr>
      </p:sp>
      <p:pic>
        <p:nvPicPr>
          <p:cNvPr id="23" name="Image 4" descr="/home/claude/cyberdeck/icons/search_cyan.png">    </p:cNvPr>
          <p:cNvPicPr>
            <a:picLocks noChangeAspect="1"/>
          </p:cNvPicPr>
          <p:nvPr/>
        </p:nvPicPr>
        <p:blipFill>
          <a:blip r:embed="rId5"/>
          <a:stretch>
            <a:fillRect/>
          </a:stretch>
        </p:blipFill>
        <p:spPr>
          <a:xfrm>
            <a:off x="7217359" y="3578047"/>
            <a:ext cx="241402" cy="241402"/>
          </a:xfrm>
          <a:prstGeom prst="rect">
            <a:avLst/>
          </a:prstGeom>
        </p:spPr>
      </p:pic>
      <p:sp>
        <p:nvSpPr>
          <p:cNvPr id="24" name="Text 17"/>
          <p:cNvSpPr/>
          <p:nvPr/>
        </p:nvSpPr>
        <p:spPr>
          <a:xfrm>
            <a:off x="7726680" y="3502152"/>
            <a:ext cx="3685032" cy="365760"/>
          </a:xfrm>
          <a:prstGeom prst="rect">
            <a:avLst/>
          </a:prstGeom>
          <a:noFill/>
          <a:ln/>
        </p:spPr>
        <p:txBody>
          <a:bodyPr wrap="square" lIns="0" tIns="0" rIns="0" bIns="0" rtlCol="0" anchor="ctr"/>
          <a:lstStyle/>
          <a:p>
            <a:pPr indent="0" marL="0">
              <a:buNone/>
            </a:pPr>
            <a:r>
              <a:rPr lang="en-US" sz="1450" b="1" dirty="0">
                <a:solidFill>
                  <a:srgbClr val="F5F8FA"/>
                </a:solidFill>
                <a:latin typeface="Calibri" pitchFamily="34" charset="0"/>
                <a:ea typeface="Calibri" pitchFamily="34" charset="-122"/>
                <a:cs typeface="Calibri" pitchFamily="34" charset="-120"/>
              </a:rPr>
              <a:t>Detection Methods</a:t>
            </a:r>
            <a:endParaRPr lang="en-US" sz="1450" dirty="0"/>
          </a:p>
        </p:txBody>
      </p:sp>
      <p:sp>
        <p:nvSpPr>
          <p:cNvPr id="25" name="Text 18"/>
          <p:cNvSpPr/>
          <p:nvPr/>
        </p:nvSpPr>
        <p:spPr>
          <a:xfrm>
            <a:off x="7086600" y="4069080"/>
            <a:ext cx="4325112" cy="822960"/>
          </a:xfrm>
          <a:prstGeom prst="rect">
            <a:avLst/>
          </a:prstGeom>
          <a:noFill/>
          <a:ln/>
        </p:spPr>
        <p:txBody>
          <a:bodyPr wrap="square" lIns="0" tIns="0" rIns="0" bIns="0" rtlCol="0" anchor="t"/>
          <a:lstStyle/>
          <a:p>
            <a:pPr marL="177800" indent="-177800">
              <a:spcAft>
                <a:spcPts val="400"/>
              </a:spcAft>
              <a:buSzPct val="100000"/>
              <a:buChar char="▪"/>
            </a:pPr>
            <a:r>
              <a:rPr lang="en-US" sz="1050" dirty="0">
                <a:solidFill>
                  <a:srgbClr val="F5F8FA"/>
                </a:solidFill>
                <a:latin typeface="Calibri" pitchFamily="34" charset="0"/>
                <a:ea typeface="Calibri" pitchFamily="34" charset="-122"/>
                <a:cs typeface="Calibri" pitchFamily="34" charset="-120"/>
              </a:rPr>
              <a:t>WAF logging of injection-pattern signatures</a:t>
            </a:r>
            <a:endParaRPr lang="en-US" sz="1050" dirty="0"/>
          </a:p>
          <a:p>
            <a:pPr marL="177800" indent="-177800">
              <a:spcAft>
                <a:spcPts val="400"/>
              </a:spcAft>
              <a:buSzPct val="100000"/>
              <a:buChar char="▪"/>
            </a:pPr>
            <a:r>
              <a:rPr lang="en-US" sz="1050" dirty="0">
                <a:solidFill>
                  <a:srgbClr val="F5F8FA"/>
                </a:solidFill>
                <a:latin typeface="Calibri" pitchFamily="34" charset="0"/>
                <a:ea typeface="Calibri" pitchFamily="34" charset="-122"/>
                <a:cs typeface="Calibri" pitchFamily="34" charset="-120"/>
              </a:rPr>
              <a:t>Database query anomaly and audit logging</a:t>
            </a:r>
            <a:endParaRPr lang="en-US" sz="1050" dirty="0"/>
          </a:p>
          <a:p>
            <a:pPr marL="177800" indent="-177800">
              <a:spcAft>
                <a:spcPts val="400"/>
              </a:spcAft>
              <a:buSzPct val="100000"/>
              <a:buChar char="▪"/>
            </a:pPr>
            <a:r>
              <a:rPr lang="en-US" sz="1050" dirty="0">
                <a:solidFill>
                  <a:srgbClr val="F5F8FA"/>
                </a:solidFill>
                <a:latin typeface="Calibri" pitchFamily="34" charset="0"/>
                <a:ea typeface="Calibri" pitchFamily="34" charset="-122"/>
                <a:cs typeface="Calibri" pitchFamily="34" charset="-120"/>
              </a:rPr>
              <a:t>Automated dynamic (DAST) and static (SAST) scans</a:t>
            </a:r>
            <a:endParaRPr lang="en-US" sz="1050" dirty="0"/>
          </a:p>
          <a:p>
            <a:pPr marL="177800" indent="-177800">
              <a:spcAft>
                <a:spcPts val="400"/>
              </a:spcAft>
              <a:buSzPct val="100000"/>
              <a:buChar char="▪"/>
            </a:pPr>
            <a:r>
              <a:rPr lang="en-US" sz="1050" dirty="0">
                <a:solidFill>
                  <a:srgbClr val="F5F8FA"/>
                </a:solidFill>
                <a:latin typeface="Calibri" pitchFamily="34" charset="0"/>
                <a:ea typeface="Calibri" pitchFamily="34" charset="-122"/>
                <a:cs typeface="Calibri" pitchFamily="34" charset="-120"/>
              </a:rPr>
              <a:t>Alerting on unexpected schema-level queries</a:t>
            </a:r>
            <a:endParaRPr lang="en-US" sz="1050" dirty="0"/>
          </a:p>
        </p:txBody>
      </p:sp>
      <p:sp>
        <p:nvSpPr>
          <p:cNvPr id="26" name="Shape 19"/>
          <p:cNvSpPr/>
          <p:nvPr/>
        </p:nvSpPr>
        <p:spPr>
          <a:xfrm>
            <a:off x="548640" y="5257800"/>
            <a:ext cx="11091672" cy="658368"/>
          </a:xfrm>
          <a:prstGeom prst="roundRect">
            <a:avLst>
              <a:gd name="adj" fmla="val 8333"/>
            </a:avLst>
          </a:prstGeom>
          <a:solidFill>
            <a:srgbClr val="27333F"/>
          </a:solidFill>
          <a:ln w="12700">
            <a:solidFill>
              <a:srgbClr val="22E2FF"/>
            </a:solidFill>
            <a:prstDash val="solid"/>
          </a:ln>
        </p:spPr>
      </p:sp>
      <p:sp>
        <p:nvSpPr>
          <p:cNvPr id="27" name="Text 20"/>
          <p:cNvSpPr/>
          <p:nvPr/>
        </p:nvSpPr>
        <p:spPr>
          <a:xfrm>
            <a:off x="777240" y="5257800"/>
            <a:ext cx="1737360" cy="658368"/>
          </a:xfrm>
          <a:prstGeom prst="rect">
            <a:avLst/>
          </a:prstGeom>
          <a:noFill/>
          <a:ln/>
        </p:spPr>
        <p:txBody>
          <a:bodyPr wrap="square" lIns="0" tIns="0" rIns="0" bIns="0" rtlCol="0" anchor="ctr"/>
          <a:lstStyle/>
          <a:p>
            <a:pPr indent="0" marL="0">
              <a:buNone/>
            </a:pPr>
            <a:r>
              <a:rPr lang="en-US" sz="2200" b="1" dirty="0">
                <a:solidFill>
                  <a:srgbClr val="22E2FF"/>
                </a:solidFill>
                <a:latin typeface="Cambria" pitchFamily="34" charset="0"/>
                <a:ea typeface="Cambria" pitchFamily="34" charset="-122"/>
                <a:cs typeface="Cambria" pitchFamily="34" charset="-120"/>
              </a:rPr>
              <a:t>Top 3</a:t>
            </a:r>
            <a:endParaRPr lang="en-US" sz="2200" dirty="0"/>
          </a:p>
        </p:txBody>
      </p:sp>
      <p:sp>
        <p:nvSpPr>
          <p:cNvPr id="28" name="Text 21"/>
          <p:cNvSpPr/>
          <p:nvPr/>
        </p:nvSpPr>
        <p:spPr>
          <a:xfrm>
            <a:off x="2606040" y="5257800"/>
            <a:ext cx="8778240" cy="658368"/>
          </a:xfrm>
          <a:prstGeom prst="rect">
            <a:avLst/>
          </a:prstGeom>
          <a:noFill/>
          <a:ln/>
        </p:spPr>
        <p:txBody>
          <a:bodyPr wrap="square" lIns="0" tIns="0" rIns="0" bIns="0" rtlCol="0" anchor="ctr"/>
          <a:lstStyle/>
          <a:p>
            <a:pPr indent="0" marL="0">
              <a:buNone/>
            </a:pPr>
            <a:r>
              <a:rPr lang="en-US" sz="1150" dirty="0">
                <a:solidFill>
                  <a:srgbClr val="F5F8FA"/>
                </a:solidFill>
                <a:latin typeface="Calibri" pitchFamily="34" charset="0"/>
                <a:ea typeface="Calibri" pitchFamily="34" charset="-122"/>
                <a:cs typeface="Calibri" pitchFamily="34" charset="-120"/>
              </a:rPr>
              <a:t>OWASP still ranks injection flaws among the most critical web application security risks</a:t>
            </a:r>
            <a:endParaRPr lang="en-US" sz="1150" dirty="0"/>
          </a:p>
        </p:txBody>
      </p:sp>
      <p:sp>
        <p:nvSpPr>
          <p:cNvPr id="29" name="Text 22"/>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C3CDD6"/>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548640" y="347472"/>
            <a:ext cx="566928" cy="566928"/>
          </a:xfrm>
          <a:prstGeom prst="ellipse">
            <a:avLst/>
          </a:prstGeom>
          <a:solidFill>
            <a:srgbClr val="27333F"/>
          </a:solidFill>
          <a:ln w="19050">
            <a:solidFill>
              <a:srgbClr val="22E2FF"/>
            </a:solidFill>
            <a:prstDash val="solid"/>
          </a:ln>
        </p:spPr>
      </p:sp>
      <p:pic>
        <p:nvPicPr>
          <p:cNvPr id="3" name="Image 0" descr="/home/claude/cyberdeck/icons/mitm_cyan.png">    </p:cNvPr>
          <p:cNvPicPr>
            <a:picLocks noChangeAspect="1"/>
          </p:cNvPicPr>
          <p:nvPr/>
        </p:nvPicPr>
        <p:blipFill>
          <a:blip r:embed="rId1"/>
          <a:stretch>
            <a:fillRect/>
          </a:stretch>
        </p:blipFill>
        <p:spPr>
          <a:xfrm>
            <a:off x="696041" y="494873"/>
            <a:ext cx="272125" cy="272125"/>
          </a:xfrm>
          <a:prstGeom prst="rect">
            <a:avLst/>
          </a:prstGeom>
        </p:spPr>
      </p:pic>
      <p:sp>
        <p:nvSpPr>
          <p:cNvPr id="4" name="Text 1"/>
          <p:cNvSpPr/>
          <p:nvPr/>
        </p:nvSpPr>
        <p:spPr>
          <a:xfrm>
            <a:off x="1234440" y="320040"/>
            <a:ext cx="7315200" cy="411480"/>
          </a:xfrm>
          <a:prstGeom prst="rect">
            <a:avLst/>
          </a:prstGeom>
          <a:noFill/>
          <a:ln/>
        </p:spPr>
        <p:txBody>
          <a:bodyPr wrap="square" rtlCol="0" anchor="ctr"/>
          <a:lstStyle/>
          <a:p>
            <a:pPr indent="0" marL="0">
              <a:buNone/>
            </a:pPr>
            <a:r>
              <a:rPr lang="en-US" sz="2600" b="1" dirty="0">
                <a:solidFill>
                  <a:srgbClr val="F5F8FA"/>
                </a:solidFill>
                <a:latin typeface="Cambria" pitchFamily="34" charset="0"/>
                <a:ea typeface="Cambria" pitchFamily="34" charset="-122"/>
                <a:cs typeface="Cambria" pitchFamily="34" charset="-120"/>
              </a:rPr>
              <a:t>Man-in-the-Middle</a:t>
            </a:r>
            <a:endParaRPr lang="en-US" sz="2600" dirty="0"/>
          </a:p>
        </p:txBody>
      </p:sp>
      <p:sp>
        <p:nvSpPr>
          <p:cNvPr id="5" name="Text 2"/>
          <p:cNvSpPr/>
          <p:nvPr/>
        </p:nvSpPr>
        <p:spPr>
          <a:xfrm>
            <a:off x="1234440" y="713232"/>
            <a:ext cx="7315200" cy="274320"/>
          </a:xfrm>
          <a:prstGeom prst="rect">
            <a:avLst/>
          </a:prstGeom>
          <a:noFill/>
          <a:ln/>
        </p:spPr>
        <p:txBody>
          <a:bodyPr wrap="square" rtlCol="0" anchor="ctr"/>
          <a:lstStyle/>
          <a:p>
            <a:pPr indent="0" marL="0">
              <a:buNone/>
            </a:pPr>
            <a:r>
              <a:rPr lang="en-US" sz="1150" b="1" spc="200" kern="0" dirty="0">
                <a:solidFill>
                  <a:srgbClr val="22E2FF"/>
                </a:solidFill>
                <a:latin typeface="Calibri" pitchFamily="34" charset="0"/>
                <a:ea typeface="Calibri" pitchFamily="34" charset="-122"/>
                <a:cs typeface="Calibri" pitchFamily="34" charset="-120"/>
              </a:rPr>
              <a:t>HOW THE ATTACK WORKS</a:t>
            </a:r>
            <a:endParaRPr lang="en-US" sz="1150" dirty="0"/>
          </a:p>
        </p:txBody>
      </p:sp>
      <p:sp>
        <p:nvSpPr>
          <p:cNvPr id="6" name="Shape 3"/>
          <p:cNvSpPr/>
          <p:nvPr/>
        </p:nvSpPr>
        <p:spPr>
          <a:xfrm>
            <a:off x="548640" y="1143000"/>
            <a:ext cx="11091672" cy="777240"/>
          </a:xfrm>
          <a:prstGeom prst="roundRect">
            <a:avLst>
              <a:gd name="adj" fmla="val 7059"/>
            </a:avLst>
          </a:prstGeom>
          <a:solidFill>
            <a:srgbClr val="1C2733"/>
          </a:solidFill>
          <a:ln w="12700">
            <a:solidFill>
              <a:srgbClr val="445362"/>
            </a:solidFill>
            <a:prstDash val="solid"/>
          </a:ln>
        </p:spPr>
      </p:sp>
      <p:sp>
        <p:nvSpPr>
          <p:cNvPr id="7" name="Text 4"/>
          <p:cNvSpPr/>
          <p:nvPr/>
        </p:nvSpPr>
        <p:spPr>
          <a:xfrm>
            <a:off x="777240" y="1143000"/>
            <a:ext cx="10607040" cy="777240"/>
          </a:xfrm>
          <a:prstGeom prst="rect">
            <a:avLst/>
          </a:prstGeom>
          <a:noFill/>
          <a:ln/>
        </p:spPr>
        <p:txBody>
          <a:bodyPr wrap="square" lIns="0" tIns="0" rIns="0" bIns="0" rtlCol="0" anchor="ctr"/>
          <a:lstStyle/>
          <a:p>
            <a:pPr indent="0" marL="0">
              <a:buNone/>
            </a:pPr>
            <a:r>
              <a:rPr lang="en-US" sz="1250" dirty="0">
                <a:solidFill>
                  <a:srgbClr val="F5F8FA"/>
                </a:solidFill>
                <a:latin typeface="Calibri" pitchFamily="34" charset="0"/>
                <a:ea typeface="Calibri" pitchFamily="34" charset="-122"/>
                <a:cs typeface="Calibri" pitchFamily="34" charset="-120"/>
              </a:rPr>
              <a:t>An attacker secretly positions themselves between two communicating parties to intercept, read, or alter traffic without either side noticing.</a:t>
            </a:r>
            <a:endParaRPr lang="en-US" sz="1250" dirty="0"/>
          </a:p>
        </p:txBody>
      </p:sp>
      <p:sp>
        <p:nvSpPr>
          <p:cNvPr id="8" name="Shape 5"/>
          <p:cNvSpPr/>
          <p:nvPr/>
        </p:nvSpPr>
        <p:spPr>
          <a:xfrm>
            <a:off x="548640" y="2148840"/>
            <a:ext cx="3514344" cy="1783080"/>
          </a:xfrm>
          <a:prstGeom prst="roundRect">
            <a:avLst>
              <a:gd name="adj" fmla="val 4103"/>
            </a:avLst>
          </a:prstGeom>
          <a:solidFill>
            <a:srgbClr val="27333F"/>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9" name="Shape 6"/>
          <p:cNvSpPr/>
          <p:nvPr/>
        </p:nvSpPr>
        <p:spPr>
          <a:xfrm>
            <a:off x="713232" y="2313432"/>
            <a:ext cx="457200" cy="457200"/>
          </a:xfrm>
          <a:prstGeom prst="ellipse">
            <a:avLst/>
          </a:prstGeom>
          <a:solidFill>
            <a:srgbClr val="0D1117"/>
          </a:solidFill>
          <a:ln w="19050">
            <a:solidFill>
              <a:srgbClr val="22E2FF"/>
            </a:solidFill>
            <a:prstDash val="solid"/>
          </a:ln>
        </p:spPr>
      </p:sp>
      <p:sp>
        <p:nvSpPr>
          <p:cNvPr id="10" name="Text 7"/>
          <p:cNvSpPr/>
          <p:nvPr/>
        </p:nvSpPr>
        <p:spPr>
          <a:xfrm>
            <a:off x="713232" y="2313432"/>
            <a:ext cx="457200" cy="457200"/>
          </a:xfrm>
          <a:prstGeom prst="rect">
            <a:avLst/>
          </a:prstGeom>
          <a:noFill/>
          <a:ln/>
        </p:spPr>
        <p:txBody>
          <a:bodyPr wrap="square" lIns="0" tIns="0" rIns="0" bIns="0" rtlCol="0" anchor="ctr"/>
          <a:lstStyle/>
          <a:p>
            <a:pPr algn="ctr" indent="0" marL="0">
              <a:buNone/>
            </a:pPr>
            <a:r>
              <a:rPr lang="en-US" sz="1600" b="1" dirty="0">
                <a:solidFill>
                  <a:srgbClr val="22E2FF"/>
                </a:solidFill>
                <a:latin typeface="Cambria" pitchFamily="34" charset="0"/>
                <a:ea typeface="Cambria" pitchFamily="34" charset="-122"/>
                <a:cs typeface="Cambria" pitchFamily="34" charset="-120"/>
              </a:rPr>
              <a:t>1</a:t>
            </a:r>
            <a:endParaRPr lang="en-US" sz="1600" dirty="0"/>
          </a:p>
        </p:txBody>
      </p:sp>
      <p:sp>
        <p:nvSpPr>
          <p:cNvPr id="11" name="Text 8"/>
          <p:cNvSpPr/>
          <p:nvPr/>
        </p:nvSpPr>
        <p:spPr>
          <a:xfrm>
            <a:off x="731520" y="2862072"/>
            <a:ext cx="3148584" cy="384048"/>
          </a:xfrm>
          <a:prstGeom prst="rect">
            <a:avLst/>
          </a:prstGeom>
          <a:noFill/>
          <a:ln/>
        </p:spPr>
        <p:txBody>
          <a:bodyPr wrap="square" lIns="0" tIns="0" rIns="0" bIns="0" rtlCol="0" anchor="ctr"/>
          <a:lstStyle/>
          <a:p>
            <a:pPr indent="0" marL="0">
              <a:buNone/>
            </a:pPr>
            <a:r>
              <a:rPr lang="en-US" sz="1300" b="1" dirty="0">
                <a:solidFill>
                  <a:srgbClr val="F5F8FA"/>
                </a:solidFill>
                <a:latin typeface="Calibri" pitchFamily="34" charset="0"/>
                <a:ea typeface="Calibri" pitchFamily="34" charset="-122"/>
                <a:cs typeface="Calibri" pitchFamily="34" charset="-120"/>
              </a:rPr>
              <a:t>Position on Network</a:t>
            </a:r>
            <a:endParaRPr lang="en-US" sz="1300" dirty="0"/>
          </a:p>
        </p:txBody>
      </p:sp>
      <p:sp>
        <p:nvSpPr>
          <p:cNvPr id="12" name="Text 9"/>
          <p:cNvSpPr/>
          <p:nvPr/>
        </p:nvSpPr>
        <p:spPr>
          <a:xfrm>
            <a:off x="731520" y="3227832"/>
            <a:ext cx="3148584" cy="640080"/>
          </a:xfrm>
          <a:prstGeom prst="rect">
            <a:avLst/>
          </a:prstGeom>
          <a:noFill/>
          <a:ln/>
        </p:spPr>
        <p:txBody>
          <a:bodyPr wrap="square" lIns="0" tIns="0" rIns="0" bIns="0" rtlCol="0" anchor="ctr"/>
          <a:lstStyle/>
          <a:p>
            <a:pPr indent="0" marL="0">
              <a:buNone/>
            </a:pPr>
            <a:r>
              <a:rPr lang="en-US" sz="1000" dirty="0">
                <a:solidFill>
                  <a:srgbClr val="C3CDD6"/>
                </a:solidFill>
                <a:latin typeface="Calibri" pitchFamily="34" charset="0"/>
                <a:ea typeface="Calibri" pitchFamily="34" charset="-122"/>
                <a:cs typeface="Calibri" pitchFamily="34" charset="-120"/>
              </a:rPr>
              <a:t>Attacker sets up a rogue Wi-Fi hotspot or spoofs ARP/DNS traffic.</a:t>
            </a:r>
            <a:endParaRPr lang="en-US" sz="1000" dirty="0"/>
          </a:p>
        </p:txBody>
      </p:sp>
      <p:sp>
        <p:nvSpPr>
          <p:cNvPr id="13" name="Shape 10"/>
          <p:cNvSpPr/>
          <p:nvPr/>
        </p:nvSpPr>
        <p:spPr>
          <a:xfrm>
            <a:off x="4337304" y="2148840"/>
            <a:ext cx="3514344" cy="1783080"/>
          </a:xfrm>
          <a:prstGeom prst="roundRect">
            <a:avLst>
              <a:gd name="adj" fmla="val 4103"/>
            </a:avLst>
          </a:prstGeom>
          <a:solidFill>
            <a:srgbClr val="27333F"/>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14" name="Shape 11"/>
          <p:cNvSpPr/>
          <p:nvPr/>
        </p:nvSpPr>
        <p:spPr>
          <a:xfrm>
            <a:off x="4501896" y="2313432"/>
            <a:ext cx="457200" cy="457200"/>
          </a:xfrm>
          <a:prstGeom prst="ellipse">
            <a:avLst/>
          </a:prstGeom>
          <a:solidFill>
            <a:srgbClr val="0D1117"/>
          </a:solidFill>
          <a:ln w="19050">
            <a:solidFill>
              <a:srgbClr val="22E2FF"/>
            </a:solidFill>
            <a:prstDash val="solid"/>
          </a:ln>
        </p:spPr>
      </p:sp>
      <p:sp>
        <p:nvSpPr>
          <p:cNvPr id="15" name="Text 12"/>
          <p:cNvSpPr/>
          <p:nvPr/>
        </p:nvSpPr>
        <p:spPr>
          <a:xfrm>
            <a:off x="4501896" y="2313432"/>
            <a:ext cx="457200" cy="457200"/>
          </a:xfrm>
          <a:prstGeom prst="rect">
            <a:avLst/>
          </a:prstGeom>
          <a:noFill/>
          <a:ln/>
        </p:spPr>
        <p:txBody>
          <a:bodyPr wrap="square" lIns="0" tIns="0" rIns="0" bIns="0" rtlCol="0" anchor="ctr"/>
          <a:lstStyle/>
          <a:p>
            <a:pPr algn="ctr" indent="0" marL="0">
              <a:buNone/>
            </a:pPr>
            <a:r>
              <a:rPr lang="en-US" sz="1600" b="1" dirty="0">
                <a:solidFill>
                  <a:srgbClr val="22E2FF"/>
                </a:solidFill>
                <a:latin typeface="Cambria" pitchFamily="34" charset="0"/>
                <a:ea typeface="Cambria" pitchFamily="34" charset="-122"/>
                <a:cs typeface="Cambria" pitchFamily="34" charset="-120"/>
              </a:rPr>
              <a:t>2</a:t>
            </a:r>
            <a:endParaRPr lang="en-US" sz="1600" dirty="0"/>
          </a:p>
        </p:txBody>
      </p:sp>
      <p:sp>
        <p:nvSpPr>
          <p:cNvPr id="16" name="Text 13"/>
          <p:cNvSpPr/>
          <p:nvPr/>
        </p:nvSpPr>
        <p:spPr>
          <a:xfrm>
            <a:off x="4520184" y="2862072"/>
            <a:ext cx="3148584" cy="384048"/>
          </a:xfrm>
          <a:prstGeom prst="rect">
            <a:avLst/>
          </a:prstGeom>
          <a:noFill/>
          <a:ln/>
        </p:spPr>
        <p:txBody>
          <a:bodyPr wrap="square" lIns="0" tIns="0" rIns="0" bIns="0" rtlCol="0" anchor="ctr"/>
          <a:lstStyle/>
          <a:p>
            <a:pPr indent="0" marL="0">
              <a:buNone/>
            </a:pPr>
            <a:r>
              <a:rPr lang="en-US" sz="1300" b="1" dirty="0">
                <a:solidFill>
                  <a:srgbClr val="F5F8FA"/>
                </a:solidFill>
                <a:latin typeface="Calibri" pitchFamily="34" charset="0"/>
                <a:ea typeface="Calibri" pitchFamily="34" charset="-122"/>
                <a:cs typeface="Calibri" pitchFamily="34" charset="-120"/>
              </a:rPr>
              <a:t>Intercept Traffic</a:t>
            </a:r>
            <a:endParaRPr lang="en-US" sz="1300" dirty="0"/>
          </a:p>
        </p:txBody>
      </p:sp>
      <p:sp>
        <p:nvSpPr>
          <p:cNvPr id="17" name="Text 14"/>
          <p:cNvSpPr/>
          <p:nvPr/>
        </p:nvSpPr>
        <p:spPr>
          <a:xfrm>
            <a:off x="4520184" y="3227832"/>
            <a:ext cx="3148584" cy="640080"/>
          </a:xfrm>
          <a:prstGeom prst="rect">
            <a:avLst/>
          </a:prstGeom>
          <a:noFill/>
          <a:ln/>
        </p:spPr>
        <p:txBody>
          <a:bodyPr wrap="square" lIns="0" tIns="0" rIns="0" bIns="0" rtlCol="0" anchor="ctr"/>
          <a:lstStyle/>
          <a:p>
            <a:pPr indent="0" marL="0">
              <a:buNone/>
            </a:pPr>
            <a:r>
              <a:rPr lang="en-US" sz="1000" dirty="0">
                <a:solidFill>
                  <a:srgbClr val="C3CDD6"/>
                </a:solidFill>
                <a:latin typeface="Calibri" pitchFamily="34" charset="0"/>
                <a:ea typeface="Calibri" pitchFamily="34" charset="-122"/>
                <a:cs typeface="Calibri" pitchFamily="34" charset="-120"/>
              </a:rPr>
              <a:t>Victim's data is routed through the attacker unknowingly.</a:t>
            </a:r>
            <a:endParaRPr lang="en-US" sz="1000" dirty="0"/>
          </a:p>
        </p:txBody>
      </p:sp>
      <p:sp>
        <p:nvSpPr>
          <p:cNvPr id="18" name="Shape 15"/>
          <p:cNvSpPr/>
          <p:nvPr/>
        </p:nvSpPr>
        <p:spPr>
          <a:xfrm>
            <a:off x="8125968" y="2148840"/>
            <a:ext cx="3514344" cy="1783080"/>
          </a:xfrm>
          <a:prstGeom prst="roundRect">
            <a:avLst>
              <a:gd name="adj" fmla="val 4103"/>
            </a:avLst>
          </a:prstGeom>
          <a:solidFill>
            <a:srgbClr val="27333F"/>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19" name="Shape 16"/>
          <p:cNvSpPr/>
          <p:nvPr/>
        </p:nvSpPr>
        <p:spPr>
          <a:xfrm>
            <a:off x="8290560" y="2313432"/>
            <a:ext cx="457200" cy="457200"/>
          </a:xfrm>
          <a:prstGeom prst="ellipse">
            <a:avLst/>
          </a:prstGeom>
          <a:solidFill>
            <a:srgbClr val="0D1117"/>
          </a:solidFill>
          <a:ln w="19050">
            <a:solidFill>
              <a:srgbClr val="22E2FF"/>
            </a:solidFill>
            <a:prstDash val="solid"/>
          </a:ln>
        </p:spPr>
      </p:sp>
      <p:sp>
        <p:nvSpPr>
          <p:cNvPr id="20" name="Text 17"/>
          <p:cNvSpPr/>
          <p:nvPr/>
        </p:nvSpPr>
        <p:spPr>
          <a:xfrm>
            <a:off x="8290560" y="2313432"/>
            <a:ext cx="457200" cy="457200"/>
          </a:xfrm>
          <a:prstGeom prst="rect">
            <a:avLst/>
          </a:prstGeom>
          <a:noFill/>
          <a:ln/>
        </p:spPr>
        <p:txBody>
          <a:bodyPr wrap="square" lIns="0" tIns="0" rIns="0" bIns="0" rtlCol="0" anchor="ctr"/>
          <a:lstStyle/>
          <a:p>
            <a:pPr algn="ctr" indent="0" marL="0">
              <a:buNone/>
            </a:pPr>
            <a:r>
              <a:rPr lang="en-US" sz="1600" b="1" dirty="0">
                <a:solidFill>
                  <a:srgbClr val="22E2FF"/>
                </a:solidFill>
                <a:latin typeface="Cambria" pitchFamily="34" charset="0"/>
                <a:ea typeface="Cambria" pitchFamily="34" charset="-122"/>
                <a:cs typeface="Cambria" pitchFamily="34" charset="-120"/>
              </a:rPr>
              <a:t>3</a:t>
            </a:r>
            <a:endParaRPr lang="en-US" sz="1600" dirty="0"/>
          </a:p>
        </p:txBody>
      </p:sp>
      <p:sp>
        <p:nvSpPr>
          <p:cNvPr id="21" name="Text 18"/>
          <p:cNvSpPr/>
          <p:nvPr/>
        </p:nvSpPr>
        <p:spPr>
          <a:xfrm>
            <a:off x="8308848" y="2862072"/>
            <a:ext cx="3148584" cy="384048"/>
          </a:xfrm>
          <a:prstGeom prst="rect">
            <a:avLst/>
          </a:prstGeom>
          <a:noFill/>
          <a:ln/>
        </p:spPr>
        <p:txBody>
          <a:bodyPr wrap="square" lIns="0" tIns="0" rIns="0" bIns="0" rtlCol="0" anchor="ctr"/>
          <a:lstStyle/>
          <a:p>
            <a:pPr indent="0" marL="0">
              <a:buNone/>
            </a:pPr>
            <a:r>
              <a:rPr lang="en-US" sz="1300" b="1" dirty="0">
                <a:solidFill>
                  <a:srgbClr val="F5F8FA"/>
                </a:solidFill>
                <a:latin typeface="Calibri" pitchFamily="34" charset="0"/>
                <a:ea typeface="Calibri" pitchFamily="34" charset="-122"/>
                <a:cs typeface="Calibri" pitchFamily="34" charset="-120"/>
              </a:rPr>
              <a:t>Strip Encryption</a:t>
            </a:r>
            <a:endParaRPr lang="en-US" sz="1300" dirty="0"/>
          </a:p>
        </p:txBody>
      </p:sp>
      <p:sp>
        <p:nvSpPr>
          <p:cNvPr id="22" name="Text 19"/>
          <p:cNvSpPr/>
          <p:nvPr/>
        </p:nvSpPr>
        <p:spPr>
          <a:xfrm>
            <a:off x="8308848" y="3227832"/>
            <a:ext cx="3148584" cy="640080"/>
          </a:xfrm>
          <a:prstGeom prst="rect">
            <a:avLst/>
          </a:prstGeom>
          <a:noFill/>
          <a:ln/>
        </p:spPr>
        <p:txBody>
          <a:bodyPr wrap="square" lIns="0" tIns="0" rIns="0" bIns="0" rtlCol="0" anchor="ctr"/>
          <a:lstStyle/>
          <a:p>
            <a:pPr indent="0" marL="0">
              <a:buNone/>
            </a:pPr>
            <a:r>
              <a:rPr lang="en-US" sz="1000" dirty="0">
                <a:solidFill>
                  <a:srgbClr val="C3CDD6"/>
                </a:solidFill>
                <a:latin typeface="Calibri" pitchFamily="34" charset="0"/>
                <a:ea typeface="Calibri" pitchFamily="34" charset="-122"/>
                <a:cs typeface="Calibri" pitchFamily="34" charset="-120"/>
              </a:rPr>
              <a:t>SSL-stripping or a forged certificate exposes plaintext data.</a:t>
            </a:r>
            <a:endParaRPr lang="en-US" sz="1000" dirty="0"/>
          </a:p>
        </p:txBody>
      </p:sp>
      <p:sp>
        <p:nvSpPr>
          <p:cNvPr id="23" name="Shape 20"/>
          <p:cNvSpPr/>
          <p:nvPr/>
        </p:nvSpPr>
        <p:spPr>
          <a:xfrm>
            <a:off x="8125968" y="4434840"/>
            <a:ext cx="3514344" cy="1783080"/>
          </a:xfrm>
          <a:prstGeom prst="roundRect">
            <a:avLst>
              <a:gd name="adj" fmla="val 4103"/>
            </a:avLst>
          </a:prstGeom>
          <a:solidFill>
            <a:srgbClr val="27333F"/>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24" name="Shape 21"/>
          <p:cNvSpPr/>
          <p:nvPr/>
        </p:nvSpPr>
        <p:spPr>
          <a:xfrm>
            <a:off x="8290560" y="4599432"/>
            <a:ext cx="457200" cy="457200"/>
          </a:xfrm>
          <a:prstGeom prst="ellipse">
            <a:avLst/>
          </a:prstGeom>
          <a:solidFill>
            <a:srgbClr val="0D1117"/>
          </a:solidFill>
          <a:ln w="19050">
            <a:solidFill>
              <a:srgbClr val="22E2FF"/>
            </a:solidFill>
            <a:prstDash val="solid"/>
          </a:ln>
        </p:spPr>
      </p:sp>
      <p:sp>
        <p:nvSpPr>
          <p:cNvPr id="25" name="Text 22"/>
          <p:cNvSpPr/>
          <p:nvPr/>
        </p:nvSpPr>
        <p:spPr>
          <a:xfrm>
            <a:off x="8290560" y="4599432"/>
            <a:ext cx="457200" cy="457200"/>
          </a:xfrm>
          <a:prstGeom prst="rect">
            <a:avLst/>
          </a:prstGeom>
          <a:noFill/>
          <a:ln/>
        </p:spPr>
        <p:txBody>
          <a:bodyPr wrap="square" lIns="0" tIns="0" rIns="0" bIns="0" rtlCol="0" anchor="ctr"/>
          <a:lstStyle/>
          <a:p>
            <a:pPr algn="ctr" indent="0" marL="0">
              <a:buNone/>
            </a:pPr>
            <a:r>
              <a:rPr lang="en-US" sz="1600" b="1" dirty="0">
                <a:solidFill>
                  <a:srgbClr val="22E2FF"/>
                </a:solidFill>
                <a:latin typeface="Cambria" pitchFamily="34" charset="0"/>
                <a:ea typeface="Cambria" pitchFamily="34" charset="-122"/>
                <a:cs typeface="Cambria" pitchFamily="34" charset="-120"/>
              </a:rPr>
              <a:t>4</a:t>
            </a:r>
            <a:endParaRPr lang="en-US" sz="1600" dirty="0"/>
          </a:p>
        </p:txBody>
      </p:sp>
      <p:sp>
        <p:nvSpPr>
          <p:cNvPr id="26" name="Text 23"/>
          <p:cNvSpPr/>
          <p:nvPr/>
        </p:nvSpPr>
        <p:spPr>
          <a:xfrm>
            <a:off x="8308848" y="5148072"/>
            <a:ext cx="3148584" cy="384048"/>
          </a:xfrm>
          <a:prstGeom prst="rect">
            <a:avLst/>
          </a:prstGeom>
          <a:noFill/>
          <a:ln/>
        </p:spPr>
        <p:txBody>
          <a:bodyPr wrap="square" lIns="0" tIns="0" rIns="0" bIns="0" rtlCol="0" anchor="ctr"/>
          <a:lstStyle/>
          <a:p>
            <a:pPr indent="0" marL="0">
              <a:buNone/>
            </a:pPr>
            <a:r>
              <a:rPr lang="en-US" sz="1300" b="1" dirty="0">
                <a:solidFill>
                  <a:srgbClr val="F5F8FA"/>
                </a:solidFill>
                <a:latin typeface="Calibri" pitchFamily="34" charset="0"/>
                <a:ea typeface="Calibri" pitchFamily="34" charset="-122"/>
                <a:cs typeface="Calibri" pitchFamily="34" charset="-120"/>
              </a:rPr>
              <a:t>Relay &amp; Modify</a:t>
            </a:r>
            <a:endParaRPr lang="en-US" sz="1300" dirty="0"/>
          </a:p>
        </p:txBody>
      </p:sp>
      <p:sp>
        <p:nvSpPr>
          <p:cNvPr id="27" name="Text 24"/>
          <p:cNvSpPr/>
          <p:nvPr/>
        </p:nvSpPr>
        <p:spPr>
          <a:xfrm>
            <a:off x="8308848" y="5513832"/>
            <a:ext cx="3148584" cy="640080"/>
          </a:xfrm>
          <a:prstGeom prst="rect">
            <a:avLst/>
          </a:prstGeom>
          <a:noFill/>
          <a:ln/>
        </p:spPr>
        <p:txBody>
          <a:bodyPr wrap="square" lIns="0" tIns="0" rIns="0" bIns="0" rtlCol="0" anchor="ctr"/>
          <a:lstStyle/>
          <a:p>
            <a:pPr indent="0" marL="0">
              <a:buNone/>
            </a:pPr>
            <a:r>
              <a:rPr lang="en-US" sz="1000" dirty="0">
                <a:solidFill>
                  <a:srgbClr val="C3CDD6"/>
                </a:solidFill>
                <a:latin typeface="Calibri" pitchFamily="34" charset="0"/>
                <a:ea typeface="Calibri" pitchFamily="34" charset="-122"/>
                <a:cs typeface="Calibri" pitchFamily="34" charset="-120"/>
              </a:rPr>
              <a:t>Traffic is silently forwarded, read, or altered in transit.</a:t>
            </a:r>
            <a:endParaRPr lang="en-US" sz="1000" dirty="0"/>
          </a:p>
        </p:txBody>
      </p:sp>
      <p:sp>
        <p:nvSpPr>
          <p:cNvPr id="28" name="Shape 25"/>
          <p:cNvSpPr/>
          <p:nvPr/>
        </p:nvSpPr>
        <p:spPr>
          <a:xfrm>
            <a:off x="4337304" y="4434840"/>
            <a:ext cx="3514344" cy="1783080"/>
          </a:xfrm>
          <a:prstGeom prst="roundRect">
            <a:avLst>
              <a:gd name="adj" fmla="val 4103"/>
            </a:avLst>
          </a:prstGeom>
          <a:solidFill>
            <a:srgbClr val="27333F"/>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29" name="Shape 26"/>
          <p:cNvSpPr/>
          <p:nvPr/>
        </p:nvSpPr>
        <p:spPr>
          <a:xfrm>
            <a:off x="4501896" y="4599432"/>
            <a:ext cx="457200" cy="457200"/>
          </a:xfrm>
          <a:prstGeom prst="ellipse">
            <a:avLst/>
          </a:prstGeom>
          <a:solidFill>
            <a:srgbClr val="0D1117"/>
          </a:solidFill>
          <a:ln w="19050">
            <a:solidFill>
              <a:srgbClr val="22E2FF"/>
            </a:solidFill>
            <a:prstDash val="solid"/>
          </a:ln>
        </p:spPr>
      </p:sp>
      <p:sp>
        <p:nvSpPr>
          <p:cNvPr id="30" name="Text 27"/>
          <p:cNvSpPr/>
          <p:nvPr/>
        </p:nvSpPr>
        <p:spPr>
          <a:xfrm>
            <a:off x="4501896" y="4599432"/>
            <a:ext cx="457200" cy="457200"/>
          </a:xfrm>
          <a:prstGeom prst="rect">
            <a:avLst/>
          </a:prstGeom>
          <a:noFill/>
          <a:ln/>
        </p:spPr>
        <p:txBody>
          <a:bodyPr wrap="square" lIns="0" tIns="0" rIns="0" bIns="0" rtlCol="0" anchor="ctr"/>
          <a:lstStyle/>
          <a:p>
            <a:pPr algn="ctr" indent="0" marL="0">
              <a:buNone/>
            </a:pPr>
            <a:r>
              <a:rPr lang="en-US" sz="1600" b="1" dirty="0">
                <a:solidFill>
                  <a:srgbClr val="22E2FF"/>
                </a:solidFill>
                <a:latin typeface="Cambria" pitchFamily="34" charset="0"/>
                <a:ea typeface="Cambria" pitchFamily="34" charset="-122"/>
                <a:cs typeface="Cambria" pitchFamily="34" charset="-120"/>
              </a:rPr>
              <a:t>5</a:t>
            </a:r>
            <a:endParaRPr lang="en-US" sz="1600" dirty="0"/>
          </a:p>
        </p:txBody>
      </p:sp>
      <p:sp>
        <p:nvSpPr>
          <p:cNvPr id="31" name="Text 28"/>
          <p:cNvSpPr/>
          <p:nvPr/>
        </p:nvSpPr>
        <p:spPr>
          <a:xfrm>
            <a:off x="4520184" y="5148072"/>
            <a:ext cx="3148584" cy="384048"/>
          </a:xfrm>
          <a:prstGeom prst="rect">
            <a:avLst/>
          </a:prstGeom>
          <a:noFill/>
          <a:ln/>
        </p:spPr>
        <p:txBody>
          <a:bodyPr wrap="square" lIns="0" tIns="0" rIns="0" bIns="0" rtlCol="0" anchor="ctr"/>
          <a:lstStyle/>
          <a:p>
            <a:pPr indent="0" marL="0">
              <a:buNone/>
            </a:pPr>
            <a:r>
              <a:rPr lang="en-US" sz="1300" b="1" dirty="0">
                <a:solidFill>
                  <a:srgbClr val="F5F8FA"/>
                </a:solidFill>
                <a:latin typeface="Calibri" pitchFamily="34" charset="0"/>
                <a:ea typeface="Calibri" pitchFamily="34" charset="-122"/>
                <a:cs typeface="Calibri" pitchFamily="34" charset="-120"/>
              </a:rPr>
              <a:t>Steal Session</a:t>
            </a:r>
            <a:endParaRPr lang="en-US" sz="1300" dirty="0"/>
          </a:p>
        </p:txBody>
      </p:sp>
      <p:sp>
        <p:nvSpPr>
          <p:cNvPr id="32" name="Text 29"/>
          <p:cNvSpPr/>
          <p:nvPr/>
        </p:nvSpPr>
        <p:spPr>
          <a:xfrm>
            <a:off x="4520184" y="5513832"/>
            <a:ext cx="3148584" cy="640080"/>
          </a:xfrm>
          <a:prstGeom prst="rect">
            <a:avLst/>
          </a:prstGeom>
          <a:noFill/>
          <a:ln/>
        </p:spPr>
        <p:txBody>
          <a:bodyPr wrap="square" lIns="0" tIns="0" rIns="0" bIns="0" rtlCol="0" anchor="ctr"/>
          <a:lstStyle/>
          <a:p>
            <a:pPr indent="0" marL="0">
              <a:buNone/>
            </a:pPr>
            <a:r>
              <a:rPr lang="en-US" sz="1000" dirty="0">
                <a:solidFill>
                  <a:srgbClr val="C3CDD6"/>
                </a:solidFill>
                <a:latin typeface="Calibri" pitchFamily="34" charset="0"/>
                <a:ea typeface="Calibri" pitchFamily="34" charset="-122"/>
                <a:cs typeface="Calibri" pitchFamily="34" charset="-120"/>
              </a:rPr>
              <a:t>Login credentials or session tokens are captured.</a:t>
            </a:r>
            <a:endParaRPr lang="en-US" sz="1000" dirty="0"/>
          </a:p>
        </p:txBody>
      </p:sp>
      <p:sp>
        <p:nvSpPr>
          <p:cNvPr id="33" name="Shape 30"/>
          <p:cNvSpPr/>
          <p:nvPr/>
        </p:nvSpPr>
        <p:spPr>
          <a:xfrm>
            <a:off x="548640" y="4434840"/>
            <a:ext cx="3514344" cy="1783080"/>
          </a:xfrm>
          <a:prstGeom prst="roundRect">
            <a:avLst>
              <a:gd name="adj" fmla="val 4103"/>
            </a:avLst>
          </a:prstGeom>
          <a:solidFill>
            <a:srgbClr val="27333F"/>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34" name="Shape 31"/>
          <p:cNvSpPr/>
          <p:nvPr/>
        </p:nvSpPr>
        <p:spPr>
          <a:xfrm>
            <a:off x="713232" y="4599432"/>
            <a:ext cx="457200" cy="457200"/>
          </a:xfrm>
          <a:prstGeom prst="ellipse">
            <a:avLst/>
          </a:prstGeom>
          <a:solidFill>
            <a:srgbClr val="0D1117"/>
          </a:solidFill>
          <a:ln w="19050">
            <a:solidFill>
              <a:srgbClr val="22E2FF"/>
            </a:solidFill>
            <a:prstDash val="solid"/>
          </a:ln>
        </p:spPr>
      </p:sp>
      <p:sp>
        <p:nvSpPr>
          <p:cNvPr id="35" name="Text 32"/>
          <p:cNvSpPr/>
          <p:nvPr/>
        </p:nvSpPr>
        <p:spPr>
          <a:xfrm>
            <a:off x="713232" y="4599432"/>
            <a:ext cx="457200" cy="457200"/>
          </a:xfrm>
          <a:prstGeom prst="rect">
            <a:avLst/>
          </a:prstGeom>
          <a:noFill/>
          <a:ln/>
        </p:spPr>
        <p:txBody>
          <a:bodyPr wrap="square" lIns="0" tIns="0" rIns="0" bIns="0" rtlCol="0" anchor="ctr"/>
          <a:lstStyle/>
          <a:p>
            <a:pPr algn="ctr" indent="0" marL="0">
              <a:buNone/>
            </a:pPr>
            <a:r>
              <a:rPr lang="en-US" sz="1600" b="1" dirty="0">
                <a:solidFill>
                  <a:srgbClr val="22E2FF"/>
                </a:solidFill>
                <a:latin typeface="Cambria" pitchFamily="34" charset="0"/>
                <a:ea typeface="Cambria" pitchFamily="34" charset="-122"/>
                <a:cs typeface="Cambria" pitchFamily="34" charset="-120"/>
              </a:rPr>
              <a:t>6</a:t>
            </a:r>
            <a:endParaRPr lang="en-US" sz="1600" dirty="0"/>
          </a:p>
        </p:txBody>
      </p:sp>
      <p:sp>
        <p:nvSpPr>
          <p:cNvPr id="36" name="Text 33"/>
          <p:cNvSpPr/>
          <p:nvPr/>
        </p:nvSpPr>
        <p:spPr>
          <a:xfrm>
            <a:off x="731520" y="5148072"/>
            <a:ext cx="3148584" cy="384048"/>
          </a:xfrm>
          <a:prstGeom prst="rect">
            <a:avLst/>
          </a:prstGeom>
          <a:noFill/>
          <a:ln/>
        </p:spPr>
        <p:txBody>
          <a:bodyPr wrap="square" lIns="0" tIns="0" rIns="0" bIns="0" rtlCol="0" anchor="ctr"/>
          <a:lstStyle/>
          <a:p>
            <a:pPr indent="0" marL="0">
              <a:buNone/>
            </a:pPr>
            <a:r>
              <a:rPr lang="en-US" sz="1300" b="1" dirty="0">
                <a:solidFill>
                  <a:srgbClr val="F5F8FA"/>
                </a:solidFill>
                <a:latin typeface="Calibri" pitchFamily="34" charset="0"/>
                <a:ea typeface="Calibri" pitchFamily="34" charset="-122"/>
                <a:cs typeface="Calibri" pitchFamily="34" charset="-120"/>
              </a:rPr>
              <a:t>Impersonate</a:t>
            </a:r>
            <a:endParaRPr lang="en-US" sz="1300" dirty="0"/>
          </a:p>
        </p:txBody>
      </p:sp>
      <p:sp>
        <p:nvSpPr>
          <p:cNvPr id="37" name="Text 34"/>
          <p:cNvSpPr/>
          <p:nvPr/>
        </p:nvSpPr>
        <p:spPr>
          <a:xfrm>
            <a:off x="731520" y="5513832"/>
            <a:ext cx="3148584" cy="640080"/>
          </a:xfrm>
          <a:prstGeom prst="rect">
            <a:avLst/>
          </a:prstGeom>
          <a:noFill/>
          <a:ln/>
        </p:spPr>
        <p:txBody>
          <a:bodyPr wrap="square" lIns="0" tIns="0" rIns="0" bIns="0" rtlCol="0" anchor="ctr"/>
          <a:lstStyle/>
          <a:p>
            <a:pPr indent="0" marL="0">
              <a:buNone/>
            </a:pPr>
            <a:r>
              <a:rPr lang="en-US" sz="1000" dirty="0">
                <a:solidFill>
                  <a:srgbClr val="C3CDD6"/>
                </a:solidFill>
                <a:latin typeface="Calibri" pitchFamily="34" charset="0"/>
                <a:ea typeface="Calibri" pitchFamily="34" charset="-122"/>
                <a:cs typeface="Calibri" pitchFamily="34" charset="-120"/>
              </a:rPr>
              <a:t>Attacker reuses the session or credentials as the trusted party.</a:t>
            </a:r>
            <a:endParaRPr lang="en-US" sz="1000" dirty="0"/>
          </a:p>
        </p:txBody>
      </p:sp>
      <p:sp>
        <p:nvSpPr>
          <p:cNvPr id="38" name="Shape 35"/>
          <p:cNvSpPr/>
          <p:nvPr/>
        </p:nvSpPr>
        <p:spPr>
          <a:xfrm>
            <a:off x="4081272" y="2958084"/>
            <a:ext cx="237744" cy="164592"/>
          </a:xfrm>
          <a:prstGeom prst="rightArrow">
            <a:avLst/>
          </a:prstGeom>
          <a:solidFill>
            <a:srgbClr val="22E2FF"/>
          </a:solidFill>
          <a:ln/>
        </p:spPr>
      </p:sp>
      <p:sp>
        <p:nvSpPr>
          <p:cNvPr id="39" name="Shape 36"/>
          <p:cNvSpPr/>
          <p:nvPr/>
        </p:nvSpPr>
        <p:spPr>
          <a:xfrm>
            <a:off x="7869936" y="2958084"/>
            <a:ext cx="237744" cy="164592"/>
          </a:xfrm>
          <a:prstGeom prst="rightArrow">
            <a:avLst/>
          </a:prstGeom>
          <a:solidFill>
            <a:srgbClr val="22E2FF"/>
          </a:solidFill>
          <a:ln/>
        </p:spPr>
      </p:sp>
      <p:sp>
        <p:nvSpPr>
          <p:cNvPr id="40" name="Shape 37"/>
          <p:cNvSpPr/>
          <p:nvPr/>
        </p:nvSpPr>
        <p:spPr>
          <a:xfrm>
            <a:off x="9800844" y="3959352"/>
            <a:ext cx="164592" cy="448056"/>
          </a:xfrm>
          <a:prstGeom prst="downArrow">
            <a:avLst/>
          </a:prstGeom>
          <a:solidFill>
            <a:srgbClr val="22E2FF"/>
          </a:solidFill>
          <a:ln/>
        </p:spPr>
      </p:sp>
      <p:sp>
        <p:nvSpPr>
          <p:cNvPr id="41" name="Shape 38"/>
          <p:cNvSpPr/>
          <p:nvPr/>
        </p:nvSpPr>
        <p:spPr>
          <a:xfrm>
            <a:off x="7869936" y="5244084"/>
            <a:ext cx="237744" cy="164592"/>
          </a:xfrm>
          <a:prstGeom prst="leftArrow">
            <a:avLst/>
          </a:prstGeom>
          <a:solidFill>
            <a:srgbClr val="22E2FF"/>
          </a:solidFill>
          <a:ln/>
        </p:spPr>
      </p:sp>
      <p:sp>
        <p:nvSpPr>
          <p:cNvPr id="42" name="Shape 39"/>
          <p:cNvSpPr/>
          <p:nvPr/>
        </p:nvSpPr>
        <p:spPr>
          <a:xfrm>
            <a:off x="4081272" y="5244084"/>
            <a:ext cx="237744" cy="164592"/>
          </a:xfrm>
          <a:prstGeom prst="leftArrow">
            <a:avLst/>
          </a:prstGeom>
          <a:solidFill>
            <a:srgbClr val="22E2FF"/>
          </a:solidFill>
          <a:ln/>
        </p:spPr>
      </p:sp>
      <p:sp>
        <p:nvSpPr>
          <p:cNvPr id="43" name="Text 40"/>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C3CDD6"/>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548640" y="347472"/>
            <a:ext cx="566928" cy="566928"/>
          </a:xfrm>
          <a:prstGeom prst="ellipse">
            <a:avLst/>
          </a:prstGeom>
          <a:solidFill>
            <a:srgbClr val="27333F"/>
          </a:solidFill>
          <a:ln w="19050">
            <a:solidFill>
              <a:srgbClr val="22E2FF"/>
            </a:solidFill>
            <a:prstDash val="solid"/>
          </a:ln>
        </p:spPr>
      </p:sp>
      <p:pic>
        <p:nvPicPr>
          <p:cNvPr id="3" name="Image 0" descr="/home/claude/cyberdeck/icons/mitm_cyan.png">    </p:cNvPr>
          <p:cNvPicPr>
            <a:picLocks noChangeAspect="1"/>
          </p:cNvPicPr>
          <p:nvPr/>
        </p:nvPicPr>
        <p:blipFill>
          <a:blip r:embed="rId1"/>
          <a:stretch>
            <a:fillRect/>
          </a:stretch>
        </p:blipFill>
        <p:spPr>
          <a:xfrm>
            <a:off x="696041" y="494873"/>
            <a:ext cx="272125" cy="272125"/>
          </a:xfrm>
          <a:prstGeom prst="rect">
            <a:avLst/>
          </a:prstGeom>
        </p:spPr>
      </p:pic>
      <p:sp>
        <p:nvSpPr>
          <p:cNvPr id="4" name="Text 1"/>
          <p:cNvSpPr/>
          <p:nvPr/>
        </p:nvSpPr>
        <p:spPr>
          <a:xfrm>
            <a:off x="1234440" y="320040"/>
            <a:ext cx="7315200" cy="411480"/>
          </a:xfrm>
          <a:prstGeom prst="rect">
            <a:avLst/>
          </a:prstGeom>
          <a:noFill/>
          <a:ln/>
        </p:spPr>
        <p:txBody>
          <a:bodyPr wrap="square" rtlCol="0" anchor="ctr"/>
          <a:lstStyle/>
          <a:p>
            <a:pPr indent="0" marL="0">
              <a:buNone/>
            </a:pPr>
            <a:r>
              <a:rPr lang="en-US" sz="2600" b="1" dirty="0">
                <a:solidFill>
                  <a:srgbClr val="F5F8FA"/>
                </a:solidFill>
                <a:latin typeface="Cambria" pitchFamily="34" charset="0"/>
                <a:ea typeface="Cambria" pitchFamily="34" charset="-122"/>
                <a:cs typeface="Cambria" pitchFamily="34" charset="-120"/>
              </a:rPr>
              <a:t>Man-in-the-Middle</a:t>
            </a:r>
            <a:endParaRPr lang="en-US" sz="2600" dirty="0"/>
          </a:p>
        </p:txBody>
      </p:sp>
      <p:sp>
        <p:nvSpPr>
          <p:cNvPr id="5" name="Text 2"/>
          <p:cNvSpPr/>
          <p:nvPr/>
        </p:nvSpPr>
        <p:spPr>
          <a:xfrm>
            <a:off x="1234440" y="713232"/>
            <a:ext cx="7315200" cy="274320"/>
          </a:xfrm>
          <a:prstGeom prst="rect">
            <a:avLst/>
          </a:prstGeom>
          <a:noFill/>
          <a:ln/>
        </p:spPr>
        <p:txBody>
          <a:bodyPr wrap="square" rtlCol="0" anchor="ctr"/>
          <a:lstStyle/>
          <a:p>
            <a:pPr indent="0" marL="0">
              <a:buNone/>
            </a:pPr>
            <a:r>
              <a:rPr lang="en-US" sz="1150" b="1" spc="200" kern="0" dirty="0">
                <a:solidFill>
                  <a:srgbClr val="22E2FF"/>
                </a:solidFill>
                <a:latin typeface="Calibri" pitchFamily="34" charset="0"/>
                <a:ea typeface="Calibri" pitchFamily="34" charset="-122"/>
                <a:cs typeface="Calibri" pitchFamily="34" charset="-120"/>
              </a:rPr>
              <a:t>REAL-WORLD IMPACT &amp; DEFENSE</a:t>
            </a:r>
            <a:endParaRPr lang="en-US" sz="1150" dirty="0"/>
          </a:p>
        </p:txBody>
      </p:sp>
      <p:sp>
        <p:nvSpPr>
          <p:cNvPr id="6" name="Shape 3"/>
          <p:cNvSpPr/>
          <p:nvPr/>
        </p:nvSpPr>
        <p:spPr>
          <a:xfrm>
            <a:off x="548640" y="1234440"/>
            <a:ext cx="6035040" cy="1783080"/>
          </a:xfrm>
          <a:prstGeom prst="roundRect">
            <a:avLst>
              <a:gd name="adj" fmla="val 4103"/>
            </a:avLst>
          </a:prstGeom>
          <a:solidFill>
            <a:srgbClr val="1C2733"/>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7" name="Shape 4"/>
          <p:cNvSpPr/>
          <p:nvPr/>
        </p:nvSpPr>
        <p:spPr>
          <a:xfrm>
            <a:off x="777240" y="1435608"/>
            <a:ext cx="502920" cy="502920"/>
          </a:xfrm>
          <a:prstGeom prst="ellipse">
            <a:avLst/>
          </a:prstGeom>
          <a:solidFill>
            <a:srgbClr val="27333F"/>
          </a:solidFill>
          <a:ln w="19050">
            <a:solidFill>
              <a:srgbClr val="22E2FF"/>
            </a:solidFill>
            <a:prstDash val="solid"/>
          </a:ln>
        </p:spPr>
      </p:sp>
      <p:pic>
        <p:nvPicPr>
          <p:cNvPr id="8" name="Image 1" descr="/home/claude/cyberdeck/icons/building_cyan.png">    </p:cNvPr>
          <p:cNvPicPr>
            <a:picLocks noChangeAspect="1"/>
          </p:cNvPicPr>
          <p:nvPr/>
        </p:nvPicPr>
        <p:blipFill>
          <a:blip r:embed="rId2"/>
          <a:stretch>
            <a:fillRect/>
          </a:stretch>
        </p:blipFill>
        <p:spPr>
          <a:xfrm>
            <a:off x="907999" y="1566367"/>
            <a:ext cx="241402" cy="241402"/>
          </a:xfrm>
          <a:prstGeom prst="rect">
            <a:avLst/>
          </a:prstGeom>
        </p:spPr>
      </p:pic>
      <p:sp>
        <p:nvSpPr>
          <p:cNvPr id="9" name="Text 5"/>
          <p:cNvSpPr/>
          <p:nvPr/>
        </p:nvSpPr>
        <p:spPr>
          <a:xfrm>
            <a:off x="1417320" y="1490472"/>
            <a:ext cx="4937760" cy="365760"/>
          </a:xfrm>
          <a:prstGeom prst="rect">
            <a:avLst/>
          </a:prstGeom>
          <a:noFill/>
          <a:ln/>
        </p:spPr>
        <p:txBody>
          <a:bodyPr wrap="square" lIns="0" tIns="0" rIns="0" bIns="0" rtlCol="0" anchor="ctr"/>
          <a:lstStyle/>
          <a:p>
            <a:pPr indent="0" marL="0">
              <a:buNone/>
            </a:pPr>
            <a:r>
              <a:rPr lang="en-US" sz="1450" b="1" dirty="0">
                <a:solidFill>
                  <a:srgbClr val="F5F8FA"/>
                </a:solidFill>
                <a:latin typeface="Calibri" pitchFamily="34" charset="0"/>
                <a:ea typeface="Calibri" pitchFamily="34" charset="-122"/>
                <a:cs typeface="Calibri" pitchFamily="34" charset="-120"/>
              </a:rPr>
              <a:t>Real-World Example</a:t>
            </a:r>
            <a:endParaRPr lang="en-US" sz="1450" dirty="0"/>
          </a:p>
        </p:txBody>
      </p:sp>
      <p:sp>
        <p:nvSpPr>
          <p:cNvPr id="10" name="Text 6"/>
          <p:cNvSpPr/>
          <p:nvPr/>
        </p:nvSpPr>
        <p:spPr>
          <a:xfrm>
            <a:off x="777240" y="2057400"/>
            <a:ext cx="5577840" cy="822960"/>
          </a:xfrm>
          <a:prstGeom prst="rect">
            <a:avLst/>
          </a:prstGeom>
          <a:noFill/>
          <a:ln/>
        </p:spPr>
        <p:txBody>
          <a:bodyPr wrap="square" lIns="0" tIns="0" rIns="0" bIns="0" rtlCol="0" anchor="t"/>
          <a:lstStyle/>
          <a:p>
            <a:pPr indent="0" marL="0">
              <a:buNone/>
            </a:pPr>
            <a:r>
              <a:rPr lang="en-US" sz="1100" dirty="0">
                <a:solidFill>
                  <a:srgbClr val="C3CDD6"/>
                </a:solidFill>
                <a:latin typeface="Calibri" pitchFamily="34" charset="0"/>
                <a:ea typeface="Calibri" pitchFamily="34" charset="-122"/>
                <a:cs typeface="Calibri" pitchFamily="34" charset="-120"/>
              </a:rPr>
              <a:t>In 2011, attackers breached certificate authority DigiNotar and issued fraudulent SSL certificates, which were used to intercept and monitor Gmail traffic of users in Iran, undermining the trust chain that HTTPS depends on.</a:t>
            </a:r>
            <a:endParaRPr lang="en-US" sz="1100" dirty="0"/>
          </a:p>
        </p:txBody>
      </p:sp>
      <p:sp>
        <p:nvSpPr>
          <p:cNvPr id="11" name="Shape 7"/>
          <p:cNvSpPr/>
          <p:nvPr/>
        </p:nvSpPr>
        <p:spPr>
          <a:xfrm>
            <a:off x="6858000" y="1234440"/>
            <a:ext cx="4782312" cy="1783080"/>
          </a:xfrm>
          <a:prstGeom prst="roundRect">
            <a:avLst>
              <a:gd name="adj" fmla="val 4103"/>
            </a:avLst>
          </a:prstGeom>
          <a:solidFill>
            <a:srgbClr val="1C2733"/>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12" name="Shape 8"/>
          <p:cNvSpPr/>
          <p:nvPr/>
        </p:nvSpPr>
        <p:spPr>
          <a:xfrm>
            <a:off x="7086600" y="1435608"/>
            <a:ext cx="502920" cy="502920"/>
          </a:xfrm>
          <a:prstGeom prst="ellipse">
            <a:avLst/>
          </a:prstGeom>
          <a:solidFill>
            <a:srgbClr val="27333F"/>
          </a:solidFill>
          <a:ln w="19050">
            <a:solidFill>
              <a:srgbClr val="FF5C51"/>
            </a:solidFill>
            <a:prstDash val="solid"/>
          </a:ln>
        </p:spPr>
      </p:sp>
      <p:pic>
        <p:nvPicPr>
          <p:cNvPr id="13" name="Image 2" descr="/home/claude/cyberdeck/icons/warning_red.png">    </p:cNvPr>
          <p:cNvPicPr>
            <a:picLocks noChangeAspect="1"/>
          </p:cNvPicPr>
          <p:nvPr/>
        </p:nvPicPr>
        <p:blipFill>
          <a:blip r:embed="rId3"/>
          <a:stretch>
            <a:fillRect/>
          </a:stretch>
        </p:blipFill>
        <p:spPr>
          <a:xfrm>
            <a:off x="7217359" y="1566367"/>
            <a:ext cx="241402" cy="241402"/>
          </a:xfrm>
          <a:prstGeom prst="rect">
            <a:avLst/>
          </a:prstGeom>
        </p:spPr>
      </p:pic>
      <p:sp>
        <p:nvSpPr>
          <p:cNvPr id="14" name="Text 9"/>
          <p:cNvSpPr/>
          <p:nvPr/>
        </p:nvSpPr>
        <p:spPr>
          <a:xfrm>
            <a:off x="7726680" y="1490472"/>
            <a:ext cx="3685032" cy="365760"/>
          </a:xfrm>
          <a:prstGeom prst="rect">
            <a:avLst/>
          </a:prstGeom>
          <a:noFill/>
          <a:ln/>
        </p:spPr>
        <p:txBody>
          <a:bodyPr wrap="square" lIns="0" tIns="0" rIns="0" bIns="0" rtlCol="0" anchor="ctr"/>
          <a:lstStyle/>
          <a:p>
            <a:pPr indent="0" marL="0">
              <a:buNone/>
            </a:pPr>
            <a:r>
              <a:rPr lang="en-US" sz="1450" b="1" dirty="0">
                <a:solidFill>
                  <a:srgbClr val="F5F8FA"/>
                </a:solidFill>
                <a:latin typeface="Calibri" pitchFamily="34" charset="0"/>
                <a:ea typeface="Calibri" pitchFamily="34" charset="-122"/>
                <a:cs typeface="Calibri" pitchFamily="34" charset="-120"/>
              </a:rPr>
              <a:t>Impact</a:t>
            </a:r>
            <a:endParaRPr lang="en-US" sz="1450" dirty="0"/>
          </a:p>
        </p:txBody>
      </p:sp>
      <p:sp>
        <p:nvSpPr>
          <p:cNvPr id="15" name="Text 10"/>
          <p:cNvSpPr/>
          <p:nvPr/>
        </p:nvSpPr>
        <p:spPr>
          <a:xfrm>
            <a:off x="7086600" y="2057400"/>
            <a:ext cx="4325112" cy="822960"/>
          </a:xfrm>
          <a:prstGeom prst="rect">
            <a:avLst/>
          </a:prstGeom>
          <a:noFill/>
          <a:ln/>
        </p:spPr>
        <p:txBody>
          <a:bodyPr wrap="square" lIns="0" tIns="0" rIns="0" bIns="0" rtlCol="0" anchor="t"/>
          <a:lstStyle/>
          <a:p>
            <a:pPr marL="177800" indent="-177800">
              <a:spcAft>
                <a:spcPts val="400"/>
              </a:spcAft>
              <a:buSzPct val="100000"/>
              <a:buChar char="▪"/>
            </a:pPr>
            <a:r>
              <a:rPr lang="en-US" sz="1050" dirty="0">
                <a:solidFill>
                  <a:srgbClr val="F5F8FA"/>
                </a:solidFill>
                <a:latin typeface="Calibri" pitchFamily="34" charset="0"/>
                <a:ea typeface="Calibri" pitchFamily="34" charset="-122"/>
                <a:cs typeface="Calibri" pitchFamily="34" charset="-120"/>
              </a:rPr>
              <a:t>Stolen session tokens and credentials</a:t>
            </a:r>
            <a:endParaRPr lang="en-US" sz="1050" dirty="0"/>
          </a:p>
          <a:p>
            <a:pPr marL="177800" indent="-177800">
              <a:spcAft>
                <a:spcPts val="400"/>
              </a:spcAft>
              <a:buSzPct val="100000"/>
              <a:buChar char="▪"/>
            </a:pPr>
            <a:r>
              <a:rPr lang="en-US" sz="1050" dirty="0">
                <a:solidFill>
                  <a:srgbClr val="F5F8FA"/>
                </a:solidFill>
                <a:latin typeface="Calibri" pitchFamily="34" charset="0"/>
                <a:ea typeface="Calibri" pitchFamily="34" charset="-122"/>
                <a:cs typeface="Calibri" pitchFamily="34" charset="-120"/>
              </a:rPr>
              <a:t>Undetected eavesdropping on sensitive data</a:t>
            </a:r>
            <a:endParaRPr lang="en-US" sz="1050" dirty="0"/>
          </a:p>
          <a:p>
            <a:pPr marL="177800" indent="-177800">
              <a:spcAft>
                <a:spcPts val="400"/>
              </a:spcAft>
              <a:buSzPct val="100000"/>
              <a:buChar char="▪"/>
            </a:pPr>
            <a:r>
              <a:rPr lang="en-US" sz="1050" dirty="0">
                <a:solidFill>
                  <a:srgbClr val="F5F8FA"/>
                </a:solidFill>
                <a:latin typeface="Calibri" pitchFamily="34" charset="0"/>
                <a:ea typeface="Calibri" pitchFamily="34" charset="-122"/>
                <a:cs typeface="Calibri" pitchFamily="34" charset="-120"/>
              </a:rPr>
              <a:t>Manipulated transactions or injected content</a:t>
            </a:r>
            <a:endParaRPr lang="en-US" sz="1050" dirty="0"/>
          </a:p>
          <a:p>
            <a:pPr marL="177800" indent="-177800">
              <a:spcAft>
                <a:spcPts val="400"/>
              </a:spcAft>
              <a:buSzPct val="100000"/>
              <a:buChar char="▪"/>
            </a:pPr>
            <a:r>
              <a:rPr lang="en-US" sz="1050" dirty="0">
                <a:solidFill>
                  <a:srgbClr val="F5F8FA"/>
                </a:solidFill>
                <a:latin typeface="Calibri" pitchFamily="34" charset="0"/>
                <a:ea typeface="Calibri" pitchFamily="34" charset="-122"/>
                <a:cs typeface="Calibri" pitchFamily="34" charset="-120"/>
              </a:rPr>
              <a:t>Erosion of trust in encrypted communication</a:t>
            </a:r>
            <a:endParaRPr lang="en-US" sz="1050" dirty="0"/>
          </a:p>
        </p:txBody>
      </p:sp>
      <p:sp>
        <p:nvSpPr>
          <p:cNvPr id="16" name="Shape 11"/>
          <p:cNvSpPr/>
          <p:nvPr/>
        </p:nvSpPr>
        <p:spPr>
          <a:xfrm>
            <a:off x="548640" y="3246120"/>
            <a:ext cx="6035040" cy="1783080"/>
          </a:xfrm>
          <a:prstGeom prst="roundRect">
            <a:avLst>
              <a:gd name="adj" fmla="val 4103"/>
            </a:avLst>
          </a:prstGeom>
          <a:solidFill>
            <a:srgbClr val="1C2733"/>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17" name="Shape 12"/>
          <p:cNvSpPr/>
          <p:nvPr/>
        </p:nvSpPr>
        <p:spPr>
          <a:xfrm>
            <a:off x="777240" y="3447288"/>
            <a:ext cx="502920" cy="502920"/>
          </a:xfrm>
          <a:prstGeom prst="ellipse">
            <a:avLst/>
          </a:prstGeom>
          <a:solidFill>
            <a:srgbClr val="27333F"/>
          </a:solidFill>
          <a:ln w="19050">
            <a:solidFill>
              <a:srgbClr val="22E2FF"/>
            </a:solidFill>
            <a:prstDash val="solid"/>
          </a:ln>
        </p:spPr>
      </p:sp>
      <p:pic>
        <p:nvPicPr>
          <p:cNvPr id="18" name="Image 3" descr="/home/claude/cyberdeck/icons/shield_cyan.png">    </p:cNvPr>
          <p:cNvPicPr>
            <a:picLocks noChangeAspect="1"/>
          </p:cNvPicPr>
          <p:nvPr/>
        </p:nvPicPr>
        <p:blipFill>
          <a:blip r:embed="rId4"/>
          <a:stretch>
            <a:fillRect/>
          </a:stretch>
        </p:blipFill>
        <p:spPr>
          <a:xfrm>
            <a:off x="907999" y="3578047"/>
            <a:ext cx="241402" cy="241402"/>
          </a:xfrm>
          <a:prstGeom prst="rect">
            <a:avLst/>
          </a:prstGeom>
        </p:spPr>
      </p:pic>
      <p:sp>
        <p:nvSpPr>
          <p:cNvPr id="19" name="Text 13"/>
          <p:cNvSpPr/>
          <p:nvPr/>
        </p:nvSpPr>
        <p:spPr>
          <a:xfrm>
            <a:off x="1417320" y="3502152"/>
            <a:ext cx="4937760" cy="365760"/>
          </a:xfrm>
          <a:prstGeom prst="rect">
            <a:avLst/>
          </a:prstGeom>
          <a:noFill/>
          <a:ln/>
        </p:spPr>
        <p:txBody>
          <a:bodyPr wrap="square" lIns="0" tIns="0" rIns="0" bIns="0" rtlCol="0" anchor="ctr"/>
          <a:lstStyle/>
          <a:p>
            <a:pPr indent="0" marL="0">
              <a:buNone/>
            </a:pPr>
            <a:r>
              <a:rPr lang="en-US" sz="1450" b="1" dirty="0">
                <a:solidFill>
                  <a:srgbClr val="F5F8FA"/>
                </a:solidFill>
                <a:latin typeface="Calibri" pitchFamily="34" charset="0"/>
                <a:ea typeface="Calibri" pitchFamily="34" charset="-122"/>
                <a:cs typeface="Calibri" pitchFamily="34" charset="-120"/>
              </a:rPr>
              <a:t>Prevention &amp; Mitigation</a:t>
            </a:r>
            <a:endParaRPr lang="en-US" sz="1450" dirty="0"/>
          </a:p>
        </p:txBody>
      </p:sp>
      <p:sp>
        <p:nvSpPr>
          <p:cNvPr id="20" name="Text 14"/>
          <p:cNvSpPr/>
          <p:nvPr/>
        </p:nvSpPr>
        <p:spPr>
          <a:xfrm>
            <a:off x="777240" y="4069080"/>
            <a:ext cx="5577840" cy="822960"/>
          </a:xfrm>
          <a:prstGeom prst="rect">
            <a:avLst/>
          </a:prstGeom>
          <a:noFill/>
          <a:ln/>
        </p:spPr>
        <p:txBody>
          <a:bodyPr wrap="square" lIns="0" tIns="0" rIns="0" bIns="0" rtlCol="0" anchor="t"/>
          <a:lstStyle/>
          <a:p>
            <a:pPr marL="177800" indent="-177800">
              <a:spcAft>
                <a:spcPts val="400"/>
              </a:spcAft>
              <a:buSzPct val="100000"/>
              <a:buChar char="▪"/>
            </a:pPr>
            <a:r>
              <a:rPr lang="en-US" sz="1100" dirty="0">
                <a:solidFill>
                  <a:srgbClr val="F5F8FA"/>
                </a:solidFill>
                <a:latin typeface="Calibri" pitchFamily="34" charset="0"/>
                <a:ea typeface="Calibri" pitchFamily="34" charset="-122"/>
                <a:cs typeface="Calibri" pitchFamily="34" charset="-120"/>
              </a:rPr>
              <a:t>Enforce HTTPS/TLS everywhere with HSTS</a:t>
            </a:r>
            <a:endParaRPr lang="en-US" sz="1100" dirty="0"/>
          </a:p>
          <a:p>
            <a:pPr marL="177800" indent="-177800">
              <a:spcAft>
                <a:spcPts val="400"/>
              </a:spcAft>
              <a:buSzPct val="100000"/>
              <a:buChar char="▪"/>
            </a:pPr>
            <a:r>
              <a:rPr lang="en-US" sz="1100" dirty="0">
                <a:solidFill>
                  <a:srgbClr val="F5F8FA"/>
                </a:solidFill>
                <a:latin typeface="Calibri" pitchFamily="34" charset="0"/>
                <a:ea typeface="Calibri" pitchFamily="34" charset="-122"/>
                <a:cs typeface="Calibri" pitchFamily="34" charset="-120"/>
              </a:rPr>
              <a:t>Use certificate pinning on critical apps</a:t>
            </a:r>
            <a:endParaRPr lang="en-US" sz="1100" dirty="0"/>
          </a:p>
          <a:p>
            <a:pPr marL="177800" indent="-177800">
              <a:spcAft>
                <a:spcPts val="400"/>
              </a:spcAft>
              <a:buSzPct val="100000"/>
              <a:buChar char="▪"/>
            </a:pPr>
            <a:r>
              <a:rPr lang="en-US" sz="1100" dirty="0">
                <a:solidFill>
                  <a:srgbClr val="F5F8FA"/>
                </a:solidFill>
                <a:latin typeface="Calibri" pitchFamily="34" charset="0"/>
                <a:ea typeface="Calibri" pitchFamily="34" charset="-122"/>
                <a:cs typeface="Calibri" pitchFamily="34" charset="-120"/>
              </a:rPr>
              <a:t>Avoid untrusted public Wi-Fi, use a VPN</a:t>
            </a:r>
            <a:endParaRPr lang="en-US" sz="1100" dirty="0"/>
          </a:p>
          <a:p>
            <a:pPr marL="177800" indent="-177800">
              <a:spcAft>
                <a:spcPts val="400"/>
              </a:spcAft>
              <a:buSzPct val="100000"/>
              <a:buChar char="▪"/>
            </a:pPr>
            <a:r>
              <a:rPr lang="en-US" sz="1100" dirty="0">
                <a:solidFill>
                  <a:srgbClr val="F5F8FA"/>
                </a:solidFill>
                <a:latin typeface="Calibri" pitchFamily="34" charset="0"/>
                <a:ea typeface="Calibri" pitchFamily="34" charset="-122"/>
                <a:cs typeface="Calibri" pitchFamily="34" charset="-120"/>
              </a:rPr>
              <a:t>Deploy mutual authentication where possible</a:t>
            </a:r>
            <a:endParaRPr lang="en-US" sz="1100" dirty="0"/>
          </a:p>
        </p:txBody>
      </p:sp>
      <p:sp>
        <p:nvSpPr>
          <p:cNvPr id="21" name="Shape 15"/>
          <p:cNvSpPr/>
          <p:nvPr/>
        </p:nvSpPr>
        <p:spPr>
          <a:xfrm>
            <a:off x="6858000" y="3246120"/>
            <a:ext cx="4782312" cy="1783080"/>
          </a:xfrm>
          <a:prstGeom prst="roundRect">
            <a:avLst>
              <a:gd name="adj" fmla="val 4103"/>
            </a:avLst>
          </a:prstGeom>
          <a:solidFill>
            <a:srgbClr val="1C2733"/>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22" name="Shape 16"/>
          <p:cNvSpPr/>
          <p:nvPr/>
        </p:nvSpPr>
        <p:spPr>
          <a:xfrm>
            <a:off x="7086600" y="3447288"/>
            <a:ext cx="502920" cy="502920"/>
          </a:xfrm>
          <a:prstGeom prst="ellipse">
            <a:avLst/>
          </a:prstGeom>
          <a:solidFill>
            <a:srgbClr val="27333F"/>
          </a:solidFill>
          <a:ln w="19050">
            <a:solidFill>
              <a:srgbClr val="22E2FF"/>
            </a:solidFill>
            <a:prstDash val="solid"/>
          </a:ln>
        </p:spPr>
      </p:sp>
      <p:pic>
        <p:nvPicPr>
          <p:cNvPr id="23" name="Image 4" descr="/home/claude/cyberdeck/icons/search_cyan.png">    </p:cNvPr>
          <p:cNvPicPr>
            <a:picLocks noChangeAspect="1"/>
          </p:cNvPicPr>
          <p:nvPr/>
        </p:nvPicPr>
        <p:blipFill>
          <a:blip r:embed="rId5"/>
          <a:stretch>
            <a:fillRect/>
          </a:stretch>
        </p:blipFill>
        <p:spPr>
          <a:xfrm>
            <a:off x="7217359" y="3578047"/>
            <a:ext cx="241402" cy="241402"/>
          </a:xfrm>
          <a:prstGeom prst="rect">
            <a:avLst/>
          </a:prstGeom>
        </p:spPr>
      </p:pic>
      <p:sp>
        <p:nvSpPr>
          <p:cNvPr id="24" name="Text 17"/>
          <p:cNvSpPr/>
          <p:nvPr/>
        </p:nvSpPr>
        <p:spPr>
          <a:xfrm>
            <a:off x="7726680" y="3502152"/>
            <a:ext cx="3685032" cy="365760"/>
          </a:xfrm>
          <a:prstGeom prst="rect">
            <a:avLst/>
          </a:prstGeom>
          <a:noFill/>
          <a:ln/>
        </p:spPr>
        <p:txBody>
          <a:bodyPr wrap="square" lIns="0" tIns="0" rIns="0" bIns="0" rtlCol="0" anchor="ctr"/>
          <a:lstStyle/>
          <a:p>
            <a:pPr indent="0" marL="0">
              <a:buNone/>
            </a:pPr>
            <a:r>
              <a:rPr lang="en-US" sz="1450" b="1" dirty="0">
                <a:solidFill>
                  <a:srgbClr val="F5F8FA"/>
                </a:solidFill>
                <a:latin typeface="Calibri" pitchFamily="34" charset="0"/>
                <a:ea typeface="Calibri" pitchFamily="34" charset="-122"/>
                <a:cs typeface="Calibri" pitchFamily="34" charset="-120"/>
              </a:rPr>
              <a:t>Detection Methods</a:t>
            </a:r>
            <a:endParaRPr lang="en-US" sz="1450" dirty="0"/>
          </a:p>
        </p:txBody>
      </p:sp>
      <p:sp>
        <p:nvSpPr>
          <p:cNvPr id="25" name="Text 18"/>
          <p:cNvSpPr/>
          <p:nvPr/>
        </p:nvSpPr>
        <p:spPr>
          <a:xfrm>
            <a:off x="7086600" y="4069080"/>
            <a:ext cx="4325112" cy="822960"/>
          </a:xfrm>
          <a:prstGeom prst="rect">
            <a:avLst/>
          </a:prstGeom>
          <a:noFill/>
          <a:ln/>
        </p:spPr>
        <p:txBody>
          <a:bodyPr wrap="square" lIns="0" tIns="0" rIns="0" bIns="0" rtlCol="0" anchor="t"/>
          <a:lstStyle/>
          <a:p>
            <a:pPr marL="177800" indent="-177800">
              <a:spcAft>
                <a:spcPts val="400"/>
              </a:spcAft>
              <a:buSzPct val="100000"/>
              <a:buChar char="▪"/>
            </a:pPr>
            <a:r>
              <a:rPr lang="en-US" sz="1050" dirty="0">
                <a:solidFill>
                  <a:srgbClr val="F5F8FA"/>
                </a:solidFill>
                <a:latin typeface="Calibri" pitchFamily="34" charset="0"/>
                <a:ea typeface="Calibri" pitchFamily="34" charset="-122"/>
                <a:cs typeface="Calibri" pitchFamily="34" charset="-120"/>
              </a:rPr>
              <a:t>Certificate transparency log monitoring</a:t>
            </a:r>
            <a:endParaRPr lang="en-US" sz="1050" dirty="0"/>
          </a:p>
          <a:p>
            <a:pPr marL="177800" indent="-177800">
              <a:spcAft>
                <a:spcPts val="400"/>
              </a:spcAft>
              <a:buSzPct val="100000"/>
              <a:buChar char="▪"/>
            </a:pPr>
            <a:r>
              <a:rPr lang="en-US" sz="1050" dirty="0">
                <a:solidFill>
                  <a:srgbClr val="F5F8FA"/>
                </a:solidFill>
                <a:latin typeface="Calibri" pitchFamily="34" charset="0"/>
                <a:ea typeface="Calibri" pitchFamily="34" charset="-122"/>
                <a:cs typeface="Calibri" pitchFamily="34" charset="-120"/>
              </a:rPr>
              <a:t>ARP-spoofing and rogue access-point detection</a:t>
            </a:r>
            <a:endParaRPr lang="en-US" sz="1050" dirty="0"/>
          </a:p>
          <a:p>
            <a:pPr marL="177800" indent="-177800">
              <a:spcAft>
                <a:spcPts val="400"/>
              </a:spcAft>
              <a:buSzPct val="100000"/>
              <a:buChar char="▪"/>
            </a:pPr>
            <a:r>
              <a:rPr lang="en-US" sz="1050" dirty="0">
                <a:solidFill>
                  <a:srgbClr val="F5F8FA"/>
                </a:solidFill>
                <a:latin typeface="Calibri" pitchFamily="34" charset="0"/>
                <a:ea typeface="Calibri" pitchFamily="34" charset="-122"/>
                <a:cs typeface="Calibri" pitchFamily="34" charset="-120"/>
              </a:rPr>
              <a:t>Unexpected certificate or TLS downgrade alerts</a:t>
            </a:r>
            <a:endParaRPr lang="en-US" sz="1050" dirty="0"/>
          </a:p>
          <a:p>
            <a:pPr marL="177800" indent="-177800">
              <a:spcAft>
                <a:spcPts val="400"/>
              </a:spcAft>
              <a:buSzPct val="100000"/>
              <a:buChar char="▪"/>
            </a:pPr>
            <a:r>
              <a:rPr lang="en-US" sz="1050" dirty="0">
                <a:solidFill>
                  <a:srgbClr val="F5F8FA"/>
                </a:solidFill>
                <a:latin typeface="Calibri" pitchFamily="34" charset="0"/>
                <a:ea typeface="Calibri" pitchFamily="34" charset="-122"/>
                <a:cs typeface="Calibri" pitchFamily="34" charset="-120"/>
              </a:rPr>
              <a:t>Network traffic baseline anomaly detection</a:t>
            </a:r>
            <a:endParaRPr lang="en-US" sz="1050" dirty="0"/>
          </a:p>
        </p:txBody>
      </p:sp>
      <p:sp>
        <p:nvSpPr>
          <p:cNvPr id="26" name="Shape 19"/>
          <p:cNvSpPr/>
          <p:nvPr/>
        </p:nvSpPr>
        <p:spPr>
          <a:xfrm>
            <a:off x="548640" y="5257800"/>
            <a:ext cx="11091672" cy="658368"/>
          </a:xfrm>
          <a:prstGeom prst="roundRect">
            <a:avLst>
              <a:gd name="adj" fmla="val 8333"/>
            </a:avLst>
          </a:prstGeom>
          <a:solidFill>
            <a:srgbClr val="27333F"/>
          </a:solidFill>
          <a:ln w="12700">
            <a:solidFill>
              <a:srgbClr val="22E2FF"/>
            </a:solidFill>
            <a:prstDash val="solid"/>
          </a:ln>
        </p:spPr>
      </p:sp>
      <p:sp>
        <p:nvSpPr>
          <p:cNvPr id="27" name="Text 20"/>
          <p:cNvSpPr/>
          <p:nvPr/>
        </p:nvSpPr>
        <p:spPr>
          <a:xfrm>
            <a:off x="777240" y="5257800"/>
            <a:ext cx="1737360" cy="658368"/>
          </a:xfrm>
          <a:prstGeom prst="rect">
            <a:avLst/>
          </a:prstGeom>
          <a:noFill/>
          <a:ln/>
        </p:spPr>
        <p:txBody>
          <a:bodyPr wrap="square" lIns="0" tIns="0" rIns="0" bIns="0" rtlCol="0" anchor="ctr"/>
          <a:lstStyle/>
          <a:p>
            <a:pPr indent="0" marL="0">
              <a:buNone/>
            </a:pPr>
            <a:r>
              <a:rPr lang="en-US" sz="2200" b="1" dirty="0">
                <a:solidFill>
                  <a:srgbClr val="22E2FF"/>
                </a:solidFill>
                <a:latin typeface="Cambria" pitchFamily="34" charset="0"/>
                <a:ea typeface="Cambria" pitchFamily="34" charset="-122"/>
                <a:cs typeface="Cambria" pitchFamily="34" charset="-120"/>
              </a:rPr>
              <a:t>Rising</a:t>
            </a:r>
            <a:endParaRPr lang="en-US" sz="2200" dirty="0"/>
          </a:p>
        </p:txBody>
      </p:sp>
      <p:sp>
        <p:nvSpPr>
          <p:cNvPr id="28" name="Text 21"/>
          <p:cNvSpPr/>
          <p:nvPr/>
        </p:nvSpPr>
        <p:spPr>
          <a:xfrm>
            <a:off x="2606040" y="5257800"/>
            <a:ext cx="8778240" cy="658368"/>
          </a:xfrm>
          <a:prstGeom prst="rect">
            <a:avLst/>
          </a:prstGeom>
          <a:noFill/>
          <a:ln/>
        </p:spPr>
        <p:txBody>
          <a:bodyPr wrap="square" lIns="0" tIns="0" rIns="0" bIns="0" rtlCol="0" anchor="ctr"/>
          <a:lstStyle/>
          <a:p>
            <a:pPr indent="0" marL="0">
              <a:buNone/>
            </a:pPr>
            <a:r>
              <a:rPr lang="en-US" sz="1150" dirty="0">
                <a:solidFill>
                  <a:srgbClr val="F5F8FA"/>
                </a:solidFill>
                <a:latin typeface="Calibri" pitchFamily="34" charset="0"/>
                <a:ea typeface="Calibri" pitchFamily="34" charset="-122"/>
                <a:cs typeface="Calibri" pitchFamily="34" charset="-120"/>
              </a:rPr>
              <a:t>with public Wi-Fi and unsecured IoT traffic remaining the most common interception points</a:t>
            </a:r>
            <a:endParaRPr lang="en-US" sz="1150" dirty="0"/>
          </a:p>
        </p:txBody>
      </p:sp>
      <p:sp>
        <p:nvSpPr>
          <p:cNvPr id="29" name="Text 22"/>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C3CDD6"/>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548640" y="347472"/>
            <a:ext cx="566928" cy="566928"/>
          </a:xfrm>
          <a:prstGeom prst="ellipse">
            <a:avLst/>
          </a:prstGeom>
          <a:solidFill>
            <a:srgbClr val="27333F"/>
          </a:solidFill>
          <a:ln w="19050">
            <a:solidFill>
              <a:srgbClr val="22E2FF"/>
            </a:solidFill>
            <a:prstDash val="solid"/>
          </a:ln>
        </p:spPr>
      </p:sp>
      <p:pic>
        <p:nvPicPr>
          <p:cNvPr id="3" name="Image 0" descr="/home/claude/cyberdeck/icons/zeroday_cyan.png">    </p:cNvPr>
          <p:cNvPicPr>
            <a:picLocks noChangeAspect="1"/>
          </p:cNvPicPr>
          <p:nvPr/>
        </p:nvPicPr>
        <p:blipFill>
          <a:blip r:embed="rId1"/>
          <a:stretch>
            <a:fillRect/>
          </a:stretch>
        </p:blipFill>
        <p:spPr>
          <a:xfrm>
            <a:off x="696041" y="494873"/>
            <a:ext cx="272125" cy="272125"/>
          </a:xfrm>
          <a:prstGeom prst="rect">
            <a:avLst/>
          </a:prstGeom>
        </p:spPr>
      </p:pic>
      <p:sp>
        <p:nvSpPr>
          <p:cNvPr id="4" name="Text 1"/>
          <p:cNvSpPr/>
          <p:nvPr/>
        </p:nvSpPr>
        <p:spPr>
          <a:xfrm>
            <a:off x="1234440" y="320040"/>
            <a:ext cx="7315200" cy="411480"/>
          </a:xfrm>
          <a:prstGeom prst="rect">
            <a:avLst/>
          </a:prstGeom>
          <a:noFill/>
          <a:ln/>
        </p:spPr>
        <p:txBody>
          <a:bodyPr wrap="square" rtlCol="0" anchor="ctr"/>
          <a:lstStyle/>
          <a:p>
            <a:pPr indent="0" marL="0">
              <a:buNone/>
            </a:pPr>
            <a:r>
              <a:rPr lang="en-US" sz="2600" b="1" dirty="0">
                <a:solidFill>
                  <a:srgbClr val="F5F8FA"/>
                </a:solidFill>
                <a:latin typeface="Cambria" pitchFamily="34" charset="0"/>
                <a:ea typeface="Cambria" pitchFamily="34" charset="-122"/>
                <a:cs typeface="Cambria" pitchFamily="34" charset="-120"/>
              </a:rPr>
              <a:t>Zero-Day Exploit</a:t>
            </a:r>
            <a:endParaRPr lang="en-US" sz="2600" dirty="0"/>
          </a:p>
        </p:txBody>
      </p:sp>
      <p:sp>
        <p:nvSpPr>
          <p:cNvPr id="5" name="Text 2"/>
          <p:cNvSpPr/>
          <p:nvPr/>
        </p:nvSpPr>
        <p:spPr>
          <a:xfrm>
            <a:off x="1234440" y="713232"/>
            <a:ext cx="7315200" cy="274320"/>
          </a:xfrm>
          <a:prstGeom prst="rect">
            <a:avLst/>
          </a:prstGeom>
          <a:noFill/>
          <a:ln/>
        </p:spPr>
        <p:txBody>
          <a:bodyPr wrap="square" rtlCol="0" anchor="ctr"/>
          <a:lstStyle/>
          <a:p>
            <a:pPr indent="0" marL="0">
              <a:buNone/>
            </a:pPr>
            <a:r>
              <a:rPr lang="en-US" sz="1150" b="1" spc="200" kern="0" dirty="0">
                <a:solidFill>
                  <a:srgbClr val="22E2FF"/>
                </a:solidFill>
                <a:latin typeface="Calibri" pitchFamily="34" charset="0"/>
                <a:ea typeface="Calibri" pitchFamily="34" charset="-122"/>
                <a:cs typeface="Calibri" pitchFamily="34" charset="-120"/>
              </a:rPr>
              <a:t>HOW THE ATTACK WORKS</a:t>
            </a:r>
            <a:endParaRPr lang="en-US" sz="1150" dirty="0"/>
          </a:p>
        </p:txBody>
      </p:sp>
      <p:sp>
        <p:nvSpPr>
          <p:cNvPr id="6" name="Shape 3"/>
          <p:cNvSpPr/>
          <p:nvPr/>
        </p:nvSpPr>
        <p:spPr>
          <a:xfrm>
            <a:off x="548640" y="1143000"/>
            <a:ext cx="11091672" cy="777240"/>
          </a:xfrm>
          <a:prstGeom prst="roundRect">
            <a:avLst>
              <a:gd name="adj" fmla="val 7059"/>
            </a:avLst>
          </a:prstGeom>
          <a:solidFill>
            <a:srgbClr val="1C2733"/>
          </a:solidFill>
          <a:ln w="12700">
            <a:solidFill>
              <a:srgbClr val="445362"/>
            </a:solidFill>
            <a:prstDash val="solid"/>
          </a:ln>
        </p:spPr>
      </p:sp>
      <p:sp>
        <p:nvSpPr>
          <p:cNvPr id="7" name="Text 4"/>
          <p:cNvSpPr/>
          <p:nvPr/>
        </p:nvSpPr>
        <p:spPr>
          <a:xfrm>
            <a:off x="777240" y="1143000"/>
            <a:ext cx="10607040" cy="777240"/>
          </a:xfrm>
          <a:prstGeom prst="rect">
            <a:avLst/>
          </a:prstGeom>
          <a:noFill/>
          <a:ln/>
        </p:spPr>
        <p:txBody>
          <a:bodyPr wrap="square" lIns="0" tIns="0" rIns="0" bIns="0" rtlCol="0" anchor="ctr"/>
          <a:lstStyle/>
          <a:p>
            <a:pPr indent="0" marL="0">
              <a:buNone/>
            </a:pPr>
            <a:r>
              <a:rPr lang="en-US" sz="1250" dirty="0">
                <a:solidFill>
                  <a:srgbClr val="F5F8FA"/>
                </a:solidFill>
                <a:latin typeface="Calibri" pitchFamily="34" charset="0"/>
                <a:ea typeface="Calibri" pitchFamily="34" charset="-122"/>
                <a:cs typeface="Calibri" pitchFamily="34" charset="-120"/>
              </a:rPr>
              <a:t>An attack that targets a software vulnerability unknown to the vendor, exploited before a patch exists, leaving defenders with zero days of warning.</a:t>
            </a:r>
            <a:endParaRPr lang="en-US" sz="1250" dirty="0"/>
          </a:p>
        </p:txBody>
      </p:sp>
      <p:sp>
        <p:nvSpPr>
          <p:cNvPr id="8" name="Shape 5"/>
          <p:cNvSpPr/>
          <p:nvPr/>
        </p:nvSpPr>
        <p:spPr>
          <a:xfrm>
            <a:off x="548640" y="2148840"/>
            <a:ext cx="3514344" cy="1783080"/>
          </a:xfrm>
          <a:prstGeom prst="roundRect">
            <a:avLst>
              <a:gd name="adj" fmla="val 4103"/>
            </a:avLst>
          </a:prstGeom>
          <a:solidFill>
            <a:srgbClr val="27333F"/>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9" name="Shape 6"/>
          <p:cNvSpPr/>
          <p:nvPr/>
        </p:nvSpPr>
        <p:spPr>
          <a:xfrm>
            <a:off x="713232" y="2313432"/>
            <a:ext cx="457200" cy="457200"/>
          </a:xfrm>
          <a:prstGeom prst="ellipse">
            <a:avLst/>
          </a:prstGeom>
          <a:solidFill>
            <a:srgbClr val="0D1117"/>
          </a:solidFill>
          <a:ln w="19050">
            <a:solidFill>
              <a:srgbClr val="22E2FF"/>
            </a:solidFill>
            <a:prstDash val="solid"/>
          </a:ln>
        </p:spPr>
      </p:sp>
      <p:sp>
        <p:nvSpPr>
          <p:cNvPr id="10" name="Text 7"/>
          <p:cNvSpPr/>
          <p:nvPr/>
        </p:nvSpPr>
        <p:spPr>
          <a:xfrm>
            <a:off x="713232" y="2313432"/>
            <a:ext cx="457200" cy="457200"/>
          </a:xfrm>
          <a:prstGeom prst="rect">
            <a:avLst/>
          </a:prstGeom>
          <a:noFill/>
          <a:ln/>
        </p:spPr>
        <p:txBody>
          <a:bodyPr wrap="square" lIns="0" tIns="0" rIns="0" bIns="0" rtlCol="0" anchor="ctr"/>
          <a:lstStyle/>
          <a:p>
            <a:pPr algn="ctr" indent="0" marL="0">
              <a:buNone/>
            </a:pPr>
            <a:r>
              <a:rPr lang="en-US" sz="1600" b="1" dirty="0">
                <a:solidFill>
                  <a:srgbClr val="22E2FF"/>
                </a:solidFill>
                <a:latin typeface="Cambria" pitchFamily="34" charset="0"/>
                <a:ea typeface="Cambria" pitchFamily="34" charset="-122"/>
                <a:cs typeface="Cambria" pitchFamily="34" charset="-120"/>
              </a:rPr>
              <a:t>1</a:t>
            </a:r>
            <a:endParaRPr lang="en-US" sz="1600" dirty="0"/>
          </a:p>
        </p:txBody>
      </p:sp>
      <p:sp>
        <p:nvSpPr>
          <p:cNvPr id="11" name="Text 8"/>
          <p:cNvSpPr/>
          <p:nvPr/>
        </p:nvSpPr>
        <p:spPr>
          <a:xfrm>
            <a:off x="731520" y="2862072"/>
            <a:ext cx="3148584" cy="384048"/>
          </a:xfrm>
          <a:prstGeom prst="rect">
            <a:avLst/>
          </a:prstGeom>
          <a:noFill/>
          <a:ln/>
        </p:spPr>
        <p:txBody>
          <a:bodyPr wrap="square" lIns="0" tIns="0" rIns="0" bIns="0" rtlCol="0" anchor="ctr"/>
          <a:lstStyle/>
          <a:p>
            <a:pPr indent="0" marL="0">
              <a:buNone/>
            </a:pPr>
            <a:r>
              <a:rPr lang="en-US" sz="1300" b="1" dirty="0">
                <a:solidFill>
                  <a:srgbClr val="F5F8FA"/>
                </a:solidFill>
                <a:latin typeface="Calibri" pitchFamily="34" charset="0"/>
                <a:ea typeface="Calibri" pitchFamily="34" charset="-122"/>
                <a:cs typeface="Calibri" pitchFamily="34" charset="-120"/>
              </a:rPr>
              <a:t>Flaw Discovered</a:t>
            </a:r>
            <a:endParaRPr lang="en-US" sz="1300" dirty="0"/>
          </a:p>
        </p:txBody>
      </p:sp>
      <p:sp>
        <p:nvSpPr>
          <p:cNvPr id="12" name="Text 9"/>
          <p:cNvSpPr/>
          <p:nvPr/>
        </p:nvSpPr>
        <p:spPr>
          <a:xfrm>
            <a:off x="731520" y="3227832"/>
            <a:ext cx="3148584" cy="640080"/>
          </a:xfrm>
          <a:prstGeom prst="rect">
            <a:avLst/>
          </a:prstGeom>
          <a:noFill/>
          <a:ln/>
        </p:spPr>
        <p:txBody>
          <a:bodyPr wrap="square" lIns="0" tIns="0" rIns="0" bIns="0" rtlCol="0" anchor="ctr"/>
          <a:lstStyle/>
          <a:p>
            <a:pPr indent="0" marL="0">
              <a:buNone/>
            </a:pPr>
            <a:r>
              <a:rPr lang="en-US" sz="1000" dirty="0">
                <a:solidFill>
                  <a:srgbClr val="C3CDD6"/>
                </a:solidFill>
                <a:latin typeface="Calibri" pitchFamily="34" charset="0"/>
                <a:ea typeface="Calibri" pitchFamily="34" charset="-122"/>
                <a:cs typeface="Calibri" pitchFamily="34" charset="-120"/>
              </a:rPr>
              <a:t>A researcher or attacker finds a previously unknown vulnerability.</a:t>
            </a:r>
            <a:endParaRPr lang="en-US" sz="1000" dirty="0"/>
          </a:p>
        </p:txBody>
      </p:sp>
      <p:sp>
        <p:nvSpPr>
          <p:cNvPr id="13" name="Shape 10"/>
          <p:cNvSpPr/>
          <p:nvPr/>
        </p:nvSpPr>
        <p:spPr>
          <a:xfrm>
            <a:off x="4337304" y="2148840"/>
            <a:ext cx="3514344" cy="1783080"/>
          </a:xfrm>
          <a:prstGeom prst="roundRect">
            <a:avLst>
              <a:gd name="adj" fmla="val 4103"/>
            </a:avLst>
          </a:prstGeom>
          <a:solidFill>
            <a:srgbClr val="27333F"/>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14" name="Shape 11"/>
          <p:cNvSpPr/>
          <p:nvPr/>
        </p:nvSpPr>
        <p:spPr>
          <a:xfrm>
            <a:off x="4501896" y="2313432"/>
            <a:ext cx="457200" cy="457200"/>
          </a:xfrm>
          <a:prstGeom prst="ellipse">
            <a:avLst/>
          </a:prstGeom>
          <a:solidFill>
            <a:srgbClr val="0D1117"/>
          </a:solidFill>
          <a:ln w="19050">
            <a:solidFill>
              <a:srgbClr val="22E2FF"/>
            </a:solidFill>
            <a:prstDash val="solid"/>
          </a:ln>
        </p:spPr>
      </p:sp>
      <p:sp>
        <p:nvSpPr>
          <p:cNvPr id="15" name="Text 12"/>
          <p:cNvSpPr/>
          <p:nvPr/>
        </p:nvSpPr>
        <p:spPr>
          <a:xfrm>
            <a:off x="4501896" y="2313432"/>
            <a:ext cx="457200" cy="457200"/>
          </a:xfrm>
          <a:prstGeom prst="rect">
            <a:avLst/>
          </a:prstGeom>
          <a:noFill/>
          <a:ln/>
        </p:spPr>
        <p:txBody>
          <a:bodyPr wrap="square" lIns="0" tIns="0" rIns="0" bIns="0" rtlCol="0" anchor="ctr"/>
          <a:lstStyle/>
          <a:p>
            <a:pPr algn="ctr" indent="0" marL="0">
              <a:buNone/>
            </a:pPr>
            <a:r>
              <a:rPr lang="en-US" sz="1600" b="1" dirty="0">
                <a:solidFill>
                  <a:srgbClr val="22E2FF"/>
                </a:solidFill>
                <a:latin typeface="Cambria" pitchFamily="34" charset="0"/>
                <a:ea typeface="Cambria" pitchFamily="34" charset="-122"/>
                <a:cs typeface="Cambria" pitchFamily="34" charset="-120"/>
              </a:rPr>
              <a:t>2</a:t>
            </a:r>
            <a:endParaRPr lang="en-US" sz="1600" dirty="0"/>
          </a:p>
        </p:txBody>
      </p:sp>
      <p:sp>
        <p:nvSpPr>
          <p:cNvPr id="16" name="Text 13"/>
          <p:cNvSpPr/>
          <p:nvPr/>
        </p:nvSpPr>
        <p:spPr>
          <a:xfrm>
            <a:off x="4520184" y="2862072"/>
            <a:ext cx="3148584" cy="384048"/>
          </a:xfrm>
          <a:prstGeom prst="rect">
            <a:avLst/>
          </a:prstGeom>
          <a:noFill/>
          <a:ln/>
        </p:spPr>
        <p:txBody>
          <a:bodyPr wrap="square" lIns="0" tIns="0" rIns="0" bIns="0" rtlCol="0" anchor="ctr"/>
          <a:lstStyle/>
          <a:p>
            <a:pPr indent="0" marL="0">
              <a:buNone/>
            </a:pPr>
            <a:r>
              <a:rPr lang="en-US" sz="1300" b="1" dirty="0">
                <a:solidFill>
                  <a:srgbClr val="F5F8FA"/>
                </a:solidFill>
                <a:latin typeface="Calibri" pitchFamily="34" charset="0"/>
                <a:ea typeface="Calibri" pitchFamily="34" charset="-122"/>
                <a:cs typeface="Calibri" pitchFamily="34" charset="-120"/>
              </a:rPr>
              <a:t>Exploit Built</a:t>
            </a:r>
            <a:endParaRPr lang="en-US" sz="1300" dirty="0"/>
          </a:p>
        </p:txBody>
      </p:sp>
      <p:sp>
        <p:nvSpPr>
          <p:cNvPr id="17" name="Text 14"/>
          <p:cNvSpPr/>
          <p:nvPr/>
        </p:nvSpPr>
        <p:spPr>
          <a:xfrm>
            <a:off x="4520184" y="3227832"/>
            <a:ext cx="3148584" cy="640080"/>
          </a:xfrm>
          <a:prstGeom prst="rect">
            <a:avLst/>
          </a:prstGeom>
          <a:noFill/>
          <a:ln/>
        </p:spPr>
        <p:txBody>
          <a:bodyPr wrap="square" lIns="0" tIns="0" rIns="0" bIns="0" rtlCol="0" anchor="ctr"/>
          <a:lstStyle/>
          <a:p>
            <a:pPr indent="0" marL="0">
              <a:buNone/>
            </a:pPr>
            <a:r>
              <a:rPr lang="en-US" sz="1000" dirty="0">
                <a:solidFill>
                  <a:srgbClr val="C3CDD6"/>
                </a:solidFill>
                <a:latin typeface="Calibri" pitchFamily="34" charset="0"/>
                <a:ea typeface="Calibri" pitchFamily="34" charset="-122"/>
                <a:cs typeface="Calibri" pitchFamily="34" charset="-120"/>
              </a:rPr>
              <a:t>Working exploit code is developed to abuse the flaw.</a:t>
            </a:r>
            <a:endParaRPr lang="en-US" sz="1000" dirty="0"/>
          </a:p>
        </p:txBody>
      </p:sp>
      <p:sp>
        <p:nvSpPr>
          <p:cNvPr id="18" name="Shape 15"/>
          <p:cNvSpPr/>
          <p:nvPr/>
        </p:nvSpPr>
        <p:spPr>
          <a:xfrm>
            <a:off x="8125968" y="2148840"/>
            <a:ext cx="3514344" cy="1783080"/>
          </a:xfrm>
          <a:prstGeom prst="roundRect">
            <a:avLst>
              <a:gd name="adj" fmla="val 4103"/>
            </a:avLst>
          </a:prstGeom>
          <a:solidFill>
            <a:srgbClr val="27333F"/>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19" name="Shape 16"/>
          <p:cNvSpPr/>
          <p:nvPr/>
        </p:nvSpPr>
        <p:spPr>
          <a:xfrm>
            <a:off x="8290560" y="2313432"/>
            <a:ext cx="457200" cy="457200"/>
          </a:xfrm>
          <a:prstGeom prst="ellipse">
            <a:avLst/>
          </a:prstGeom>
          <a:solidFill>
            <a:srgbClr val="0D1117"/>
          </a:solidFill>
          <a:ln w="19050">
            <a:solidFill>
              <a:srgbClr val="22E2FF"/>
            </a:solidFill>
            <a:prstDash val="solid"/>
          </a:ln>
        </p:spPr>
      </p:sp>
      <p:sp>
        <p:nvSpPr>
          <p:cNvPr id="20" name="Text 17"/>
          <p:cNvSpPr/>
          <p:nvPr/>
        </p:nvSpPr>
        <p:spPr>
          <a:xfrm>
            <a:off x="8290560" y="2313432"/>
            <a:ext cx="457200" cy="457200"/>
          </a:xfrm>
          <a:prstGeom prst="rect">
            <a:avLst/>
          </a:prstGeom>
          <a:noFill/>
          <a:ln/>
        </p:spPr>
        <p:txBody>
          <a:bodyPr wrap="square" lIns="0" tIns="0" rIns="0" bIns="0" rtlCol="0" anchor="ctr"/>
          <a:lstStyle/>
          <a:p>
            <a:pPr algn="ctr" indent="0" marL="0">
              <a:buNone/>
            </a:pPr>
            <a:r>
              <a:rPr lang="en-US" sz="1600" b="1" dirty="0">
                <a:solidFill>
                  <a:srgbClr val="22E2FF"/>
                </a:solidFill>
                <a:latin typeface="Cambria" pitchFamily="34" charset="0"/>
                <a:ea typeface="Cambria" pitchFamily="34" charset="-122"/>
                <a:cs typeface="Cambria" pitchFamily="34" charset="-120"/>
              </a:rPr>
              <a:t>3</a:t>
            </a:r>
            <a:endParaRPr lang="en-US" sz="1600" dirty="0"/>
          </a:p>
        </p:txBody>
      </p:sp>
      <p:sp>
        <p:nvSpPr>
          <p:cNvPr id="21" name="Text 18"/>
          <p:cNvSpPr/>
          <p:nvPr/>
        </p:nvSpPr>
        <p:spPr>
          <a:xfrm>
            <a:off x="8308848" y="2862072"/>
            <a:ext cx="3148584" cy="384048"/>
          </a:xfrm>
          <a:prstGeom prst="rect">
            <a:avLst/>
          </a:prstGeom>
          <a:noFill/>
          <a:ln/>
        </p:spPr>
        <p:txBody>
          <a:bodyPr wrap="square" lIns="0" tIns="0" rIns="0" bIns="0" rtlCol="0" anchor="ctr"/>
          <a:lstStyle/>
          <a:p>
            <a:pPr indent="0" marL="0">
              <a:buNone/>
            </a:pPr>
            <a:r>
              <a:rPr lang="en-US" sz="1300" b="1" dirty="0">
                <a:solidFill>
                  <a:srgbClr val="F5F8FA"/>
                </a:solidFill>
                <a:latin typeface="Calibri" pitchFamily="34" charset="0"/>
                <a:ea typeface="Calibri" pitchFamily="34" charset="-122"/>
                <a:cs typeface="Calibri" pitchFamily="34" charset="-120"/>
              </a:rPr>
              <a:t>Deployed in the Wild</a:t>
            </a:r>
            <a:endParaRPr lang="en-US" sz="1300" dirty="0"/>
          </a:p>
        </p:txBody>
      </p:sp>
      <p:sp>
        <p:nvSpPr>
          <p:cNvPr id="22" name="Text 19"/>
          <p:cNvSpPr/>
          <p:nvPr/>
        </p:nvSpPr>
        <p:spPr>
          <a:xfrm>
            <a:off x="8308848" y="3227832"/>
            <a:ext cx="3148584" cy="640080"/>
          </a:xfrm>
          <a:prstGeom prst="rect">
            <a:avLst/>
          </a:prstGeom>
          <a:noFill/>
          <a:ln/>
        </p:spPr>
        <p:txBody>
          <a:bodyPr wrap="square" lIns="0" tIns="0" rIns="0" bIns="0" rtlCol="0" anchor="ctr"/>
          <a:lstStyle/>
          <a:p>
            <a:pPr indent="0" marL="0">
              <a:buNone/>
            </a:pPr>
            <a:r>
              <a:rPr lang="en-US" sz="1000" dirty="0">
                <a:solidFill>
                  <a:srgbClr val="C3CDD6"/>
                </a:solidFill>
                <a:latin typeface="Calibri" pitchFamily="34" charset="0"/>
                <a:ea typeface="Calibri" pitchFamily="34" charset="-122"/>
                <a:cs typeface="Calibri" pitchFamily="34" charset="-120"/>
              </a:rPr>
              <a:t>The exploit is used against real targets with no patch available.</a:t>
            </a:r>
            <a:endParaRPr lang="en-US" sz="1000" dirty="0"/>
          </a:p>
        </p:txBody>
      </p:sp>
      <p:sp>
        <p:nvSpPr>
          <p:cNvPr id="23" name="Shape 20"/>
          <p:cNvSpPr/>
          <p:nvPr/>
        </p:nvSpPr>
        <p:spPr>
          <a:xfrm>
            <a:off x="8125968" y="4434840"/>
            <a:ext cx="3514344" cy="1783080"/>
          </a:xfrm>
          <a:prstGeom prst="roundRect">
            <a:avLst>
              <a:gd name="adj" fmla="val 4103"/>
            </a:avLst>
          </a:prstGeom>
          <a:solidFill>
            <a:srgbClr val="27333F"/>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24" name="Shape 21"/>
          <p:cNvSpPr/>
          <p:nvPr/>
        </p:nvSpPr>
        <p:spPr>
          <a:xfrm>
            <a:off x="8290560" y="4599432"/>
            <a:ext cx="457200" cy="457200"/>
          </a:xfrm>
          <a:prstGeom prst="ellipse">
            <a:avLst/>
          </a:prstGeom>
          <a:solidFill>
            <a:srgbClr val="0D1117"/>
          </a:solidFill>
          <a:ln w="19050">
            <a:solidFill>
              <a:srgbClr val="22E2FF"/>
            </a:solidFill>
            <a:prstDash val="solid"/>
          </a:ln>
        </p:spPr>
      </p:sp>
      <p:sp>
        <p:nvSpPr>
          <p:cNvPr id="25" name="Text 22"/>
          <p:cNvSpPr/>
          <p:nvPr/>
        </p:nvSpPr>
        <p:spPr>
          <a:xfrm>
            <a:off x="8290560" y="4599432"/>
            <a:ext cx="457200" cy="457200"/>
          </a:xfrm>
          <a:prstGeom prst="rect">
            <a:avLst/>
          </a:prstGeom>
          <a:noFill/>
          <a:ln/>
        </p:spPr>
        <p:txBody>
          <a:bodyPr wrap="square" lIns="0" tIns="0" rIns="0" bIns="0" rtlCol="0" anchor="ctr"/>
          <a:lstStyle/>
          <a:p>
            <a:pPr algn="ctr" indent="0" marL="0">
              <a:buNone/>
            </a:pPr>
            <a:r>
              <a:rPr lang="en-US" sz="1600" b="1" dirty="0">
                <a:solidFill>
                  <a:srgbClr val="22E2FF"/>
                </a:solidFill>
                <a:latin typeface="Cambria" pitchFamily="34" charset="0"/>
                <a:ea typeface="Cambria" pitchFamily="34" charset="-122"/>
                <a:cs typeface="Cambria" pitchFamily="34" charset="-120"/>
              </a:rPr>
              <a:t>4</a:t>
            </a:r>
            <a:endParaRPr lang="en-US" sz="1600" dirty="0"/>
          </a:p>
        </p:txBody>
      </p:sp>
      <p:sp>
        <p:nvSpPr>
          <p:cNvPr id="26" name="Text 23"/>
          <p:cNvSpPr/>
          <p:nvPr/>
        </p:nvSpPr>
        <p:spPr>
          <a:xfrm>
            <a:off x="8308848" y="5148072"/>
            <a:ext cx="3148584" cy="384048"/>
          </a:xfrm>
          <a:prstGeom prst="rect">
            <a:avLst/>
          </a:prstGeom>
          <a:noFill/>
          <a:ln/>
        </p:spPr>
        <p:txBody>
          <a:bodyPr wrap="square" lIns="0" tIns="0" rIns="0" bIns="0" rtlCol="0" anchor="ctr"/>
          <a:lstStyle/>
          <a:p>
            <a:pPr indent="0" marL="0">
              <a:buNone/>
            </a:pPr>
            <a:r>
              <a:rPr lang="en-US" sz="1300" b="1" dirty="0">
                <a:solidFill>
                  <a:srgbClr val="F5F8FA"/>
                </a:solidFill>
                <a:latin typeface="Calibri" pitchFamily="34" charset="0"/>
                <a:ea typeface="Calibri" pitchFamily="34" charset="-122"/>
                <a:cs typeface="Calibri" pitchFamily="34" charset="-120"/>
              </a:rPr>
              <a:t>Silent Compromise</a:t>
            </a:r>
            <a:endParaRPr lang="en-US" sz="1300" dirty="0"/>
          </a:p>
        </p:txBody>
      </p:sp>
      <p:sp>
        <p:nvSpPr>
          <p:cNvPr id="27" name="Text 24"/>
          <p:cNvSpPr/>
          <p:nvPr/>
        </p:nvSpPr>
        <p:spPr>
          <a:xfrm>
            <a:off x="8308848" y="5513832"/>
            <a:ext cx="3148584" cy="640080"/>
          </a:xfrm>
          <a:prstGeom prst="rect">
            <a:avLst/>
          </a:prstGeom>
          <a:noFill/>
          <a:ln/>
        </p:spPr>
        <p:txBody>
          <a:bodyPr wrap="square" lIns="0" tIns="0" rIns="0" bIns="0" rtlCol="0" anchor="ctr"/>
          <a:lstStyle/>
          <a:p>
            <a:pPr indent="0" marL="0">
              <a:buNone/>
            </a:pPr>
            <a:r>
              <a:rPr lang="en-US" sz="1000" dirty="0">
                <a:solidFill>
                  <a:srgbClr val="C3CDD6"/>
                </a:solidFill>
                <a:latin typeface="Calibri" pitchFamily="34" charset="0"/>
                <a:ea typeface="Calibri" pitchFamily="34" charset="-122"/>
                <a:cs typeface="Calibri" pitchFamily="34" charset="-120"/>
              </a:rPr>
              <a:t>Systems are breached, often without immediate detection.</a:t>
            </a:r>
            <a:endParaRPr lang="en-US" sz="1000" dirty="0"/>
          </a:p>
        </p:txBody>
      </p:sp>
      <p:sp>
        <p:nvSpPr>
          <p:cNvPr id="28" name="Shape 25"/>
          <p:cNvSpPr/>
          <p:nvPr/>
        </p:nvSpPr>
        <p:spPr>
          <a:xfrm>
            <a:off x="4337304" y="4434840"/>
            <a:ext cx="3514344" cy="1783080"/>
          </a:xfrm>
          <a:prstGeom prst="roundRect">
            <a:avLst>
              <a:gd name="adj" fmla="val 4103"/>
            </a:avLst>
          </a:prstGeom>
          <a:solidFill>
            <a:srgbClr val="27333F"/>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29" name="Shape 26"/>
          <p:cNvSpPr/>
          <p:nvPr/>
        </p:nvSpPr>
        <p:spPr>
          <a:xfrm>
            <a:off x="4501896" y="4599432"/>
            <a:ext cx="457200" cy="457200"/>
          </a:xfrm>
          <a:prstGeom prst="ellipse">
            <a:avLst/>
          </a:prstGeom>
          <a:solidFill>
            <a:srgbClr val="0D1117"/>
          </a:solidFill>
          <a:ln w="19050">
            <a:solidFill>
              <a:srgbClr val="22E2FF"/>
            </a:solidFill>
            <a:prstDash val="solid"/>
          </a:ln>
        </p:spPr>
      </p:sp>
      <p:sp>
        <p:nvSpPr>
          <p:cNvPr id="30" name="Text 27"/>
          <p:cNvSpPr/>
          <p:nvPr/>
        </p:nvSpPr>
        <p:spPr>
          <a:xfrm>
            <a:off x="4501896" y="4599432"/>
            <a:ext cx="457200" cy="457200"/>
          </a:xfrm>
          <a:prstGeom prst="rect">
            <a:avLst/>
          </a:prstGeom>
          <a:noFill/>
          <a:ln/>
        </p:spPr>
        <p:txBody>
          <a:bodyPr wrap="square" lIns="0" tIns="0" rIns="0" bIns="0" rtlCol="0" anchor="ctr"/>
          <a:lstStyle/>
          <a:p>
            <a:pPr algn="ctr" indent="0" marL="0">
              <a:buNone/>
            </a:pPr>
            <a:r>
              <a:rPr lang="en-US" sz="1600" b="1" dirty="0">
                <a:solidFill>
                  <a:srgbClr val="22E2FF"/>
                </a:solidFill>
                <a:latin typeface="Cambria" pitchFamily="34" charset="0"/>
                <a:ea typeface="Cambria" pitchFamily="34" charset="-122"/>
                <a:cs typeface="Cambria" pitchFamily="34" charset="-120"/>
              </a:rPr>
              <a:t>5</a:t>
            </a:r>
            <a:endParaRPr lang="en-US" sz="1600" dirty="0"/>
          </a:p>
        </p:txBody>
      </p:sp>
      <p:sp>
        <p:nvSpPr>
          <p:cNvPr id="31" name="Text 28"/>
          <p:cNvSpPr/>
          <p:nvPr/>
        </p:nvSpPr>
        <p:spPr>
          <a:xfrm>
            <a:off x="4520184" y="5148072"/>
            <a:ext cx="3148584" cy="384048"/>
          </a:xfrm>
          <a:prstGeom prst="rect">
            <a:avLst/>
          </a:prstGeom>
          <a:noFill/>
          <a:ln/>
        </p:spPr>
        <p:txBody>
          <a:bodyPr wrap="square" lIns="0" tIns="0" rIns="0" bIns="0" rtlCol="0" anchor="ctr"/>
          <a:lstStyle/>
          <a:p>
            <a:pPr indent="0" marL="0">
              <a:buNone/>
            </a:pPr>
            <a:r>
              <a:rPr lang="en-US" sz="1300" b="1" dirty="0">
                <a:solidFill>
                  <a:srgbClr val="F5F8FA"/>
                </a:solidFill>
                <a:latin typeface="Calibri" pitchFamily="34" charset="0"/>
                <a:ea typeface="Calibri" pitchFamily="34" charset="-122"/>
                <a:cs typeface="Calibri" pitchFamily="34" charset="-120"/>
              </a:rPr>
              <a:t>Disclosure</a:t>
            </a:r>
            <a:endParaRPr lang="en-US" sz="1300" dirty="0"/>
          </a:p>
        </p:txBody>
      </p:sp>
      <p:sp>
        <p:nvSpPr>
          <p:cNvPr id="32" name="Text 29"/>
          <p:cNvSpPr/>
          <p:nvPr/>
        </p:nvSpPr>
        <p:spPr>
          <a:xfrm>
            <a:off x="4520184" y="5513832"/>
            <a:ext cx="3148584" cy="640080"/>
          </a:xfrm>
          <a:prstGeom prst="rect">
            <a:avLst/>
          </a:prstGeom>
          <a:noFill/>
          <a:ln/>
        </p:spPr>
        <p:txBody>
          <a:bodyPr wrap="square" lIns="0" tIns="0" rIns="0" bIns="0" rtlCol="0" anchor="ctr"/>
          <a:lstStyle/>
          <a:p>
            <a:pPr indent="0" marL="0">
              <a:buNone/>
            </a:pPr>
            <a:r>
              <a:rPr lang="en-US" sz="1000" dirty="0">
                <a:solidFill>
                  <a:srgbClr val="C3CDD6"/>
                </a:solidFill>
                <a:latin typeface="Calibri" pitchFamily="34" charset="0"/>
                <a:ea typeface="Calibri" pitchFamily="34" charset="-122"/>
                <a:cs typeface="Calibri" pitchFamily="34" charset="-120"/>
              </a:rPr>
              <a:t>The vendor or researchers become aware, via detection or reporting.</a:t>
            </a:r>
            <a:endParaRPr lang="en-US" sz="1000" dirty="0"/>
          </a:p>
        </p:txBody>
      </p:sp>
      <p:sp>
        <p:nvSpPr>
          <p:cNvPr id="33" name="Shape 30"/>
          <p:cNvSpPr/>
          <p:nvPr/>
        </p:nvSpPr>
        <p:spPr>
          <a:xfrm>
            <a:off x="548640" y="4434840"/>
            <a:ext cx="3514344" cy="1783080"/>
          </a:xfrm>
          <a:prstGeom prst="roundRect">
            <a:avLst>
              <a:gd name="adj" fmla="val 4103"/>
            </a:avLst>
          </a:prstGeom>
          <a:solidFill>
            <a:srgbClr val="27333F"/>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34" name="Shape 31"/>
          <p:cNvSpPr/>
          <p:nvPr/>
        </p:nvSpPr>
        <p:spPr>
          <a:xfrm>
            <a:off x="713232" y="4599432"/>
            <a:ext cx="457200" cy="457200"/>
          </a:xfrm>
          <a:prstGeom prst="ellipse">
            <a:avLst/>
          </a:prstGeom>
          <a:solidFill>
            <a:srgbClr val="0D1117"/>
          </a:solidFill>
          <a:ln w="19050">
            <a:solidFill>
              <a:srgbClr val="22E2FF"/>
            </a:solidFill>
            <a:prstDash val="solid"/>
          </a:ln>
        </p:spPr>
      </p:sp>
      <p:sp>
        <p:nvSpPr>
          <p:cNvPr id="35" name="Text 32"/>
          <p:cNvSpPr/>
          <p:nvPr/>
        </p:nvSpPr>
        <p:spPr>
          <a:xfrm>
            <a:off x="713232" y="4599432"/>
            <a:ext cx="457200" cy="457200"/>
          </a:xfrm>
          <a:prstGeom prst="rect">
            <a:avLst/>
          </a:prstGeom>
          <a:noFill/>
          <a:ln/>
        </p:spPr>
        <p:txBody>
          <a:bodyPr wrap="square" lIns="0" tIns="0" rIns="0" bIns="0" rtlCol="0" anchor="ctr"/>
          <a:lstStyle/>
          <a:p>
            <a:pPr algn="ctr" indent="0" marL="0">
              <a:buNone/>
            </a:pPr>
            <a:r>
              <a:rPr lang="en-US" sz="1600" b="1" dirty="0">
                <a:solidFill>
                  <a:srgbClr val="22E2FF"/>
                </a:solidFill>
                <a:latin typeface="Cambria" pitchFamily="34" charset="0"/>
                <a:ea typeface="Cambria" pitchFamily="34" charset="-122"/>
                <a:cs typeface="Cambria" pitchFamily="34" charset="-120"/>
              </a:rPr>
              <a:t>6</a:t>
            </a:r>
            <a:endParaRPr lang="en-US" sz="1600" dirty="0"/>
          </a:p>
        </p:txBody>
      </p:sp>
      <p:sp>
        <p:nvSpPr>
          <p:cNvPr id="36" name="Text 33"/>
          <p:cNvSpPr/>
          <p:nvPr/>
        </p:nvSpPr>
        <p:spPr>
          <a:xfrm>
            <a:off x="731520" y="5148072"/>
            <a:ext cx="3148584" cy="384048"/>
          </a:xfrm>
          <a:prstGeom prst="rect">
            <a:avLst/>
          </a:prstGeom>
          <a:noFill/>
          <a:ln/>
        </p:spPr>
        <p:txBody>
          <a:bodyPr wrap="square" lIns="0" tIns="0" rIns="0" bIns="0" rtlCol="0" anchor="ctr"/>
          <a:lstStyle/>
          <a:p>
            <a:pPr indent="0" marL="0">
              <a:buNone/>
            </a:pPr>
            <a:r>
              <a:rPr lang="en-US" sz="1300" b="1" dirty="0">
                <a:solidFill>
                  <a:srgbClr val="F5F8FA"/>
                </a:solidFill>
                <a:latin typeface="Calibri" pitchFamily="34" charset="0"/>
                <a:ea typeface="Calibri" pitchFamily="34" charset="-122"/>
                <a:cs typeface="Calibri" pitchFamily="34" charset="-120"/>
              </a:rPr>
              <a:t>Patch Race</a:t>
            </a:r>
            <a:endParaRPr lang="en-US" sz="1300" dirty="0"/>
          </a:p>
        </p:txBody>
      </p:sp>
      <p:sp>
        <p:nvSpPr>
          <p:cNvPr id="37" name="Text 34"/>
          <p:cNvSpPr/>
          <p:nvPr/>
        </p:nvSpPr>
        <p:spPr>
          <a:xfrm>
            <a:off x="731520" y="5513832"/>
            <a:ext cx="3148584" cy="640080"/>
          </a:xfrm>
          <a:prstGeom prst="rect">
            <a:avLst/>
          </a:prstGeom>
          <a:noFill/>
          <a:ln/>
        </p:spPr>
        <p:txBody>
          <a:bodyPr wrap="square" lIns="0" tIns="0" rIns="0" bIns="0" rtlCol="0" anchor="ctr"/>
          <a:lstStyle/>
          <a:p>
            <a:pPr indent="0" marL="0">
              <a:buNone/>
            </a:pPr>
            <a:r>
              <a:rPr lang="en-US" sz="1000" dirty="0">
                <a:solidFill>
                  <a:srgbClr val="C3CDD6"/>
                </a:solidFill>
                <a:latin typeface="Calibri" pitchFamily="34" charset="0"/>
                <a:ea typeface="Calibri" pitchFamily="34" charset="-122"/>
                <a:cs typeface="Calibri" pitchFamily="34" charset="-120"/>
              </a:rPr>
              <a:t>A fix is rushed out while attackers race to exploit more targets first.</a:t>
            </a:r>
            <a:endParaRPr lang="en-US" sz="1000" dirty="0"/>
          </a:p>
        </p:txBody>
      </p:sp>
      <p:sp>
        <p:nvSpPr>
          <p:cNvPr id="38" name="Shape 35"/>
          <p:cNvSpPr/>
          <p:nvPr/>
        </p:nvSpPr>
        <p:spPr>
          <a:xfrm>
            <a:off x="4081272" y="2958084"/>
            <a:ext cx="237744" cy="164592"/>
          </a:xfrm>
          <a:prstGeom prst="rightArrow">
            <a:avLst/>
          </a:prstGeom>
          <a:solidFill>
            <a:srgbClr val="22E2FF"/>
          </a:solidFill>
          <a:ln/>
        </p:spPr>
      </p:sp>
      <p:sp>
        <p:nvSpPr>
          <p:cNvPr id="39" name="Shape 36"/>
          <p:cNvSpPr/>
          <p:nvPr/>
        </p:nvSpPr>
        <p:spPr>
          <a:xfrm>
            <a:off x="7869936" y="2958084"/>
            <a:ext cx="237744" cy="164592"/>
          </a:xfrm>
          <a:prstGeom prst="rightArrow">
            <a:avLst/>
          </a:prstGeom>
          <a:solidFill>
            <a:srgbClr val="22E2FF"/>
          </a:solidFill>
          <a:ln/>
        </p:spPr>
      </p:sp>
      <p:sp>
        <p:nvSpPr>
          <p:cNvPr id="40" name="Shape 37"/>
          <p:cNvSpPr/>
          <p:nvPr/>
        </p:nvSpPr>
        <p:spPr>
          <a:xfrm>
            <a:off x="9800844" y="3959352"/>
            <a:ext cx="164592" cy="448056"/>
          </a:xfrm>
          <a:prstGeom prst="downArrow">
            <a:avLst/>
          </a:prstGeom>
          <a:solidFill>
            <a:srgbClr val="22E2FF"/>
          </a:solidFill>
          <a:ln/>
        </p:spPr>
      </p:sp>
      <p:sp>
        <p:nvSpPr>
          <p:cNvPr id="41" name="Shape 38"/>
          <p:cNvSpPr/>
          <p:nvPr/>
        </p:nvSpPr>
        <p:spPr>
          <a:xfrm>
            <a:off x="7869936" y="5244084"/>
            <a:ext cx="237744" cy="164592"/>
          </a:xfrm>
          <a:prstGeom prst="leftArrow">
            <a:avLst/>
          </a:prstGeom>
          <a:solidFill>
            <a:srgbClr val="22E2FF"/>
          </a:solidFill>
          <a:ln/>
        </p:spPr>
      </p:sp>
      <p:sp>
        <p:nvSpPr>
          <p:cNvPr id="42" name="Shape 39"/>
          <p:cNvSpPr/>
          <p:nvPr/>
        </p:nvSpPr>
        <p:spPr>
          <a:xfrm>
            <a:off x="4081272" y="5244084"/>
            <a:ext cx="237744" cy="164592"/>
          </a:xfrm>
          <a:prstGeom prst="leftArrow">
            <a:avLst/>
          </a:prstGeom>
          <a:solidFill>
            <a:srgbClr val="22E2FF"/>
          </a:solidFill>
          <a:ln/>
        </p:spPr>
      </p:sp>
      <p:sp>
        <p:nvSpPr>
          <p:cNvPr id="43" name="Text 40"/>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C3CDD6"/>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548640" y="347472"/>
            <a:ext cx="566928" cy="566928"/>
          </a:xfrm>
          <a:prstGeom prst="ellipse">
            <a:avLst/>
          </a:prstGeom>
          <a:solidFill>
            <a:srgbClr val="27333F"/>
          </a:solidFill>
          <a:ln w="19050">
            <a:solidFill>
              <a:srgbClr val="22E2FF"/>
            </a:solidFill>
            <a:prstDash val="solid"/>
          </a:ln>
        </p:spPr>
      </p:sp>
      <p:pic>
        <p:nvPicPr>
          <p:cNvPr id="3" name="Image 0" descr="/home/claude/cyberdeck/icons/zeroday_cyan.png">    </p:cNvPr>
          <p:cNvPicPr>
            <a:picLocks noChangeAspect="1"/>
          </p:cNvPicPr>
          <p:nvPr/>
        </p:nvPicPr>
        <p:blipFill>
          <a:blip r:embed="rId1"/>
          <a:stretch>
            <a:fillRect/>
          </a:stretch>
        </p:blipFill>
        <p:spPr>
          <a:xfrm>
            <a:off x="696041" y="494873"/>
            <a:ext cx="272125" cy="272125"/>
          </a:xfrm>
          <a:prstGeom prst="rect">
            <a:avLst/>
          </a:prstGeom>
        </p:spPr>
      </p:pic>
      <p:sp>
        <p:nvSpPr>
          <p:cNvPr id="4" name="Text 1"/>
          <p:cNvSpPr/>
          <p:nvPr/>
        </p:nvSpPr>
        <p:spPr>
          <a:xfrm>
            <a:off x="1234440" y="320040"/>
            <a:ext cx="7315200" cy="411480"/>
          </a:xfrm>
          <a:prstGeom prst="rect">
            <a:avLst/>
          </a:prstGeom>
          <a:noFill/>
          <a:ln/>
        </p:spPr>
        <p:txBody>
          <a:bodyPr wrap="square" rtlCol="0" anchor="ctr"/>
          <a:lstStyle/>
          <a:p>
            <a:pPr indent="0" marL="0">
              <a:buNone/>
            </a:pPr>
            <a:r>
              <a:rPr lang="en-US" sz="2600" b="1" dirty="0">
                <a:solidFill>
                  <a:srgbClr val="F5F8FA"/>
                </a:solidFill>
                <a:latin typeface="Cambria" pitchFamily="34" charset="0"/>
                <a:ea typeface="Cambria" pitchFamily="34" charset="-122"/>
                <a:cs typeface="Cambria" pitchFamily="34" charset="-120"/>
              </a:rPr>
              <a:t>Zero-Day Exploit</a:t>
            </a:r>
            <a:endParaRPr lang="en-US" sz="2600" dirty="0"/>
          </a:p>
        </p:txBody>
      </p:sp>
      <p:sp>
        <p:nvSpPr>
          <p:cNvPr id="5" name="Text 2"/>
          <p:cNvSpPr/>
          <p:nvPr/>
        </p:nvSpPr>
        <p:spPr>
          <a:xfrm>
            <a:off x="1234440" y="713232"/>
            <a:ext cx="7315200" cy="274320"/>
          </a:xfrm>
          <a:prstGeom prst="rect">
            <a:avLst/>
          </a:prstGeom>
          <a:noFill/>
          <a:ln/>
        </p:spPr>
        <p:txBody>
          <a:bodyPr wrap="square" rtlCol="0" anchor="ctr"/>
          <a:lstStyle/>
          <a:p>
            <a:pPr indent="0" marL="0">
              <a:buNone/>
            </a:pPr>
            <a:r>
              <a:rPr lang="en-US" sz="1150" b="1" spc="200" kern="0" dirty="0">
                <a:solidFill>
                  <a:srgbClr val="22E2FF"/>
                </a:solidFill>
                <a:latin typeface="Calibri" pitchFamily="34" charset="0"/>
                <a:ea typeface="Calibri" pitchFamily="34" charset="-122"/>
                <a:cs typeface="Calibri" pitchFamily="34" charset="-120"/>
              </a:rPr>
              <a:t>REAL-WORLD IMPACT &amp; DEFENSE</a:t>
            </a:r>
            <a:endParaRPr lang="en-US" sz="1150" dirty="0"/>
          </a:p>
        </p:txBody>
      </p:sp>
      <p:sp>
        <p:nvSpPr>
          <p:cNvPr id="6" name="Shape 3"/>
          <p:cNvSpPr/>
          <p:nvPr/>
        </p:nvSpPr>
        <p:spPr>
          <a:xfrm>
            <a:off x="548640" y="1234440"/>
            <a:ext cx="6035040" cy="1783080"/>
          </a:xfrm>
          <a:prstGeom prst="roundRect">
            <a:avLst>
              <a:gd name="adj" fmla="val 4103"/>
            </a:avLst>
          </a:prstGeom>
          <a:solidFill>
            <a:srgbClr val="1C2733"/>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7" name="Shape 4"/>
          <p:cNvSpPr/>
          <p:nvPr/>
        </p:nvSpPr>
        <p:spPr>
          <a:xfrm>
            <a:off x="777240" y="1435608"/>
            <a:ext cx="502920" cy="502920"/>
          </a:xfrm>
          <a:prstGeom prst="ellipse">
            <a:avLst/>
          </a:prstGeom>
          <a:solidFill>
            <a:srgbClr val="27333F"/>
          </a:solidFill>
          <a:ln w="19050">
            <a:solidFill>
              <a:srgbClr val="22E2FF"/>
            </a:solidFill>
            <a:prstDash val="solid"/>
          </a:ln>
        </p:spPr>
      </p:sp>
      <p:pic>
        <p:nvPicPr>
          <p:cNvPr id="8" name="Image 1" descr="/home/claude/cyberdeck/icons/building_cyan.png">    </p:cNvPr>
          <p:cNvPicPr>
            <a:picLocks noChangeAspect="1"/>
          </p:cNvPicPr>
          <p:nvPr/>
        </p:nvPicPr>
        <p:blipFill>
          <a:blip r:embed="rId2"/>
          <a:stretch>
            <a:fillRect/>
          </a:stretch>
        </p:blipFill>
        <p:spPr>
          <a:xfrm>
            <a:off x="907999" y="1566367"/>
            <a:ext cx="241402" cy="241402"/>
          </a:xfrm>
          <a:prstGeom prst="rect">
            <a:avLst/>
          </a:prstGeom>
        </p:spPr>
      </p:pic>
      <p:sp>
        <p:nvSpPr>
          <p:cNvPr id="9" name="Text 5"/>
          <p:cNvSpPr/>
          <p:nvPr/>
        </p:nvSpPr>
        <p:spPr>
          <a:xfrm>
            <a:off x="1417320" y="1490472"/>
            <a:ext cx="4937760" cy="365760"/>
          </a:xfrm>
          <a:prstGeom prst="rect">
            <a:avLst/>
          </a:prstGeom>
          <a:noFill/>
          <a:ln/>
        </p:spPr>
        <p:txBody>
          <a:bodyPr wrap="square" lIns="0" tIns="0" rIns="0" bIns="0" rtlCol="0" anchor="ctr"/>
          <a:lstStyle/>
          <a:p>
            <a:pPr indent="0" marL="0">
              <a:buNone/>
            </a:pPr>
            <a:r>
              <a:rPr lang="en-US" sz="1450" b="1" dirty="0">
                <a:solidFill>
                  <a:srgbClr val="F5F8FA"/>
                </a:solidFill>
                <a:latin typeface="Calibri" pitchFamily="34" charset="0"/>
                <a:ea typeface="Calibri" pitchFamily="34" charset="-122"/>
                <a:cs typeface="Calibri" pitchFamily="34" charset="-120"/>
              </a:rPr>
              <a:t>Real-World Example</a:t>
            </a:r>
            <a:endParaRPr lang="en-US" sz="1450" dirty="0"/>
          </a:p>
        </p:txBody>
      </p:sp>
      <p:sp>
        <p:nvSpPr>
          <p:cNvPr id="10" name="Text 6"/>
          <p:cNvSpPr/>
          <p:nvPr/>
        </p:nvSpPr>
        <p:spPr>
          <a:xfrm>
            <a:off x="777240" y="2057400"/>
            <a:ext cx="5577840" cy="822960"/>
          </a:xfrm>
          <a:prstGeom prst="rect">
            <a:avLst/>
          </a:prstGeom>
          <a:noFill/>
          <a:ln/>
        </p:spPr>
        <p:txBody>
          <a:bodyPr wrap="square" lIns="0" tIns="0" rIns="0" bIns="0" rtlCol="0" anchor="t"/>
          <a:lstStyle/>
          <a:p>
            <a:pPr indent="0" marL="0">
              <a:buNone/>
            </a:pPr>
            <a:r>
              <a:rPr lang="en-US" sz="1100" dirty="0">
                <a:solidFill>
                  <a:srgbClr val="C3CDD6"/>
                </a:solidFill>
                <a:latin typeface="Calibri" pitchFamily="34" charset="0"/>
                <a:ea typeface="Calibri" pitchFamily="34" charset="-122"/>
                <a:cs typeface="Calibri" pitchFamily="34" charset="-120"/>
              </a:rPr>
              <a:t>The December 2021 Log4Shell vulnerability in the widely used Log4j logging library allowed remote code execution with a single crafted string, affecting millions of servers worldwide before organizations could patch.</a:t>
            </a:r>
            <a:endParaRPr lang="en-US" sz="1100" dirty="0"/>
          </a:p>
        </p:txBody>
      </p:sp>
      <p:sp>
        <p:nvSpPr>
          <p:cNvPr id="11" name="Shape 7"/>
          <p:cNvSpPr/>
          <p:nvPr/>
        </p:nvSpPr>
        <p:spPr>
          <a:xfrm>
            <a:off x="6858000" y="1234440"/>
            <a:ext cx="4782312" cy="1783080"/>
          </a:xfrm>
          <a:prstGeom prst="roundRect">
            <a:avLst>
              <a:gd name="adj" fmla="val 4103"/>
            </a:avLst>
          </a:prstGeom>
          <a:solidFill>
            <a:srgbClr val="1C2733"/>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12" name="Shape 8"/>
          <p:cNvSpPr/>
          <p:nvPr/>
        </p:nvSpPr>
        <p:spPr>
          <a:xfrm>
            <a:off x="7086600" y="1435608"/>
            <a:ext cx="502920" cy="502920"/>
          </a:xfrm>
          <a:prstGeom prst="ellipse">
            <a:avLst/>
          </a:prstGeom>
          <a:solidFill>
            <a:srgbClr val="27333F"/>
          </a:solidFill>
          <a:ln w="19050">
            <a:solidFill>
              <a:srgbClr val="FF5C51"/>
            </a:solidFill>
            <a:prstDash val="solid"/>
          </a:ln>
        </p:spPr>
      </p:sp>
      <p:pic>
        <p:nvPicPr>
          <p:cNvPr id="13" name="Image 2" descr="/home/claude/cyberdeck/icons/warning_red.png">    </p:cNvPr>
          <p:cNvPicPr>
            <a:picLocks noChangeAspect="1"/>
          </p:cNvPicPr>
          <p:nvPr/>
        </p:nvPicPr>
        <p:blipFill>
          <a:blip r:embed="rId3"/>
          <a:stretch>
            <a:fillRect/>
          </a:stretch>
        </p:blipFill>
        <p:spPr>
          <a:xfrm>
            <a:off x="7217359" y="1566367"/>
            <a:ext cx="241402" cy="241402"/>
          </a:xfrm>
          <a:prstGeom prst="rect">
            <a:avLst/>
          </a:prstGeom>
        </p:spPr>
      </p:pic>
      <p:sp>
        <p:nvSpPr>
          <p:cNvPr id="14" name="Text 9"/>
          <p:cNvSpPr/>
          <p:nvPr/>
        </p:nvSpPr>
        <p:spPr>
          <a:xfrm>
            <a:off x="7726680" y="1490472"/>
            <a:ext cx="3685032" cy="365760"/>
          </a:xfrm>
          <a:prstGeom prst="rect">
            <a:avLst/>
          </a:prstGeom>
          <a:noFill/>
          <a:ln/>
        </p:spPr>
        <p:txBody>
          <a:bodyPr wrap="square" lIns="0" tIns="0" rIns="0" bIns="0" rtlCol="0" anchor="ctr"/>
          <a:lstStyle/>
          <a:p>
            <a:pPr indent="0" marL="0">
              <a:buNone/>
            </a:pPr>
            <a:r>
              <a:rPr lang="en-US" sz="1450" b="1" dirty="0">
                <a:solidFill>
                  <a:srgbClr val="F5F8FA"/>
                </a:solidFill>
                <a:latin typeface="Calibri" pitchFamily="34" charset="0"/>
                <a:ea typeface="Calibri" pitchFamily="34" charset="-122"/>
                <a:cs typeface="Calibri" pitchFamily="34" charset="-120"/>
              </a:rPr>
              <a:t>Impact</a:t>
            </a:r>
            <a:endParaRPr lang="en-US" sz="1450" dirty="0"/>
          </a:p>
        </p:txBody>
      </p:sp>
      <p:sp>
        <p:nvSpPr>
          <p:cNvPr id="15" name="Text 10"/>
          <p:cNvSpPr/>
          <p:nvPr/>
        </p:nvSpPr>
        <p:spPr>
          <a:xfrm>
            <a:off x="7086600" y="2057400"/>
            <a:ext cx="4325112" cy="822960"/>
          </a:xfrm>
          <a:prstGeom prst="rect">
            <a:avLst/>
          </a:prstGeom>
          <a:noFill/>
          <a:ln/>
        </p:spPr>
        <p:txBody>
          <a:bodyPr wrap="square" lIns="0" tIns="0" rIns="0" bIns="0" rtlCol="0" anchor="t"/>
          <a:lstStyle/>
          <a:p>
            <a:pPr marL="177800" indent="-177800">
              <a:spcAft>
                <a:spcPts val="400"/>
              </a:spcAft>
              <a:buSzPct val="100000"/>
              <a:buChar char="▪"/>
            </a:pPr>
            <a:r>
              <a:rPr lang="en-US" sz="1050" dirty="0">
                <a:solidFill>
                  <a:srgbClr val="F5F8FA"/>
                </a:solidFill>
                <a:latin typeface="Calibri" pitchFamily="34" charset="0"/>
                <a:ea typeface="Calibri" pitchFamily="34" charset="-122"/>
                <a:cs typeface="Calibri" pitchFamily="34" charset="-120"/>
              </a:rPr>
              <a:t>Remote code execution on unpatched systems</a:t>
            </a:r>
            <a:endParaRPr lang="en-US" sz="1050" dirty="0"/>
          </a:p>
          <a:p>
            <a:pPr marL="177800" indent="-177800">
              <a:spcAft>
                <a:spcPts val="400"/>
              </a:spcAft>
              <a:buSzPct val="100000"/>
              <a:buChar char="▪"/>
            </a:pPr>
            <a:r>
              <a:rPr lang="en-US" sz="1050" dirty="0">
                <a:solidFill>
                  <a:srgbClr val="F5F8FA"/>
                </a:solidFill>
                <a:latin typeface="Calibri" pitchFamily="34" charset="0"/>
                <a:ea typeface="Calibri" pitchFamily="34" charset="-122"/>
                <a:cs typeface="Calibri" pitchFamily="34" charset="-120"/>
              </a:rPr>
              <a:t>Widespread, fast-moving exploitation windows</a:t>
            </a:r>
            <a:endParaRPr lang="en-US" sz="1050" dirty="0"/>
          </a:p>
          <a:p>
            <a:pPr marL="177800" indent="-177800">
              <a:spcAft>
                <a:spcPts val="400"/>
              </a:spcAft>
              <a:buSzPct val="100000"/>
              <a:buChar char="▪"/>
            </a:pPr>
            <a:r>
              <a:rPr lang="en-US" sz="1050" dirty="0">
                <a:solidFill>
                  <a:srgbClr val="F5F8FA"/>
                </a:solidFill>
                <a:latin typeface="Calibri" pitchFamily="34" charset="0"/>
                <a:ea typeface="Calibri" pitchFamily="34" charset="-122"/>
                <a:cs typeface="Calibri" pitchFamily="34" charset="-120"/>
              </a:rPr>
              <a:t>High remediation cost across many dependencies</a:t>
            </a:r>
            <a:endParaRPr lang="en-US" sz="1050" dirty="0"/>
          </a:p>
          <a:p>
            <a:pPr marL="177800" indent="-177800">
              <a:spcAft>
                <a:spcPts val="400"/>
              </a:spcAft>
              <a:buSzPct val="100000"/>
              <a:buChar char="▪"/>
            </a:pPr>
            <a:r>
              <a:rPr lang="en-US" sz="1050" dirty="0">
                <a:solidFill>
                  <a:srgbClr val="F5F8FA"/>
                </a:solidFill>
                <a:latin typeface="Calibri" pitchFamily="34" charset="0"/>
                <a:ea typeface="Calibri" pitchFamily="34" charset="-122"/>
                <a:cs typeface="Calibri" pitchFamily="34" charset="-120"/>
              </a:rPr>
              <a:t>Supply-chain-wide exposure via shared libraries</a:t>
            </a:r>
            <a:endParaRPr lang="en-US" sz="1050" dirty="0"/>
          </a:p>
        </p:txBody>
      </p:sp>
      <p:sp>
        <p:nvSpPr>
          <p:cNvPr id="16" name="Shape 11"/>
          <p:cNvSpPr/>
          <p:nvPr/>
        </p:nvSpPr>
        <p:spPr>
          <a:xfrm>
            <a:off x="548640" y="3246120"/>
            <a:ext cx="6035040" cy="1783080"/>
          </a:xfrm>
          <a:prstGeom prst="roundRect">
            <a:avLst>
              <a:gd name="adj" fmla="val 4103"/>
            </a:avLst>
          </a:prstGeom>
          <a:solidFill>
            <a:srgbClr val="1C2733"/>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17" name="Shape 12"/>
          <p:cNvSpPr/>
          <p:nvPr/>
        </p:nvSpPr>
        <p:spPr>
          <a:xfrm>
            <a:off x="777240" y="3447288"/>
            <a:ext cx="502920" cy="502920"/>
          </a:xfrm>
          <a:prstGeom prst="ellipse">
            <a:avLst/>
          </a:prstGeom>
          <a:solidFill>
            <a:srgbClr val="27333F"/>
          </a:solidFill>
          <a:ln w="19050">
            <a:solidFill>
              <a:srgbClr val="22E2FF"/>
            </a:solidFill>
            <a:prstDash val="solid"/>
          </a:ln>
        </p:spPr>
      </p:sp>
      <p:pic>
        <p:nvPicPr>
          <p:cNvPr id="18" name="Image 3" descr="/home/claude/cyberdeck/icons/shield_cyan.png">    </p:cNvPr>
          <p:cNvPicPr>
            <a:picLocks noChangeAspect="1"/>
          </p:cNvPicPr>
          <p:nvPr/>
        </p:nvPicPr>
        <p:blipFill>
          <a:blip r:embed="rId4"/>
          <a:stretch>
            <a:fillRect/>
          </a:stretch>
        </p:blipFill>
        <p:spPr>
          <a:xfrm>
            <a:off x="907999" y="3578047"/>
            <a:ext cx="241402" cy="241402"/>
          </a:xfrm>
          <a:prstGeom prst="rect">
            <a:avLst/>
          </a:prstGeom>
        </p:spPr>
      </p:pic>
      <p:sp>
        <p:nvSpPr>
          <p:cNvPr id="19" name="Text 13"/>
          <p:cNvSpPr/>
          <p:nvPr/>
        </p:nvSpPr>
        <p:spPr>
          <a:xfrm>
            <a:off x="1417320" y="3502152"/>
            <a:ext cx="4937760" cy="365760"/>
          </a:xfrm>
          <a:prstGeom prst="rect">
            <a:avLst/>
          </a:prstGeom>
          <a:noFill/>
          <a:ln/>
        </p:spPr>
        <p:txBody>
          <a:bodyPr wrap="square" lIns="0" tIns="0" rIns="0" bIns="0" rtlCol="0" anchor="ctr"/>
          <a:lstStyle/>
          <a:p>
            <a:pPr indent="0" marL="0">
              <a:buNone/>
            </a:pPr>
            <a:r>
              <a:rPr lang="en-US" sz="1450" b="1" dirty="0">
                <a:solidFill>
                  <a:srgbClr val="F5F8FA"/>
                </a:solidFill>
                <a:latin typeface="Calibri" pitchFamily="34" charset="0"/>
                <a:ea typeface="Calibri" pitchFamily="34" charset="-122"/>
                <a:cs typeface="Calibri" pitchFamily="34" charset="-120"/>
              </a:rPr>
              <a:t>Prevention &amp; Mitigation</a:t>
            </a:r>
            <a:endParaRPr lang="en-US" sz="1450" dirty="0"/>
          </a:p>
        </p:txBody>
      </p:sp>
      <p:sp>
        <p:nvSpPr>
          <p:cNvPr id="20" name="Text 14"/>
          <p:cNvSpPr/>
          <p:nvPr/>
        </p:nvSpPr>
        <p:spPr>
          <a:xfrm>
            <a:off x="777240" y="4069080"/>
            <a:ext cx="5577840" cy="822960"/>
          </a:xfrm>
          <a:prstGeom prst="rect">
            <a:avLst/>
          </a:prstGeom>
          <a:noFill/>
          <a:ln/>
        </p:spPr>
        <p:txBody>
          <a:bodyPr wrap="square" lIns="0" tIns="0" rIns="0" bIns="0" rtlCol="0" anchor="t"/>
          <a:lstStyle/>
          <a:p>
            <a:pPr marL="177800" indent="-177800">
              <a:spcAft>
                <a:spcPts val="400"/>
              </a:spcAft>
              <a:buSzPct val="100000"/>
              <a:buChar char="▪"/>
            </a:pPr>
            <a:r>
              <a:rPr lang="en-US" sz="1100" dirty="0">
                <a:solidFill>
                  <a:srgbClr val="F5F8FA"/>
                </a:solidFill>
                <a:latin typeface="Calibri" pitchFamily="34" charset="0"/>
                <a:ea typeface="Calibri" pitchFamily="34" charset="-122"/>
                <a:cs typeface="Calibri" pitchFamily="34" charset="-120"/>
              </a:rPr>
              <a:t>Maintain a rapid, tested patch-management process</a:t>
            </a:r>
            <a:endParaRPr lang="en-US" sz="1100" dirty="0"/>
          </a:p>
          <a:p>
            <a:pPr marL="177800" indent="-177800">
              <a:spcAft>
                <a:spcPts val="400"/>
              </a:spcAft>
              <a:buSzPct val="100000"/>
              <a:buChar char="▪"/>
            </a:pPr>
            <a:r>
              <a:rPr lang="en-US" sz="1100" dirty="0">
                <a:solidFill>
                  <a:srgbClr val="F5F8FA"/>
                </a:solidFill>
                <a:latin typeface="Calibri" pitchFamily="34" charset="0"/>
                <a:ea typeface="Calibri" pitchFamily="34" charset="-122"/>
                <a:cs typeface="Calibri" pitchFamily="34" charset="-120"/>
              </a:rPr>
              <a:t>Keep a software bill of materials (SBOM)</a:t>
            </a:r>
            <a:endParaRPr lang="en-US" sz="1100" dirty="0"/>
          </a:p>
          <a:p>
            <a:pPr marL="177800" indent="-177800">
              <a:spcAft>
                <a:spcPts val="400"/>
              </a:spcAft>
              <a:buSzPct val="100000"/>
              <a:buChar char="▪"/>
            </a:pPr>
            <a:r>
              <a:rPr lang="en-US" sz="1100" dirty="0">
                <a:solidFill>
                  <a:srgbClr val="F5F8FA"/>
                </a:solidFill>
                <a:latin typeface="Calibri" pitchFamily="34" charset="0"/>
                <a:ea typeface="Calibri" pitchFamily="34" charset="-122"/>
                <a:cs typeface="Calibri" pitchFamily="34" charset="-120"/>
              </a:rPr>
              <a:t>Apply network segmentation and least privilege</a:t>
            </a:r>
            <a:endParaRPr lang="en-US" sz="1100" dirty="0"/>
          </a:p>
          <a:p>
            <a:pPr marL="177800" indent="-177800">
              <a:spcAft>
                <a:spcPts val="400"/>
              </a:spcAft>
              <a:buSzPct val="100000"/>
              <a:buChar char="▪"/>
            </a:pPr>
            <a:r>
              <a:rPr lang="en-US" sz="1100" dirty="0">
                <a:solidFill>
                  <a:srgbClr val="F5F8FA"/>
                </a:solidFill>
                <a:latin typeface="Calibri" pitchFamily="34" charset="0"/>
                <a:ea typeface="Calibri" pitchFamily="34" charset="-122"/>
                <a:cs typeface="Calibri" pitchFamily="34" charset="-120"/>
              </a:rPr>
              <a:t>Use virtual patching / WAF rules as a stopgap</a:t>
            </a:r>
            <a:endParaRPr lang="en-US" sz="1100" dirty="0"/>
          </a:p>
        </p:txBody>
      </p:sp>
      <p:sp>
        <p:nvSpPr>
          <p:cNvPr id="21" name="Shape 15"/>
          <p:cNvSpPr/>
          <p:nvPr/>
        </p:nvSpPr>
        <p:spPr>
          <a:xfrm>
            <a:off x="6858000" y="3246120"/>
            <a:ext cx="4782312" cy="1783080"/>
          </a:xfrm>
          <a:prstGeom prst="roundRect">
            <a:avLst>
              <a:gd name="adj" fmla="val 4103"/>
            </a:avLst>
          </a:prstGeom>
          <a:solidFill>
            <a:srgbClr val="1C2733"/>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22" name="Shape 16"/>
          <p:cNvSpPr/>
          <p:nvPr/>
        </p:nvSpPr>
        <p:spPr>
          <a:xfrm>
            <a:off x="7086600" y="3447288"/>
            <a:ext cx="502920" cy="502920"/>
          </a:xfrm>
          <a:prstGeom prst="ellipse">
            <a:avLst/>
          </a:prstGeom>
          <a:solidFill>
            <a:srgbClr val="27333F"/>
          </a:solidFill>
          <a:ln w="19050">
            <a:solidFill>
              <a:srgbClr val="22E2FF"/>
            </a:solidFill>
            <a:prstDash val="solid"/>
          </a:ln>
        </p:spPr>
      </p:sp>
      <p:pic>
        <p:nvPicPr>
          <p:cNvPr id="23" name="Image 4" descr="/home/claude/cyberdeck/icons/search_cyan.png">    </p:cNvPr>
          <p:cNvPicPr>
            <a:picLocks noChangeAspect="1"/>
          </p:cNvPicPr>
          <p:nvPr/>
        </p:nvPicPr>
        <p:blipFill>
          <a:blip r:embed="rId5"/>
          <a:stretch>
            <a:fillRect/>
          </a:stretch>
        </p:blipFill>
        <p:spPr>
          <a:xfrm>
            <a:off x="7217359" y="3578047"/>
            <a:ext cx="241402" cy="241402"/>
          </a:xfrm>
          <a:prstGeom prst="rect">
            <a:avLst/>
          </a:prstGeom>
        </p:spPr>
      </p:pic>
      <p:sp>
        <p:nvSpPr>
          <p:cNvPr id="24" name="Text 17"/>
          <p:cNvSpPr/>
          <p:nvPr/>
        </p:nvSpPr>
        <p:spPr>
          <a:xfrm>
            <a:off x="7726680" y="3502152"/>
            <a:ext cx="3685032" cy="365760"/>
          </a:xfrm>
          <a:prstGeom prst="rect">
            <a:avLst/>
          </a:prstGeom>
          <a:noFill/>
          <a:ln/>
        </p:spPr>
        <p:txBody>
          <a:bodyPr wrap="square" lIns="0" tIns="0" rIns="0" bIns="0" rtlCol="0" anchor="ctr"/>
          <a:lstStyle/>
          <a:p>
            <a:pPr indent="0" marL="0">
              <a:buNone/>
            </a:pPr>
            <a:r>
              <a:rPr lang="en-US" sz="1450" b="1" dirty="0">
                <a:solidFill>
                  <a:srgbClr val="F5F8FA"/>
                </a:solidFill>
                <a:latin typeface="Calibri" pitchFamily="34" charset="0"/>
                <a:ea typeface="Calibri" pitchFamily="34" charset="-122"/>
                <a:cs typeface="Calibri" pitchFamily="34" charset="-120"/>
              </a:rPr>
              <a:t>Detection Methods</a:t>
            </a:r>
            <a:endParaRPr lang="en-US" sz="1450" dirty="0"/>
          </a:p>
        </p:txBody>
      </p:sp>
      <p:sp>
        <p:nvSpPr>
          <p:cNvPr id="25" name="Text 18"/>
          <p:cNvSpPr/>
          <p:nvPr/>
        </p:nvSpPr>
        <p:spPr>
          <a:xfrm>
            <a:off x="7086600" y="4069080"/>
            <a:ext cx="4325112" cy="822960"/>
          </a:xfrm>
          <a:prstGeom prst="rect">
            <a:avLst/>
          </a:prstGeom>
          <a:noFill/>
          <a:ln/>
        </p:spPr>
        <p:txBody>
          <a:bodyPr wrap="square" lIns="0" tIns="0" rIns="0" bIns="0" rtlCol="0" anchor="t"/>
          <a:lstStyle/>
          <a:p>
            <a:pPr marL="177800" indent="-177800">
              <a:spcAft>
                <a:spcPts val="400"/>
              </a:spcAft>
              <a:buSzPct val="100000"/>
              <a:buChar char="▪"/>
            </a:pPr>
            <a:r>
              <a:rPr lang="en-US" sz="1050" dirty="0">
                <a:solidFill>
                  <a:srgbClr val="F5F8FA"/>
                </a:solidFill>
                <a:latin typeface="Calibri" pitchFamily="34" charset="0"/>
                <a:ea typeface="Calibri" pitchFamily="34" charset="-122"/>
                <a:cs typeface="Calibri" pitchFamily="34" charset="-120"/>
              </a:rPr>
              <a:t>Behavioral EDR/XDR anomaly detection</a:t>
            </a:r>
            <a:endParaRPr lang="en-US" sz="1050" dirty="0"/>
          </a:p>
          <a:p>
            <a:pPr marL="177800" indent="-177800">
              <a:spcAft>
                <a:spcPts val="400"/>
              </a:spcAft>
              <a:buSzPct val="100000"/>
              <a:buChar char="▪"/>
            </a:pPr>
            <a:r>
              <a:rPr lang="en-US" sz="1050" dirty="0">
                <a:solidFill>
                  <a:srgbClr val="F5F8FA"/>
                </a:solidFill>
                <a:latin typeface="Calibri" pitchFamily="34" charset="0"/>
                <a:ea typeface="Calibri" pitchFamily="34" charset="-122"/>
                <a:cs typeface="Calibri" pitchFamily="34" charset="-120"/>
              </a:rPr>
              <a:t>Threat-intel feeds on emerging CVEs</a:t>
            </a:r>
            <a:endParaRPr lang="en-US" sz="1050" dirty="0"/>
          </a:p>
          <a:p>
            <a:pPr marL="177800" indent="-177800">
              <a:spcAft>
                <a:spcPts val="400"/>
              </a:spcAft>
              <a:buSzPct val="100000"/>
              <a:buChar char="▪"/>
            </a:pPr>
            <a:r>
              <a:rPr lang="en-US" sz="1050" dirty="0">
                <a:solidFill>
                  <a:srgbClr val="F5F8FA"/>
                </a:solidFill>
                <a:latin typeface="Calibri" pitchFamily="34" charset="0"/>
                <a:ea typeface="Calibri" pitchFamily="34" charset="-122"/>
                <a:cs typeface="Calibri" pitchFamily="34" charset="-120"/>
              </a:rPr>
              <a:t>Unusual outbound connections post-exploit</a:t>
            </a:r>
            <a:endParaRPr lang="en-US" sz="1050" dirty="0"/>
          </a:p>
          <a:p>
            <a:pPr marL="177800" indent="-177800">
              <a:spcAft>
                <a:spcPts val="400"/>
              </a:spcAft>
              <a:buSzPct val="100000"/>
              <a:buChar char="▪"/>
            </a:pPr>
            <a:r>
              <a:rPr lang="en-US" sz="1050" dirty="0">
                <a:solidFill>
                  <a:srgbClr val="F5F8FA"/>
                </a:solidFill>
                <a:latin typeface="Calibri" pitchFamily="34" charset="0"/>
                <a:ea typeface="Calibri" pitchFamily="34" charset="-122"/>
                <a:cs typeface="Calibri" pitchFamily="34" charset="-120"/>
              </a:rPr>
              <a:t>Honeypots and canary tokens for early warning</a:t>
            </a:r>
            <a:endParaRPr lang="en-US" sz="1050" dirty="0"/>
          </a:p>
        </p:txBody>
      </p:sp>
      <p:sp>
        <p:nvSpPr>
          <p:cNvPr id="26" name="Shape 19"/>
          <p:cNvSpPr/>
          <p:nvPr/>
        </p:nvSpPr>
        <p:spPr>
          <a:xfrm>
            <a:off x="548640" y="5257800"/>
            <a:ext cx="11091672" cy="658368"/>
          </a:xfrm>
          <a:prstGeom prst="roundRect">
            <a:avLst>
              <a:gd name="adj" fmla="val 8333"/>
            </a:avLst>
          </a:prstGeom>
          <a:solidFill>
            <a:srgbClr val="27333F"/>
          </a:solidFill>
          <a:ln w="12700">
            <a:solidFill>
              <a:srgbClr val="22E2FF"/>
            </a:solidFill>
            <a:prstDash val="solid"/>
          </a:ln>
        </p:spPr>
      </p:sp>
      <p:sp>
        <p:nvSpPr>
          <p:cNvPr id="27" name="Text 20"/>
          <p:cNvSpPr/>
          <p:nvPr/>
        </p:nvSpPr>
        <p:spPr>
          <a:xfrm>
            <a:off x="777240" y="5257800"/>
            <a:ext cx="1737360" cy="658368"/>
          </a:xfrm>
          <a:prstGeom prst="rect">
            <a:avLst/>
          </a:prstGeom>
          <a:noFill/>
          <a:ln/>
        </p:spPr>
        <p:txBody>
          <a:bodyPr wrap="square" lIns="0" tIns="0" rIns="0" bIns="0" rtlCol="0" anchor="ctr"/>
          <a:lstStyle/>
          <a:p>
            <a:pPr indent="0" marL="0">
              <a:buNone/>
            </a:pPr>
            <a:r>
              <a:rPr lang="en-US" sz="2200" b="1" dirty="0">
                <a:solidFill>
                  <a:srgbClr val="22E2FF"/>
                </a:solidFill>
                <a:latin typeface="Cambria" pitchFamily="34" charset="0"/>
                <a:ea typeface="Cambria" pitchFamily="34" charset="-122"/>
                <a:cs typeface="Cambria" pitchFamily="34" charset="-120"/>
              </a:rPr>
              <a:t>97 days</a:t>
            </a:r>
            <a:endParaRPr lang="en-US" sz="2200" dirty="0"/>
          </a:p>
        </p:txBody>
      </p:sp>
      <p:sp>
        <p:nvSpPr>
          <p:cNvPr id="28" name="Text 21"/>
          <p:cNvSpPr/>
          <p:nvPr/>
        </p:nvSpPr>
        <p:spPr>
          <a:xfrm>
            <a:off x="2606040" y="5257800"/>
            <a:ext cx="8778240" cy="658368"/>
          </a:xfrm>
          <a:prstGeom prst="rect">
            <a:avLst/>
          </a:prstGeom>
          <a:noFill/>
          <a:ln/>
        </p:spPr>
        <p:txBody>
          <a:bodyPr wrap="square" lIns="0" tIns="0" rIns="0" bIns="0" rtlCol="0" anchor="ctr"/>
          <a:lstStyle/>
          <a:p>
            <a:pPr indent="0" marL="0">
              <a:buNone/>
            </a:pPr>
            <a:r>
              <a:rPr lang="en-US" sz="1150" dirty="0">
                <a:solidFill>
                  <a:srgbClr val="F5F8FA"/>
                </a:solidFill>
                <a:latin typeface="Calibri" pitchFamily="34" charset="0"/>
                <a:ea typeface="Calibri" pitchFamily="34" charset="-122"/>
                <a:cs typeface="Calibri" pitchFamily="34" charset="-120"/>
              </a:rPr>
              <a:t>median time attackers exploited certain zero-days before public disclosure in recent tracking</a:t>
            </a:r>
            <a:endParaRPr lang="en-US" sz="1150" dirty="0"/>
          </a:p>
        </p:txBody>
      </p:sp>
      <p:sp>
        <p:nvSpPr>
          <p:cNvPr id="29" name="Text 22"/>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C3CDD6"/>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indent="0" marL="0">
              <a:buNone/>
            </a:pPr>
            <a:r>
              <a:rPr lang="en-US" sz="1300" b="1" spc="200" kern="0" dirty="0">
                <a:solidFill>
                  <a:srgbClr val="22E2FF"/>
                </a:solidFill>
                <a:latin typeface="Calibri" pitchFamily="34" charset="0"/>
                <a:ea typeface="Calibri" pitchFamily="34" charset="-122"/>
                <a:cs typeface="Calibri" pitchFamily="34" charset="-120"/>
              </a:rPr>
              <a:t>CROSS-CUTTING STRATEGY</a:t>
            </a:r>
            <a:endParaRPr lang="en-US" sz="1300" dirty="0"/>
          </a:p>
        </p:txBody>
      </p:sp>
      <p:sp>
        <p:nvSpPr>
          <p:cNvPr id="3" name="Text 1"/>
          <p:cNvSpPr/>
          <p:nvPr/>
        </p:nvSpPr>
        <p:spPr>
          <a:xfrm>
            <a:off x="548640" y="612648"/>
            <a:ext cx="10515600" cy="640080"/>
          </a:xfrm>
          <a:prstGeom prst="rect">
            <a:avLst/>
          </a:prstGeom>
          <a:noFill/>
          <a:ln/>
        </p:spPr>
        <p:txBody>
          <a:bodyPr wrap="square" rtlCol="0" anchor="ctr"/>
          <a:lstStyle/>
          <a:p>
            <a:pPr indent="0" marL="0">
              <a:buNone/>
            </a:pPr>
            <a:r>
              <a:rPr lang="en-US" sz="3000" b="1" dirty="0">
                <a:solidFill>
                  <a:srgbClr val="F5F8FA"/>
                </a:solidFill>
                <a:latin typeface="Cambria" pitchFamily="34" charset="0"/>
                <a:ea typeface="Cambria" pitchFamily="34" charset="-122"/>
                <a:cs typeface="Cambria" pitchFamily="34" charset="-120"/>
              </a:rPr>
              <a:t>Defense-in-Depth: A Layered Approach</a:t>
            </a:r>
            <a:endParaRPr lang="en-US" sz="3000" dirty="0"/>
          </a:p>
        </p:txBody>
      </p:sp>
      <p:sp>
        <p:nvSpPr>
          <p:cNvPr id="4" name="Text 2"/>
          <p:cNvSpPr/>
          <p:nvPr/>
        </p:nvSpPr>
        <p:spPr>
          <a:xfrm>
            <a:off x="548640" y="1234440"/>
            <a:ext cx="10789920" cy="457200"/>
          </a:xfrm>
          <a:prstGeom prst="rect">
            <a:avLst/>
          </a:prstGeom>
          <a:noFill/>
          <a:ln/>
        </p:spPr>
        <p:txBody>
          <a:bodyPr wrap="square" rtlCol="0" anchor="ctr"/>
          <a:lstStyle/>
          <a:p>
            <a:pPr indent="0" marL="0">
              <a:buNone/>
            </a:pPr>
            <a:r>
              <a:rPr lang="en-US" sz="1300" dirty="0">
                <a:solidFill>
                  <a:srgbClr val="C3CDD6"/>
                </a:solidFill>
                <a:latin typeface="Calibri" pitchFamily="34" charset="0"/>
                <a:ea typeface="Calibri" pitchFamily="34" charset="-122"/>
                <a:cs typeface="Calibri" pitchFamily="34" charset="-120"/>
              </a:rPr>
              <a:t>No single control stops every attack. Effective security stacks independent layers so one failure does not mean full compromise.</a:t>
            </a:r>
            <a:endParaRPr lang="en-US" sz="1300" dirty="0"/>
          </a:p>
        </p:txBody>
      </p:sp>
      <p:sp>
        <p:nvSpPr>
          <p:cNvPr id="5" name="Shape 3"/>
          <p:cNvSpPr/>
          <p:nvPr/>
        </p:nvSpPr>
        <p:spPr>
          <a:xfrm>
            <a:off x="548640" y="1920240"/>
            <a:ext cx="3544824" cy="1920240"/>
          </a:xfrm>
          <a:prstGeom prst="roundRect">
            <a:avLst>
              <a:gd name="adj" fmla="val 3810"/>
            </a:avLst>
          </a:prstGeom>
          <a:solidFill>
            <a:srgbClr val="27333F"/>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6" name="Shape 4"/>
          <p:cNvSpPr/>
          <p:nvPr/>
        </p:nvSpPr>
        <p:spPr>
          <a:xfrm>
            <a:off x="777240" y="2121408"/>
            <a:ext cx="502920" cy="502920"/>
          </a:xfrm>
          <a:prstGeom prst="ellipse">
            <a:avLst/>
          </a:prstGeom>
          <a:solidFill>
            <a:srgbClr val="27333F"/>
          </a:solidFill>
          <a:ln w="19050">
            <a:solidFill>
              <a:srgbClr val="22E2FF"/>
            </a:solidFill>
            <a:prstDash val="solid"/>
          </a:ln>
        </p:spPr>
      </p:sp>
      <p:pic>
        <p:nvPicPr>
          <p:cNvPr id="7" name="Image 0" descr="/home/claude/cyberdeck/icons/usershield_cyan.png">    </p:cNvPr>
          <p:cNvPicPr>
            <a:picLocks noChangeAspect="1"/>
          </p:cNvPicPr>
          <p:nvPr/>
        </p:nvPicPr>
        <p:blipFill>
          <a:blip r:embed="rId1"/>
          <a:stretch>
            <a:fillRect/>
          </a:stretch>
        </p:blipFill>
        <p:spPr>
          <a:xfrm>
            <a:off x="907999" y="2252167"/>
            <a:ext cx="241402" cy="241402"/>
          </a:xfrm>
          <a:prstGeom prst="rect">
            <a:avLst/>
          </a:prstGeom>
        </p:spPr>
      </p:pic>
      <p:sp>
        <p:nvSpPr>
          <p:cNvPr id="8" name="Text 5"/>
          <p:cNvSpPr/>
          <p:nvPr/>
        </p:nvSpPr>
        <p:spPr>
          <a:xfrm>
            <a:off x="777240" y="2743200"/>
            <a:ext cx="3087624" cy="365760"/>
          </a:xfrm>
          <a:prstGeom prst="rect">
            <a:avLst/>
          </a:prstGeom>
          <a:noFill/>
          <a:ln/>
        </p:spPr>
        <p:txBody>
          <a:bodyPr wrap="square" lIns="0" tIns="0" rIns="0" bIns="0" rtlCol="0" anchor="ctr"/>
          <a:lstStyle/>
          <a:p>
            <a:pPr indent="0" marL="0">
              <a:buNone/>
            </a:pPr>
            <a:r>
              <a:rPr lang="en-US" sz="1300" b="1" dirty="0">
                <a:solidFill>
                  <a:srgbClr val="F5F8FA"/>
                </a:solidFill>
                <a:latin typeface="Calibri" pitchFamily="34" charset="0"/>
                <a:ea typeface="Calibri" pitchFamily="34" charset="-122"/>
                <a:cs typeface="Calibri" pitchFamily="34" charset="-120"/>
              </a:rPr>
              <a:t>People &amp; Process</a:t>
            </a:r>
            <a:endParaRPr lang="en-US" sz="1300" dirty="0"/>
          </a:p>
        </p:txBody>
      </p:sp>
      <p:sp>
        <p:nvSpPr>
          <p:cNvPr id="9" name="Text 6"/>
          <p:cNvSpPr/>
          <p:nvPr/>
        </p:nvSpPr>
        <p:spPr>
          <a:xfrm>
            <a:off x="777240" y="3108960"/>
            <a:ext cx="3087624" cy="685800"/>
          </a:xfrm>
          <a:prstGeom prst="rect">
            <a:avLst/>
          </a:prstGeom>
          <a:noFill/>
          <a:ln/>
        </p:spPr>
        <p:txBody>
          <a:bodyPr wrap="square" lIns="0" tIns="0" rIns="0" bIns="0" rtlCol="0" anchor="ctr"/>
          <a:lstStyle/>
          <a:p>
            <a:pPr indent="0" marL="0">
              <a:buNone/>
            </a:pPr>
            <a:r>
              <a:rPr lang="en-US" sz="970" dirty="0">
                <a:solidFill>
                  <a:srgbClr val="C3CDD6"/>
                </a:solidFill>
                <a:latin typeface="Calibri" pitchFamily="34" charset="0"/>
                <a:ea typeface="Calibri" pitchFamily="34" charset="-122"/>
                <a:cs typeface="Calibri" pitchFamily="34" charset="-120"/>
              </a:rPr>
              <a:t>Security awareness training, phishing simulations, least-privilege access, and clear incident-response playbooks.</a:t>
            </a:r>
            <a:endParaRPr lang="en-US" sz="970" dirty="0"/>
          </a:p>
        </p:txBody>
      </p:sp>
      <p:sp>
        <p:nvSpPr>
          <p:cNvPr id="10" name="Shape 7"/>
          <p:cNvSpPr/>
          <p:nvPr/>
        </p:nvSpPr>
        <p:spPr>
          <a:xfrm>
            <a:off x="4413504" y="1920240"/>
            <a:ext cx="3544824" cy="1920240"/>
          </a:xfrm>
          <a:prstGeom prst="roundRect">
            <a:avLst>
              <a:gd name="adj" fmla="val 3810"/>
            </a:avLst>
          </a:prstGeom>
          <a:solidFill>
            <a:srgbClr val="27333F"/>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11" name="Shape 8"/>
          <p:cNvSpPr/>
          <p:nvPr/>
        </p:nvSpPr>
        <p:spPr>
          <a:xfrm>
            <a:off x="4642104" y="2121408"/>
            <a:ext cx="502920" cy="502920"/>
          </a:xfrm>
          <a:prstGeom prst="ellipse">
            <a:avLst/>
          </a:prstGeom>
          <a:solidFill>
            <a:srgbClr val="27333F"/>
          </a:solidFill>
          <a:ln w="19050">
            <a:solidFill>
              <a:srgbClr val="22E2FF"/>
            </a:solidFill>
            <a:prstDash val="solid"/>
          </a:ln>
        </p:spPr>
      </p:sp>
      <p:pic>
        <p:nvPicPr>
          <p:cNvPr id="12" name="Image 1" descr="/home/claude/cyberdeck/icons/key_cyan.png">    </p:cNvPr>
          <p:cNvPicPr>
            <a:picLocks noChangeAspect="1"/>
          </p:cNvPicPr>
          <p:nvPr/>
        </p:nvPicPr>
        <p:blipFill>
          <a:blip r:embed="rId2"/>
          <a:stretch>
            <a:fillRect/>
          </a:stretch>
        </p:blipFill>
        <p:spPr>
          <a:xfrm>
            <a:off x="4772863" y="2252167"/>
            <a:ext cx="241402" cy="241402"/>
          </a:xfrm>
          <a:prstGeom prst="rect">
            <a:avLst/>
          </a:prstGeom>
        </p:spPr>
      </p:pic>
      <p:sp>
        <p:nvSpPr>
          <p:cNvPr id="13" name="Text 9"/>
          <p:cNvSpPr/>
          <p:nvPr/>
        </p:nvSpPr>
        <p:spPr>
          <a:xfrm>
            <a:off x="4642104" y="2743200"/>
            <a:ext cx="3087624" cy="365760"/>
          </a:xfrm>
          <a:prstGeom prst="rect">
            <a:avLst/>
          </a:prstGeom>
          <a:noFill/>
          <a:ln/>
        </p:spPr>
        <p:txBody>
          <a:bodyPr wrap="square" lIns="0" tIns="0" rIns="0" bIns="0" rtlCol="0" anchor="ctr"/>
          <a:lstStyle/>
          <a:p>
            <a:pPr indent="0" marL="0">
              <a:buNone/>
            </a:pPr>
            <a:r>
              <a:rPr lang="en-US" sz="1300" b="1" dirty="0">
                <a:solidFill>
                  <a:srgbClr val="F5F8FA"/>
                </a:solidFill>
                <a:latin typeface="Calibri" pitchFamily="34" charset="0"/>
                <a:ea typeface="Calibri" pitchFamily="34" charset="-122"/>
                <a:cs typeface="Calibri" pitchFamily="34" charset="-120"/>
              </a:rPr>
              <a:t>Identity &amp; Access</a:t>
            </a:r>
            <a:endParaRPr lang="en-US" sz="1300" dirty="0"/>
          </a:p>
        </p:txBody>
      </p:sp>
      <p:sp>
        <p:nvSpPr>
          <p:cNvPr id="14" name="Text 10"/>
          <p:cNvSpPr/>
          <p:nvPr/>
        </p:nvSpPr>
        <p:spPr>
          <a:xfrm>
            <a:off x="4642104" y="3108960"/>
            <a:ext cx="3087624" cy="685800"/>
          </a:xfrm>
          <a:prstGeom prst="rect">
            <a:avLst/>
          </a:prstGeom>
          <a:noFill/>
          <a:ln/>
        </p:spPr>
        <p:txBody>
          <a:bodyPr wrap="square" lIns="0" tIns="0" rIns="0" bIns="0" rtlCol="0" anchor="ctr"/>
          <a:lstStyle/>
          <a:p>
            <a:pPr indent="0" marL="0">
              <a:buNone/>
            </a:pPr>
            <a:r>
              <a:rPr lang="en-US" sz="970" dirty="0">
                <a:solidFill>
                  <a:srgbClr val="C3CDD6"/>
                </a:solidFill>
                <a:latin typeface="Calibri" pitchFamily="34" charset="0"/>
                <a:ea typeface="Calibri" pitchFamily="34" charset="-122"/>
                <a:cs typeface="Calibri" pitchFamily="34" charset="-120"/>
              </a:rPr>
              <a:t>MFA everywhere, strong password policies, just-in-time privileged access, and regular access reviews.</a:t>
            </a:r>
            <a:endParaRPr lang="en-US" sz="970" dirty="0"/>
          </a:p>
        </p:txBody>
      </p:sp>
      <p:sp>
        <p:nvSpPr>
          <p:cNvPr id="15" name="Shape 11"/>
          <p:cNvSpPr/>
          <p:nvPr/>
        </p:nvSpPr>
        <p:spPr>
          <a:xfrm>
            <a:off x="8278368" y="1920240"/>
            <a:ext cx="3544824" cy="1920240"/>
          </a:xfrm>
          <a:prstGeom prst="roundRect">
            <a:avLst>
              <a:gd name="adj" fmla="val 3810"/>
            </a:avLst>
          </a:prstGeom>
          <a:solidFill>
            <a:srgbClr val="27333F"/>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16" name="Shape 12"/>
          <p:cNvSpPr/>
          <p:nvPr/>
        </p:nvSpPr>
        <p:spPr>
          <a:xfrm>
            <a:off x="8506968" y="2121408"/>
            <a:ext cx="502920" cy="502920"/>
          </a:xfrm>
          <a:prstGeom prst="ellipse">
            <a:avLst/>
          </a:prstGeom>
          <a:solidFill>
            <a:srgbClr val="27333F"/>
          </a:solidFill>
          <a:ln w="19050">
            <a:solidFill>
              <a:srgbClr val="22E2FF"/>
            </a:solidFill>
            <a:prstDash val="solid"/>
          </a:ln>
        </p:spPr>
      </p:sp>
      <p:pic>
        <p:nvPicPr>
          <p:cNvPr id="17" name="Image 2" descr="/home/claude/cyberdeck/icons/network_cyan.png">    </p:cNvPr>
          <p:cNvPicPr>
            <a:picLocks noChangeAspect="1"/>
          </p:cNvPicPr>
          <p:nvPr/>
        </p:nvPicPr>
        <p:blipFill>
          <a:blip r:embed="rId3"/>
          <a:stretch>
            <a:fillRect/>
          </a:stretch>
        </p:blipFill>
        <p:spPr>
          <a:xfrm>
            <a:off x="8637727" y="2252167"/>
            <a:ext cx="241402" cy="241402"/>
          </a:xfrm>
          <a:prstGeom prst="rect">
            <a:avLst/>
          </a:prstGeom>
        </p:spPr>
      </p:pic>
      <p:sp>
        <p:nvSpPr>
          <p:cNvPr id="18" name="Text 13"/>
          <p:cNvSpPr/>
          <p:nvPr/>
        </p:nvSpPr>
        <p:spPr>
          <a:xfrm>
            <a:off x="8506968" y="2743200"/>
            <a:ext cx="3087624" cy="365760"/>
          </a:xfrm>
          <a:prstGeom prst="rect">
            <a:avLst/>
          </a:prstGeom>
          <a:noFill/>
          <a:ln/>
        </p:spPr>
        <p:txBody>
          <a:bodyPr wrap="square" lIns="0" tIns="0" rIns="0" bIns="0" rtlCol="0" anchor="ctr"/>
          <a:lstStyle/>
          <a:p>
            <a:pPr indent="0" marL="0">
              <a:buNone/>
            </a:pPr>
            <a:r>
              <a:rPr lang="en-US" sz="1300" b="1" dirty="0">
                <a:solidFill>
                  <a:srgbClr val="F5F8FA"/>
                </a:solidFill>
                <a:latin typeface="Calibri" pitchFamily="34" charset="0"/>
                <a:ea typeface="Calibri" pitchFamily="34" charset="-122"/>
                <a:cs typeface="Calibri" pitchFamily="34" charset="-120"/>
              </a:rPr>
              <a:t>Network &amp; Perimeter</a:t>
            </a:r>
            <a:endParaRPr lang="en-US" sz="1300" dirty="0"/>
          </a:p>
        </p:txBody>
      </p:sp>
      <p:sp>
        <p:nvSpPr>
          <p:cNvPr id="19" name="Text 14"/>
          <p:cNvSpPr/>
          <p:nvPr/>
        </p:nvSpPr>
        <p:spPr>
          <a:xfrm>
            <a:off x="8506968" y="3108960"/>
            <a:ext cx="3087624" cy="685800"/>
          </a:xfrm>
          <a:prstGeom prst="rect">
            <a:avLst/>
          </a:prstGeom>
          <a:noFill/>
          <a:ln/>
        </p:spPr>
        <p:txBody>
          <a:bodyPr wrap="square" lIns="0" tIns="0" rIns="0" bIns="0" rtlCol="0" anchor="ctr"/>
          <a:lstStyle/>
          <a:p>
            <a:pPr indent="0" marL="0">
              <a:buNone/>
            </a:pPr>
            <a:r>
              <a:rPr lang="en-US" sz="970" dirty="0">
                <a:solidFill>
                  <a:srgbClr val="C3CDD6"/>
                </a:solidFill>
                <a:latin typeface="Calibri" pitchFamily="34" charset="0"/>
                <a:ea typeface="Calibri" pitchFamily="34" charset="-122"/>
                <a:cs typeface="Calibri" pitchFamily="34" charset="-120"/>
              </a:rPr>
              <a:t>Firewalls, WAFs, DDoS scrubbing, network segmentation, and encrypted traffic (TLS/VPN) end to end.</a:t>
            </a:r>
            <a:endParaRPr lang="en-US" sz="970" dirty="0"/>
          </a:p>
        </p:txBody>
      </p:sp>
      <p:sp>
        <p:nvSpPr>
          <p:cNvPr id="20" name="Shape 15"/>
          <p:cNvSpPr/>
          <p:nvPr/>
        </p:nvSpPr>
        <p:spPr>
          <a:xfrm>
            <a:off x="548640" y="4160520"/>
            <a:ext cx="3544824" cy="1920240"/>
          </a:xfrm>
          <a:prstGeom prst="roundRect">
            <a:avLst>
              <a:gd name="adj" fmla="val 3810"/>
            </a:avLst>
          </a:prstGeom>
          <a:solidFill>
            <a:srgbClr val="27333F"/>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21" name="Shape 16"/>
          <p:cNvSpPr/>
          <p:nvPr/>
        </p:nvSpPr>
        <p:spPr>
          <a:xfrm>
            <a:off x="777240" y="4361688"/>
            <a:ext cx="502920" cy="502920"/>
          </a:xfrm>
          <a:prstGeom prst="ellipse">
            <a:avLst/>
          </a:prstGeom>
          <a:solidFill>
            <a:srgbClr val="27333F"/>
          </a:solidFill>
          <a:ln w="19050">
            <a:solidFill>
              <a:srgbClr val="22E2FF"/>
            </a:solidFill>
            <a:prstDash val="solid"/>
          </a:ln>
        </p:spPr>
      </p:sp>
      <p:pic>
        <p:nvPicPr>
          <p:cNvPr id="22" name="Image 3" descr="/home/claude/cyberdeck/icons/laptop_cyan.png">    </p:cNvPr>
          <p:cNvPicPr>
            <a:picLocks noChangeAspect="1"/>
          </p:cNvPicPr>
          <p:nvPr/>
        </p:nvPicPr>
        <p:blipFill>
          <a:blip r:embed="rId4"/>
          <a:stretch>
            <a:fillRect/>
          </a:stretch>
        </p:blipFill>
        <p:spPr>
          <a:xfrm>
            <a:off x="907999" y="4492447"/>
            <a:ext cx="241402" cy="241402"/>
          </a:xfrm>
          <a:prstGeom prst="rect">
            <a:avLst/>
          </a:prstGeom>
        </p:spPr>
      </p:pic>
      <p:sp>
        <p:nvSpPr>
          <p:cNvPr id="23" name="Text 17"/>
          <p:cNvSpPr/>
          <p:nvPr/>
        </p:nvSpPr>
        <p:spPr>
          <a:xfrm>
            <a:off x="777240" y="4983480"/>
            <a:ext cx="3087624" cy="365760"/>
          </a:xfrm>
          <a:prstGeom prst="rect">
            <a:avLst/>
          </a:prstGeom>
          <a:noFill/>
          <a:ln/>
        </p:spPr>
        <p:txBody>
          <a:bodyPr wrap="square" lIns="0" tIns="0" rIns="0" bIns="0" rtlCol="0" anchor="ctr"/>
          <a:lstStyle/>
          <a:p>
            <a:pPr indent="0" marL="0">
              <a:buNone/>
            </a:pPr>
            <a:r>
              <a:rPr lang="en-US" sz="1300" b="1" dirty="0">
                <a:solidFill>
                  <a:srgbClr val="F5F8FA"/>
                </a:solidFill>
                <a:latin typeface="Calibri" pitchFamily="34" charset="0"/>
                <a:ea typeface="Calibri" pitchFamily="34" charset="-122"/>
                <a:cs typeface="Calibri" pitchFamily="34" charset="-120"/>
              </a:rPr>
              <a:t>Endpoint &amp; Application</a:t>
            </a:r>
            <a:endParaRPr lang="en-US" sz="1300" dirty="0"/>
          </a:p>
        </p:txBody>
      </p:sp>
      <p:sp>
        <p:nvSpPr>
          <p:cNvPr id="24" name="Text 18"/>
          <p:cNvSpPr/>
          <p:nvPr/>
        </p:nvSpPr>
        <p:spPr>
          <a:xfrm>
            <a:off x="777240" y="5349240"/>
            <a:ext cx="3087624" cy="685800"/>
          </a:xfrm>
          <a:prstGeom prst="rect">
            <a:avLst/>
          </a:prstGeom>
          <a:noFill/>
          <a:ln/>
        </p:spPr>
        <p:txBody>
          <a:bodyPr wrap="square" lIns="0" tIns="0" rIns="0" bIns="0" rtlCol="0" anchor="ctr"/>
          <a:lstStyle/>
          <a:p>
            <a:pPr indent="0" marL="0">
              <a:buNone/>
            </a:pPr>
            <a:r>
              <a:rPr lang="en-US" sz="970" dirty="0">
                <a:solidFill>
                  <a:srgbClr val="C3CDD6"/>
                </a:solidFill>
                <a:latin typeface="Calibri" pitchFamily="34" charset="0"/>
                <a:ea typeface="Calibri" pitchFamily="34" charset="-122"/>
                <a:cs typeface="Calibri" pitchFamily="34" charset="-120"/>
              </a:rPr>
              <a:t>EDR/XDR monitoring, timely patching, secure coding practices (parameterized queries, input validation).</a:t>
            </a:r>
            <a:endParaRPr lang="en-US" sz="970" dirty="0"/>
          </a:p>
        </p:txBody>
      </p:sp>
      <p:sp>
        <p:nvSpPr>
          <p:cNvPr id="25" name="Shape 19"/>
          <p:cNvSpPr/>
          <p:nvPr/>
        </p:nvSpPr>
        <p:spPr>
          <a:xfrm>
            <a:off x="4413504" y="4160520"/>
            <a:ext cx="3544824" cy="1920240"/>
          </a:xfrm>
          <a:prstGeom prst="roundRect">
            <a:avLst>
              <a:gd name="adj" fmla="val 3810"/>
            </a:avLst>
          </a:prstGeom>
          <a:solidFill>
            <a:srgbClr val="27333F"/>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26" name="Shape 20"/>
          <p:cNvSpPr/>
          <p:nvPr/>
        </p:nvSpPr>
        <p:spPr>
          <a:xfrm>
            <a:off x="4642104" y="4361688"/>
            <a:ext cx="502920" cy="502920"/>
          </a:xfrm>
          <a:prstGeom prst="ellipse">
            <a:avLst/>
          </a:prstGeom>
          <a:solidFill>
            <a:srgbClr val="27333F"/>
          </a:solidFill>
          <a:ln w="19050">
            <a:solidFill>
              <a:srgbClr val="22E2FF"/>
            </a:solidFill>
            <a:prstDash val="solid"/>
          </a:ln>
        </p:spPr>
      </p:sp>
      <p:pic>
        <p:nvPicPr>
          <p:cNvPr id="27" name="Image 4" descr="/home/claude/cyberdeck/icons/sync_cyan.png">    </p:cNvPr>
          <p:cNvPicPr>
            <a:picLocks noChangeAspect="1"/>
          </p:cNvPicPr>
          <p:nvPr/>
        </p:nvPicPr>
        <p:blipFill>
          <a:blip r:embed="rId5"/>
          <a:stretch>
            <a:fillRect/>
          </a:stretch>
        </p:blipFill>
        <p:spPr>
          <a:xfrm>
            <a:off x="4772863" y="4492447"/>
            <a:ext cx="241402" cy="241402"/>
          </a:xfrm>
          <a:prstGeom prst="rect">
            <a:avLst/>
          </a:prstGeom>
        </p:spPr>
      </p:pic>
      <p:sp>
        <p:nvSpPr>
          <p:cNvPr id="28" name="Text 21"/>
          <p:cNvSpPr/>
          <p:nvPr/>
        </p:nvSpPr>
        <p:spPr>
          <a:xfrm>
            <a:off x="4642104" y="4983480"/>
            <a:ext cx="3087624" cy="365760"/>
          </a:xfrm>
          <a:prstGeom prst="rect">
            <a:avLst/>
          </a:prstGeom>
          <a:noFill/>
          <a:ln/>
        </p:spPr>
        <p:txBody>
          <a:bodyPr wrap="square" lIns="0" tIns="0" rIns="0" bIns="0" rtlCol="0" anchor="ctr"/>
          <a:lstStyle/>
          <a:p>
            <a:pPr indent="0" marL="0">
              <a:buNone/>
            </a:pPr>
            <a:r>
              <a:rPr lang="en-US" sz="1300" b="1" dirty="0">
                <a:solidFill>
                  <a:srgbClr val="F5F8FA"/>
                </a:solidFill>
                <a:latin typeface="Calibri" pitchFamily="34" charset="0"/>
                <a:ea typeface="Calibri" pitchFamily="34" charset="-122"/>
                <a:cs typeface="Calibri" pitchFamily="34" charset="-120"/>
              </a:rPr>
              <a:t>Data &amp; Recovery</a:t>
            </a:r>
            <a:endParaRPr lang="en-US" sz="1300" dirty="0"/>
          </a:p>
        </p:txBody>
      </p:sp>
      <p:sp>
        <p:nvSpPr>
          <p:cNvPr id="29" name="Text 22"/>
          <p:cNvSpPr/>
          <p:nvPr/>
        </p:nvSpPr>
        <p:spPr>
          <a:xfrm>
            <a:off x="4642104" y="5349240"/>
            <a:ext cx="3087624" cy="685800"/>
          </a:xfrm>
          <a:prstGeom prst="rect">
            <a:avLst/>
          </a:prstGeom>
          <a:noFill/>
          <a:ln/>
        </p:spPr>
        <p:txBody>
          <a:bodyPr wrap="square" lIns="0" tIns="0" rIns="0" bIns="0" rtlCol="0" anchor="ctr"/>
          <a:lstStyle/>
          <a:p>
            <a:pPr indent="0" marL="0">
              <a:buNone/>
            </a:pPr>
            <a:r>
              <a:rPr lang="en-US" sz="970" dirty="0">
                <a:solidFill>
                  <a:srgbClr val="C3CDD6"/>
                </a:solidFill>
                <a:latin typeface="Calibri" pitchFamily="34" charset="0"/>
                <a:ea typeface="Calibri" pitchFamily="34" charset="-122"/>
                <a:cs typeface="Calibri" pitchFamily="34" charset="-120"/>
              </a:rPr>
              <a:t>Immutable offline backups, encryption at rest, tested disaster-recovery and business-continuity plans.</a:t>
            </a:r>
            <a:endParaRPr lang="en-US" sz="970" dirty="0"/>
          </a:p>
        </p:txBody>
      </p:sp>
      <p:sp>
        <p:nvSpPr>
          <p:cNvPr id="30" name="Shape 23"/>
          <p:cNvSpPr/>
          <p:nvPr/>
        </p:nvSpPr>
        <p:spPr>
          <a:xfrm>
            <a:off x="8278368" y="4160520"/>
            <a:ext cx="3544824" cy="1920240"/>
          </a:xfrm>
          <a:prstGeom prst="roundRect">
            <a:avLst>
              <a:gd name="adj" fmla="val 3810"/>
            </a:avLst>
          </a:prstGeom>
          <a:solidFill>
            <a:srgbClr val="27333F"/>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31" name="Shape 24"/>
          <p:cNvSpPr/>
          <p:nvPr/>
        </p:nvSpPr>
        <p:spPr>
          <a:xfrm>
            <a:off x="8506968" y="4361688"/>
            <a:ext cx="502920" cy="502920"/>
          </a:xfrm>
          <a:prstGeom prst="ellipse">
            <a:avLst/>
          </a:prstGeom>
          <a:solidFill>
            <a:srgbClr val="27333F"/>
          </a:solidFill>
          <a:ln w="19050">
            <a:solidFill>
              <a:srgbClr val="22E2FF"/>
            </a:solidFill>
            <a:prstDash val="solid"/>
          </a:ln>
        </p:spPr>
      </p:sp>
      <p:pic>
        <p:nvPicPr>
          <p:cNvPr id="32" name="Image 5" descr="/home/claude/cyberdeck/icons/eye_cyan.png">    </p:cNvPr>
          <p:cNvPicPr>
            <a:picLocks noChangeAspect="1"/>
          </p:cNvPicPr>
          <p:nvPr/>
        </p:nvPicPr>
        <p:blipFill>
          <a:blip r:embed="rId6"/>
          <a:stretch>
            <a:fillRect/>
          </a:stretch>
        </p:blipFill>
        <p:spPr>
          <a:xfrm>
            <a:off x="8637727" y="4492447"/>
            <a:ext cx="241402" cy="241402"/>
          </a:xfrm>
          <a:prstGeom prst="rect">
            <a:avLst/>
          </a:prstGeom>
        </p:spPr>
      </p:pic>
      <p:sp>
        <p:nvSpPr>
          <p:cNvPr id="33" name="Text 25"/>
          <p:cNvSpPr/>
          <p:nvPr/>
        </p:nvSpPr>
        <p:spPr>
          <a:xfrm>
            <a:off x="8506968" y="4983480"/>
            <a:ext cx="3087624" cy="365760"/>
          </a:xfrm>
          <a:prstGeom prst="rect">
            <a:avLst/>
          </a:prstGeom>
          <a:noFill/>
          <a:ln/>
        </p:spPr>
        <p:txBody>
          <a:bodyPr wrap="square" lIns="0" tIns="0" rIns="0" bIns="0" rtlCol="0" anchor="ctr"/>
          <a:lstStyle/>
          <a:p>
            <a:pPr indent="0" marL="0">
              <a:buNone/>
            </a:pPr>
            <a:r>
              <a:rPr lang="en-US" sz="1300" b="1" dirty="0">
                <a:solidFill>
                  <a:srgbClr val="F5F8FA"/>
                </a:solidFill>
                <a:latin typeface="Calibri" pitchFamily="34" charset="0"/>
                <a:ea typeface="Calibri" pitchFamily="34" charset="-122"/>
                <a:cs typeface="Calibri" pitchFamily="34" charset="-120"/>
              </a:rPr>
              <a:t>Monitoring &amp; Detection</a:t>
            </a:r>
            <a:endParaRPr lang="en-US" sz="1300" dirty="0"/>
          </a:p>
        </p:txBody>
      </p:sp>
      <p:sp>
        <p:nvSpPr>
          <p:cNvPr id="34" name="Text 26"/>
          <p:cNvSpPr/>
          <p:nvPr/>
        </p:nvSpPr>
        <p:spPr>
          <a:xfrm>
            <a:off x="8506968" y="5349240"/>
            <a:ext cx="3087624" cy="685800"/>
          </a:xfrm>
          <a:prstGeom prst="rect">
            <a:avLst/>
          </a:prstGeom>
          <a:noFill/>
          <a:ln/>
        </p:spPr>
        <p:txBody>
          <a:bodyPr wrap="square" lIns="0" tIns="0" rIns="0" bIns="0" rtlCol="0" anchor="ctr"/>
          <a:lstStyle/>
          <a:p>
            <a:pPr indent="0" marL="0">
              <a:buNone/>
            </a:pPr>
            <a:r>
              <a:rPr lang="en-US" sz="970" dirty="0">
                <a:solidFill>
                  <a:srgbClr val="C3CDD6"/>
                </a:solidFill>
                <a:latin typeface="Calibri" pitchFamily="34" charset="0"/>
                <a:ea typeface="Calibri" pitchFamily="34" charset="-122"/>
                <a:cs typeface="Calibri" pitchFamily="34" charset="-120"/>
              </a:rPr>
              <a:t>SIEM correlation, threat intelligence feeds, anomaly detection, and 24/7 SOC visibility.</a:t>
            </a:r>
            <a:endParaRPr lang="en-US" sz="970" dirty="0"/>
          </a:p>
        </p:txBody>
      </p:sp>
      <p:sp>
        <p:nvSpPr>
          <p:cNvPr id="35" name="Text 27"/>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C3CDD6"/>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indent="0" marL="0">
              <a:buNone/>
            </a:pPr>
            <a:r>
              <a:rPr lang="en-US" sz="1300" b="1" spc="200" kern="0" dirty="0">
                <a:solidFill>
                  <a:srgbClr val="22E2FF"/>
                </a:solidFill>
                <a:latin typeface="Calibri" pitchFamily="34" charset="0"/>
                <a:ea typeface="Calibri" pitchFamily="34" charset="-122"/>
                <a:cs typeface="Calibri" pitchFamily="34" charset="-120"/>
              </a:rPr>
              <a:t>OUTLOOK</a:t>
            </a:r>
            <a:endParaRPr lang="en-US" sz="1300" dirty="0"/>
          </a:p>
        </p:txBody>
      </p:sp>
      <p:sp>
        <p:nvSpPr>
          <p:cNvPr id="3" name="Text 1"/>
          <p:cNvSpPr/>
          <p:nvPr/>
        </p:nvSpPr>
        <p:spPr>
          <a:xfrm>
            <a:off x="548640" y="612648"/>
            <a:ext cx="10515600" cy="640080"/>
          </a:xfrm>
          <a:prstGeom prst="rect">
            <a:avLst/>
          </a:prstGeom>
          <a:noFill/>
          <a:ln/>
        </p:spPr>
        <p:txBody>
          <a:bodyPr wrap="square" rtlCol="0" anchor="ctr"/>
          <a:lstStyle/>
          <a:p>
            <a:pPr indent="0" marL="0">
              <a:buNone/>
            </a:pPr>
            <a:r>
              <a:rPr lang="en-US" sz="3000" b="1" dirty="0">
                <a:solidFill>
                  <a:srgbClr val="F5F8FA"/>
                </a:solidFill>
                <a:latin typeface="Cambria" pitchFamily="34" charset="0"/>
                <a:ea typeface="Cambria" pitchFamily="34" charset="-122"/>
                <a:cs typeface="Cambria" pitchFamily="34" charset="-120"/>
              </a:rPr>
              <a:t>Current Trends in Attack Activity</a:t>
            </a:r>
            <a:endParaRPr lang="en-US" sz="3000" dirty="0"/>
          </a:p>
        </p:txBody>
      </p:sp>
      <p:sp>
        <p:nvSpPr>
          <p:cNvPr id="4" name="Text 2"/>
          <p:cNvSpPr/>
          <p:nvPr/>
        </p:nvSpPr>
        <p:spPr>
          <a:xfrm>
            <a:off x="548640" y="1234440"/>
            <a:ext cx="10789920" cy="457200"/>
          </a:xfrm>
          <a:prstGeom prst="rect">
            <a:avLst/>
          </a:prstGeom>
          <a:noFill/>
          <a:ln/>
        </p:spPr>
        <p:txBody>
          <a:bodyPr wrap="square" rtlCol="0" anchor="ctr"/>
          <a:lstStyle/>
          <a:p>
            <a:pPr indent="0" marL="0">
              <a:buNone/>
            </a:pPr>
            <a:r>
              <a:rPr lang="en-US" sz="1250" dirty="0">
                <a:solidFill>
                  <a:srgbClr val="C3CDD6"/>
                </a:solidFill>
                <a:latin typeface="Calibri" pitchFamily="34" charset="0"/>
                <a:ea typeface="Calibri" pitchFamily="34" charset="-122"/>
                <a:cs typeface="Calibri" pitchFamily="34" charset="-120"/>
              </a:rPr>
              <a:t>Relative frequency ranking of initial-access vectors observed across recent breach investigations (illustrative industry composite).</a:t>
            </a:r>
            <a:endParaRPr lang="en-US" sz="1250" dirty="0"/>
          </a:p>
        </p:txBody>
      </p:sp>
      <p:graphicFrame>
        <p:nvGraphicFramePr>
          <p:cNvPr id="5" name="Chart 0" descr=""/>
          <p:cNvGraphicFramePr/>
          <p:nvPr/>
        </p:nvGraphicFramePr>
        <p:xfrm>
          <a:off x="548640" y="1828800"/>
          <a:ext cx="11091672" cy="41148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C3CDD6"/>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indent="0" marL="0">
              <a:buNone/>
            </a:pPr>
            <a:r>
              <a:rPr lang="en-US" sz="1300" b="1" spc="200" kern="0" dirty="0">
                <a:solidFill>
                  <a:srgbClr val="22E2FF"/>
                </a:solidFill>
                <a:latin typeface="Calibri" pitchFamily="34" charset="0"/>
                <a:ea typeface="Calibri" pitchFamily="34" charset="-122"/>
                <a:cs typeface="Calibri" pitchFamily="34" charset="-120"/>
              </a:rPr>
              <a:t>SUMMARY</a:t>
            </a:r>
            <a:endParaRPr lang="en-US" sz="1300" dirty="0"/>
          </a:p>
        </p:txBody>
      </p:sp>
      <p:sp>
        <p:nvSpPr>
          <p:cNvPr id="3" name="Text 1"/>
          <p:cNvSpPr/>
          <p:nvPr/>
        </p:nvSpPr>
        <p:spPr>
          <a:xfrm>
            <a:off x="548640" y="612648"/>
            <a:ext cx="10515600" cy="640080"/>
          </a:xfrm>
          <a:prstGeom prst="rect">
            <a:avLst/>
          </a:prstGeom>
          <a:noFill/>
          <a:ln/>
        </p:spPr>
        <p:txBody>
          <a:bodyPr wrap="square" rtlCol="0" anchor="ctr"/>
          <a:lstStyle/>
          <a:p>
            <a:pPr indent="0" marL="0">
              <a:buNone/>
            </a:pPr>
            <a:r>
              <a:rPr lang="en-US" sz="3000" b="1" dirty="0">
                <a:solidFill>
                  <a:srgbClr val="F5F8FA"/>
                </a:solidFill>
                <a:latin typeface="Cambria" pitchFamily="34" charset="0"/>
                <a:ea typeface="Cambria" pitchFamily="34" charset="-122"/>
                <a:cs typeface="Cambria" pitchFamily="34" charset="-120"/>
              </a:rPr>
              <a:t>Key Takeaways</a:t>
            </a:r>
            <a:endParaRPr lang="en-US" sz="3000" dirty="0"/>
          </a:p>
        </p:txBody>
      </p:sp>
      <p:sp>
        <p:nvSpPr>
          <p:cNvPr id="4" name="Shape 2"/>
          <p:cNvSpPr/>
          <p:nvPr/>
        </p:nvSpPr>
        <p:spPr>
          <a:xfrm>
            <a:off x="548640" y="1463040"/>
            <a:ext cx="5454396" cy="1965960"/>
          </a:xfrm>
          <a:prstGeom prst="roundRect">
            <a:avLst>
              <a:gd name="adj" fmla="val 3721"/>
            </a:avLst>
          </a:prstGeom>
          <a:solidFill>
            <a:srgbClr val="27333F"/>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5" name="Shape 3"/>
          <p:cNvSpPr/>
          <p:nvPr/>
        </p:nvSpPr>
        <p:spPr>
          <a:xfrm>
            <a:off x="822960" y="1737360"/>
            <a:ext cx="594360" cy="594360"/>
          </a:xfrm>
          <a:prstGeom prst="ellipse">
            <a:avLst/>
          </a:prstGeom>
          <a:solidFill>
            <a:srgbClr val="27333F"/>
          </a:solidFill>
          <a:ln w="19050">
            <a:solidFill>
              <a:srgbClr val="22E2FF"/>
            </a:solidFill>
            <a:prstDash val="solid"/>
          </a:ln>
        </p:spPr>
      </p:sp>
      <p:pic>
        <p:nvPicPr>
          <p:cNvPr id="6" name="Image 0" descr="/home/claude/cyberdeck/icons/eye_cyan.png">    </p:cNvPr>
          <p:cNvPicPr>
            <a:picLocks noChangeAspect="1"/>
          </p:cNvPicPr>
          <p:nvPr/>
        </p:nvPicPr>
        <p:blipFill>
          <a:blip r:embed="rId1"/>
          <a:stretch>
            <a:fillRect/>
          </a:stretch>
        </p:blipFill>
        <p:spPr>
          <a:xfrm>
            <a:off x="977494" y="1891894"/>
            <a:ext cx="285293" cy="285293"/>
          </a:xfrm>
          <a:prstGeom prst="rect">
            <a:avLst/>
          </a:prstGeom>
        </p:spPr>
      </p:pic>
      <p:sp>
        <p:nvSpPr>
          <p:cNvPr id="7" name="Text 4"/>
          <p:cNvSpPr/>
          <p:nvPr/>
        </p:nvSpPr>
        <p:spPr>
          <a:xfrm>
            <a:off x="1600200" y="1773936"/>
            <a:ext cx="4174236" cy="502920"/>
          </a:xfrm>
          <a:prstGeom prst="rect">
            <a:avLst/>
          </a:prstGeom>
          <a:noFill/>
          <a:ln/>
        </p:spPr>
        <p:txBody>
          <a:bodyPr wrap="square" lIns="0" tIns="0" rIns="0" bIns="0" rtlCol="0" anchor="ctr"/>
          <a:lstStyle/>
          <a:p>
            <a:pPr indent="0" marL="0">
              <a:buNone/>
            </a:pPr>
            <a:r>
              <a:rPr lang="en-US" sz="1500" b="1" dirty="0">
                <a:solidFill>
                  <a:srgbClr val="F5F8FA"/>
                </a:solidFill>
                <a:latin typeface="Calibri" pitchFamily="34" charset="0"/>
                <a:ea typeface="Calibri" pitchFamily="34" charset="-122"/>
                <a:cs typeface="Calibri" pitchFamily="34" charset="-120"/>
              </a:rPr>
              <a:t>Attacks share patterns</a:t>
            </a:r>
            <a:endParaRPr lang="en-US" sz="1500" dirty="0"/>
          </a:p>
        </p:txBody>
      </p:sp>
      <p:sp>
        <p:nvSpPr>
          <p:cNvPr id="8" name="Text 5"/>
          <p:cNvSpPr/>
          <p:nvPr/>
        </p:nvSpPr>
        <p:spPr>
          <a:xfrm>
            <a:off x="822960" y="2514600"/>
            <a:ext cx="4905756" cy="822960"/>
          </a:xfrm>
          <a:prstGeom prst="rect">
            <a:avLst/>
          </a:prstGeom>
          <a:noFill/>
          <a:ln/>
        </p:spPr>
        <p:txBody>
          <a:bodyPr wrap="square" lIns="0" tIns="0" rIns="0" bIns="0" rtlCol="0" anchor="ctr"/>
          <a:lstStyle/>
          <a:p>
            <a:pPr indent="0" marL="0">
              <a:buNone/>
            </a:pPr>
            <a:r>
              <a:rPr lang="en-US" sz="1150" dirty="0">
                <a:solidFill>
                  <a:srgbClr val="C3CDD6"/>
                </a:solidFill>
                <a:latin typeface="Calibri" pitchFamily="34" charset="0"/>
                <a:ea typeface="Calibri" pitchFamily="34" charset="-122"/>
                <a:cs typeface="Calibri" pitchFamily="34" charset="-120"/>
              </a:rPr>
              <a:t>Recon, initial access, action-on-objective, and monetization repeat across nearly every attack type.</a:t>
            </a:r>
            <a:endParaRPr lang="en-US" sz="1150" dirty="0"/>
          </a:p>
        </p:txBody>
      </p:sp>
      <p:sp>
        <p:nvSpPr>
          <p:cNvPr id="9" name="Shape 6"/>
          <p:cNvSpPr/>
          <p:nvPr/>
        </p:nvSpPr>
        <p:spPr>
          <a:xfrm>
            <a:off x="6368796" y="1463040"/>
            <a:ext cx="5454396" cy="1965960"/>
          </a:xfrm>
          <a:prstGeom prst="roundRect">
            <a:avLst>
              <a:gd name="adj" fmla="val 3721"/>
            </a:avLst>
          </a:prstGeom>
          <a:solidFill>
            <a:srgbClr val="27333F"/>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10" name="Shape 7"/>
          <p:cNvSpPr/>
          <p:nvPr/>
        </p:nvSpPr>
        <p:spPr>
          <a:xfrm>
            <a:off x="6643116" y="1737360"/>
            <a:ext cx="594360" cy="594360"/>
          </a:xfrm>
          <a:prstGeom prst="ellipse">
            <a:avLst/>
          </a:prstGeom>
          <a:solidFill>
            <a:srgbClr val="27333F"/>
          </a:solidFill>
          <a:ln w="19050">
            <a:solidFill>
              <a:srgbClr val="22E2FF"/>
            </a:solidFill>
            <a:prstDash val="solid"/>
          </a:ln>
        </p:spPr>
      </p:sp>
      <p:pic>
        <p:nvPicPr>
          <p:cNvPr id="11" name="Image 1" descr="/home/claude/cyberdeck/icons/usershield_cyan.png">    </p:cNvPr>
          <p:cNvPicPr>
            <a:picLocks noChangeAspect="1"/>
          </p:cNvPicPr>
          <p:nvPr/>
        </p:nvPicPr>
        <p:blipFill>
          <a:blip r:embed="rId2"/>
          <a:stretch>
            <a:fillRect/>
          </a:stretch>
        </p:blipFill>
        <p:spPr>
          <a:xfrm>
            <a:off x="6797650" y="1891894"/>
            <a:ext cx="285293" cy="285293"/>
          </a:xfrm>
          <a:prstGeom prst="rect">
            <a:avLst/>
          </a:prstGeom>
        </p:spPr>
      </p:pic>
      <p:sp>
        <p:nvSpPr>
          <p:cNvPr id="12" name="Text 8"/>
          <p:cNvSpPr/>
          <p:nvPr/>
        </p:nvSpPr>
        <p:spPr>
          <a:xfrm>
            <a:off x="7420356" y="1773936"/>
            <a:ext cx="4174236" cy="502920"/>
          </a:xfrm>
          <a:prstGeom prst="rect">
            <a:avLst/>
          </a:prstGeom>
          <a:noFill/>
          <a:ln/>
        </p:spPr>
        <p:txBody>
          <a:bodyPr wrap="square" lIns="0" tIns="0" rIns="0" bIns="0" rtlCol="0" anchor="ctr"/>
          <a:lstStyle/>
          <a:p>
            <a:pPr indent="0" marL="0">
              <a:buNone/>
            </a:pPr>
            <a:r>
              <a:rPr lang="en-US" sz="1500" b="1" dirty="0">
                <a:solidFill>
                  <a:srgbClr val="F5F8FA"/>
                </a:solidFill>
                <a:latin typeface="Calibri" pitchFamily="34" charset="0"/>
                <a:ea typeface="Calibri" pitchFamily="34" charset="-122"/>
                <a:cs typeface="Calibri" pitchFamily="34" charset="-120"/>
              </a:rPr>
              <a:t>People remain the perimeter</a:t>
            </a:r>
            <a:endParaRPr lang="en-US" sz="1500" dirty="0"/>
          </a:p>
        </p:txBody>
      </p:sp>
      <p:sp>
        <p:nvSpPr>
          <p:cNvPr id="13" name="Text 9"/>
          <p:cNvSpPr/>
          <p:nvPr/>
        </p:nvSpPr>
        <p:spPr>
          <a:xfrm>
            <a:off x="6643116" y="2514600"/>
            <a:ext cx="4905756" cy="822960"/>
          </a:xfrm>
          <a:prstGeom prst="rect">
            <a:avLst/>
          </a:prstGeom>
          <a:noFill/>
          <a:ln/>
        </p:spPr>
        <p:txBody>
          <a:bodyPr wrap="square" lIns="0" tIns="0" rIns="0" bIns="0" rtlCol="0" anchor="ctr"/>
          <a:lstStyle/>
          <a:p>
            <a:pPr indent="0" marL="0">
              <a:buNone/>
            </a:pPr>
            <a:r>
              <a:rPr lang="en-US" sz="1150" dirty="0">
                <a:solidFill>
                  <a:srgbClr val="C3CDD6"/>
                </a:solidFill>
                <a:latin typeface="Calibri" pitchFamily="34" charset="0"/>
                <a:ea typeface="Calibri" pitchFamily="34" charset="-122"/>
                <a:cs typeface="Calibri" pitchFamily="34" charset="-120"/>
              </a:rPr>
              <a:t>Most breaches still start with a human decision, phishing, weak passwords, or a missed patch.</a:t>
            </a:r>
            <a:endParaRPr lang="en-US" sz="1150" dirty="0"/>
          </a:p>
        </p:txBody>
      </p:sp>
      <p:sp>
        <p:nvSpPr>
          <p:cNvPr id="14" name="Shape 10"/>
          <p:cNvSpPr/>
          <p:nvPr/>
        </p:nvSpPr>
        <p:spPr>
          <a:xfrm>
            <a:off x="548640" y="3749040"/>
            <a:ext cx="5454396" cy="1965960"/>
          </a:xfrm>
          <a:prstGeom prst="roundRect">
            <a:avLst>
              <a:gd name="adj" fmla="val 3721"/>
            </a:avLst>
          </a:prstGeom>
          <a:solidFill>
            <a:srgbClr val="27333F"/>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15" name="Shape 11"/>
          <p:cNvSpPr/>
          <p:nvPr/>
        </p:nvSpPr>
        <p:spPr>
          <a:xfrm>
            <a:off x="822960" y="4023360"/>
            <a:ext cx="594360" cy="594360"/>
          </a:xfrm>
          <a:prstGeom prst="ellipse">
            <a:avLst/>
          </a:prstGeom>
          <a:solidFill>
            <a:srgbClr val="27333F"/>
          </a:solidFill>
          <a:ln w="19050">
            <a:solidFill>
              <a:srgbClr val="22E2FF"/>
            </a:solidFill>
            <a:prstDash val="solid"/>
          </a:ln>
        </p:spPr>
      </p:sp>
      <p:pic>
        <p:nvPicPr>
          <p:cNvPr id="16" name="Image 2" descr="/home/claude/cyberdeck/icons/shield_cyan.png">    </p:cNvPr>
          <p:cNvPicPr>
            <a:picLocks noChangeAspect="1"/>
          </p:cNvPicPr>
          <p:nvPr/>
        </p:nvPicPr>
        <p:blipFill>
          <a:blip r:embed="rId3"/>
          <a:stretch>
            <a:fillRect/>
          </a:stretch>
        </p:blipFill>
        <p:spPr>
          <a:xfrm>
            <a:off x="977494" y="4177894"/>
            <a:ext cx="285293" cy="285293"/>
          </a:xfrm>
          <a:prstGeom prst="rect">
            <a:avLst/>
          </a:prstGeom>
        </p:spPr>
      </p:pic>
      <p:sp>
        <p:nvSpPr>
          <p:cNvPr id="17" name="Text 12"/>
          <p:cNvSpPr/>
          <p:nvPr/>
        </p:nvSpPr>
        <p:spPr>
          <a:xfrm>
            <a:off x="1600200" y="4059936"/>
            <a:ext cx="4174236" cy="502920"/>
          </a:xfrm>
          <a:prstGeom prst="rect">
            <a:avLst/>
          </a:prstGeom>
          <a:noFill/>
          <a:ln/>
        </p:spPr>
        <p:txBody>
          <a:bodyPr wrap="square" lIns="0" tIns="0" rIns="0" bIns="0" rtlCol="0" anchor="ctr"/>
          <a:lstStyle/>
          <a:p>
            <a:pPr indent="0" marL="0">
              <a:buNone/>
            </a:pPr>
            <a:r>
              <a:rPr lang="en-US" sz="1500" b="1" dirty="0">
                <a:solidFill>
                  <a:srgbClr val="F5F8FA"/>
                </a:solidFill>
                <a:latin typeface="Calibri" pitchFamily="34" charset="0"/>
                <a:ea typeface="Calibri" pitchFamily="34" charset="-122"/>
                <a:cs typeface="Calibri" pitchFamily="34" charset="-120"/>
              </a:rPr>
              <a:t>Layered defense wins</a:t>
            </a:r>
            <a:endParaRPr lang="en-US" sz="1500" dirty="0"/>
          </a:p>
        </p:txBody>
      </p:sp>
      <p:sp>
        <p:nvSpPr>
          <p:cNvPr id="18" name="Text 13"/>
          <p:cNvSpPr/>
          <p:nvPr/>
        </p:nvSpPr>
        <p:spPr>
          <a:xfrm>
            <a:off x="822960" y="4800600"/>
            <a:ext cx="4905756" cy="822960"/>
          </a:xfrm>
          <a:prstGeom prst="rect">
            <a:avLst/>
          </a:prstGeom>
          <a:noFill/>
          <a:ln/>
        </p:spPr>
        <p:txBody>
          <a:bodyPr wrap="square" lIns="0" tIns="0" rIns="0" bIns="0" rtlCol="0" anchor="ctr"/>
          <a:lstStyle/>
          <a:p>
            <a:pPr indent="0" marL="0">
              <a:buNone/>
            </a:pPr>
            <a:r>
              <a:rPr lang="en-US" sz="1150" dirty="0">
                <a:solidFill>
                  <a:srgbClr val="C3CDD6"/>
                </a:solidFill>
                <a:latin typeface="Calibri" pitchFamily="34" charset="0"/>
                <a:ea typeface="Calibri" pitchFamily="34" charset="-122"/>
                <a:cs typeface="Calibri" pitchFamily="34" charset="-120"/>
              </a:rPr>
              <a:t>No single tool stops modern attacks; prevention, detection, and response must work together.</a:t>
            </a:r>
            <a:endParaRPr lang="en-US" sz="1150" dirty="0"/>
          </a:p>
        </p:txBody>
      </p:sp>
      <p:sp>
        <p:nvSpPr>
          <p:cNvPr id="19" name="Shape 14"/>
          <p:cNvSpPr/>
          <p:nvPr/>
        </p:nvSpPr>
        <p:spPr>
          <a:xfrm>
            <a:off x="6368796" y="3749040"/>
            <a:ext cx="5454396" cy="1965960"/>
          </a:xfrm>
          <a:prstGeom prst="roundRect">
            <a:avLst>
              <a:gd name="adj" fmla="val 3721"/>
            </a:avLst>
          </a:prstGeom>
          <a:solidFill>
            <a:srgbClr val="27333F"/>
          </a:solidFill>
          <a:ln w="12700">
            <a:solidFill>
              <a:srgbClr val="445362"/>
            </a:solidFill>
            <a:prstDash val="solid"/>
          </a:ln>
          <a:effectLst>
            <a:outerShdw sx="100000" sy="100000" kx="0" ky="0" algn="bl" rotWithShape="0" blurRad="101600" dist="38100" dir="5400000">
              <a:srgbClr val="000000">
                <a:alpha val="35000"/>
              </a:srgbClr>
            </a:outerShdw>
          </a:effectLst>
        </p:spPr>
      </p:sp>
      <p:sp>
        <p:nvSpPr>
          <p:cNvPr id="20" name="Shape 15"/>
          <p:cNvSpPr/>
          <p:nvPr/>
        </p:nvSpPr>
        <p:spPr>
          <a:xfrm>
            <a:off x="6643116" y="4023360"/>
            <a:ext cx="594360" cy="594360"/>
          </a:xfrm>
          <a:prstGeom prst="ellipse">
            <a:avLst/>
          </a:prstGeom>
          <a:solidFill>
            <a:srgbClr val="27333F"/>
          </a:solidFill>
          <a:ln w="19050">
            <a:solidFill>
              <a:srgbClr val="22E2FF"/>
            </a:solidFill>
            <a:prstDash val="solid"/>
          </a:ln>
        </p:spPr>
      </p:sp>
      <p:pic>
        <p:nvPicPr>
          <p:cNvPr id="21" name="Image 3" descr="/home/claude/cyberdeck/icons/sync_cyan.png">    </p:cNvPr>
          <p:cNvPicPr>
            <a:picLocks noChangeAspect="1"/>
          </p:cNvPicPr>
          <p:nvPr/>
        </p:nvPicPr>
        <p:blipFill>
          <a:blip r:embed="rId4"/>
          <a:stretch>
            <a:fillRect/>
          </a:stretch>
        </p:blipFill>
        <p:spPr>
          <a:xfrm>
            <a:off x="6797650" y="4177894"/>
            <a:ext cx="285293" cy="285293"/>
          </a:xfrm>
          <a:prstGeom prst="rect">
            <a:avLst/>
          </a:prstGeom>
        </p:spPr>
      </p:pic>
      <p:sp>
        <p:nvSpPr>
          <p:cNvPr id="22" name="Text 16"/>
          <p:cNvSpPr/>
          <p:nvPr/>
        </p:nvSpPr>
        <p:spPr>
          <a:xfrm>
            <a:off x="7420356" y="4059936"/>
            <a:ext cx="4174236" cy="502920"/>
          </a:xfrm>
          <a:prstGeom prst="rect">
            <a:avLst/>
          </a:prstGeom>
          <a:noFill/>
          <a:ln/>
        </p:spPr>
        <p:txBody>
          <a:bodyPr wrap="square" lIns="0" tIns="0" rIns="0" bIns="0" rtlCol="0" anchor="ctr"/>
          <a:lstStyle/>
          <a:p>
            <a:pPr indent="0" marL="0">
              <a:buNone/>
            </a:pPr>
            <a:r>
              <a:rPr lang="en-US" sz="1500" b="1" dirty="0">
                <a:solidFill>
                  <a:srgbClr val="F5F8FA"/>
                </a:solidFill>
                <a:latin typeface="Calibri" pitchFamily="34" charset="0"/>
                <a:ea typeface="Calibri" pitchFamily="34" charset="-122"/>
                <a:cs typeface="Calibri" pitchFamily="34" charset="-120"/>
              </a:rPr>
              <a:t>Preparation shortens recovery</a:t>
            </a:r>
            <a:endParaRPr lang="en-US" sz="1500" dirty="0"/>
          </a:p>
        </p:txBody>
      </p:sp>
      <p:sp>
        <p:nvSpPr>
          <p:cNvPr id="23" name="Text 17"/>
          <p:cNvSpPr/>
          <p:nvPr/>
        </p:nvSpPr>
        <p:spPr>
          <a:xfrm>
            <a:off x="6643116" y="4800600"/>
            <a:ext cx="4905756" cy="822960"/>
          </a:xfrm>
          <a:prstGeom prst="rect">
            <a:avLst/>
          </a:prstGeom>
          <a:noFill/>
          <a:ln/>
        </p:spPr>
        <p:txBody>
          <a:bodyPr wrap="square" lIns="0" tIns="0" rIns="0" bIns="0" rtlCol="0" anchor="ctr"/>
          <a:lstStyle/>
          <a:p>
            <a:pPr indent="0" marL="0">
              <a:buNone/>
            </a:pPr>
            <a:r>
              <a:rPr lang="en-US" sz="1150" dirty="0">
                <a:solidFill>
                  <a:srgbClr val="C3CDD6"/>
                </a:solidFill>
                <a:latin typeface="Calibri" pitchFamily="34" charset="0"/>
                <a:ea typeface="Calibri" pitchFamily="34" charset="-122"/>
                <a:cs typeface="Calibri" pitchFamily="34" charset="-120"/>
              </a:rPr>
              <a:t>Tested backups and incident-response plans turn a breach from catastrophic into manageable.</a:t>
            </a:r>
            <a:endParaRPr lang="en-US" sz="1150" dirty="0"/>
          </a:p>
        </p:txBody>
      </p:sp>
      <p:sp>
        <p:nvSpPr>
          <p:cNvPr id="24" name="Text 18"/>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C3CDD6"/>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5637276" y="1463040"/>
            <a:ext cx="914400" cy="914400"/>
          </a:xfrm>
          <a:prstGeom prst="ellipse">
            <a:avLst/>
          </a:prstGeom>
          <a:solidFill>
            <a:srgbClr val="27333F"/>
          </a:solidFill>
          <a:ln w="19050">
            <a:solidFill>
              <a:srgbClr val="22E2FF"/>
            </a:solidFill>
            <a:prstDash val="solid"/>
          </a:ln>
        </p:spPr>
      </p:sp>
      <p:pic>
        <p:nvPicPr>
          <p:cNvPr id="3" name="Image 0" descr="/home/claude/cyberdeck/icons/shield_cyan.png">    </p:cNvPr>
          <p:cNvPicPr>
            <a:picLocks noChangeAspect="1"/>
          </p:cNvPicPr>
          <p:nvPr/>
        </p:nvPicPr>
        <p:blipFill>
          <a:blip r:embed="rId1"/>
          <a:stretch>
            <a:fillRect/>
          </a:stretch>
        </p:blipFill>
        <p:spPr>
          <a:xfrm>
            <a:off x="5875020" y="1700784"/>
            <a:ext cx="438912" cy="438912"/>
          </a:xfrm>
          <a:prstGeom prst="rect">
            <a:avLst/>
          </a:prstGeom>
        </p:spPr>
      </p:pic>
      <p:sp>
        <p:nvSpPr>
          <p:cNvPr id="4" name="Text 1"/>
          <p:cNvSpPr/>
          <p:nvPr/>
        </p:nvSpPr>
        <p:spPr>
          <a:xfrm>
            <a:off x="0" y="2606040"/>
            <a:ext cx="12188952" cy="822960"/>
          </a:xfrm>
          <a:prstGeom prst="rect">
            <a:avLst/>
          </a:prstGeom>
          <a:noFill/>
          <a:ln/>
        </p:spPr>
        <p:txBody>
          <a:bodyPr wrap="square" rtlCol="0" anchor="ctr"/>
          <a:lstStyle/>
          <a:p>
            <a:pPr algn="ctr" indent="0" marL="0">
              <a:buNone/>
            </a:pPr>
            <a:r>
              <a:rPr lang="en-US" sz="3800" b="1" dirty="0">
                <a:solidFill>
                  <a:srgbClr val="F5F8FA"/>
                </a:solidFill>
                <a:latin typeface="Cambria" pitchFamily="34" charset="0"/>
                <a:ea typeface="Cambria" pitchFamily="34" charset="-122"/>
                <a:cs typeface="Cambria" pitchFamily="34" charset="-120"/>
              </a:rPr>
              <a:t>Thank You</a:t>
            </a:r>
            <a:endParaRPr lang="en-US" sz="3800" dirty="0"/>
          </a:p>
        </p:txBody>
      </p:sp>
      <p:sp>
        <p:nvSpPr>
          <p:cNvPr id="5" name="Text 2"/>
          <p:cNvSpPr/>
          <p:nvPr/>
        </p:nvSpPr>
        <p:spPr>
          <a:xfrm>
            <a:off x="0" y="3383280"/>
            <a:ext cx="12188952" cy="457200"/>
          </a:xfrm>
          <a:prstGeom prst="rect">
            <a:avLst/>
          </a:prstGeom>
          <a:noFill/>
          <a:ln/>
        </p:spPr>
        <p:txBody>
          <a:bodyPr wrap="square" rtlCol="0" anchor="ctr"/>
          <a:lstStyle/>
          <a:p>
            <a:pPr algn="ctr" indent="0" marL="0">
              <a:buNone/>
            </a:pPr>
            <a:r>
              <a:rPr lang="en-US" sz="1600" dirty="0">
                <a:solidFill>
                  <a:srgbClr val="22E2FF"/>
                </a:solidFill>
                <a:latin typeface="Calibri" pitchFamily="34" charset="0"/>
                <a:ea typeface="Calibri" pitchFamily="34" charset="-122"/>
                <a:cs typeface="Calibri" pitchFamily="34" charset="-120"/>
              </a:rPr>
              <a:t>Questions &amp; Discussion</a:t>
            </a:r>
            <a:endParaRPr lang="en-US" sz="1600" dirty="0"/>
          </a:p>
        </p:txBody>
      </p:sp>
      <p:sp>
        <p:nvSpPr>
          <p:cNvPr id="6" name="Text 3"/>
          <p:cNvSpPr/>
          <p:nvPr/>
        </p:nvSpPr>
        <p:spPr>
          <a:xfrm>
            <a:off x="1828800" y="4114800"/>
            <a:ext cx="8531352" cy="457200"/>
          </a:xfrm>
          <a:prstGeom prst="rect">
            <a:avLst/>
          </a:prstGeom>
          <a:noFill/>
          <a:ln/>
        </p:spPr>
        <p:txBody>
          <a:bodyPr wrap="square" rtlCol="0" anchor="ctr"/>
          <a:lstStyle/>
          <a:p>
            <a:pPr algn="ctr" indent="0" marL="0">
              <a:buNone/>
            </a:pPr>
            <a:r>
              <a:rPr lang="en-US" sz="1250" i="1" dirty="0">
                <a:solidFill>
                  <a:srgbClr val="C3CDD6"/>
                </a:solidFill>
                <a:latin typeface="Calibri" pitchFamily="34" charset="0"/>
                <a:ea typeface="Calibri" pitchFamily="34" charset="-122"/>
                <a:cs typeface="Calibri" pitchFamily="34" charset="-120"/>
              </a:rPr>
              <a:t>Staying secure is a continuous process, not a one-time project.</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2026-07-09T18:23:00Z</dcterms:created>
  <dcterms:modified xsi:type="dcterms:W3CDTF">2026-07-09T18:23:00Z</dcterms:modified>
</cp:coreProperties>
</file>