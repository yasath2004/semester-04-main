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4672" autoAdjust="0"/>
  </p:normalViewPr>
  <p:slideViewPr>
    <p:cSldViewPr snapToGrid="0" snapToObjects="1">
      <p:cViewPr varScale="1">
        <p:scale>
          <a:sx n="54" d="100"/>
          <a:sy n="54" d="100"/>
        </p:scale>
        <p:origin x="16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7715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4572000" cy="4572000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2743200"/>
            <a:ext cx="3200400" cy="3200400"/>
          </a:xfrm>
          <a:prstGeom prst="ellipse">
            <a:avLst/>
          </a:prstGeom>
          <a:solidFill>
            <a:srgbClr val="00C2CB">
              <a:alpha val="8000"/>
            </a:srgbClr>
          </a:solidFill>
          <a:ln w="12700">
            <a:solidFill>
              <a:srgbClr val="00C2CB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MODULE  |  SESSION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00C2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Footprint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can we learn about an organization</a:t>
            </a:r>
            <a:endParaRPr lang="en-US" sz="1500" dirty="0"/>
          </a:p>
          <a:p>
            <a:pPr marL="0" indent="0" algn="l">
              <a:buNone/>
            </a:pPr>
            <a:r>
              <a:rPr lang="en-US" sz="1500" i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touching its systems?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2011680"/>
            <a:ext cx="1005840" cy="1005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32B50"/>
          </a:solidFill>
          <a:ln w="12700">
            <a:solidFill>
              <a:srgbClr val="132B5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Scenario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2651760"/>
          </a:xfrm>
          <a:prstGeom prst="roundRect">
            <a:avLst>
              <a:gd name="adj" fmla="val 4138"/>
            </a:avLst>
          </a:prstGeom>
          <a:solidFill>
            <a:srgbClr val="132B50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6420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6420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Dialog Axiata PLC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14884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are planning to conduct a cybersecurity assessment of our organization. Before we spend millions on penetration testing, we want your consulting team to understand our digital presence and identify what information is already publicly available."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4315968"/>
            <a:ext cx="2560320" cy="594360"/>
          </a:xfrm>
          <a:prstGeom prst="roundRect">
            <a:avLst>
              <a:gd name="adj" fmla="val 12308"/>
            </a:avLst>
          </a:prstGeom>
          <a:solidFill>
            <a:srgbClr val="1A2E4A"/>
          </a:solidFill>
          <a:ln w="12700">
            <a:solidFill>
              <a:srgbClr val="008A91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398264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439826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hacking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91840" y="4315968"/>
            <a:ext cx="2560320" cy="594360"/>
          </a:xfrm>
          <a:prstGeom prst="roundRect">
            <a:avLst>
              <a:gd name="adj" fmla="val 12308"/>
            </a:avLst>
          </a:prstGeom>
          <a:solidFill>
            <a:srgbClr val="1A2E4A"/>
          </a:solidFill>
          <a:ln w="12700">
            <a:solidFill>
              <a:srgbClr val="008A91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4398264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40480" y="439826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logging in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126480" y="4315968"/>
            <a:ext cx="2560320" cy="594360"/>
          </a:xfrm>
          <a:prstGeom prst="roundRect">
            <a:avLst>
              <a:gd name="adj" fmla="val 12308"/>
            </a:avLst>
          </a:prstGeom>
          <a:solidFill>
            <a:srgbClr val="1A2E4A"/>
          </a:solidFill>
          <a:ln w="12700">
            <a:solidFill>
              <a:srgbClr val="008A91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4398264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675120" y="439826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info only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00C2CB">
              <a:alpha val="10000"/>
            </a:srgbClr>
          </a:solidFill>
          <a:ln w="12700">
            <a:solidFill>
              <a:srgbClr val="00C2CB">
                <a:alpha val="3500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00584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7432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i="1" dirty="0">
                <a:solidFill>
                  <a:srgbClr val="E8F0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"If you were hired today,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31520" y="32918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i="1" dirty="0">
                <a:solidFill>
                  <a:srgbClr val="00C2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would you start?"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371600" y="41605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for 5 minutes. No wrong answers.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008A91"/>
          </a:solidFill>
          <a:ln w="12700">
            <a:solidFill>
              <a:srgbClr val="008A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589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Mission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1371600"/>
          </a:xfrm>
          <a:prstGeom prst="roundRect">
            <a:avLst>
              <a:gd name="adj" fmla="val 8000"/>
            </a:avLst>
          </a:prstGeom>
          <a:solidFill>
            <a:srgbClr val="132B50"/>
          </a:solidFill>
          <a:ln w="12700">
            <a:solidFill>
              <a:srgbClr val="00E676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27632"/>
            <a:ext cx="658368" cy="658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536192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much can we learn about an organization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touching its systems?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57200" y="301752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1A2E4A"/>
          </a:solidFill>
          <a:ln w="12700">
            <a:solidFill>
              <a:srgbClr val="132B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3127248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" y="382219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starts with understanding, not hacking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337560" y="301752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1A2E4A"/>
          </a:solidFill>
          <a:ln w="12700">
            <a:solidFill>
              <a:srgbClr val="132B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3127248"/>
            <a:ext cx="640080" cy="6400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02152" y="382219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protect — understand what is already visible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6217920" y="301752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1A2E4A"/>
          </a:solidFill>
          <a:ln w="12700">
            <a:solidFill>
              <a:srgbClr val="132B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0" y="3127248"/>
            <a:ext cx="640080" cy="6400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382512" y="382219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security begins with managing your digital footprint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008A91"/>
          </a:solidFill>
          <a:ln w="12700">
            <a:solidFill>
              <a:srgbClr val="008A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589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of Engagement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 consultant preparing a proposal for Dialog.</a:t>
            </a:r>
            <a:endParaRPr lang="en-US" sz="1400" dirty="0"/>
          </a:p>
          <a:p>
            <a:pPr marL="0" indent="0" algn="l">
              <a:buNone/>
            </a:pPr>
            <a:r>
              <a:rPr lang="en-US" sz="14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like a consultant — not an attacker.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132B50"/>
          </a:solidFill>
          <a:ln w="12700">
            <a:solidFill>
              <a:srgbClr val="132B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603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3774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Scanning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8016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run vulnerability scanners or port scanners against any target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46320" y="224028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132B50"/>
          </a:solidFill>
          <a:ln w="12700">
            <a:solidFill>
              <a:srgbClr val="132B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5603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23774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 Attempts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66928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attempt to log in to any system, service, or admin panel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56616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132B50"/>
          </a:solidFill>
          <a:ln w="12700">
            <a:solidFill>
              <a:srgbClr val="132B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88620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37033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Exploitation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280160" y="4069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attempt to exploit any vulnerability you may come across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846320" y="356616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132B50"/>
          </a:solidFill>
          <a:ln w="12700">
            <a:solidFill>
              <a:srgbClr val="132B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886200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669280" y="37033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Sources Only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5669280" y="4069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information that is freely visible and publicly accessible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008A91"/>
          </a:solidFill>
          <a:ln w="12700">
            <a:solidFill>
              <a:srgbClr val="008A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5895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Targets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749040" cy="3474720"/>
          </a:xfrm>
          <a:prstGeom prst="roundRect">
            <a:avLst>
              <a:gd name="adj" fmla="val 3158"/>
            </a:avLst>
          </a:prstGeom>
          <a:solidFill>
            <a:srgbClr val="132B50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02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Available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8483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20756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+ Dork Cheatsheet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96896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2587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I Been Pwned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0896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30998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Shodan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21024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05840" y="3611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Hunter.io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33088"/>
            <a:ext cx="274320" cy="2743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05840" y="412394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WHOIS (ICANN Lookup)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4480560" y="1463040"/>
            <a:ext cx="4206240" cy="3474720"/>
          </a:xfrm>
          <a:prstGeom prst="roundRect">
            <a:avLst>
              <a:gd name="adj" fmla="val 3158"/>
            </a:avLst>
          </a:prstGeom>
          <a:solidFill>
            <a:srgbClr val="132B50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4663440" y="16002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(without hacking):</a:t>
            </a:r>
            <a:endParaRPr lang="en-US" sz="14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075688"/>
            <a:ext cx="292608" cy="29260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074920" y="20756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IP range</a:t>
            </a:r>
            <a:endParaRPr lang="en-US" sz="12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2587752"/>
            <a:ext cx="292608" cy="29260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074920" y="25877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they use</a:t>
            </a:r>
            <a:endParaRPr lang="en-US" sz="12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3099816"/>
            <a:ext cx="292608" cy="292608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074920" y="309981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email format</a:t>
            </a:r>
            <a:endParaRPr lang="en-US" sz="12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3611880"/>
            <a:ext cx="292608" cy="292608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074920" y="3611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documents + metadata</a:t>
            </a:r>
            <a:endParaRPr lang="en-US" sz="120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0" y="4123944"/>
            <a:ext cx="292608" cy="292608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074920" y="412394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servers / DNS records</a:t>
            </a:r>
            <a:endParaRPr lang="en-US" sz="1200" dirty="0"/>
          </a:p>
        </p:txBody>
      </p:sp>
      <p:sp>
        <p:nvSpPr>
          <p:cNvPr id="29" name="Shape 17"/>
          <p:cNvSpPr/>
          <p:nvPr/>
        </p:nvSpPr>
        <p:spPr>
          <a:xfrm>
            <a:off x="2743200" y="4572000"/>
            <a:ext cx="3657600" cy="402336"/>
          </a:xfrm>
          <a:prstGeom prst="roundRect">
            <a:avLst>
              <a:gd name="adj" fmla="val 22727"/>
            </a:avLst>
          </a:prstGeom>
          <a:solidFill>
            <a:srgbClr val="FFB300">
              <a:alpha val="85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0" name="Text 18"/>
          <p:cNvSpPr/>
          <p:nvPr/>
        </p:nvSpPr>
        <p:spPr>
          <a:xfrm>
            <a:off x="2743200" y="45720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minutes  |  Then groups present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008A91"/>
          </a:solidFill>
          <a:ln w="12700">
            <a:solidFill>
              <a:srgbClr val="008A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589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 Their Findings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just accept findings. Challenge like a client would.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1A2E4A"/>
          </a:solidFill>
          <a:ln w="12700">
            <a:solidFill>
              <a:srgbClr val="132B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7510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"We found Microsoft 365."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2203704"/>
            <a:ext cx="548640" cy="0"/>
          </a:xfrm>
          <a:prstGeom prst="line">
            <a:avLst/>
          </a:prstGeom>
          <a:noFill/>
          <a:ln w="25400">
            <a:solidFill>
              <a:srgbClr val="00C2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0" y="1920240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132B50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97510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ask: "Why is that important to the Board?"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670048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1A2E4A"/>
          </a:solidFill>
          <a:ln w="12700">
            <a:solidFill>
              <a:srgbClr val="132B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2491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"We found PDFs."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97680" y="2953512"/>
            <a:ext cx="548640" cy="0"/>
          </a:xfrm>
          <a:prstGeom prst="line">
            <a:avLst/>
          </a:prstGeom>
          <a:noFill/>
          <a:ln w="25400">
            <a:solidFill>
              <a:srgbClr val="00C2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0" y="2670048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132B50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272491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ask: "So what? Why should the client care?"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419856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1A2E4A"/>
          </a:solidFill>
          <a:ln w="12700">
            <a:solidFill>
              <a:srgbClr val="132B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47472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"They use Cloudflare."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297680" y="3703320"/>
            <a:ext cx="548640" cy="0"/>
          </a:xfrm>
          <a:prstGeom prst="line">
            <a:avLst/>
          </a:prstGeom>
          <a:noFill/>
          <a:ln w="25400">
            <a:solidFill>
              <a:srgbClr val="00C2C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37760" y="3419856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132B50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347472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ask: "What problem is Cloudflare solving for them?"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169664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1A2E4A"/>
          </a:solidFill>
          <a:ln w="12700">
            <a:solidFill>
              <a:srgbClr val="132B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22452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"We found their email format."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97680" y="4453128"/>
            <a:ext cx="548640" cy="0"/>
          </a:xfrm>
          <a:prstGeom prst="line">
            <a:avLst/>
          </a:prstGeom>
          <a:noFill/>
          <a:ln w="25400">
            <a:solidFill>
              <a:srgbClr val="00C2C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0" y="4169664"/>
            <a:ext cx="3749040" cy="566928"/>
          </a:xfrm>
          <a:prstGeom prst="roundRect">
            <a:avLst>
              <a:gd name="adj" fmla="val 16129"/>
            </a:avLst>
          </a:prstGeom>
          <a:solidFill>
            <a:srgbClr val="132B50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422452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ask: "Could that information be misused? How?"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365760"/>
            <a:ext cx="3291840" cy="3291840"/>
          </a:xfrm>
          <a:prstGeom prst="ellipse">
            <a:avLst/>
          </a:prstGeom>
          <a:solidFill>
            <a:srgbClr val="00C2CB">
              <a:alpha val="9000"/>
            </a:srgbClr>
          </a:solidFill>
          <a:ln w="12700">
            <a:solidFill>
              <a:srgbClr val="00C2CB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274320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FFB300">
              <a:alpha val="90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743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–  THE REVEAL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100584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we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actually do today?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28600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them answer first.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132B50"/>
          </a:solidFill>
          <a:ln w="12700">
            <a:solidFill>
              <a:srgbClr val="008A9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21408" y="3401568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132B50"/>
          </a:solidFill>
          <a:ln w="12700">
            <a:solidFill>
              <a:srgbClr val="008A9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21408" y="34015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Gathering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85616" y="3401568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132B50"/>
          </a:solidFill>
          <a:ln w="12700">
            <a:solidFill>
              <a:srgbClr val="008A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85616" y="34015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49824" y="3401568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132B50"/>
          </a:solidFill>
          <a:ln w="12700">
            <a:solidFill>
              <a:srgbClr val="008A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9824" y="34015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14032" y="3401568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132B50"/>
          </a:solidFill>
          <a:ln w="12700">
            <a:solidFill>
              <a:srgbClr val="008A9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14032" y="34015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Gathering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4041648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"Everything you discovered came from publicly available information.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didn't exploit anything. Yet — you knew quite a lot."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we have a name for it.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0C2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Source Intelligence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 spc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OSINT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7863840" cy="868680"/>
          </a:xfrm>
          <a:prstGeom prst="roundRect">
            <a:avLst>
              <a:gd name="adj" fmla="val 12632"/>
            </a:avLst>
          </a:prstGeom>
          <a:solidFill>
            <a:srgbClr val="132B50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9456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of collecting and analyzing publicly available information to support decision-making.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12724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OSINT?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566160"/>
            <a:ext cx="1920240" cy="393192"/>
          </a:xfrm>
          <a:prstGeom prst="roundRect">
            <a:avLst>
              <a:gd name="adj" fmla="val 18605"/>
            </a:avLst>
          </a:prstGeom>
          <a:solidFill>
            <a:srgbClr val="1A2E4A"/>
          </a:solidFill>
          <a:ln w="12700">
            <a:solidFill>
              <a:srgbClr val="132B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566160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Consultants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24912" y="3566160"/>
            <a:ext cx="1920240" cy="393192"/>
          </a:xfrm>
          <a:prstGeom prst="roundRect">
            <a:avLst>
              <a:gd name="adj" fmla="val 18605"/>
            </a:avLst>
          </a:prstGeom>
          <a:solidFill>
            <a:srgbClr val="1A2E4A"/>
          </a:solidFill>
          <a:ln w="12700">
            <a:solidFill>
              <a:srgbClr val="132B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24912" y="3566160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Testers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9744" y="3566160"/>
            <a:ext cx="1920240" cy="393192"/>
          </a:xfrm>
          <a:prstGeom prst="roundRect">
            <a:avLst>
              <a:gd name="adj" fmla="val 18605"/>
            </a:avLst>
          </a:prstGeom>
          <a:solidFill>
            <a:srgbClr val="1A2E4A"/>
          </a:solidFill>
          <a:ln w="12700">
            <a:solidFill>
              <a:srgbClr val="132B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3566160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Analysts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94576" y="3566160"/>
            <a:ext cx="1920240" cy="393192"/>
          </a:xfrm>
          <a:prstGeom prst="roundRect">
            <a:avLst>
              <a:gd name="adj" fmla="val 18605"/>
            </a:avLst>
          </a:prstGeom>
          <a:solidFill>
            <a:srgbClr val="1A2E4A"/>
          </a:solidFill>
          <a:ln w="12700">
            <a:solidFill>
              <a:srgbClr val="132B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94576" y="3566160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Enforcement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096512"/>
            <a:ext cx="1920240" cy="393192"/>
          </a:xfrm>
          <a:prstGeom prst="roundRect">
            <a:avLst>
              <a:gd name="adj" fmla="val 18605"/>
            </a:avLst>
          </a:prstGeom>
          <a:solidFill>
            <a:srgbClr val="1A2E4A"/>
          </a:solidFill>
          <a:ln w="12700">
            <a:solidFill>
              <a:srgbClr val="132B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096512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24912" y="4096512"/>
            <a:ext cx="1920240" cy="393192"/>
          </a:xfrm>
          <a:prstGeom prst="roundRect">
            <a:avLst>
              <a:gd name="adj" fmla="val 18605"/>
            </a:avLst>
          </a:prstGeom>
          <a:solidFill>
            <a:srgbClr val="1A2E4A"/>
          </a:solidFill>
          <a:ln w="12700">
            <a:solidFill>
              <a:srgbClr val="132B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24912" y="4096512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 Organizations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9744" y="4096512"/>
            <a:ext cx="1920240" cy="393192"/>
          </a:xfrm>
          <a:prstGeom prst="roundRect">
            <a:avLst>
              <a:gd name="adj" fmla="val 18605"/>
            </a:avLst>
          </a:prstGeom>
          <a:solidFill>
            <a:srgbClr val="1A2E4A"/>
          </a:solidFill>
          <a:ln w="12700">
            <a:solidFill>
              <a:srgbClr val="132B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9744" y="4096512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to Penetration Testing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20040" y="1115568"/>
            <a:ext cx="1554480" cy="1645920"/>
          </a:xfrm>
          <a:prstGeom prst="roundRect">
            <a:avLst>
              <a:gd name="adj" fmla="val 5882"/>
            </a:avLst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11704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16276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2148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did today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874520" y="1920240"/>
            <a:ext cx="182880" cy="0"/>
          </a:xfrm>
          <a:prstGeom prst="line">
            <a:avLst/>
          </a:prstGeom>
          <a:noFill/>
          <a:ln w="19050">
            <a:solidFill>
              <a:srgbClr val="8FA3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1115568"/>
            <a:ext cx="1554480" cy="1645920"/>
          </a:xfrm>
          <a:prstGeom prst="roundRect">
            <a:avLst>
              <a:gd name="adj" fmla="val 5882"/>
            </a:avLst>
          </a:prstGeom>
          <a:solidFill>
            <a:srgbClr val="132B50"/>
          </a:solidFill>
          <a:ln w="12700">
            <a:solidFill>
              <a:srgbClr val="132B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57400" y="11704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F0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057400" y="16276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57400" y="2148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open ports &amp; services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11880" y="1920240"/>
            <a:ext cx="182880" cy="0"/>
          </a:xfrm>
          <a:prstGeom prst="line">
            <a:avLst/>
          </a:prstGeom>
          <a:noFill/>
          <a:ln w="19050">
            <a:solidFill>
              <a:srgbClr val="8FA3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94760" y="1115568"/>
            <a:ext cx="1554480" cy="1645920"/>
          </a:xfrm>
          <a:prstGeom prst="roundRect">
            <a:avLst>
              <a:gd name="adj" fmla="val 5882"/>
            </a:avLst>
          </a:prstGeom>
          <a:solidFill>
            <a:srgbClr val="132B50"/>
          </a:solidFill>
          <a:ln w="12700">
            <a:solidFill>
              <a:srgbClr val="132B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94760" y="11704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F0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94760" y="16276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94760" y="2148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vulnerabilities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49240" y="1920240"/>
            <a:ext cx="182880" cy="0"/>
          </a:xfrm>
          <a:prstGeom prst="line">
            <a:avLst/>
          </a:prstGeom>
          <a:noFill/>
          <a:ln w="19050">
            <a:solidFill>
              <a:srgbClr val="8FA3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32120" y="1115568"/>
            <a:ext cx="1554480" cy="1645920"/>
          </a:xfrm>
          <a:prstGeom prst="roundRect">
            <a:avLst>
              <a:gd name="adj" fmla="val 5882"/>
            </a:avLst>
          </a:prstGeom>
          <a:solidFill>
            <a:srgbClr val="132B50"/>
          </a:solidFill>
          <a:ln w="12700">
            <a:solidFill>
              <a:srgbClr val="132B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11704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F0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532120" y="16276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Post-Exploitation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32120" y="2148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access, pivot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086600" y="1920240"/>
            <a:ext cx="182880" cy="0"/>
          </a:xfrm>
          <a:prstGeom prst="line">
            <a:avLst/>
          </a:prstGeom>
          <a:noFill/>
          <a:ln w="19050">
            <a:solidFill>
              <a:srgbClr val="8FA3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69480" y="1115568"/>
            <a:ext cx="1554480" cy="1645920"/>
          </a:xfrm>
          <a:prstGeom prst="roundRect">
            <a:avLst>
              <a:gd name="adj" fmla="val 5882"/>
            </a:avLst>
          </a:prstGeom>
          <a:solidFill>
            <a:srgbClr val="132B50"/>
          </a:solidFill>
          <a:ln w="12700">
            <a:solidFill>
              <a:srgbClr val="132B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69480" y="11704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F0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269480" y="16276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69480" y="2148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findings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292608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00E676">
              <a:alpha val="85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9260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lives here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474720"/>
            <a:ext cx="8229600" cy="1417320"/>
          </a:xfrm>
          <a:prstGeom prst="roundRect">
            <a:avLst>
              <a:gd name="adj" fmla="val 7742"/>
            </a:avLst>
          </a:prstGeom>
          <a:solidFill>
            <a:srgbClr val="132B50"/>
          </a:solidFill>
          <a:ln w="12700">
            <a:solidFill>
              <a:srgbClr val="132B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356616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"Later in this module, we'll study penetration testing in depth.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first phases is Reconnaissance — Information Gathering.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without learning a single hacking technique, you've already performed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 of reconnaissance using ethical, publicly available sources."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731520"/>
            <a:ext cx="5486400" cy="5486400"/>
          </a:xfrm>
          <a:prstGeom prst="ellipse">
            <a:avLst/>
          </a:prstGeom>
          <a:solidFill>
            <a:srgbClr val="00C2CB">
              <a:alpha val="7000"/>
            </a:srgbClr>
          </a:solidFill>
          <a:ln w="12700">
            <a:solidFill>
              <a:srgbClr val="00C2CB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Reflection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5943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"If we discovered this much</a:t>
            </a:r>
            <a:endParaRPr lang="en-US" sz="2400" dirty="0"/>
          </a:p>
          <a:p>
            <a:pPr marL="0" indent="0" algn="l"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under one hour</a:t>
            </a:r>
            <a:endParaRPr lang="en-US" sz="2400" dirty="0"/>
          </a:p>
          <a:p>
            <a:pPr marL="0" indent="0" algn="l"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only public sources —</a:t>
            </a:r>
            <a:endParaRPr lang="en-US" sz="2400" dirty="0"/>
          </a:p>
          <a:p>
            <a:pPr marL="0" indent="0" algn="l"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imagine what a well-funded</a:t>
            </a:r>
            <a:endParaRPr lang="en-US" sz="2400" dirty="0"/>
          </a:p>
          <a:p>
            <a:pPr marL="0" indent="0" algn="l"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attacker learns over weeks."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3931920"/>
            <a:ext cx="7863840" cy="18288"/>
          </a:xfrm>
          <a:prstGeom prst="rect">
            <a:avLst/>
          </a:prstGeom>
          <a:solidFill>
            <a:srgbClr val="008A91"/>
          </a:solidFill>
          <a:ln w="12700">
            <a:solidFill>
              <a:srgbClr val="008A9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069080"/>
            <a:ext cx="7863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doesn't start when someone launches an attack.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starts when an organization understands and manages its digital footprint.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597</Words>
  <Application>Microsoft Office PowerPoint</Application>
  <PresentationFormat>On-screen Show (16:9)</PresentationFormat>
  <Paragraphs>123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 Footprint – OSINT &amp; Reconnaissance</dc:title>
  <dc:subject>PptxGenJS Presentation</dc:subject>
  <dc:creator>PptxGenJS</dc:creator>
  <cp:lastModifiedBy>Ms. K Anuradha</cp:lastModifiedBy>
  <cp:revision>3</cp:revision>
  <dcterms:created xsi:type="dcterms:W3CDTF">2026-06-28T14:55:55Z</dcterms:created>
  <dcterms:modified xsi:type="dcterms:W3CDTF">2026-10-01T18:43:51Z</dcterms:modified>
</cp:coreProperties>
</file>