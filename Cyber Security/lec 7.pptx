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ink/ink17.xml" ContentType="application/inkml+xml"/>
  <Override PartName="/ppt/ink/ink18.xml" ContentType="application/inkml+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9"/>
  </p:notesMasterIdLst>
  <p:sldIdLst>
    <p:sldId id="312" r:id="rId2"/>
    <p:sldId id="257" r:id="rId3"/>
    <p:sldId id="258" r:id="rId4"/>
    <p:sldId id="259" r:id="rId5"/>
    <p:sldId id="260" r:id="rId6"/>
    <p:sldId id="261" r:id="rId7"/>
    <p:sldId id="262" r:id="rId8"/>
    <p:sldId id="263" r:id="rId9"/>
    <p:sldId id="264" r:id="rId10"/>
    <p:sldId id="265" r:id="rId11"/>
    <p:sldId id="266" r:id="rId12"/>
    <p:sldId id="313" r:id="rId13"/>
    <p:sldId id="317" r:id="rId14"/>
    <p:sldId id="315" r:id="rId15"/>
    <p:sldId id="344" r:id="rId16"/>
    <p:sldId id="314" r:id="rId17"/>
    <p:sldId id="325" r:id="rId18"/>
    <p:sldId id="316" r:id="rId19"/>
    <p:sldId id="346" r:id="rId20"/>
    <p:sldId id="326" r:id="rId21"/>
    <p:sldId id="327" r:id="rId22"/>
    <p:sldId id="330" r:id="rId23"/>
    <p:sldId id="328" r:id="rId24"/>
    <p:sldId id="329" r:id="rId25"/>
    <p:sldId id="331" r:id="rId26"/>
    <p:sldId id="333" r:id="rId27"/>
    <p:sldId id="332" r:id="rId28"/>
    <p:sldId id="324" r:id="rId29"/>
    <p:sldId id="323" r:id="rId30"/>
    <p:sldId id="335" r:id="rId31"/>
    <p:sldId id="318" r:id="rId32"/>
    <p:sldId id="319" r:id="rId33"/>
    <p:sldId id="320" r:id="rId34"/>
    <p:sldId id="321" r:id="rId35"/>
    <p:sldId id="322" r:id="rId36"/>
    <p:sldId id="291" r:id="rId37"/>
    <p:sldId id="294" r:id="rId38"/>
    <p:sldId id="295" r:id="rId39"/>
    <p:sldId id="296" r:id="rId40"/>
    <p:sldId id="336" r:id="rId41"/>
    <p:sldId id="337" r:id="rId42"/>
    <p:sldId id="338" r:id="rId43"/>
    <p:sldId id="339" r:id="rId44"/>
    <p:sldId id="340" r:id="rId45"/>
    <p:sldId id="341" r:id="rId46"/>
    <p:sldId id="342" r:id="rId47"/>
    <p:sldId id="343" r:id="rId48"/>
    <p:sldId id="351" r:id="rId49"/>
    <p:sldId id="279" r:id="rId50"/>
    <p:sldId id="280" r:id="rId51"/>
    <p:sldId id="281" r:id="rId52"/>
    <p:sldId id="282" r:id="rId53"/>
    <p:sldId id="283" r:id="rId54"/>
    <p:sldId id="284" r:id="rId55"/>
    <p:sldId id="285" r:id="rId56"/>
    <p:sldId id="309" r:id="rId57"/>
    <p:sldId id="310" r:id="rId5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3457" autoAdjust="0"/>
  </p:normalViewPr>
  <p:slideViewPr>
    <p:cSldViewPr snapToGrid="0" snapToObjects="1">
      <p:cViewPr varScale="1">
        <p:scale>
          <a:sx n="59" d="100"/>
          <a:sy n="59" d="100"/>
        </p:scale>
        <p:origin x="94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7T06:50:48.107"/>
    </inkml:context>
    <inkml:brush xml:id="br0">
      <inkml:brushProperty name="width" value="0.05" units="cm"/>
      <inkml:brushProperty name="height" value="0.05" units="cm"/>
    </inkml:brush>
  </inkml:definitions>
  <inkml:trace contextRef="#ctx0" brushRef="#br0">1 1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7T06:50:49.595"/>
    </inkml:context>
    <inkml:brush xml:id="br0">
      <inkml:brushProperty name="width" value="0.05" units="cm"/>
      <inkml:brushProperty name="height" value="0.05" units="cm"/>
    </inkml:brush>
  </inkml:definitions>
  <inkml:trace contextRef="#ctx0" brushRef="#br0">0 0 24575</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7T06:50:50.909"/>
    </inkml:context>
    <inkml:brush xml:id="br0">
      <inkml:brushProperty name="width" value="0.05" units="cm"/>
      <inkml:brushProperty name="height" value="0.05" units="cm"/>
    </inkml:brush>
  </inkml:definitions>
  <inkml:trace contextRef="#ctx0" brushRef="#br0">0 0 24575,'0'0'-8191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7T06:50:52.733"/>
    </inkml:context>
    <inkml:brush xml:id="br0">
      <inkml:brushProperty name="width" value="0.05" units="cm"/>
      <inkml:brushProperty name="height" value="0.05" units="cm"/>
    </inkml:brush>
  </inkml:definitions>
  <inkml:trace contextRef="#ctx0" brushRef="#br0">0 0 24575,'0'0'-8191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7T06:51:09.067"/>
    </inkml:context>
    <inkml:brush xml:id="br0">
      <inkml:brushProperty name="width" value="0.05" units="cm"/>
      <inkml:brushProperty name="height" value="0.05" units="cm"/>
    </inkml:brush>
  </inkml:definitions>
  <inkml:trace contextRef="#ctx0" brushRef="#br0">193 58 24575,'-5'0'0,"-6"-5"0,-6-1 0,-6-5 0,-2 0 0,-3 1 0,-1 3 0,0 3 0,4 1-8191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7T06:51:11.276"/>
    </inkml:context>
    <inkml:brush xml:id="br0">
      <inkml:brushProperty name="width" value="0.05" units="cm"/>
      <inkml:brushProperty name="height" value="0.05" units="cm"/>
    </inkml:brush>
  </inkml:definitions>
  <inkml:trace contextRef="#ctx0" brushRef="#br0">0 1 24575,'11'1'0,"1"0"0,-1 1 0,0 0 0,0 1 0,0 0 0,-1 1 0,14 6 0,-8-3 0,-1-1 0,22 4 0,-24-7 0,1 0 0,-1 0 0,-1 1 0,1 1 0,-1 0 0,1 1 0,-2 0 0,1 1 0,19 15 0,-30-21 0,1 0 0,-1 0 0,0 0 0,0 0 0,0 0 0,0 0 0,0 1 0,0-1 0,-1 0 0,1 1 0,0-1 0,0 0 0,-1 1 0,1-1 0,-1 1 0,0-1 0,1 3 0,-1-3 0,0 0 0,-1 0 0,1 0 0,0 0 0,-1 0 0,1 0 0,0 0 0,-1 0 0,1 0 0,-1-1 0,1 1 0,-1 0 0,0 0 0,1-1 0,-1 1 0,0 0 0,0-1 0,1 1 0,-1 0 0,-1 0 0,-4 1 0,1 1 0,0-1 0,-1 0 0,1-1 0,-1 1 0,0-1 0,-10 1 0,-12-1-1365,3-1-5461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7T06:52:17.242"/>
    </inkml:context>
    <inkml:brush xml:id="br0">
      <inkml:brushProperty name="width" value="0.2" units="cm"/>
      <inkml:brushProperty name="height" value="0.2" units="cm"/>
      <inkml:brushProperty name="color" value="#000066"/>
    </inkml:brush>
  </inkml:definitions>
  <inkml:trace contextRef="#ctx0" brushRef="#br0">0 0 24575,'0'0'-8191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7T06:52:19.224"/>
    </inkml:context>
    <inkml:brush xml:id="br0">
      <inkml:brushProperty name="width" value="0.2" units="cm"/>
      <inkml:brushProperty name="height" value="0.2" units="cm"/>
      <inkml:brushProperty name="color" value="#000066"/>
    </inkml:brush>
  </inkml:definitions>
  <inkml:trace contextRef="#ctx0" brushRef="#br0">0 0 24575,'0'0'-8191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4T18:06:35.355"/>
    </inkml:context>
    <inkml:brush xml:id="br0">
      <inkml:brushProperty name="width" value="0.35" units="cm"/>
      <inkml:brushProperty name="height" value="0.35" units="cm"/>
      <inkml:brushProperty name="color" value="#000066"/>
    </inkml:brush>
  </inkml:definitions>
  <inkml:trace contextRef="#ctx0" brushRef="#br0">0 0 24575,'0'0'-8191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9T17:13:50.864"/>
    </inkml:context>
    <inkml:brush xml:id="br0">
      <inkml:brushProperty name="width" value="0.2" units="cm"/>
      <inkml:brushProperty name="height" value="0.2" units="cm"/>
      <inkml:brushProperty name="color" value="#000066"/>
    </inkml:brush>
  </inkml:definitions>
  <inkml:trace contextRef="#ctx0" brushRef="#br0">0 0 24575,'0'0'-8191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9T17:13:57.729"/>
    </inkml:context>
    <inkml:brush xml:id="br0">
      <inkml:brushProperty name="width" value="0.2" units="cm"/>
      <inkml:brushProperty name="height" value="0.2" units="cm"/>
      <inkml:brushProperty name="color" value="#000066"/>
    </inkml:brush>
  </inkml:definitions>
  <inkml:trace contextRef="#ctx0" brushRef="#br0">0 1 24575,'0'0'-8191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9T17:13:59.620"/>
    </inkml:context>
    <inkml:brush xml:id="br0">
      <inkml:brushProperty name="width" value="0.2" units="cm"/>
      <inkml:brushProperty name="height" value="0.2" units="cm"/>
      <inkml:brushProperty name="color" value="#000066"/>
    </inkml:brush>
  </inkml:definitions>
  <inkml:trace contextRef="#ctx0" brushRef="#br0">1 0 24575,'0'0'-8191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19T17:14:01.928"/>
    </inkml:context>
    <inkml:brush xml:id="br0">
      <inkml:brushProperty name="width" value="0.2" units="cm"/>
      <inkml:brushProperty name="height" value="0.2" units="cm"/>
      <inkml:brushProperty name="color" value="#000066"/>
    </inkml:brush>
  </inkml:definitions>
  <inkml:trace contextRef="#ctx0" brushRef="#br0">0 1 24575,'0'0'-8191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5T06:09:29.125"/>
    </inkml:context>
    <inkml:brush xml:id="br0">
      <inkml:brushProperty name="width" value="0.35" units="cm"/>
      <inkml:brushProperty name="height" value="0.35" units="cm"/>
    </inkml:brush>
  </inkml:definitions>
  <inkml:trace contextRef="#ctx0" brushRef="#br0">0 1 24575,'0'0'-8191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5T06:09:30.618"/>
    </inkml:context>
    <inkml:brush xml:id="br0">
      <inkml:brushProperty name="width" value="0.35" units="cm"/>
      <inkml:brushProperty name="height" value="0.35" units="cm"/>
    </inkml:brush>
  </inkml:definitions>
  <inkml:trace contextRef="#ctx0" brushRef="#br0">0 0 24575,'0'0'-8191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5T06:09:31.599"/>
    </inkml:context>
    <inkml:brush xml:id="br0">
      <inkml:brushProperty name="width" value="0.35" units="cm"/>
      <inkml:brushProperty name="height" value="0.35" units="cm"/>
    </inkml:brush>
  </inkml:definitions>
  <inkml:trace contextRef="#ctx0" brushRef="#br0">0 1 24575,'0'0'-8191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24T19:14:22.519"/>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487 597,'55'25,"82"23,-81-29,-33-13,0-1,1-1,-1-1,1-1,37-1,22 1,-71-1,0 0,1 2,-1-1,0 1,0 1,-1 0,15 7,-25-10,0-1,0 0,0 1,-1-1,1 1,0 0,0-1,0 1,-1 0,1-1,0 1,-1 0,1 0,-1-1,1 1,-1 0,1 0,-1 0,1 0,-1 0,0 0,0 0,1 0,-1 0,0-1,0 1,0 0,0 0,0 0,0 0,0 0,-1 0,1 0,0 0,0 0,-1 0,1 0,-1 0,1 0,-1 0,1-1,-1 1,1 0,-1 0,-1 1,-2 2,0 0,-1-1,1 1,-1-1,0 0,-10 5,-7 2,-1-2,0 0,-30 5,-76 9,52-10,-2-1,-86 2,-78-11,158-2,72-1,0 1,0-2,-16-3,25 4,1 0,-1 1,1-2,0 1,-1 0,1-1,0 1,0-1,0 0,0 0,0 0,0 0,0-1,1 1,-1-1,-3-5,6 7,-1-1,1 1,0-1,-1 1,1-1,0 0,0 1,0-1,0 1,0-1,0 1,0-1,1 0,-1 1,0-1,1 1,-1-1,1 1,0 0,0-1,-1 1,1 0,0-1,0 1,0 0,0 0,0 0,1 0,-1 0,0 0,3-2,3-1,-1-1,1 1,1 0,-1 1,10-4,37-8,0 2,60-6,-14 3,-1-3,1 5,119-3,-147 16,1 3,0 3,73 15,-140-19,-1 0,1 1,-1 0,0 0,1 0,-1 1,0 0,0 0,0 0,-1 0,1 1,-1 0,0 0,0 0,0 0,-1 1,6 8,-4-4,-1 0,-1 0,1 0,-1 0,-1 1,0-1,0 1,-1 0,0 16,-1-10,1-1,-1-1,-1 1,-3 19,3-30,0 0,0 0,0 0,-1 0,1 0,-1 0,0 0,0-1,-1 1,1-1,-1 0,1 0,-1 1,0-2,0 1,-5 3,-7 3,0-1,0-1,-1 0,0-1,-26 7,-87 11,36-11,0-3,0-5,-1-5,-168-19,234 15,0-2,1-1,-1-2,1 0,-45-23,55 22,0 0,0-1,1-1,1 0,-1-2,2 1,0-2,-23-31,32 38,0-1,1 0,0 0,0 0,1 0,0-1,1 1,0-1,-1-14,1-10,3-47,0 53,-1 21,0 1,1-1,-1 1,1-1,1 1,-1-1,1 1,0 0,1 0,-1 0,1 0,0 0,1 0,-1 1,1-1,0 1,1 0,9-8,0 1,1 0,0 2,1 0,0 0,0 2,1 0,0 0,0 2,22-5,-7 4,0 2,0 1,0 2,48 2,97 5,-169-4,-1 0,0 1,0 0,1 0,-1 1,0 0,-1 0,1 0,-1 1,1 0,-1 1,0-1,-1 1,1 0,-1 1,0-1,0 1,5 9,-3-5,-1-1,-1 2,0-1,0 1,-1 0,0-1,-1 2,0-1,-1 0,0 1,0 15,-2-24,0 1,-1 0,1-1,-1 1,0 0,0-1,0 1,0-1,0 1,-1-1,0 0,1 0,-1 1,0-1,-5 4,2-2,1-1,-1 0,0 0,-1-1,1 1,-1-1,1 0,-10 3,-3-1,-1 0,1-1,-1 0,0-2,-22 0,16-1,3 1,0-1,-1-2,1 0,0-1,-24-6,41 6,1 1,0-1,0 0,0-1,0 1,1-1,-1 1,1-1,-1 0,1-1,-6-6,0-3,0 0,-7-16,5 9,5 10,1 0,0 0,1-1,0 0,1 0,0 0,0-1,1 1,1 0,0-1,1 0,0 1,3-23,0 17,2 0,0 0,0 0,2 1,0-1,1 2,1-1,15-21,-6 13,1 2,0 1,2 0,0 1,2 2,0 0,0 1,2 1,0 2,1 0,0 2,47-15,-18 11,0 2,1 3,0 3,1 2,89 1,-82 5,137 5,-179-3,0 1,0 1,0 1,-1 1,0 0,0 2,0 1,-1 0,24 16,-33-18,-1 1,0-1,-1 2,0-1,0 1,-1 1,13 18,-16-20,-1 0,0 0,0 1,-1-1,0 1,-1-1,0 1,0 0,-1 0,0 0,0 16,-2-19,0-1,0 0,0 1,-1-1,1 0,-1 0,0 0,-1 0,1-1,-1 1,0 0,0-1,-1 0,1 0,-1 0,0 0,0-1,0 1,0-1,-1 0,-7 4,-9 4,1-2,-1 0,-39 10,4-4,0-2,-1-3,0-3,0-1,-1-4,1-2,-1-2,-98-18,150 19,-103-25,100 23,-1 0,0-1,1-1,0 1,0-1,1-1,-1 0,-12-11,18 14,0 0,0 0,0 0,1 0,-1-1,1 0,0 1,0-1,0 0,1 0,-1 0,1 0,0 0,0 0,0 0,1 0,-1-1,1 1,0 0,1 0,-1-1,0 1,1 0,0 0,0 0,1 0,-1 0,1 0,0 0,0 0,0 1,0-1,0 1,1-1,0 1,0 0,0 0,0 0,0 1,0-1,1 1,3-3,23-11,1 0,0 2,1 2,0 1,1 1,45-7,-24 8,0 2,1 3,0 2,84 7,-136-5,0 0,0 1,0-1,-1 1,1 0,0 0,-1 0,1 0,-1 0,1 0,-1 1,0-1,1 1,-1 0,0 0,0 0,0 0,0 0,-1 0,1 0,0 0,-1 1,0-1,1 1,0 4,0-1,0 1,-1 0,0 0,0 0,-1 0,0 0,0 0,-1 0,-2 9,3-11,-2 0,1 0,-1 0,1 0,-1 0,-1-1,1 1,-1-1,0 1,0-1,0 0,-6 6,3-4,-1-1,1 0,-1-1,0 0,0 0,0 0,-12 4,-4-1,-2-1,1-1,-1-1,-33 1,-71-1,113-5,1-1,-1 0,0-1,0 0,-29-12,41 13,-1 0,0 0,1-1,-1 0,1 0,0 0,0-1,0 1,-5-8,-5-9</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24T19:15:13.125"/>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894 115,'-397'0,"379"1,0 0,1 2,-21 6,17-5,-37 5,-165-7,119-3,136-3,0 0,0-2,58-20,-25-2,-49 20,0 1,0 0,1 1,0 1,0 0,19-2,57-6,-54 6,56-2,421 8,-243 3,-272-3,0 1,1 0,-1 0,1 0,-1 0,0 0,1 1,-1-1,0 0,1 1,-1-1,0 1,1-1,-1 1,0 0,0-1,0 1,0 0,1 0,-1 0,0 0,0 0,1 2,-2-2,0 0,1 1,-1-1,0 0,0 0,0 1,-1-1,1 0,0 1,0-1,-1 0,1 0,-1 1,1-1,-1 0,1 0,-1 0,0 0,0 0,1 0,-1 0,0 0,0 0,0 0,-2 1,-4 3,0 1,0-2,-1 1,0-1,0 0,0 0,-16 4,11-4,1 1,-21 11,24-11,1-1,0 0,-1 0,0-1,0 0,-17 2,-1-1,-27-1,28-2,-40 7,-15 3,54-8,-52 11,54-8,1-1,-1-1,-33 0,-77-5,52-1,-301 2,1053 0,-635-2,-1-2,0-1,62-19,-19 4,-84 21,1-1,-1 1,1 0,-1 1,-8 3,-13 9,20-9,-1 0,1-1,-1 0,0-1,-21 5,2-5,20-2,1-1,-1 2,1-1,-1 1,1 0,0 1,0-1,-13 8,-15 9,19-11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62134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effectLst/>
                <a:latin typeface="Cambria" panose="02040503050406030204" pitchFamily="18" charset="0"/>
                <a:ea typeface="MS Mincho" panose="02020609040205080304" pitchFamily="49" charset="-128"/>
                <a:cs typeface="Times New Roman" panose="02020603050405020304" pitchFamily="18" charset="0"/>
              </a:rPr>
              <a:t>Cryptography is the defensive side. We design methods that transform information so that unauthorized people cannot understand it. For example, if Alice wants to send Bob a confidential message, cryptography gives her a way to protect that message.</a:t>
            </a:r>
            <a:br>
              <a:rPr lang="en-US" sz="1800" dirty="0">
                <a:effectLst/>
                <a:latin typeface="Cambria" panose="02040503050406030204" pitchFamily="18" charset="0"/>
                <a:ea typeface="MS Mincho" panose="02020609040205080304" pitchFamily="49" charset="-128"/>
                <a:cs typeface="Times New Roman" panose="02020603050405020304" pitchFamily="18" charset="0"/>
              </a:rPr>
            </a:br>
            <a:endParaRPr lang="en-US" sz="1800" dirty="0">
              <a:effectLst/>
              <a:latin typeface="Cambria" panose="02040503050406030204" pitchFamily="18" charset="0"/>
              <a:ea typeface="MS Mincho" panose="02020609040205080304" pitchFamily="49" charset="-128"/>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ambria" panose="02040503050406030204" pitchFamily="18" charset="0"/>
                <a:ea typeface="MS Mincho" panose="02020609040205080304" pitchFamily="49" charset="-128"/>
                <a:cs typeface="Times New Roman" panose="02020603050405020304" pitchFamily="18" charset="0"/>
              </a:rPr>
              <a:t>Cryptanalysis is different. Here, we study how cryptographic systems can be analyzed or attacked. A cryptanalyst may try to discover the plaintext, recover a key, or identify weaknesses in an implementation. So, as cybersecurity students, you should understand both sides. A good security professional should know not only how to build protection, but also how that protection might fail.</a:t>
            </a:r>
            <a:br>
              <a:rPr lang="en-US" sz="1800" dirty="0">
                <a:effectLst/>
                <a:latin typeface="Cambria" panose="02040503050406030204" pitchFamily="18" charset="0"/>
                <a:ea typeface="MS Mincho" panose="02020609040205080304" pitchFamily="49" charset="-128"/>
                <a:cs typeface="Times New Roman" panose="02020603050405020304" pitchFamily="18" charset="0"/>
              </a:rPr>
            </a:br>
            <a:br>
              <a:rPr lang="en-US" sz="1800" dirty="0">
                <a:effectLst/>
                <a:latin typeface="Cambria" panose="02040503050406030204" pitchFamily="18" charset="0"/>
                <a:ea typeface="MS Mincho" panose="02020609040205080304" pitchFamily="49" charset="-128"/>
                <a:cs typeface="Times New Roman" panose="02020603050405020304" pitchFamily="18" charset="0"/>
              </a:rPr>
            </a:br>
            <a:r>
              <a:rPr lang="en-US" sz="1800" dirty="0">
                <a:effectLst/>
                <a:latin typeface="Cambria" panose="02040503050406030204" pitchFamily="18" charset="0"/>
                <a:ea typeface="MS Mincho" panose="02020609040205080304" pitchFamily="49" charset="-128"/>
                <a:cs typeface="Times New Roman" panose="02020603050405020304" pitchFamily="18" charset="0"/>
              </a:rPr>
              <a:t>The slide also separates symmetric algorithms, asymmetric algorithms, and protocols. An algorithm is the mathematical procedure used for cryptographic operations. A protocol is a broader communication procedure that tells systems how cryptographic operations should be used between parties.</a:t>
            </a:r>
            <a:br>
              <a:rPr lang="en-US" sz="1800" dirty="0">
                <a:effectLst/>
                <a:latin typeface="Cambria" panose="02040503050406030204" pitchFamily="18" charset="0"/>
                <a:ea typeface="MS Mincho" panose="02020609040205080304" pitchFamily="49" charset="-128"/>
                <a:cs typeface="Times New Roman" panose="02020603050405020304" pitchFamily="18" charset="0"/>
              </a:rPr>
            </a:br>
            <a:br>
              <a:rPr lang="en-US" sz="1800" dirty="0">
                <a:effectLst/>
                <a:latin typeface="Cambria" panose="02040503050406030204" pitchFamily="18" charset="0"/>
                <a:ea typeface="MS Mincho" panose="02020609040205080304" pitchFamily="49" charset="-128"/>
                <a:cs typeface="Times New Roman" panose="02020603050405020304" pitchFamily="18" charset="0"/>
              </a:rPr>
            </a:br>
            <a:r>
              <a:rPr lang="en-US" sz="1800" dirty="0">
                <a:effectLst/>
                <a:latin typeface="Cambria" panose="02040503050406030204" pitchFamily="18" charset="0"/>
                <a:ea typeface="MS Mincho" panose="02020609040205080304" pitchFamily="49" charset="-128"/>
                <a:cs typeface="Times New Roman" panose="02020603050405020304" pitchFamily="18" charset="0"/>
              </a:rPr>
              <a:t>So remember the relationship: cryptography builds the protection, algorithms provide the mathematical mechanisms, protocols coordinate their use, and cryptanalysis tests or attacks those mechanisms. This distinction becomes very useful when we later discuss AES, RSA, and Diffie-Hellman.</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effectLst/>
                <a:latin typeface="Cambria" panose="02040503050406030204" pitchFamily="18" charset="0"/>
                <a:ea typeface="MS Mincho" panose="02020609040205080304" pitchFamily="49" charset="-128"/>
                <a:cs typeface="Times New Roman" panose="02020603050405020304" pitchFamily="18" charset="0"/>
              </a:rPr>
              <a:t>This is called a key management or scalability problem. The encryption algorithm itself may be extremely strong, but managing hundreds or thousands of shared keys can become difficult. Think about a university with thousands of students and staff. If every pair of people had to maintain a unique shared secret key, the administrative problem would become huge.</a:t>
            </a:r>
            <a:br>
              <a:rPr lang="en-US" sz="1800" dirty="0">
                <a:effectLst/>
                <a:latin typeface="Cambria" panose="02040503050406030204" pitchFamily="18" charset="0"/>
                <a:ea typeface="MS Mincho" panose="02020609040205080304" pitchFamily="49" charset="-128"/>
                <a:cs typeface="Times New Roman" panose="02020603050405020304" pitchFamily="18" charset="0"/>
              </a:rPr>
            </a:br>
            <a:r>
              <a:rPr lang="en-US" sz="1800" dirty="0">
                <a:effectLst/>
                <a:latin typeface="Cambria" panose="02040503050406030204" pitchFamily="18" charset="0"/>
                <a:ea typeface="MS Mincho" panose="02020609040205080304" pitchFamily="49" charset="-128"/>
                <a:cs typeface="Times New Roman" panose="02020603050405020304" pitchFamily="18" charset="0"/>
              </a:rPr>
              <a:t>security of the algorithm” and “manageability of the system.” A strong algorithm does not automatically create a convenient secure system. Key generation, storage, distribution, rotation, revocation, and recovery are all part of key management.</a:t>
            </a:r>
            <a:br>
              <a:rPr lang="en-US" sz="1800" dirty="0">
                <a:effectLst/>
                <a:latin typeface="Cambria" panose="02040503050406030204" pitchFamily="18" charset="0"/>
                <a:ea typeface="MS Mincho" panose="02020609040205080304" pitchFamily="49" charset="-128"/>
                <a:cs typeface="Times New Roman" panose="02020603050405020304" pitchFamily="18" charset="0"/>
              </a:rPr>
            </a:b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effectLst/>
                <a:latin typeface="Cambria" panose="02040503050406030204" pitchFamily="18" charset="0"/>
                <a:ea typeface="MS Mincho" panose="02020609040205080304" pitchFamily="49" charset="-128"/>
                <a:cs typeface="Times New Roman" panose="02020603050405020304" pitchFamily="18" charset="0"/>
              </a:rPr>
              <a:t>But there is an important question: how do Alice and Bob know that a public key really belongs to the person they think it belongs to? Imagine an attacker gives Alice the attacker’s public key and says, “This is Bob’s key.” Alice could encrypt the message for the attacker without realizing it.</a:t>
            </a:r>
            <a:br>
              <a:rPr lang="en-US" sz="1800" dirty="0">
                <a:effectLst/>
                <a:latin typeface="Cambria" panose="02040503050406030204" pitchFamily="18" charset="0"/>
                <a:ea typeface="MS Mincho" panose="02020609040205080304" pitchFamily="49" charset="-128"/>
                <a:cs typeface="Times New Roman" panose="02020603050405020304" pitchFamily="18" charset="0"/>
              </a:rPr>
            </a:br>
            <a:br>
              <a:rPr lang="en-US" sz="1800" dirty="0">
                <a:effectLst/>
                <a:latin typeface="Cambria" panose="02040503050406030204" pitchFamily="18" charset="0"/>
                <a:ea typeface="MS Mincho" panose="02020609040205080304" pitchFamily="49" charset="-128"/>
                <a:cs typeface="Times New Roman" panose="02020603050405020304" pitchFamily="18" charset="0"/>
              </a:rPr>
            </a:br>
            <a:r>
              <a:rPr lang="en-US" sz="1800" dirty="0">
                <a:effectLst/>
                <a:latin typeface="Cambria" panose="02040503050406030204" pitchFamily="18" charset="0"/>
                <a:ea typeface="MS Mincho" panose="02020609040205080304" pitchFamily="49" charset="-128"/>
                <a:cs typeface="Times New Roman" panose="02020603050405020304" pitchFamily="18" charset="0"/>
              </a:rPr>
              <a:t>This is where authentication mechanisms, certificates, and public-key infrastructure become important. The simple public/private key idea is only one part of a complete security system.</a:t>
            </a:r>
            <a:br>
              <a:rPr lang="en-US" sz="1800" dirty="0">
                <a:effectLst/>
                <a:latin typeface="Cambria" panose="02040503050406030204" pitchFamily="18" charset="0"/>
                <a:ea typeface="MS Mincho" panose="02020609040205080304" pitchFamily="49" charset="-128"/>
                <a:cs typeface="Times New Roman" panose="02020603050405020304" pitchFamily="18" charset="0"/>
              </a:rPr>
            </a:b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3229891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21007404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2986914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828117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pt-BR" dirty="0"/>
          </a:p>
          <a:p>
            <a:r>
              <a:rPr lang="pt-BR" dirty="0"/>
              <a:t>gcd(e,ϕ(n))=1</a:t>
            </a:r>
          </a:p>
          <a:p>
            <a:endParaRPr lang="pt-BR" dirty="0"/>
          </a:p>
          <a:p>
            <a:r>
              <a:rPr lang="en-US" dirty="0"/>
              <a:t>We could actually choose </a:t>
            </a:r>
            <a:r>
              <a:rPr lang="en-US" b="1" dirty="0"/>
              <a:t>7, 9, 11, 13, 17, or 19</a:t>
            </a:r>
            <a:r>
              <a:rPr lang="en-US" dirty="0"/>
              <a:t> too, because they are also relatively prime to 20.</a:t>
            </a:r>
          </a:p>
        </p:txBody>
      </p:sp>
    </p:spTree>
    <p:extLst>
      <p:ext uri="{BB962C8B-B14F-4D97-AF65-F5344CB8AC3E}">
        <p14:creationId xmlns:p14="http://schemas.microsoft.com/office/powerpoint/2010/main" val="27529284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lang="en-US" dirty="0"/>
              <a:t>1&lt;e&lt;20</a:t>
            </a:r>
          </a:p>
          <a:p>
            <a:r>
              <a:rPr lang="en-US" dirty="0" err="1"/>
              <a:t>gcd</a:t>
            </a:r>
            <a:r>
              <a:rPr lang="en-US" dirty="0"/>
              <a:t>(e,20)=1</a:t>
            </a:r>
          </a:p>
        </p:txBody>
      </p:sp>
    </p:spTree>
    <p:extLst>
      <p:ext uri="{BB962C8B-B14F-4D97-AF65-F5344CB8AC3E}">
        <p14:creationId xmlns:p14="http://schemas.microsoft.com/office/powerpoint/2010/main" val="18007692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3948131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28002781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272902926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206515971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237750595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63201143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411505377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8" Type="http://schemas.openxmlformats.org/officeDocument/2006/relationships/customXml" Target="../ink/ink5.xml"/><Relationship Id="rId13" Type="http://schemas.openxmlformats.org/officeDocument/2006/relationships/image" Target="../media/image21.png"/><Relationship Id="rId3" Type="http://schemas.openxmlformats.org/officeDocument/2006/relationships/customXml" Target="../ink/ink1.xml"/><Relationship Id="rId7" Type="http://schemas.openxmlformats.org/officeDocument/2006/relationships/customXml" Target="../ink/ink4.xml"/><Relationship Id="rId12" Type="http://schemas.openxmlformats.org/officeDocument/2006/relationships/customXml" Target="../ink/ink7.xml"/><Relationship Id="rId2" Type="http://schemas.openxmlformats.org/officeDocument/2006/relationships/image" Target="../media/image20.png"/><Relationship Id="rId1" Type="http://schemas.openxmlformats.org/officeDocument/2006/relationships/slideLayout" Target="../slideLayouts/slideLayout1.xml"/><Relationship Id="rId6" Type="http://schemas.openxmlformats.org/officeDocument/2006/relationships/customXml" Target="../ink/ink3.xml"/><Relationship Id="rId11" Type="http://schemas.openxmlformats.org/officeDocument/2006/relationships/image" Target="../media/image200.png"/><Relationship Id="rId5" Type="http://schemas.openxmlformats.org/officeDocument/2006/relationships/customXml" Target="../ink/ink2.xml"/><Relationship Id="rId10" Type="http://schemas.openxmlformats.org/officeDocument/2006/relationships/customXml" Target="../ink/ink6.xml"/><Relationship Id="rId4" Type="http://schemas.openxmlformats.org/officeDocument/2006/relationships/image" Target="../media/image180.png"/><Relationship Id="rId9" Type="http://schemas.openxmlformats.org/officeDocument/2006/relationships/image" Target="../media/image190.png"/><Relationship Id="rId14" Type="http://schemas.openxmlformats.org/officeDocument/2006/relationships/customXml" Target="../ink/ink8.xml"/></Relationships>
</file>

<file path=ppt/slides/_rels/slide22.xml.rels><?xml version="1.0" encoding="UTF-8" standalone="yes"?>
<Relationships xmlns="http://schemas.openxmlformats.org/package/2006/relationships"><Relationship Id="rId3" Type="http://schemas.openxmlformats.org/officeDocument/2006/relationships/customXml" Target="../ink/ink9.xml"/><Relationship Id="rId2" Type="http://schemas.openxmlformats.org/officeDocument/2006/relationships/image" Target="../media/image22.png"/><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23.xml.rels><?xml version="1.0" encoding="UTF-8" standalone="yes"?>
<Relationships xmlns="http://schemas.openxmlformats.org/package/2006/relationships"><Relationship Id="rId3" Type="http://schemas.openxmlformats.org/officeDocument/2006/relationships/customXml" Target="../ink/ink10.xml"/><Relationship Id="rId7" Type="http://schemas.openxmlformats.org/officeDocument/2006/relationships/customXml" Target="../ink/ink13.xml"/><Relationship Id="rId2" Type="http://schemas.openxmlformats.org/officeDocument/2006/relationships/image" Target="../media/image24.png"/><Relationship Id="rId1" Type="http://schemas.openxmlformats.org/officeDocument/2006/relationships/slideLayout" Target="../slideLayouts/slideLayout1.xml"/><Relationship Id="rId6" Type="http://schemas.openxmlformats.org/officeDocument/2006/relationships/customXml" Target="../ink/ink12.xml"/><Relationship Id="rId5" Type="http://schemas.openxmlformats.org/officeDocument/2006/relationships/customXml" Target="../ink/ink11.xml"/><Relationship Id="rId4" Type="http://schemas.openxmlformats.org/officeDocument/2006/relationships/image" Target="../media/image25.png"/></Relationships>
</file>

<file path=ppt/slides/_rels/slide24.xml.rels><?xml version="1.0" encoding="UTF-8" standalone="yes"?>
<Relationships xmlns="http://schemas.openxmlformats.org/package/2006/relationships"><Relationship Id="rId3" Type="http://schemas.openxmlformats.org/officeDocument/2006/relationships/customXml" Target="../ink/ink14.xml"/><Relationship Id="rId2" Type="http://schemas.openxmlformats.org/officeDocument/2006/relationships/image" Target="../media/image26.png"/><Relationship Id="rId1" Type="http://schemas.openxmlformats.org/officeDocument/2006/relationships/slideLayout" Target="../slideLayouts/slideLayout1.xml"/><Relationship Id="rId6" Type="http://schemas.openxmlformats.org/officeDocument/2006/relationships/customXml" Target="../ink/ink16.xml"/><Relationship Id="rId5" Type="http://schemas.openxmlformats.org/officeDocument/2006/relationships/customXml" Target="../ink/ink15.xml"/><Relationship Id="rId4" Type="http://schemas.openxmlformats.org/officeDocument/2006/relationships/image" Target="../media/image2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34.jp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35.jp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36.jp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40.jp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customXml" Target="../ink/ink17.xml"/><Relationship Id="rId2" Type="http://schemas.openxmlformats.org/officeDocument/2006/relationships/image" Target="../media/image41.png"/><Relationship Id="rId1" Type="http://schemas.openxmlformats.org/officeDocument/2006/relationships/slideLayout" Target="../slideLayouts/slideLayout1.xml"/><Relationship Id="rId4" Type="http://schemas.openxmlformats.org/officeDocument/2006/relationships/image" Target="../media/image410.png"/></Relationships>
</file>

<file path=ppt/slides/_rels/slide47.xml.rels><?xml version="1.0" encoding="UTF-8" standalone="yes"?>
<Relationships xmlns="http://schemas.openxmlformats.org/package/2006/relationships"><Relationship Id="rId3" Type="http://schemas.openxmlformats.org/officeDocument/2006/relationships/customXml" Target="../ink/ink18.xml"/><Relationship Id="rId2" Type="http://schemas.openxmlformats.org/officeDocument/2006/relationships/image" Target="../media/image42.png"/><Relationship Id="rId1" Type="http://schemas.openxmlformats.org/officeDocument/2006/relationships/slideLayout" Target="../slideLayouts/slideLayout1.xml"/><Relationship Id="rId4" Type="http://schemas.openxmlformats.org/officeDocument/2006/relationships/image" Target="../media/image43.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43.jp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44.jp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45.jp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46.jp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47.jp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48.jp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49.jp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50.jp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51.jp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52000">
              <a:schemeClr val="bg1">
                <a:alpha val="39000"/>
              </a:schemeClr>
            </a:gs>
            <a:gs pos="100000">
              <a:schemeClr val="accent2">
                <a:lumMod val="60000"/>
                <a:lumOff val="40000"/>
              </a:schemeClr>
            </a:gs>
            <a:gs pos="0">
              <a:schemeClr val="accent2">
                <a:lumMod val="60000"/>
                <a:lumOff val="40000"/>
              </a:schemeClr>
            </a:gs>
            <a:gs pos="11500">
              <a:schemeClr val="accent2">
                <a:lumMod val="60000"/>
                <a:lumOff val="40000"/>
              </a:schemeClr>
            </a:gs>
            <a:gs pos="7000">
              <a:schemeClr val="accent2">
                <a:lumMod val="60000"/>
                <a:lumOff val="40000"/>
              </a:schemeClr>
            </a:gs>
          </a:gsLst>
          <a:path path="rect">
            <a:fillToRect l="100000" t="100000"/>
          </a:path>
          <a:tileRect r="-100000" b="-100000"/>
        </a:gra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6CEA290-973E-1480-E134-6882A6392F86}"/>
              </a:ext>
            </a:extLst>
          </p:cNvPr>
          <p:cNvSpPr txBox="1"/>
          <p:nvPr/>
        </p:nvSpPr>
        <p:spPr>
          <a:xfrm>
            <a:off x="1920240" y="1280160"/>
            <a:ext cx="9204960" cy="1569660"/>
          </a:xfrm>
          <a:prstGeom prst="rect">
            <a:avLst/>
          </a:prstGeom>
          <a:noFill/>
        </p:spPr>
        <p:txBody>
          <a:bodyPr wrap="square" rtlCol="0">
            <a:spAutoFit/>
          </a:bodyPr>
          <a:lstStyle/>
          <a:p>
            <a:pPr algn="ctr"/>
            <a:r>
              <a:rPr lang="en-US" sz="4800" dirty="0"/>
              <a:t>Symmetric and Asymmetric Cryptography</a:t>
            </a:r>
          </a:p>
        </p:txBody>
      </p:sp>
    </p:spTree>
    <p:extLst>
      <p:ext uri="{BB962C8B-B14F-4D97-AF65-F5344CB8AC3E}">
        <p14:creationId xmlns:p14="http://schemas.microsoft.com/office/powerpoint/2010/main" val="29238436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age-02.jp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age-03.jp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age-04.jp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age-05.jp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age-06.jp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age-07.jp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age-08.jp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age-09.jp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age-10.jp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age-11.jp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Title"/>
          <p:cNvSpPr txBox="1"/>
          <p:nvPr/>
        </p:nvSpPr>
        <p:spPr>
          <a:xfrm>
            <a:off x="457200" y="274320"/>
            <a:ext cx="11277295" cy="502920"/>
          </a:xfrm>
          <a:prstGeom prst="rect">
            <a:avLst/>
          </a:prstGeom>
          <a:noFill/>
        </p:spPr>
        <p:txBody>
          <a:bodyPr wrap="square" rtlCol="0">
            <a:spAutoFit/>
          </a:bodyPr>
          <a:lstStyle/>
          <a:p>
            <a:pPr algn="ctr"/>
            <a:r>
              <a:rPr lang="en-US" sz="2600" b="1" dirty="0">
                <a:solidFill>
                  <a:srgbClr val="1E2761"/>
                </a:solidFill>
                <a:latin typeface="Cambria"/>
              </a:rPr>
              <a:t>DES at a Glance</a:t>
            </a:r>
          </a:p>
        </p:txBody>
      </p:sp>
      <p:pic>
        <p:nvPicPr>
          <p:cNvPr id="3" name="Image 0" descr="final_des_quick_facts.png"/>
          <p:cNvPicPr>
            <a:picLocks noChangeAspect="1"/>
          </p:cNvPicPr>
          <p:nvPr/>
        </p:nvPicPr>
        <p:blipFill>
          <a:blip r:embed="rId2"/>
          <a:stretch>
            <a:fillRect/>
          </a:stretch>
        </p:blipFill>
        <p:spPr>
          <a:xfrm>
            <a:off x="3258464" y="960120"/>
            <a:ext cx="5674766" cy="3977640"/>
          </a:xfrm>
          <a:prstGeom prst="rect">
            <a:avLst/>
          </a:prstGeom>
        </p:spPr>
      </p:pic>
      <p:sp>
        <p:nvSpPr>
          <p:cNvPr id="4" name="TextBox Desc"/>
          <p:cNvSpPr txBox="1"/>
          <p:nvPr/>
        </p:nvSpPr>
        <p:spPr>
          <a:xfrm>
            <a:off x="731520" y="5102352"/>
            <a:ext cx="10728655" cy="1527048"/>
          </a:xfrm>
          <a:prstGeom prst="rect">
            <a:avLst/>
          </a:prstGeom>
          <a:noFill/>
        </p:spPr>
        <p:txBody>
          <a:bodyPr wrap="square" rtlCol="0">
            <a:normAutofit/>
          </a:bodyPr>
          <a:lstStyle/>
          <a:p>
            <a:pPr algn="ctr"/>
            <a:r>
              <a:rPr lang="en-US" sz="1400" dirty="0">
                <a:solidFill>
                  <a:srgbClr val="333333"/>
                </a:solidFill>
                <a:latin typeface="Calibri"/>
              </a:rPr>
              <a:t>DES is a symmetric block cipher (also called the Data Encryption Algorithm), adopted by NIST in 1977 and later replaced by AES in 2001. It processes 64-bit blocks with a 64-bit main key (56 effective bits), derives 48-bit round keys, and repeats its core round function 16 times.</a:t>
            </a:r>
          </a:p>
        </p:txBody>
      </p:sp>
    </p:spTree>
    <p:extLst>
      <p:ext uri="{BB962C8B-B14F-4D97-AF65-F5344CB8AC3E}">
        <p14:creationId xmlns:p14="http://schemas.microsoft.com/office/powerpoint/2010/main" val="33542315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Title"/>
          <p:cNvSpPr txBox="1"/>
          <p:nvPr/>
        </p:nvSpPr>
        <p:spPr>
          <a:xfrm>
            <a:off x="457200" y="274320"/>
            <a:ext cx="11277295" cy="502920"/>
          </a:xfrm>
          <a:prstGeom prst="rect">
            <a:avLst/>
          </a:prstGeom>
          <a:noFill/>
        </p:spPr>
        <p:txBody>
          <a:bodyPr wrap="square" rtlCol="0">
            <a:spAutoFit/>
          </a:bodyPr>
          <a:lstStyle/>
          <a:p>
            <a:pPr algn="ctr"/>
            <a:r>
              <a:rPr lang="en-US" sz="2600" b="1" dirty="0">
                <a:solidFill>
                  <a:srgbClr val="1E2761"/>
                </a:solidFill>
                <a:latin typeface="Cambria"/>
              </a:rPr>
              <a:t>Feistel Structure: Encryption Mirrors Decryption</a:t>
            </a:r>
          </a:p>
        </p:txBody>
      </p:sp>
      <p:pic>
        <p:nvPicPr>
          <p:cNvPr id="3" name="Image 0" descr="final_des_feistel.png"/>
          <p:cNvPicPr>
            <a:picLocks noChangeAspect="1"/>
          </p:cNvPicPr>
          <p:nvPr/>
        </p:nvPicPr>
        <p:blipFill>
          <a:blip r:embed="rId2"/>
          <a:stretch>
            <a:fillRect/>
          </a:stretch>
        </p:blipFill>
        <p:spPr>
          <a:xfrm>
            <a:off x="2297201" y="960120"/>
            <a:ext cx="7597292" cy="3977640"/>
          </a:xfrm>
          <a:prstGeom prst="rect">
            <a:avLst/>
          </a:prstGeom>
        </p:spPr>
      </p:pic>
      <p:sp>
        <p:nvSpPr>
          <p:cNvPr id="4" name="TextBox Desc"/>
          <p:cNvSpPr txBox="1"/>
          <p:nvPr/>
        </p:nvSpPr>
        <p:spPr>
          <a:xfrm>
            <a:off x="731520" y="5102352"/>
            <a:ext cx="10728655" cy="1527048"/>
          </a:xfrm>
          <a:prstGeom prst="rect">
            <a:avLst/>
          </a:prstGeom>
          <a:noFill/>
        </p:spPr>
        <p:txBody>
          <a:bodyPr wrap="square" rtlCol="0">
            <a:normAutofit/>
          </a:bodyPr>
          <a:lstStyle/>
          <a:p>
            <a:pPr algn="ctr"/>
            <a:r>
              <a:rPr lang="en-US" sz="1400" dirty="0">
                <a:solidFill>
                  <a:srgbClr val="333333"/>
                </a:solidFill>
                <a:latin typeface="Calibri"/>
              </a:rPr>
              <a:t>The same network runs both directions: encryption applies round keys K1 through K16 in order, while decryption applies the identical structure with the keys reversed (K16 down to K1). That symmetry is why a Feistel cipher like DES needs no separate decryption algorithm. The final swap produces the output, LE17 and RE17 - the ciphertext.</a:t>
            </a:r>
          </a:p>
        </p:txBody>
      </p:sp>
    </p:spTree>
    <p:extLst>
      <p:ext uri="{BB962C8B-B14F-4D97-AF65-F5344CB8AC3E}">
        <p14:creationId xmlns:p14="http://schemas.microsoft.com/office/powerpoint/2010/main" val="28735732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Title"/>
          <p:cNvSpPr txBox="1"/>
          <p:nvPr/>
        </p:nvSpPr>
        <p:spPr>
          <a:xfrm>
            <a:off x="457200" y="274320"/>
            <a:ext cx="11277295" cy="502920"/>
          </a:xfrm>
          <a:prstGeom prst="rect">
            <a:avLst/>
          </a:prstGeom>
          <a:noFill/>
        </p:spPr>
        <p:txBody>
          <a:bodyPr wrap="square" rtlCol="0">
            <a:spAutoFit/>
          </a:bodyPr>
          <a:lstStyle/>
          <a:p>
            <a:pPr algn="ctr"/>
            <a:r>
              <a:rPr lang="en-US" sz="2600" b="1" dirty="0">
                <a:solidFill>
                  <a:srgbClr val="1E2761"/>
                </a:solidFill>
                <a:latin typeface="Cambria"/>
              </a:rPr>
              <a:t>DES Encryption: The Complete Flow</a:t>
            </a:r>
          </a:p>
        </p:txBody>
      </p:sp>
      <p:pic>
        <p:nvPicPr>
          <p:cNvPr id="3" name="Image 0" descr="final_des_encryption_algorithm.png"/>
          <p:cNvPicPr>
            <a:picLocks noChangeAspect="1"/>
          </p:cNvPicPr>
          <p:nvPr/>
        </p:nvPicPr>
        <p:blipFill>
          <a:blip r:embed="rId2"/>
          <a:stretch>
            <a:fillRect/>
          </a:stretch>
        </p:blipFill>
        <p:spPr>
          <a:xfrm>
            <a:off x="2849561" y="960120"/>
            <a:ext cx="6492572" cy="3977640"/>
          </a:xfrm>
          <a:prstGeom prst="rect">
            <a:avLst/>
          </a:prstGeom>
        </p:spPr>
      </p:pic>
      <p:sp>
        <p:nvSpPr>
          <p:cNvPr id="4" name="TextBox Desc"/>
          <p:cNvSpPr txBox="1"/>
          <p:nvPr/>
        </p:nvSpPr>
        <p:spPr>
          <a:xfrm>
            <a:off x="731520" y="5102352"/>
            <a:ext cx="10728655" cy="1527048"/>
          </a:xfrm>
          <a:prstGeom prst="rect">
            <a:avLst/>
          </a:prstGeom>
          <a:noFill/>
        </p:spPr>
        <p:txBody>
          <a:bodyPr wrap="square" rtlCol="0">
            <a:normAutofit/>
          </a:bodyPr>
          <a:lstStyle/>
          <a:p>
            <a:pPr algn="ctr"/>
            <a:r>
              <a:rPr lang="en-US" sz="1400" dirty="0">
                <a:solidFill>
                  <a:srgbClr val="333333"/>
                </a:solidFill>
                <a:latin typeface="Calibri"/>
              </a:rPr>
              <a:t>The 64-bit plaintext passes through the Initial Permutation, then 16 rounds, each combined with a round key K1 through K16. Those keys come from a parallel key schedule: the 64-bit key goes through Permuted Choice 1, then repeated left circular shifts and Permuted Choice 2. A final 32-bit swap and Inverse Initial Permutation produce the ciphertext.</a:t>
            </a:r>
          </a:p>
        </p:txBody>
      </p:sp>
    </p:spTree>
    <p:extLst>
      <p:ext uri="{BB962C8B-B14F-4D97-AF65-F5344CB8AC3E}">
        <p14:creationId xmlns:p14="http://schemas.microsoft.com/office/powerpoint/2010/main" val="42811884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7">
            <a:extLst>
              <a:ext uri="{FF2B5EF4-FFF2-40B4-BE49-F238E27FC236}">
                <a16:creationId xmlns:a16="http://schemas.microsoft.com/office/drawing/2014/main" id="{86FF76B9-219D-4469-AF87-0236D2903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0" name="Group 9">
            <a:extLst>
              <a:ext uri="{FF2B5EF4-FFF2-40B4-BE49-F238E27FC236}">
                <a16:creationId xmlns:a16="http://schemas.microsoft.com/office/drawing/2014/main" id="{DB88BD78-87E1-424D-B479-C37D8E41B12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0964637" y="2358"/>
            <a:ext cx="1876653" cy="1766008"/>
            <a:chOff x="-648769" y="2358"/>
            <a:chExt cx="1876653" cy="1766008"/>
          </a:xfrm>
        </p:grpSpPr>
        <p:sp>
          <p:nvSpPr>
            <p:cNvPr id="11" name="Freeform: Shape 10">
              <a:extLst>
                <a:ext uri="{FF2B5EF4-FFF2-40B4-BE49-F238E27FC236}">
                  <a16:creationId xmlns:a16="http://schemas.microsoft.com/office/drawing/2014/main" id="{C05EB894-9410-4B20-95E4-7A25101AB8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415188" y="-231223"/>
              <a:ext cx="1409491" cy="1876653"/>
            </a:xfrm>
            <a:custGeom>
              <a:avLst/>
              <a:gdLst>
                <a:gd name="connsiteX0" fmla="*/ 0 w 1409491"/>
                <a:gd name="connsiteY0" fmla="*/ 643075 h 1876653"/>
                <a:gd name="connsiteX1" fmla="*/ 643075 w 1409491"/>
                <a:gd name="connsiteY1" fmla="*/ 0 h 1876653"/>
                <a:gd name="connsiteX2" fmla="*/ 1409491 w 1409491"/>
                <a:gd name="connsiteY2" fmla="*/ 0 h 1876653"/>
                <a:gd name="connsiteX3" fmla="*/ 1409491 w 1409491"/>
                <a:gd name="connsiteY3" fmla="*/ 1876653 h 1876653"/>
                <a:gd name="connsiteX4" fmla="*/ 1233578 w 1409491"/>
                <a:gd name="connsiteY4" fmla="*/ 1876653 h 18766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491" h="1876653">
                  <a:moveTo>
                    <a:pt x="0" y="643075"/>
                  </a:moveTo>
                  <a:lnTo>
                    <a:pt x="643075" y="0"/>
                  </a:lnTo>
                  <a:lnTo>
                    <a:pt x="1409491" y="0"/>
                  </a:lnTo>
                  <a:lnTo>
                    <a:pt x="1409491" y="1876653"/>
                  </a:lnTo>
                  <a:lnTo>
                    <a:pt x="1233578" y="1876653"/>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66E38B6-B050-4340-8E8F-3A971DADC0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301285" y="128278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ectangle 13">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737196" y="6033666"/>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Isosceles Triangle 15">
            <a:extLst>
              <a:ext uri="{FF2B5EF4-FFF2-40B4-BE49-F238E27FC236}">
                <a16:creationId xmlns:a16="http://schemas.microsoft.com/office/drawing/2014/main" id="{633C5E46-DAC5-4661-9C87-22B08E2A5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43436" y="5721108"/>
            <a:ext cx="2261965" cy="1136891"/>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552A1981-6E14-086F-41AD-9D32FAFF42A1}"/>
              </a:ext>
            </a:extLst>
          </p:cNvPr>
          <p:cNvPicPr>
            <a:picLocks noChangeAspect="1"/>
          </p:cNvPicPr>
          <p:nvPr/>
        </p:nvPicPr>
        <p:blipFill>
          <a:blip r:embed="rId2"/>
          <a:stretch>
            <a:fillRect/>
          </a:stretch>
        </p:blipFill>
        <p:spPr>
          <a:xfrm>
            <a:off x="1472710" y="643467"/>
            <a:ext cx="9246580" cy="5571065"/>
          </a:xfrm>
          <a:prstGeom prst="rect">
            <a:avLst/>
          </a:prstGeom>
          <a:ln>
            <a:noFill/>
          </a:ln>
        </p:spPr>
      </p:pic>
    </p:spTree>
    <p:extLst>
      <p:ext uri="{BB962C8B-B14F-4D97-AF65-F5344CB8AC3E}">
        <p14:creationId xmlns:p14="http://schemas.microsoft.com/office/powerpoint/2010/main" val="6191833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Title"/>
          <p:cNvSpPr txBox="1"/>
          <p:nvPr/>
        </p:nvSpPr>
        <p:spPr>
          <a:xfrm>
            <a:off x="457200" y="274320"/>
            <a:ext cx="11277295" cy="502920"/>
          </a:xfrm>
          <a:prstGeom prst="rect">
            <a:avLst/>
          </a:prstGeom>
          <a:noFill/>
        </p:spPr>
        <p:txBody>
          <a:bodyPr wrap="square" rtlCol="0">
            <a:spAutoFit/>
          </a:bodyPr>
          <a:lstStyle/>
          <a:p>
            <a:pPr algn="ctr"/>
            <a:r>
              <a:rPr lang="en-US" sz="2600" b="1" dirty="0">
                <a:solidFill>
                  <a:srgbClr val="1E2761"/>
                </a:solidFill>
                <a:latin typeface="Cambria"/>
              </a:rPr>
              <a:t>Initial Permutation (IP)</a:t>
            </a:r>
          </a:p>
        </p:txBody>
      </p:sp>
      <p:pic>
        <p:nvPicPr>
          <p:cNvPr id="3" name="Image 0" descr="final_des_initial_permutation.png"/>
          <p:cNvPicPr>
            <a:picLocks noChangeAspect="1"/>
          </p:cNvPicPr>
          <p:nvPr/>
        </p:nvPicPr>
        <p:blipFill>
          <a:blip r:embed="rId2"/>
          <a:stretch>
            <a:fillRect/>
          </a:stretch>
        </p:blipFill>
        <p:spPr>
          <a:xfrm>
            <a:off x="2144550" y="960120"/>
            <a:ext cx="7902596" cy="3977640"/>
          </a:xfrm>
          <a:prstGeom prst="rect">
            <a:avLst/>
          </a:prstGeom>
        </p:spPr>
      </p:pic>
      <p:sp>
        <p:nvSpPr>
          <p:cNvPr id="4" name="TextBox Desc"/>
          <p:cNvSpPr txBox="1"/>
          <p:nvPr/>
        </p:nvSpPr>
        <p:spPr>
          <a:xfrm>
            <a:off x="731520" y="5102352"/>
            <a:ext cx="10728655" cy="1527048"/>
          </a:xfrm>
          <a:prstGeom prst="rect">
            <a:avLst/>
          </a:prstGeom>
          <a:noFill/>
        </p:spPr>
        <p:txBody>
          <a:bodyPr wrap="square" rtlCol="0">
            <a:normAutofit/>
          </a:bodyPr>
          <a:lstStyle/>
          <a:p>
            <a:pPr algn="ctr"/>
            <a:r>
              <a:rPr lang="en-US" sz="1400" dirty="0">
                <a:solidFill>
                  <a:srgbClr val="333333"/>
                </a:solidFill>
                <a:latin typeface="Calibri"/>
              </a:rPr>
              <a:t>Before round 1, IP rearranges the 64 input bits according to a fixed table: bit position 58 moves to position 1, position 50 to position 2, and so on. Every block is permuted the same way, and the inverse table (IP inverse) undoes it at the very end.</a:t>
            </a:r>
          </a:p>
        </p:txBody>
      </p:sp>
    </p:spTree>
    <p:extLst>
      <p:ext uri="{BB962C8B-B14F-4D97-AF65-F5344CB8AC3E}">
        <p14:creationId xmlns:p14="http://schemas.microsoft.com/office/powerpoint/2010/main" val="23715089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Title"/>
          <p:cNvSpPr txBox="1"/>
          <p:nvPr/>
        </p:nvSpPr>
        <p:spPr>
          <a:xfrm>
            <a:off x="457200" y="274320"/>
            <a:ext cx="11277295" cy="502920"/>
          </a:xfrm>
          <a:prstGeom prst="rect">
            <a:avLst/>
          </a:prstGeom>
          <a:noFill/>
        </p:spPr>
        <p:txBody>
          <a:bodyPr wrap="square" rtlCol="0">
            <a:spAutoFit/>
          </a:bodyPr>
          <a:lstStyle/>
          <a:p>
            <a:pPr algn="ctr"/>
            <a:r>
              <a:rPr lang="en-US" sz="2600" b="1" dirty="0">
                <a:solidFill>
                  <a:srgbClr val="1E2761"/>
                </a:solidFill>
                <a:latin typeface="Cambria"/>
              </a:rPr>
              <a:t>Inverse Initial Permutation </a:t>
            </a:r>
          </a:p>
        </p:txBody>
      </p:sp>
      <p:sp>
        <p:nvSpPr>
          <p:cNvPr id="4" name="TextBox Desc"/>
          <p:cNvSpPr txBox="1"/>
          <p:nvPr/>
        </p:nvSpPr>
        <p:spPr>
          <a:xfrm>
            <a:off x="731520" y="5153152"/>
            <a:ext cx="10728655" cy="1527048"/>
          </a:xfrm>
          <a:prstGeom prst="rect">
            <a:avLst/>
          </a:prstGeom>
          <a:noFill/>
        </p:spPr>
        <p:txBody>
          <a:bodyPr wrap="square" rtlCol="0">
            <a:normAutofit/>
          </a:bodyPr>
          <a:lstStyle/>
          <a:p>
            <a:r>
              <a:rPr lang="en-US" sz="1400" dirty="0"/>
              <a:t>Importantly, </a:t>
            </a:r>
            <a:r>
              <a:rPr lang="en-US" sz="1400" b="1" dirty="0"/>
              <a:t>IP⁻¹ does not decrypt the data by itself</a:t>
            </a:r>
            <a:r>
              <a:rPr lang="en-US" sz="1400" dirty="0"/>
              <a:t>. It only performs the final rearrangement.</a:t>
            </a:r>
          </a:p>
        </p:txBody>
      </p:sp>
      <p:pic>
        <p:nvPicPr>
          <p:cNvPr id="6" name="Picture 5">
            <a:extLst>
              <a:ext uri="{FF2B5EF4-FFF2-40B4-BE49-F238E27FC236}">
                <a16:creationId xmlns:a16="http://schemas.microsoft.com/office/drawing/2014/main" id="{BB0E4788-F458-5834-A12B-50EF66F6EE60}"/>
              </a:ext>
            </a:extLst>
          </p:cNvPr>
          <p:cNvPicPr>
            <a:picLocks noChangeAspect="1"/>
          </p:cNvPicPr>
          <p:nvPr/>
        </p:nvPicPr>
        <p:blipFill rotWithShape="1">
          <a:blip r:embed="rId2"/>
          <a:srcRect l="2827" t="21800" r="29029"/>
          <a:stretch/>
        </p:blipFill>
        <p:spPr>
          <a:xfrm>
            <a:off x="4130040" y="1013263"/>
            <a:ext cx="3931920" cy="3586513"/>
          </a:xfrm>
          <a:prstGeom prst="rect">
            <a:avLst/>
          </a:prstGeom>
        </p:spPr>
      </p:pic>
    </p:spTree>
    <p:extLst>
      <p:ext uri="{BB962C8B-B14F-4D97-AF65-F5344CB8AC3E}">
        <p14:creationId xmlns:p14="http://schemas.microsoft.com/office/powerpoint/2010/main" val="8771762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Title"/>
          <p:cNvSpPr txBox="1"/>
          <p:nvPr/>
        </p:nvSpPr>
        <p:spPr>
          <a:xfrm>
            <a:off x="457200" y="274320"/>
            <a:ext cx="11277295" cy="502920"/>
          </a:xfrm>
          <a:prstGeom prst="rect">
            <a:avLst/>
          </a:prstGeom>
          <a:noFill/>
        </p:spPr>
        <p:txBody>
          <a:bodyPr wrap="square" rtlCol="0">
            <a:spAutoFit/>
          </a:bodyPr>
          <a:lstStyle/>
          <a:p>
            <a:pPr algn="ctr"/>
            <a:r>
              <a:rPr lang="en-US" sz="2600" b="1" dirty="0">
                <a:solidFill>
                  <a:srgbClr val="1E2761"/>
                </a:solidFill>
                <a:latin typeface="Cambria"/>
              </a:rPr>
              <a:t>Anatomy of a Single DES Round</a:t>
            </a:r>
          </a:p>
        </p:txBody>
      </p:sp>
      <p:pic>
        <p:nvPicPr>
          <p:cNvPr id="3" name="Image 0" descr="final_des_single_round.png"/>
          <p:cNvPicPr>
            <a:picLocks noChangeAspect="1"/>
          </p:cNvPicPr>
          <p:nvPr/>
        </p:nvPicPr>
        <p:blipFill>
          <a:blip r:embed="rId2"/>
          <a:stretch>
            <a:fillRect/>
          </a:stretch>
        </p:blipFill>
        <p:spPr>
          <a:xfrm>
            <a:off x="2833485" y="960120"/>
            <a:ext cx="6524725" cy="3977640"/>
          </a:xfrm>
          <a:prstGeom prst="rect">
            <a:avLst/>
          </a:prstGeom>
        </p:spPr>
      </p:pic>
      <p:sp>
        <p:nvSpPr>
          <p:cNvPr id="4" name="TextBox Desc"/>
          <p:cNvSpPr txBox="1"/>
          <p:nvPr/>
        </p:nvSpPr>
        <p:spPr>
          <a:xfrm>
            <a:off x="731520" y="5102352"/>
            <a:ext cx="10728655" cy="1527048"/>
          </a:xfrm>
          <a:prstGeom prst="rect">
            <a:avLst/>
          </a:prstGeom>
          <a:noFill/>
        </p:spPr>
        <p:txBody>
          <a:bodyPr wrap="square" rtlCol="0">
            <a:normAutofit/>
          </a:bodyPr>
          <a:lstStyle/>
          <a:p>
            <a:pPr algn="ctr"/>
            <a:r>
              <a:rPr lang="en-US" sz="1400" dirty="0">
                <a:solidFill>
                  <a:srgbClr val="333333"/>
                </a:solidFill>
                <a:latin typeface="Calibri"/>
              </a:rPr>
              <a:t>Each round splits the block into a left and right half. The right half is expanded from 32 to 48 bits, XORed with that round's key, passed through eight S-Boxes back down to 32 bits, and transposed by the P-Box (together, the mangler function). The result is XORed with the left half to form the next round's right half; the old right half simply becomes the new left half.</a:t>
            </a:r>
          </a:p>
        </p:txBody>
      </p:sp>
    </p:spTree>
    <p:extLst>
      <p:ext uri="{BB962C8B-B14F-4D97-AF65-F5344CB8AC3E}">
        <p14:creationId xmlns:p14="http://schemas.microsoft.com/office/powerpoint/2010/main" val="20741773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7832610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3D3B3B0-AF32-8A4C-967A-C9462ABECB79}"/>
              </a:ext>
            </a:extLst>
          </p:cNvPr>
          <p:cNvPicPr>
            <a:picLocks noChangeAspect="1"/>
          </p:cNvPicPr>
          <p:nvPr/>
        </p:nvPicPr>
        <p:blipFill>
          <a:blip r:embed="rId2"/>
          <a:stretch>
            <a:fillRect/>
          </a:stretch>
        </p:blipFill>
        <p:spPr>
          <a:xfrm>
            <a:off x="6373388" y="1635033"/>
            <a:ext cx="4159464" cy="3511730"/>
          </a:xfrm>
          <a:prstGeom prst="rect">
            <a:avLst/>
          </a:prstGeom>
        </p:spPr>
      </p:pic>
      <p:pic>
        <p:nvPicPr>
          <p:cNvPr id="5" name="Picture 4">
            <a:extLst>
              <a:ext uri="{FF2B5EF4-FFF2-40B4-BE49-F238E27FC236}">
                <a16:creationId xmlns:a16="http://schemas.microsoft.com/office/drawing/2014/main" id="{BCE3C5FD-4200-DFCD-398E-271862738D0A}"/>
              </a:ext>
            </a:extLst>
          </p:cNvPr>
          <p:cNvPicPr>
            <a:picLocks noChangeAspect="1"/>
          </p:cNvPicPr>
          <p:nvPr/>
        </p:nvPicPr>
        <p:blipFill>
          <a:blip r:embed="rId3"/>
          <a:stretch>
            <a:fillRect/>
          </a:stretch>
        </p:blipFill>
        <p:spPr>
          <a:xfrm>
            <a:off x="1131462" y="1615982"/>
            <a:ext cx="4178515" cy="3549832"/>
          </a:xfrm>
          <a:prstGeom prst="rect">
            <a:avLst/>
          </a:prstGeom>
        </p:spPr>
      </p:pic>
    </p:spTree>
    <p:extLst>
      <p:ext uri="{BB962C8B-B14F-4D97-AF65-F5344CB8AC3E}">
        <p14:creationId xmlns:p14="http://schemas.microsoft.com/office/powerpoint/2010/main" val="24710648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Freeform 6">
            <a:extLst>
              <a:ext uri="{FF2B5EF4-FFF2-40B4-BE49-F238E27FC236}">
                <a16:creationId xmlns:a16="http://schemas.microsoft.com/office/drawing/2014/main" id="{69D184B2-2226-4E31-BCCB-4443307674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118533" y="918266"/>
            <a:ext cx="706127" cy="5863534"/>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 name="Freeform 7">
            <a:extLst>
              <a:ext uri="{FF2B5EF4-FFF2-40B4-BE49-F238E27FC236}">
                <a16:creationId xmlns:a16="http://schemas.microsoft.com/office/drawing/2014/main" id="{1AC4D4E3-486A-464A-8EC8-D448810972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117879" y="643467"/>
            <a:ext cx="420307" cy="5668919"/>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 name="Rectangle 11">
            <a:extLst>
              <a:ext uri="{FF2B5EF4-FFF2-40B4-BE49-F238E27FC236}">
                <a16:creationId xmlns:a16="http://schemas.microsoft.com/office/drawing/2014/main" id="{864DE13E-58EB-4475-B79C-0D4FC65123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38387" y="643467"/>
            <a:ext cx="10933503" cy="5391944"/>
          </a:xfrm>
          <a:prstGeom prst="rect">
            <a:avLst/>
          </a:prstGeom>
          <a:solidFill>
            <a:srgbClr val="FFFFFF"/>
          </a:solidFill>
          <a:ln w="12700">
            <a:solidFill>
              <a:schemeClr val="accent1"/>
            </a:solidFill>
            <a:miter lim="800000"/>
          </a:ln>
        </p:spPr>
        <p:txBody>
          <a:bodyPr vert="horz" wrap="square" lIns="91440" tIns="45720" rIns="91440" bIns="45720" numCol="1" anchor="t" anchorCtr="0" compatLnSpc="1">
            <a:prstTxWarp prst="textNoShape">
              <a:avLst/>
            </a:prstTxWarp>
          </a:bodyPr>
          <a:lstStyle/>
          <a:p>
            <a:endParaRPr lang="en-US"/>
          </a:p>
        </p:txBody>
      </p:sp>
      <p:pic>
        <p:nvPicPr>
          <p:cNvPr id="3" name="Picture 2">
            <a:extLst>
              <a:ext uri="{FF2B5EF4-FFF2-40B4-BE49-F238E27FC236}">
                <a16:creationId xmlns:a16="http://schemas.microsoft.com/office/drawing/2014/main" id="{5C2B6690-04DD-E623-75B1-981B9C8AA171}"/>
              </a:ext>
            </a:extLst>
          </p:cNvPr>
          <p:cNvPicPr>
            <a:picLocks noChangeAspect="1"/>
          </p:cNvPicPr>
          <p:nvPr/>
        </p:nvPicPr>
        <p:blipFill>
          <a:blip r:embed="rId2"/>
          <a:stretch>
            <a:fillRect/>
          </a:stretch>
        </p:blipFill>
        <p:spPr>
          <a:xfrm>
            <a:off x="2811242" y="1286934"/>
            <a:ext cx="6569517" cy="4105949"/>
          </a:xfrm>
          <a:prstGeom prst="rect">
            <a:avLst/>
          </a:prstGeom>
        </p:spPr>
      </p:pic>
      <p:grpSp>
        <p:nvGrpSpPr>
          <p:cNvPr id="17" name="Group 16">
            <a:extLst>
              <a:ext uri="{FF2B5EF4-FFF2-40B4-BE49-F238E27FC236}">
                <a16:creationId xmlns:a16="http://schemas.microsoft.com/office/drawing/2014/main" id="{74E58EAB-3828-3057-FDFB-488B413D50D7}"/>
              </a:ext>
            </a:extLst>
          </p:cNvPr>
          <p:cNvGrpSpPr/>
          <p:nvPr/>
        </p:nvGrpSpPr>
        <p:grpSpPr>
          <a:xfrm>
            <a:off x="6289000" y="2132960"/>
            <a:ext cx="132480" cy="62640"/>
            <a:chOff x="6289000" y="2132960"/>
            <a:chExt cx="132480" cy="62640"/>
          </a:xfrm>
        </p:grpSpPr>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265ED863-5C7F-6BF5-A83E-4C75602A7F4F}"/>
                    </a:ext>
                  </a:extLst>
                </p14:cNvPr>
                <p14:cNvContentPartPr/>
                <p14:nvPr/>
              </p14:nvContentPartPr>
              <p14:xfrm>
                <a:off x="6410680" y="2184080"/>
                <a:ext cx="360" cy="360"/>
              </p14:xfrm>
            </p:contentPart>
          </mc:Choice>
          <mc:Fallback xmlns="">
            <p:pic>
              <p:nvPicPr>
                <p:cNvPr id="4" name="Ink 3">
                  <a:extLst>
                    <a:ext uri="{FF2B5EF4-FFF2-40B4-BE49-F238E27FC236}">
                      <a16:creationId xmlns:a16="http://schemas.microsoft.com/office/drawing/2014/main" id="{265ED863-5C7F-6BF5-A83E-4C75602A7F4F}"/>
                    </a:ext>
                  </a:extLst>
                </p:cNvPr>
                <p:cNvPicPr/>
                <p:nvPr/>
              </p:nvPicPr>
              <p:blipFill>
                <a:blip r:embed="rId4"/>
                <a:stretch>
                  <a:fillRect/>
                </a:stretch>
              </p:blipFill>
              <p:spPr>
                <a:xfrm>
                  <a:off x="6402040" y="217544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F1CBCABA-B03F-696C-41F3-2382273E2AAF}"/>
                    </a:ext>
                  </a:extLst>
                </p14:cNvPr>
                <p14:cNvContentPartPr/>
                <p14:nvPr/>
              </p14:nvContentPartPr>
              <p14:xfrm>
                <a:off x="6421120" y="2143760"/>
                <a:ext cx="360" cy="360"/>
              </p14:xfrm>
            </p:contentPart>
          </mc:Choice>
          <mc:Fallback xmlns="">
            <p:pic>
              <p:nvPicPr>
                <p:cNvPr id="5" name="Ink 4">
                  <a:extLst>
                    <a:ext uri="{FF2B5EF4-FFF2-40B4-BE49-F238E27FC236}">
                      <a16:creationId xmlns:a16="http://schemas.microsoft.com/office/drawing/2014/main" id="{F1CBCABA-B03F-696C-41F3-2382273E2AAF}"/>
                    </a:ext>
                  </a:extLst>
                </p:cNvPr>
                <p:cNvPicPr/>
                <p:nvPr/>
              </p:nvPicPr>
              <p:blipFill>
                <a:blip r:embed="rId4"/>
                <a:stretch>
                  <a:fillRect/>
                </a:stretch>
              </p:blipFill>
              <p:spPr>
                <a:xfrm>
                  <a:off x="6412120" y="213476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3003B8A9-33D3-D282-2ED5-13345B20143C}"/>
                    </a:ext>
                  </a:extLst>
                </p14:cNvPr>
                <p14:cNvContentPartPr/>
                <p14:nvPr/>
              </p14:nvContentPartPr>
              <p14:xfrm>
                <a:off x="6380440" y="2153840"/>
                <a:ext cx="360" cy="360"/>
              </p14:xfrm>
            </p:contentPart>
          </mc:Choice>
          <mc:Fallback xmlns="">
            <p:pic>
              <p:nvPicPr>
                <p:cNvPr id="6" name="Ink 5">
                  <a:extLst>
                    <a:ext uri="{FF2B5EF4-FFF2-40B4-BE49-F238E27FC236}">
                      <a16:creationId xmlns:a16="http://schemas.microsoft.com/office/drawing/2014/main" id="{3003B8A9-33D3-D282-2ED5-13345B20143C}"/>
                    </a:ext>
                  </a:extLst>
                </p:cNvPr>
                <p:cNvPicPr/>
                <p:nvPr/>
              </p:nvPicPr>
              <p:blipFill>
                <a:blip r:embed="rId4"/>
                <a:stretch>
                  <a:fillRect/>
                </a:stretch>
              </p:blipFill>
              <p:spPr>
                <a:xfrm>
                  <a:off x="6371440" y="214484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7" name="Ink 6">
                  <a:extLst>
                    <a:ext uri="{FF2B5EF4-FFF2-40B4-BE49-F238E27FC236}">
                      <a16:creationId xmlns:a16="http://schemas.microsoft.com/office/drawing/2014/main" id="{5F2222C5-573C-C8A0-6334-86122FACFE3F}"/>
                    </a:ext>
                  </a:extLst>
                </p14:cNvPr>
                <p14:cNvContentPartPr/>
                <p14:nvPr/>
              </p14:nvContentPartPr>
              <p14:xfrm>
                <a:off x="6390520" y="2153840"/>
                <a:ext cx="360" cy="360"/>
              </p14:xfrm>
            </p:contentPart>
          </mc:Choice>
          <mc:Fallback xmlns="">
            <p:pic>
              <p:nvPicPr>
                <p:cNvPr id="7" name="Ink 6">
                  <a:extLst>
                    <a:ext uri="{FF2B5EF4-FFF2-40B4-BE49-F238E27FC236}">
                      <a16:creationId xmlns:a16="http://schemas.microsoft.com/office/drawing/2014/main" id="{5F2222C5-573C-C8A0-6334-86122FACFE3F}"/>
                    </a:ext>
                  </a:extLst>
                </p:cNvPr>
                <p:cNvPicPr/>
                <p:nvPr/>
              </p:nvPicPr>
              <p:blipFill>
                <a:blip r:embed="rId4"/>
                <a:stretch>
                  <a:fillRect/>
                </a:stretch>
              </p:blipFill>
              <p:spPr>
                <a:xfrm>
                  <a:off x="6381520" y="2144840"/>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5" name="Ink 14">
                  <a:extLst>
                    <a:ext uri="{FF2B5EF4-FFF2-40B4-BE49-F238E27FC236}">
                      <a16:creationId xmlns:a16="http://schemas.microsoft.com/office/drawing/2014/main" id="{1294AA48-C170-24C4-86CE-CC9495A6D9AE}"/>
                    </a:ext>
                  </a:extLst>
                </p14:cNvPr>
                <p14:cNvContentPartPr/>
                <p14:nvPr/>
              </p14:nvContentPartPr>
              <p14:xfrm>
                <a:off x="6300880" y="2132960"/>
                <a:ext cx="69480" cy="20880"/>
              </p14:xfrm>
            </p:contentPart>
          </mc:Choice>
          <mc:Fallback xmlns="">
            <p:pic>
              <p:nvPicPr>
                <p:cNvPr id="15" name="Ink 14">
                  <a:extLst>
                    <a:ext uri="{FF2B5EF4-FFF2-40B4-BE49-F238E27FC236}">
                      <a16:creationId xmlns:a16="http://schemas.microsoft.com/office/drawing/2014/main" id="{1294AA48-C170-24C4-86CE-CC9495A6D9AE}"/>
                    </a:ext>
                  </a:extLst>
                </p:cNvPr>
                <p:cNvPicPr/>
                <p:nvPr/>
              </p:nvPicPr>
              <p:blipFill>
                <a:blip r:embed="rId9"/>
                <a:stretch>
                  <a:fillRect/>
                </a:stretch>
              </p:blipFill>
              <p:spPr>
                <a:xfrm>
                  <a:off x="6292240" y="2124320"/>
                  <a:ext cx="87120" cy="385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6" name="Ink 15">
                  <a:extLst>
                    <a:ext uri="{FF2B5EF4-FFF2-40B4-BE49-F238E27FC236}">
                      <a16:creationId xmlns:a16="http://schemas.microsoft.com/office/drawing/2014/main" id="{7C39E351-0129-2676-7509-5AD4951AEDF0}"/>
                    </a:ext>
                  </a:extLst>
                </p14:cNvPr>
                <p14:cNvContentPartPr/>
                <p14:nvPr/>
              </p14:nvContentPartPr>
              <p14:xfrm>
                <a:off x="6289000" y="2133320"/>
                <a:ext cx="118440" cy="62280"/>
              </p14:xfrm>
            </p:contentPart>
          </mc:Choice>
          <mc:Fallback xmlns="">
            <p:pic>
              <p:nvPicPr>
                <p:cNvPr id="16" name="Ink 15">
                  <a:extLst>
                    <a:ext uri="{FF2B5EF4-FFF2-40B4-BE49-F238E27FC236}">
                      <a16:creationId xmlns:a16="http://schemas.microsoft.com/office/drawing/2014/main" id="{7C39E351-0129-2676-7509-5AD4951AEDF0}"/>
                    </a:ext>
                  </a:extLst>
                </p:cNvPr>
                <p:cNvPicPr/>
                <p:nvPr/>
              </p:nvPicPr>
              <p:blipFill>
                <a:blip r:embed="rId11"/>
                <a:stretch>
                  <a:fillRect/>
                </a:stretch>
              </p:blipFill>
              <p:spPr>
                <a:xfrm>
                  <a:off x="6280000" y="2124680"/>
                  <a:ext cx="136080" cy="79920"/>
                </a:xfrm>
                <a:prstGeom prst="rect">
                  <a:avLst/>
                </a:prstGeom>
              </p:spPr>
            </p:pic>
          </mc:Fallback>
        </mc:AlternateContent>
      </p:grpSp>
      <p:grpSp>
        <p:nvGrpSpPr>
          <p:cNvPr id="20" name="Group 19">
            <a:extLst>
              <a:ext uri="{FF2B5EF4-FFF2-40B4-BE49-F238E27FC236}">
                <a16:creationId xmlns:a16="http://schemas.microsoft.com/office/drawing/2014/main" id="{4C9B6D3D-9B33-0479-7B3B-64980CF7AFC5}"/>
              </a:ext>
            </a:extLst>
          </p:cNvPr>
          <p:cNvGrpSpPr/>
          <p:nvPr/>
        </p:nvGrpSpPr>
        <p:grpSpPr>
          <a:xfrm>
            <a:off x="6400680" y="2153840"/>
            <a:ext cx="30960" cy="360"/>
            <a:chOff x="6400680" y="2153840"/>
            <a:chExt cx="30960" cy="360"/>
          </a:xfrm>
        </p:grpSpPr>
        <mc:AlternateContent xmlns:mc="http://schemas.openxmlformats.org/markup-compatibility/2006" xmlns:p14="http://schemas.microsoft.com/office/powerpoint/2010/main">
          <mc:Choice Requires="p14">
            <p:contentPart p14:bwMode="auto" r:id="rId12">
              <p14:nvContentPartPr>
                <p14:cNvPr id="18" name="Ink 17">
                  <a:extLst>
                    <a:ext uri="{FF2B5EF4-FFF2-40B4-BE49-F238E27FC236}">
                      <a16:creationId xmlns:a16="http://schemas.microsoft.com/office/drawing/2014/main" id="{98948689-6E57-8CF4-1D1A-7A91276821E8}"/>
                    </a:ext>
                  </a:extLst>
                </p14:cNvPr>
                <p14:cNvContentPartPr/>
                <p14:nvPr/>
              </p14:nvContentPartPr>
              <p14:xfrm>
                <a:off x="6431280" y="2153840"/>
                <a:ext cx="360" cy="360"/>
              </p14:xfrm>
            </p:contentPart>
          </mc:Choice>
          <mc:Fallback xmlns="">
            <p:pic>
              <p:nvPicPr>
                <p:cNvPr id="18" name="Ink 17">
                  <a:extLst>
                    <a:ext uri="{FF2B5EF4-FFF2-40B4-BE49-F238E27FC236}">
                      <a16:creationId xmlns:a16="http://schemas.microsoft.com/office/drawing/2014/main" id="{98948689-6E57-8CF4-1D1A-7A91276821E8}"/>
                    </a:ext>
                  </a:extLst>
                </p:cNvPr>
                <p:cNvPicPr/>
                <p:nvPr/>
              </p:nvPicPr>
              <p:blipFill>
                <a:blip r:embed="rId13"/>
                <a:stretch>
                  <a:fillRect/>
                </a:stretch>
              </p:blipFill>
              <p:spPr>
                <a:xfrm>
                  <a:off x="6395280" y="2117840"/>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9" name="Ink 18">
                  <a:extLst>
                    <a:ext uri="{FF2B5EF4-FFF2-40B4-BE49-F238E27FC236}">
                      <a16:creationId xmlns:a16="http://schemas.microsoft.com/office/drawing/2014/main" id="{8A4B2E3D-CA63-4A2A-4056-334CF38B2E42}"/>
                    </a:ext>
                  </a:extLst>
                </p14:cNvPr>
                <p14:cNvContentPartPr/>
                <p14:nvPr/>
              </p14:nvContentPartPr>
              <p14:xfrm>
                <a:off x="6400680" y="2153840"/>
                <a:ext cx="360" cy="360"/>
              </p14:xfrm>
            </p:contentPart>
          </mc:Choice>
          <mc:Fallback xmlns="">
            <p:pic>
              <p:nvPicPr>
                <p:cNvPr id="19" name="Ink 18">
                  <a:extLst>
                    <a:ext uri="{FF2B5EF4-FFF2-40B4-BE49-F238E27FC236}">
                      <a16:creationId xmlns:a16="http://schemas.microsoft.com/office/drawing/2014/main" id="{8A4B2E3D-CA63-4A2A-4056-334CF38B2E42}"/>
                    </a:ext>
                  </a:extLst>
                </p:cNvPr>
                <p:cNvPicPr/>
                <p:nvPr/>
              </p:nvPicPr>
              <p:blipFill>
                <a:blip r:embed="rId13"/>
                <a:stretch>
                  <a:fillRect/>
                </a:stretch>
              </p:blipFill>
              <p:spPr>
                <a:xfrm>
                  <a:off x="6364680" y="2117840"/>
                  <a:ext cx="72000" cy="72000"/>
                </a:xfrm>
                <a:prstGeom prst="rect">
                  <a:avLst/>
                </a:prstGeom>
              </p:spPr>
            </p:pic>
          </mc:Fallback>
        </mc:AlternateContent>
      </p:grpSp>
    </p:spTree>
    <p:extLst>
      <p:ext uri="{BB962C8B-B14F-4D97-AF65-F5344CB8AC3E}">
        <p14:creationId xmlns:p14="http://schemas.microsoft.com/office/powerpoint/2010/main" val="25921947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7">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Isosceles Triangle 17">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diagram of a computer algorithm&#10;&#10;Description automatically generated">
            <a:extLst>
              <a:ext uri="{FF2B5EF4-FFF2-40B4-BE49-F238E27FC236}">
                <a16:creationId xmlns:a16="http://schemas.microsoft.com/office/drawing/2014/main" id="{31D947E6-F2B5-8CBD-63A3-288A8D701A73}"/>
              </a:ext>
            </a:extLst>
          </p:cNvPr>
          <p:cNvPicPr>
            <a:picLocks noChangeAspect="1"/>
          </p:cNvPicPr>
          <p:nvPr/>
        </p:nvPicPr>
        <p:blipFill>
          <a:blip r:embed="rId2"/>
          <a:stretch>
            <a:fillRect/>
          </a:stretch>
        </p:blipFill>
        <p:spPr>
          <a:xfrm>
            <a:off x="1374758" y="643467"/>
            <a:ext cx="9442484" cy="5571065"/>
          </a:xfrm>
          <a:prstGeom prst="rect">
            <a:avLst/>
          </a:prstGeom>
          <a:ln>
            <a:noFill/>
          </a:ln>
        </p:spPr>
      </p:pic>
      <p:sp>
        <p:nvSpPr>
          <p:cNvPr id="20" name="Isosceles Triangle 19">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75C476CF-EB48-C491-03FA-34DE631C33C9}"/>
                  </a:ext>
                </a:extLst>
              </p14:cNvPr>
              <p14:cNvContentPartPr/>
              <p14:nvPr/>
            </p14:nvContentPartPr>
            <p14:xfrm>
              <a:off x="6583560" y="5069840"/>
              <a:ext cx="360" cy="360"/>
            </p14:xfrm>
          </p:contentPart>
        </mc:Choice>
        <mc:Fallback xmlns="">
          <p:pic>
            <p:nvPicPr>
              <p:cNvPr id="4" name="Ink 3">
                <a:extLst>
                  <a:ext uri="{FF2B5EF4-FFF2-40B4-BE49-F238E27FC236}">
                    <a16:creationId xmlns:a16="http://schemas.microsoft.com/office/drawing/2014/main" id="{75C476CF-EB48-C491-03FA-34DE631C33C9}"/>
                  </a:ext>
                </a:extLst>
              </p:cNvPr>
              <p:cNvPicPr/>
              <p:nvPr/>
            </p:nvPicPr>
            <p:blipFill>
              <a:blip r:embed="rId4"/>
              <a:stretch>
                <a:fillRect/>
              </a:stretch>
            </p:blipFill>
            <p:spPr>
              <a:xfrm>
                <a:off x="6520560" y="5006840"/>
                <a:ext cx="126000" cy="126000"/>
              </a:xfrm>
              <a:prstGeom prst="rect">
                <a:avLst/>
              </a:prstGeom>
            </p:spPr>
          </p:pic>
        </mc:Fallback>
      </mc:AlternateContent>
    </p:spTree>
    <p:extLst>
      <p:ext uri="{BB962C8B-B14F-4D97-AF65-F5344CB8AC3E}">
        <p14:creationId xmlns:p14="http://schemas.microsoft.com/office/powerpoint/2010/main" val="10884182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Isosceles Triangle 17">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45E50FEB-6D2C-44DB-51C2-19D0879446E1}"/>
              </a:ext>
            </a:extLst>
          </p:cNvPr>
          <p:cNvPicPr>
            <a:picLocks noGrp="1" noRot="1" noChangeAspect="1" noMove="1" noResize="1" noEditPoints="1" noAdjustHandles="1" noChangeArrowheads="1" noChangeShapeType="1" noCrop="1"/>
          </p:cNvPicPr>
          <p:nvPr/>
        </p:nvPicPr>
        <p:blipFill>
          <a:blip r:embed="rId2"/>
          <a:stretch>
            <a:fillRect/>
          </a:stretch>
        </p:blipFill>
        <p:spPr>
          <a:xfrm>
            <a:off x="643467" y="920835"/>
            <a:ext cx="10905066" cy="5016329"/>
          </a:xfrm>
          <a:prstGeom prst="rect">
            <a:avLst/>
          </a:prstGeom>
          <a:ln>
            <a:noFill/>
          </a:ln>
        </p:spPr>
      </p:pic>
      <p:sp>
        <p:nvSpPr>
          <p:cNvPr id="20" name="Isosceles Triangle 19">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p14="http://schemas.microsoft.com/office/powerpoint/2010/main">
        <mc:Choice Requires="p14">
          <p:contentPart p14:bwMode="auto" r:id="rId3">
            <p14:nvContentPartPr>
              <p14:cNvPr id="7" name="Ink 6">
                <a:extLst>
                  <a:ext uri="{FF2B5EF4-FFF2-40B4-BE49-F238E27FC236}">
                    <a16:creationId xmlns:a16="http://schemas.microsoft.com/office/drawing/2014/main" id="{7699AE68-882F-F2B7-2747-E102176E6F37}"/>
                  </a:ext>
                </a:extLst>
              </p14:cNvPr>
              <p14:cNvContentPartPr/>
              <p14:nvPr/>
            </p14:nvContentPartPr>
            <p14:xfrm>
              <a:off x="4836040" y="2204600"/>
              <a:ext cx="360" cy="360"/>
            </p14:xfrm>
          </p:contentPart>
        </mc:Choice>
        <mc:Fallback xmlns="">
          <p:pic>
            <p:nvPicPr>
              <p:cNvPr id="7" name="Ink 6">
                <a:extLst>
                  <a:ext uri="{FF2B5EF4-FFF2-40B4-BE49-F238E27FC236}">
                    <a16:creationId xmlns:a16="http://schemas.microsoft.com/office/drawing/2014/main" id="{7699AE68-882F-F2B7-2747-E102176E6F37}"/>
                  </a:ext>
                </a:extLst>
              </p:cNvPr>
              <p:cNvPicPr/>
              <p:nvPr/>
            </p:nvPicPr>
            <p:blipFill>
              <a:blip r:embed="rId4"/>
              <a:stretch>
                <a:fillRect/>
              </a:stretch>
            </p:blipFill>
            <p:spPr>
              <a:xfrm>
                <a:off x="4800040" y="2168600"/>
                <a:ext cx="72000" cy="72000"/>
              </a:xfrm>
              <a:prstGeom prst="rect">
                <a:avLst/>
              </a:prstGeom>
            </p:spPr>
          </p:pic>
        </mc:Fallback>
      </mc:AlternateContent>
      <p:grpSp>
        <p:nvGrpSpPr>
          <p:cNvPr id="17" name="Group 16">
            <a:extLst>
              <a:ext uri="{FF2B5EF4-FFF2-40B4-BE49-F238E27FC236}">
                <a16:creationId xmlns:a16="http://schemas.microsoft.com/office/drawing/2014/main" id="{3C71913E-564B-EAFB-A1F2-4E870A253BE0}"/>
              </a:ext>
            </a:extLst>
          </p:cNvPr>
          <p:cNvGrpSpPr>
            <a:grpSpLocks noGrp="1" noUngrp="1" noRot="1" noMove="1" noResize="1"/>
          </p:cNvGrpSpPr>
          <p:nvPr/>
        </p:nvGrpSpPr>
        <p:grpSpPr>
          <a:xfrm>
            <a:off x="4795360" y="2143760"/>
            <a:ext cx="91800" cy="40680"/>
            <a:chOff x="4795360" y="2143760"/>
            <a:chExt cx="91800" cy="40680"/>
          </a:xfrm>
        </p:grpSpPr>
        <mc:AlternateContent xmlns:mc="http://schemas.openxmlformats.org/markup-compatibility/2006" xmlns:p14="http://schemas.microsoft.com/office/powerpoint/2010/main">
          <mc:Choice Requires="p14">
            <p:contentPart p14:bwMode="auto" r:id="rId5">
              <p14:nvContentPartPr>
                <p14:cNvPr id="9" name="Ink 8">
                  <a:extLst>
                    <a:ext uri="{FF2B5EF4-FFF2-40B4-BE49-F238E27FC236}">
                      <a16:creationId xmlns:a16="http://schemas.microsoft.com/office/drawing/2014/main" id="{DE20AC08-3E74-8462-277B-8A995A652A94}"/>
                    </a:ext>
                  </a:extLst>
                </p14:cNvPr>
                <p14:cNvContentPartPr>
                  <a14:cpLocks xmlns:a14="http://schemas.microsoft.com/office/drawing/2010/main" noGrp="1" noRot="1" noMove="1" noResize="1" noEditPoints="1" noAdjustHandles="1" noChangeArrowheads="1" noChangeShapeType="1"/>
                </p14:cNvContentPartPr>
                <p14:nvPr/>
              </p14:nvContentPartPr>
              <p14:xfrm>
                <a:off x="4795360" y="2184080"/>
                <a:ext cx="360" cy="360"/>
              </p14:xfrm>
            </p:contentPart>
          </mc:Choice>
          <mc:Fallback xmlns="">
            <p:pic>
              <p:nvPicPr>
                <p:cNvPr id="9" name="Ink 8">
                  <a:extLst>
                    <a:ext uri="{FF2B5EF4-FFF2-40B4-BE49-F238E27FC236}">
                      <a16:creationId xmlns:a16="http://schemas.microsoft.com/office/drawing/2014/main" id="{DE20AC08-3E74-8462-277B-8A995A652A94}"/>
                    </a:ext>
                  </a:extLst>
                </p:cNvPr>
                <p:cNvPicPr>
                  <a:picLocks noGrp="1" noRot="1" noMove="1" noResize="1" noEditPoints="1" noAdjustHandles="1" noChangeArrowheads="1" noChangeShapeType="1"/>
                </p:cNvPicPr>
                <p:nvPr/>
              </p:nvPicPr>
              <p:blipFill>
                <a:blip r:embed="rId4"/>
                <a:stretch>
                  <a:fillRect/>
                </a:stretch>
              </p:blipFill>
              <p:spPr>
                <a:xfrm>
                  <a:off x="4759360" y="2148440"/>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1" name="Ink 10">
                  <a:extLst>
                    <a:ext uri="{FF2B5EF4-FFF2-40B4-BE49-F238E27FC236}">
                      <a16:creationId xmlns:a16="http://schemas.microsoft.com/office/drawing/2014/main" id="{20415F85-28EB-3231-BB80-C2A20C59BA8C}"/>
                    </a:ext>
                  </a:extLst>
                </p14:cNvPr>
                <p14:cNvContentPartPr>
                  <a14:cpLocks xmlns:a14="http://schemas.microsoft.com/office/drawing/2010/main" noGrp="1" noRot="1" noMove="1" noResize="1" noEditPoints="1" noAdjustHandles="1" noChangeArrowheads="1" noChangeShapeType="1"/>
                </p14:cNvContentPartPr>
                <p14:nvPr/>
              </p14:nvContentPartPr>
              <p14:xfrm>
                <a:off x="4805440" y="2143760"/>
                <a:ext cx="360" cy="360"/>
              </p14:xfrm>
            </p:contentPart>
          </mc:Choice>
          <mc:Fallback xmlns="">
            <p:pic>
              <p:nvPicPr>
                <p:cNvPr id="11" name="Ink 10">
                  <a:extLst>
                    <a:ext uri="{FF2B5EF4-FFF2-40B4-BE49-F238E27FC236}">
                      <a16:creationId xmlns:a16="http://schemas.microsoft.com/office/drawing/2014/main" id="{20415F85-28EB-3231-BB80-C2A20C59BA8C}"/>
                    </a:ext>
                  </a:extLst>
                </p:cNvPr>
                <p:cNvPicPr>
                  <a:picLocks noGrp="1" noRot="1" noMove="1" noResize="1" noEditPoints="1" noAdjustHandles="1" noChangeArrowheads="1" noChangeShapeType="1"/>
                </p:cNvPicPr>
                <p:nvPr/>
              </p:nvPicPr>
              <p:blipFill>
                <a:blip r:embed="rId4"/>
                <a:stretch>
                  <a:fillRect/>
                </a:stretch>
              </p:blipFill>
              <p:spPr>
                <a:xfrm>
                  <a:off x="4769800" y="2107760"/>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5" name="Ink 14">
                  <a:extLst>
                    <a:ext uri="{FF2B5EF4-FFF2-40B4-BE49-F238E27FC236}">
                      <a16:creationId xmlns:a16="http://schemas.microsoft.com/office/drawing/2014/main" id="{64C2C15B-596F-05D1-FFF4-C163805CF29C}"/>
                    </a:ext>
                  </a:extLst>
                </p14:cNvPr>
                <p14:cNvContentPartPr>
                  <a14:cpLocks xmlns:a14="http://schemas.microsoft.com/office/drawing/2010/main" noGrp="1" noRot="1" noMove="1" noResize="1" noEditPoints="1" noAdjustHandles="1" noChangeArrowheads="1" noChangeShapeType="1"/>
                </p14:cNvContentPartPr>
                <p14:nvPr/>
              </p14:nvContentPartPr>
              <p14:xfrm>
                <a:off x="4886800" y="2184080"/>
                <a:ext cx="360" cy="360"/>
              </p14:xfrm>
            </p:contentPart>
          </mc:Choice>
          <mc:Fallback xmlns="">
            <p:pic>
              <p:nvPicPr>
                <p:cNvPr id="15" name="Ink 14">
                  <a:extLst>
                    <a:ext uri="{FF2B5EF4-FFF2-40B4-BE49-F238E27FC236}">
                      <a16:creationId xmlns:a16="http://schemas.microsoft.com/office/drawing/2014/main" id="{64C2C15B-596F-05D1-FFF4-C163805CF29C}"/>
                    </a:ext>
                  </a:extLst>
                </p:cNvPr>
                <p:cNvPicPr>
                  <a:picLocks noGrp="1" noRot="1" noMove="1" noResize="1" noEditPoints="1" noAdjustHandles="1" noChangeArrowheads="1" noChangeShapeType="1"/>
                </p:cNvPicPr>
                <p:nvPr/>
              </p:nvPicPr>
              <p:blipFill>
                <a:blip r:embed="rId4"/>
                <a:stretch>
                  <a:fillRect/>
                </a:stretch>
              </p:blipFill>
              <p:spPr>
                <a:xfrm>
                  <a:off x="4850800" y="2148440"/>
                  <a:ext cx="72000" cy="72000"/>
                </a:xfrm>
                <a:prstGeom prst="rect">
                  <a:avLst/>
                </a:prstGeom>
              </p:spPr>
            </p:pic>
          </mc:Fallback>
        </mc:AlternateContent>
      </p:grpSp>
    </p:spTree>
    <p:extLst>
      <p:ext uri="{BB962C8B-B14F-4D97-AF65-F5344CB8AC3E}">
        <p14:creationId xmlns:p14="http://schemas.microsoft.com/office/powerpoint/2010/main" val="200005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F0A604E4-7307-451C-93BE-F1F7E1BF3B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200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F7F3A0AA-35E5-4085-942B-7378390306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5282344"/>
            <a:ext cx="12191998" cy="1590742"/>
          </a:xfrm>
          <a:prstGeom prst="rect">
            <a:avLst/>
          </a:prstGeom>
          <a:gradFill>
            <a:gsLst>
              <a:gs pos="34000">
                <a:srgbClr val="000000">
                  <a:alpha val="96000"/>
                </a:srgbClr>
              </a:gs>
              <a:gs pos="100000">
                <a:schemeClr val="accent1"/>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402F5C38-C747-4173-ABBF-656E39E821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5282344"/>
            <a:ext cx="8115300" cy="1590742"/>
          </a:xfrm>
          <a:prstGeom prst="rect">
            <a:avLst/>
          </a:prstGeom>
          <a:gradFill>
            <a:gsLst>
              <a:gs pos="28000">
                <a:schemeClr val="accent1">
                  <a:lumMod val="75000"/>
                  <a:alpha val="59000"/>
                </a:schemeClr>
              </a:gs>
              <a:gs pos="100000">
                <a:srgbClr val="000000">
                  <a:alpha val="7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E37EECFC-A684-4391-AE85-4CDAF5565F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5282344"/>
            <a:ext cx="12191998" cy="1590742"/>
          </a:xfrm>
          <a:prstGeom prst="rect">
            <a:avLst/>
          </a:prstGeom>
          <a:gradFill>
            <a:gsLst>
              <a:gs pos="0">
                <a:srgbClr val="000000">
                  <a:alpha val="71765"/>
                </a:srgbClr>
              </a:gs>
              <a:gs pos="100000">
                <a:schemeClr val="accent1">
                  <a:alpha val="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DEBF0006-FB95-FD70-FAE5-F0B29A93FA1D}"/>
              </a:ext>
            </a:extLst>
          </p:cNvPr>
          <p:cNvSpPr txBox="1"/>
          <p:nvPr/>
        </p:nvSpPr>
        <p:spPr>
          <a:xfrm>
            <a:off x="699714" y="5490971"/>
            <a:ext cx="6962072" cy="1159200"/>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000" kern="1200" dirty="0">
                <a:solidFill>
                  <a:srgbClr val="FFFFFF"/>
                </a:solidFill>
                <a:latin typeface="+mj-lt"/>
                <a:ea typeface="+mj-ea"/>
                <a:cs typeface="+mj-cs"/>
              </a:rPr>
              <a:t>The Permutation Function</a:t>
            </a:r>
          </a:p>
        </p:txBody>
      </p:sp>
      <p:pic>
        <p:nvPicPr>
          <p:cNvPr id="3" name="Picture 2">
            <a:extLst>
              <a:ext uri="{FF2B5EF4-FFF2-40B4-BE49-F238E27FC236}">
                <a16:creationId xmlns:a16="http://schemas.microsoft.com/office/drawing/2014/main" id="{6D583AE9-1794-447A-CA1C-B25F8B3332DB}"/>
              </a:ext>
            </a:extLst>
          </p:cNvPr>
          <p:cNvPicPr>
            <a:picLocks noChangeAspect="1"/>
          </p:cNvPicPr>
          <p:nvPr/>
        </p:nvPicPr>
        <p:blipFill>
          <a:blip r:embed="rId2"/>
          <a:stretch>
            <a:fillRect/>
          </a:stretch>
        </p:blipFill>
        <p:spPr>
          <a:xfrm>
            <a:off x="478535" y="668068"/>
            <a:ext cx="11327549" cy="3964642"/>
          </a:xfrm>
          <a:prstGeom prst="rect">
            <a:avLst/>
          </a:prstGeom>
        </p:spPr>
      </p:pic>
      <p:grpSp>
        <p:nvGrpSpPr>
          <p:cNvPr id="7" name="Group 6">
            <a:extLst>
              <a:ext uri="{FF2B5EF4-FFF2-40B4-BE49-F238E27FC236}">
                <a16:creationId xmlns:a16="http://schemas.microsoft.com/office/drawing/2014/main" id="{4954A33F-0367-E167-B946-E000E5B2FE75}"/>
              </a:ext>
            </a:extLst>
          </p:cNvPr>
          <p:cNvGrpSpPr/>
          <p:nvPr/>
        </p:nvGrpSpPr>
        <p:grpSpPr>
          <a:xfrm>
            <a:off x="8534400" y="1899680"/>
            <a:ext cx="20520" cy="112320"/>
            <a:chOff x="8534400" y="1899680"/>
            <a:chExt cx="20520" cy="112320"/>
          </a:xfrm>
        </p:grpSpPr>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333D14AF-8553-A5CC-2869-4D512F603324}"/>
                    </a:ext>
                  </a:extLst>
                </p14:cNvPr>
                <p14:cNvContentPartPr/>
                <p14:nvPr/>
              </p14:nvContentPartPr>
              <p14:xfrm>
                <a:off x="8534400" y="1950440"/>
                <a:ext cx="360" cy="360"/>
              </p14:xfrm>
            </p:contentPart>
          </mc:Choice>
          <mc:Fallback xmlns="">
            <p:pic>
              <p:nvPicPr>
                <p:cNvPr id="2" name="Ink 1">
                  <a:extLst>
                    <a:ext uri="{FF2B5EF4-FFF2-40B4-BE49-F238E27FC236}">
                      <a16:creationId xmlns:a16="http://schemas.microsoft.com/office/drawing/2014/main" id="{333D14AF-8553-A5CC-2869-4D512F603324}"/>
                    </a:ext>
                  </a:extLst>
                </p:cNvPr>
                <p:cNvPicPr/>
                <p:nvPr/>
              </p:nvPicPr>
              <p:blipFill>
                <a:blip r:embed="rId4"/>
                <a:stretch>
                  <a:fillRect/>
                </a:stretch>
              </p:blipFill>
              <p:spPr>
                <a:xfrm>
                  <a:off x="8471400" y="188780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8A028027-5165-0539-0FE6-9F216FE86FA8}"/>
                    </a:ext>
                  </a:extLst>
                </p14:cNvPr>
                <p14:cNvContentPartPr/>
                <p14:nvPr/>
              </p14:nvContentPartPr>
              <p14:xfrm>
                <a:off x="8554560" y="2011640"/>
                <a:ext cx="360" cy="360"/>
              </p14:xfrm>
            </p:contentPart>
          </mc:Choice>
          <mc:Fallback xmlns="">
            <p:pic>
              <p:nvPicPr>
                <p:cNvPr id="5" name="Ink 4">
                  <a:extLst>
                    <a:ext uri="{FF2B5EF4-FFF2-40B4-BE49-F238E27FC236}">
                      <a16:creationId xmlns:a16="http://schemas.microsoft.com/office/drawing/2014/main" id="{8A028027-5165-0539-0FE6-9F216FE86FA8}"/>
                    </a:ext>
                  </a:extLst>
                </p:cNvPr>
                <p:cNvPicPr/>
                <p:nvPr/>
              </p:nvPicPr>
              <p:blipFill>
                <a:blip r:embed="rId4"/>
                <a:stretch>
                  <a:fillRect/>
                </a:stretch>
              </p:blipFill>
              <p:spPr>
                <a:xfrm>
                  <a:off x="8491560" y="1948640"/>
                  <a:ext cx="12600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C1D78542-7935-E778-2D6E-77484C9FF545}"/>
                    </a:ext>
                  </a:extLst>
                </p14:cNvPr>
                <p14:cNvContentPartPr/>
                <p14:nvPr/>
              </p14:nvContentPartPr>
              <p14:xfrm>
                <a:off x="8534400" y="1899680"/>
                <a:ext cx="360" cy="360"/>
              </p14:xfrm>
            </p:contentPart>
          </mc:Choice>
          <mc:Fallback xmlns="">
            <p:pic>
              <p:nvPicPr>
                <p:cNvPr id="6" name="Ink 5">
                  <a:extLst>
                    <a:ext uri="{FF2B5EF4-FFF2-40B4-BE49-F238E27FC236}">
                      <a16:creationId xmlns:a16="http://schemas.microsoft.com/office/drawing/2014/main" id="{C1D78542-7935-E778-2D6E-77484C9FF545}"/>
                    </a:ext>
                  </a:extLst>
                </p:cNvPr>
                <p:cNvPicPr/>
                <p:nvPr/>
              </p:nvPicPr>
              <p:blipFill>
                <a:blip r:embed="rId4"/>
                <a:stretch>
                  <a:fillRect/>
                </a:stretch>
              </p:blipFill>
              <p:spPr>
                <a:xfrm>
                  <a:off x="8471400" y="1837040"/>
                  <a:ext cx="126000" cy="126000"/>
                </a:xfrm>
                <a:prstGeom prst="rect">
                  <a:avLst/>
                </a:prstGeom>
              </p:spPr>
            </p:pic>
          </mc:Fallback>
        </mc:AlternateContent>
      </p:grpSp>
    </p:spTree>
    <p:extLst>
      <p:ext uri="{BB962C8B-B14F-4D97-AF65-F5344CB8AC3E}">
        <p14:creationId xmlns:p14="http://schemas.microsoft.com/office/powerpoint/2010/main" val="13947136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8DD77349-6ADE-99FE-8E04-12919EE56F9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29768"/>
            <a:ext cx="12202175" cy="1519356"/>
            <a:chOff x="-1" y="-29768"/>
            <a:chExt cx="12202175" cy="1519356"/>
          </a:xfrm>
        </p:grpSpPr>
        <p:sp>
          <p:nvSpPr>
            <p:cNvPr id="15" name="Rectangle 14">
              <a:extLst>
                <a:ext uri="{FF2B5EF4-FFF2-40B4-BE49-F238E27FC236}">
                  <a16:creationId xmlns:a16="http://schemas.microsoft.com/office/drawing/2014/main" id="{D5B2B92C-44DF-B41D-C67A-EBF175DF52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5341412" y="-5371175"/>
              <a:ext cx="1519350" cy="12202174"/>
            </a:xfrm>
            <a:prstGeom prst="rect">
              <a:avLst/>
            </a:prstGeom>
            <a:gradFill>
              <a:gsLst>
                <a:gs pos="0">
                  <a:schemeClr val="accent5"/>
                </a:gs>
                <a:gs pos="100000">
                  <a:schemeClr val="accent2"/>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41EB2F1-D26A-D7C9-E9AC-B63BE629A2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917093" y="-1801610"/>
              <a:ext cx="1507122" cy="5063040"/>
            </a:xfrm>
            <a:prstGeom prst="rect">
              <a:avLst/>
            </a:prstGeom>
            <a:gradFill>
              <a:gsLst>
                <a:gs pos="59000">
                  <a:schemeClr val="accent5">
                    <a:lumMod val="60000"/>
                    <a:lumOff val="40000"/>
                    <a:alpha val="0"/>
                  </a:schemeClr>
                </a:gs>
                <a:gs pos="100000">
                  <a:schemeClr val="accent5">
                    <a:lumMod val="60000"/>
                    <a:lumOff val="40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96D16430-53D3-47E5-F4B8-B441E710D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3100712" y="-3130481"/>
              <a:ext cx="1519356" cy="7720782"/>
            </a:xfrm>
            <a:prstGeom prst="rect">
              <a:avLst/>
            </a:prstGeom>
            <a:gradFill>
              <a:gsLst>
                <a:gs pos="29000">
                  <a:schemeClr val="accent5">
                    <a:lumMod val="60000"/>
                    <a:lumOff val="40000"/>
                    <a:alpha val="0"/>
                  </a:schemeClr>
                </a:gs>
                <a:gs pos="100000">
                  <a:schemeClr val="accent5">
                    <a:lumMod val="75000"/>
                  </a:scheme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TextBox 8">
            <a:extLst>
              <a:ext uri="{FF2B5EF4-FFF2-40B4-BE49-F238E27FC236}">
                <a16:creationId xmlns:a16="http://schemas.microsoft.com/office/drawing/2014/main" id="{56897EE8-76C5-C5DD-9F7F-2361C47EC524}"/>
              </a:ext>
            </a:extLst>
          </p:cNvPr>
          <p:cNvSpPr txBox="1"/>
          <p:nvPr/>
        </p:nvSpPr>
        <p:spPr>
          <a:xfrm>
            <a:off x="876691" y="301843"/>
            <a:ext cx="10477109" cy="1003532"/>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3200" kern="1200">
                <a:solidFill>
                  <a:srgbClr val="FFFFFF"/>
                </a:solidFill>
                <a:latin typeface="+mj-lt"/>
                <a:ea typeface="+mj-ea"/>
                <a:cs typeface="+mj-cs"/>
              </a:rPr>
              <a:t>AES Algorithm</a:t>
            </a:r>
          </a:p>
        </p:txBody>
      </p:sp>
      <p:sp>
        <p:nvSpPr>
          <p:cNvPr id="3" name="TextBox 2">
            <a:extLst>
              <a:ext uri="{FF2B5EF4-FFF2-40B4-BE49-F238E27FC236}">
                <a16:creationId xmlns:a16="http://schemas.microsoft.com/office/drawing/2014/main" id="{66862C68-0893-935E-3822-02DD70CFCF5B}"/>
              </a:ext>
            </a:extLst>
          </p:cNvPr>
          <p:cNvSpPr txBox="1"/>
          <p:nvPr/>
        </p:nvSpPr>
        <p:spPr>
          <a:xfrm>
            <a:off x="4471219" y="1821195"/>
            <a:ext cx="7720781" cy="1015912"/>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r>
              <a:rPr lang="en-US" sz="2000" dirty="0"/>
              <a:t>AES takes readable data + a secret key → performs several mathematical transformations → produces unreadable ciphertext.</a:t>
            </a:r>
          </a:p>
        </p:txBody>
      </p:sp>
      <p:sp>
        <p:nvSpPr>
          <p:cNvPr id="13" name="TextBox 6">
            <a:extLst>
              <a:ext uri="{FF2B5EF4-FFF2-40B4-BE49-F238E27FC236}">
                <a16:creationId xmlns:a16="http://schemas.microsoft.com/office/drawing/2014/main" id="{004AD536-12DB-2CF2-EB84-CCE5F052077F}"/>
              </a:ext>
            </a:extLst>
          </p:cNvPr>
          <p:cNvSpPr txBox="1"/>
          <p:nvPr/>
        </p:nvSpPr>
        <p:spPr>
          <a:xfrm>
            <a:off x="1087120" y="3021320"/>
            <a:ext cx="8483600" cy="2862322"/>
          </a:xfrm>
          <a:prstGeom prst="rect">
            <a:avLst/>
          </a:prstGeom>
          <a:noFill/>
        </p:spPr>
        <p:txBody>
          <a:bodyPr wrap="square">
            <a:spAutoFit/>
          </a:bodyPr>
          <a:lstStyle/>
          <a:p>
            <a:pPr>
              <a:spcAft>
                <a:spcPts val="600"/>
              </a:spcAft>
            </a:pPr>
            <a:r>
              <a:rPr lang="en-US" b="1" dirty="0"/>
              <a:t>What actually happens inside AES?</a:t>
            </a:r>
          </a:p>
          <a:p>
            <a:pPr>
              <a:spcAft>
                <a:spcPts val="600"/>
              </a:spcAft>
            </a:pPr>
            <a:r>
              <a:rPr lang="en-US" dirty="0"/>
              <a:t>AES does </a:t>
            </a:r>
            <a:r>
              <a:rPr lang="en-US" b="1" dirty="0"/>
              <a:t>not simply encrypt one letter at a time</a:t>
            </a:r>
            <a:r>
              <a:rPr lang="en-US" dirty="0"/>
              <a:t>. It takes a </a:t>
            </a:r>
            <a:r>
              <a:rPr lang="en-US" b="1" dirty="0"/>
              <a:t>128-bit block of data</a:t>
            </a:r>
            <a:r>
              <a:rPr lang="en-US" dirty="0"/>
              <a:t> (16 bytes) and performs several rounds of transformations.</a:t>
            </a:r>
          </a:p>
          <a:p>
            <a:pPr>
              <a:spcAft>
                <a:spcPts val="600"/>
              </a:spcAft>
            </a:pPr>
            <a:r>
              <a:rPr lang="en-US" dirty="0"/>
              <a:t>For AES-128, there are </a:t>
            </a:r>
            <a:r>
              <a:rPr lang="en-US" b="1" dirty="0"/>
              <a:t>10 rounds</a:t>
            </a:r>
            <a:r>
              <a:rPr lang="en-US" dirty="0"/>
              <a:t>.</a:t>
            </a:r>
          </a:p>
          <a:p>
            <a:pPr>
              <a:spcAft>
                <a:spcPts val="600"/>
              </a:spcAft>
            </a:pPr>
            <a:r>
              <a:rPr lang="en-US" dirty="0"/>
              <a:t>In each round, AES mainly performs:</a:t>
            </a:r>
          </a:p>
          <a:p>
            <a:pPr>
              <a:spcAft>
                <a:spcPts val="600"/>
              </a:spcAft>
              <a:buFont typeface="+mj-lt"/>
              <a:buAutoNum type="arabicPeriod"/>
            </a:pPr>
            <a:r>
              <a:rPr lang="en-US" b="1" dirty="0" err="1"/>
              <a:t>SubBytes</a:t>
            </a:r>
            <a:r>
              <a:rPr lang="en-US" dirty="0"/>
              <a:t> – replaces bytes using a substitution table (S-box) </a:t>
            </a:r>
          </a:p>
          <a:p>
            <a:pPr>
              <a:spcAft>
                <a:spcPts val="600"/>
              </a:spcAft>
              <a:buFont typeface="+mj-lt"/>
              <a:buAutoNum type="arabicPeriod"/>
            </a:pPr>
            <a:r>
              <a:rPr lang="en-US" b="1" dirty="0" err="1"/>
              <a:t>ShiftRows</a:t>
            </a:r>
            <a:r>
              <a:rPr lang="en-US" dirty="0"/>
              <a:t> – rearranges the bytes </a:t>
            </a:r>
          </a:p>
          <a:p>
            <a:pPr>
              <a:spcAft>
                <a:spcPts val="600"/>
              </a:spcAft>
              <a:buFont typeface="+mj-lt"/>
              <a:buAutoNum type="arabicPeriod"/>
            </a:pPr>
            <a:r>
              <a:rPr lang="en-US" b="1" dirty="0" err="1"/>
              <a:t>MixColumns</a:t>
            </a:r>
            <a:r>
              <a:rPr lang="en-US" dirty="0"/>
              <a:t> – mathematically mixes the bytes </a:t>
            </a:r>
          </a:p>
          <a:p>
            <a:pPr>
              <a:spcAft>
                <a:spcPts val="600"/>
              </a:spcAft>
              <a:buFont typeface="+mj-lt"/>
              <a:buAutoNum type="arabicPeriod"/>
            </a:pPr>
            <a:r>
              <a:rPr lang="en-US" b="1" dirty="0" err="1"/>
              <a:t>AddRoundKey</a:t>
            </a:r>
            <a:r>
              <a:rPr lang="en-US" dirty="0"/>
              <a:t> – combines the data with a part of the secret key </a:t>
            </a:r>
          </a:p>
          <a:p>
            <a:pPr>
              <a:spcAft>
                <a:spcPts val="600"/>
              </a:spcAft>
            </a:pPr>
            <a:r>
              <a:rPr lang="en-US" dirty="0"/>
              <a:t>The final result is the </a:t>
            </a:r>
            <a:r>
              <a:rPr lang="en-US" b="1" dirty="0"/>
              <a:t>ciphertext</a:t>
            </a:r>
            <a:r>
              <a:rPr lang="en-US" dirty="0"/>
              <a:t>.</a:t>
            </a:r>
          </a:p>
        </p:txBody>
      </p:sp>
    </p:spTree>
    <p:extLst>
      <p:ext uri="{BB962C8B-B14F-4D97-AF65-F5344CB8AC3E}">
        <p14:creationId xmlns:p14="http://schemas.microsoft.com/office/powerpoint/2010/main" val="40277035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7">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2F4D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9">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7665F612-CCDF-F8AD-D362-B434E9BC0BE2}"/>
              </a:ext>
            </a:extLst>
          </p:cNvPr>
          <p:cNvPicPr>
            <a:picLocks noChangeAspect="1"/>
          </p:cNvPicPr>
          <p:nvPr/>
        </p:nvPicPr>
        <p:blipFill>
          <a:blip r:embed="rId2"/>
          <a:stretch>
            <a:fillRect/>
          </a:stretch>
        </p:blipFill>
        <p:spPr>
          <a:xfrm>
            <a:off x="1616364" y="643467"/>
            <a:ext cx="8918732" cy="5596504"/>
          </a:xfrm>
          <a:prstGeom prst="rect">
            <a:avLst/>
          </a:prstGeom>
        </p:spPr>
      </p:pic>
    </p:spTree>
    <p:extLst>
      <p:ext uri="{BB962C8B-B14F-4D97-AF65-F5344CB8AC3E}">
        <p14:creationId xmlns:p14="http://schemas.microsoft.com/office/powerpoint/2010/main" val="25968492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05F166E-7B60-A430-D3B0-8DCE9139D1D4}"/>
              </a:ext>
            </a:extLst>
          </p:cNvPr>
          <p:cNvPicPr>
            <a:picLocks noChangeAspect="1"/>
          </p:cNvPicPr>
          <p:nvPr/>
        </p:nvPicPr>
        <p:blipFill>
          <a:blip r:embed="rId2"/>
          <a:stretch>
            <a:fillRect/>
          </a:stretch>
        </p:blipFill>
        <p:spPr>
          <a:xfrm>
            <a:off x="3458094" y="728748"/>
            <a:ext cx="5056412" cy="2774143"/>
          </a:xfrm>
          <a:prstGeom prst="rect">
            <a:avLst/>
          </a:prstGeom>
        </p:spPr>
      </p:pic>
      <p:pic>
        <p:nvPicPr>
          <p:cNvPr id="5" name="Picture 4">
            <a:extLst>
              <a:ext uri="{FF2B5EF4-FFF2-40B4-BE49-F238E27FC236}">
                <a16:creationId xmlns:a16="http://schemas.microsoft.com/office/drawing/2014/main" id="{6A72BB14-9E87-9476-7105-D9DF19994DAD}"/>
              </a:ext>
            </a:extLst>
          </p:cNvPr>
          <p:cNvPicPr>
            <a:picLocks noChangeAspect="1"/>
          </p:cNvPicPr>
          <p:nvPr/>
        </p:nvPicPr>
        <p:blipFill>
          <a:blip r:embed="rId3"/>
          <a:stretch>
            <a:fillRect/>
          </a:stretch>
        </p:blipFill>
        <p:spPr>
          <a:xfrm>
            <a:off x="1888351" y="3767725"/>
            <a:ext cx="7639443" cy="2609984"/>
          </a:xfrm>
          <a:prstGeom prst="rect">
            <a:avLst/>
          </a:prstGeom>
        </p:spPr>
      </p:pic>
    </p:spTree>
    <p:extLst>
      <p:ext uri="{BB962C8B-B14F-4D97-AF65-F5344CB8AC3E}">
        <p14:creationId xmlns:p14="http://schemas.microsoft.com/office/powerpoint/2010/main" val="27997072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3889C30-7B44-80EE-1420-4F8E7F0E1B88}"/>
              </a:ext>
            </a:extLst>
          </p:cNvPr>
          <p:cNvSpPr txBox="1"/>
          <p:nvPr/>
        </p:nvSpPr>
        <p:spPr>
          <a:xfrm>
            <a:off x="3048918" y="3247088"/>
            <a:ext cx="6097836" cy="1446550"/>
          </a:xfrm>
          <a:prstGeom prst="rect">
            <a:avLst/>
          </a:prstGeom>
          <a:noFill/>
        </p:spPr>
        <p:txBody>
          <a:bodyPr wrap="square">
            <a:spAutoFit/>
          </a:bodyPr>
          <a:lstStyle/>
          <a:p>
            <a:pPr algn="ctr"/>
            <a:r>
              <a:rPr lang="en-US" sz="4400" b="1" dirty="0"/>
              <a:t>Asymmetric Encryption Algorithms</a:t>
            </a:r>
            <a:endParaRPr lang="en-US" sz="4400" dirty="0"/>
          </a:p>
        </p:txBody>
      </p:sp>
    </p:spTree>
    <p:extLst>
      <p:ext uri="{BB962C8B-B14F-4D97-AF65-F5344CB8AC3E}">
        <p14:creationId xmlns:p14="http://schemas.microsoft.com/office/powerpoint/2010/main" val="12403984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AD5CD5B-2428-E398-F589-7E44E89C0947}"/>
              </a:ext>
            </a:extLst>
          </p:cNvPr>
          <p:cNvSpPr txBox="1"/>
          <p:nvPr/>
        </p:nvSpPr>
        <p:spPr>
          <a:xfrm>
            <a:off x="889347" y="538619"/>
            <a:ext cx="10359025" cy="5509200"/>
          </a:xfrm>
          <a:prstGeom prst="rect">
            <a:avLst/>
          </a:prstGeom>
          <a:noFill/>
        </p:spPr>
        <p:txBody>
          <a:bodyPr wrap="square">
            <a:spAutoFit/>
          </a:bodyPr>
          <a:lstStyle/>
          <a:p>
            <a:pPr algn="ctr"/>
            <a:r>
              <a:rPr lang="en-US" sz="4400" b="1" dirty="0"/>
              <a:t>Diffie–Hellman Key Exchange Protocol (Asymmetric)</a:t>
            </a:r>
          </a:p>
          <a:p>
            <a:r>
              <a:rPr lang="en-US" sz="2400" b="1" dirty="0"/>
              <a:t>Diffie–Hellman (DH)</a:t>
            </a:r>
            <a:r>
              <a:rPr lang="en-US" sz="2400" dirty="0"/>
              <a:t> is a </a:t>
            </a:r>
            <a:r>
              <a:rPr lang="en-US" sz="2400" b="1" dirty="0"/>
              <a:t>cryptographic key-exchange method</a:t>
            </a:r>
            <a:r>
              <a:rPr lang="en-US" sz="2400" dirty="0"/>
              <a:t>. Its main purpose is to allow two people/computers to </a:t>
            </a:r>
            <a:r>
              <a:rPr lang="en-US" sz="2400" b="1" dirty="0"/>
              <a:t>create the same secret key over an insecure network without directly sending the secret key</a:t>
            </a:r>
            <a:r>
              <a:rPr lang="en-US" sz="2400" dirty="0"/>
              <a:t>.</a:t>
            </a:r>
          </a:p>
          <a:p>
            <a:endParaRPr lang="en-US" sz="2400" dirty="0"/>
          </a:p>
          <a:p>
            <a:r>
              <a:rPr lang="en-US" sz="2400" dirty="0"/>
              <a:t>The main reason we use </a:t>
            </a:r>
            <a:r>
              <a:rPr lang="en-US" sz="2400" b="1" dirty="0"/>
              <a:t>Diffie–Hellman is to allow two parties to establish a shared secret key over an insecure network without directly sending the secret key.</a:t>
            </a:r>
          </a:p>
          <a:p>
            <a:endParaRPr lang="en-US" sz="2400" dirty="0"/>
          </a:p>
          <a:p>
            <a:r>
              <a:rPr lang="en-US" sz="2400" b="1" dirty="0"/>
              <a:t>Simple example</a:t>
            </a:r>
          </a:p>
          <a:p>
            <a:r>
              <a:rPr lang="en-US" sz="2400" dirty="0"/>
              <a:t>Imagine </a:t>
            </a:r>
            <a:r>
              <a:rPr lang="en-US" sz="2400" b="1" dirty="0"/>
              <a:t>Alice and Bob</a:t>
            </a:r>
            <a:r>
              <a:rPr lang="en-US" sz="2400" dirty="0"/>
              <a:t> want to communicate securely.</a:t>
            </a:r>
          </a:p>
          <a:p>
            <a:r>
              <a:rPr lang="en-US" sz="2400" dirty="0"/>
              <a:t>They need a secret key for an encryption algorithm.</a:t>
            </a:r>
          </a:p>
        </p:txBody>
      </p:sp>
    </p:spTree>
    <p:extLst>
      <p:ext uri="{BB962C8B-B14F-4D97-AF65-F5344CB8AC3E}">
        <p14:creationId xmlns:p14="http://schemas.microsoft.com/office/powerpoint/2010/main" val="6247689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0893649-106B-3FAE-40E1-AB2C4F06053D}"/>
              </a:ext>
            </a:extLst>
          </p:cNvPr>
          <p:cNvSpPr txBox="1"/>
          <p:nvPr/>
        </p:nvSpPr>
        <p:spPr>
          <a:xfrm>
            <a:off x="670560" y="382955"/>
            <a:ext cx="6096000" cy="646331"/>
          </a:xfrm>
          <a:prstGeom prst="rect">
            <a:avLst/>
          </a:prstGeom>
          <a:noFill/>
        </p:spPr>
        <p:txBody>
          <a:bodyPr wrap="square">
            <a:spAutoFit/>
          </a:bodyPr>
          <a:lstStyle/>
          <a:p>
            <a:r>
              <a:rPr lang="en-US" b="1" dirty="0"/>
              <a:t>Diffie–Hellman solves the key-agreement problem</a:t>
            </a:r>
          </a:p>
          <a:p>
            <a:r>
              <a:rPr lang="en-US" dirty="0"/>
              <a:t>Instead of sending the secret key:</a:t>
            </a:r>
          </a:p>
        </p:txBody>
      </p:sp>
      <p:pic>
        <p:nvPicPr>
          <p:cNvPr id="5" name="Picture 4">
            <a:extLst>
              <a:ext uri="{FF2B5EF4-FFF2-40B4-BE49-F238E27FC236}">
                <a16:creationId xmlns:a16="http://schemas.microsoft.com/office/drawing/2014/main" id="{F817A6B5-9986-1C4C-9881-23BE1E030343}"/>
              </a:ext>
            </a:extLst>
          </p:cNvPr>
          <p:cNvPicPr>
            <a:picLocks noChangeAspect="1"/>
          </p:cNvPicPr>
          <p:nvPr/>
        </p:nvPicPr>
        <p:blipFill>
          <a:blip r:embed="rId2"/>
          <a:stretch>
            <a:fillRect/>
          </a:stretch>
        </p:blipFill>
        <p:spPr>
          <a:xfrm>
            <a:off x="2647252" y="1210239"/>
            <a:ext cx="3448747" cy="3912825"/>
          </a:xfrm>
          <a:prstGeom prst="rect">
            <a:avLst/>
          </a:prstGeom>
        </p:spPr>
      </p:pic>
      <p:sp>
        <p:nvSpPr>
          <p:cNvPr id="6" name="Rectangle 1">
            <a:extLst>
              <a:ext uri="{FF2B5EF4-FFF2-40B4-BE49-F238E27FC236}">
                <a16:creationId xmlns:a16="http://schemas.microsoft.com/office/drawing/2014/main" id="{C800A43C-D7E6-56BA-31A3-E65A029F17E3}"/>
              </a:ext>
            </a:extLst>
          </p:cNvPr>
          <p:cNvSpPr>
            <a:spLocks noChangeArrowheads="1"/>
          </p:cNvSpPr>
          <p:nvPr/>
        </p:nvSpPr>
        <p:spPr bwMode="auto">
          <a:xfrm>
            <a:off x="325120" y="5265538"/>
            <a:ext cx="966216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Neither Alice nor Bob sends the actual shared secret.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They </a:t>
            </a:r>
            <a:r>
              <a:rPr kumimoji="0" lang="en-US" altLang="en-US" sz="2000" b="1" i="0" u="none" strike="noStrike" cap="none" normalizeH="0" baseline="0" dirty="0">
                <a:ln>
                  <a:noFill/>
                </a:ln>
                <a:solidFill>
                  <a:schemeClr val="tx1"/>
                </a:solidFill>
                <a:effectLst/>
                <a:latin typeface="Arial" panose="020B0604020202020204" pitchFamily="34" charset="0"/>
              </a:rPr>
              <a:t>calculate it independently</a:t>
            </a:r>
            <a:r>
              <a:rPr kumimoji="0" lang="en-US" altLang="en-US" sz="2000" b="0" i="0" u="none" strike="noStrike" cap="none" normalizeH="0" baseline="0" dirty="0">
                <a:ln>
                  <a:noFill/>
                </a:ln>
                <a:solidFill>
                  <a:schemeClr val="tx1"/>
                </a:solidFill>
                <a:effectLst/>
                <a:latin typeface="Arial" panose="020B0604020202020204" pitchFamily="34" charset="0"/>
              </a:rPr>
              <a:t>.</a:t>
            </a:r>
          </a:p>
        </p:txBody>
      </p:sp>
      <p:sp>
        <p:nvSpPr>
          <p:cNvPr id="7" name="Rectangle 2">
            <a:extLst>
              <a:ext uri="{FF2B5EF4-FFF2-40B4-BE49-F238E27FC236}">
                <a16:creationId xmlns:a16="http://schemas.microsoft.com/office/drawing/2014/main" id="{1BBA9D22-D68C-668C-7CE9-318CB0394491}"/>
              </a:ext>
            </a:extLst>
          </p:cNvPr>
          <p:cNvSpPr>
            <a:spLocks noChangeArrowheads="1"/>
          </p:cNvSpPr>
          <p:nvPr/>
        </p:nvSpPr>
        <p:spPr bwMode="auto">
          <a:xfrm>
            <a:off x="325120" y="6001970"/>
            <a:ext cx="707136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8" name="Rectangle 3">
            <a:extLst>
              <a:ext uri="{FF2B5EF4-FFF2-40B4-BE49-F238E27FC236}">
                <a16:creationId xmlns:a16="http://schemas.microsoft.com/office/drawing/2014/main" id="{D29F4C6D-1170-3DEC-7200-AEEAA9D1D7C1}"/>
              </a:ext>
            </a:extLst>
          </p:cNvPr>
          <p:cNvSpPr>
            <a:spLocks noChangeArrowheads="1"/>
          </p:cNvSpPr>
          <p:nvPr/>
        </p:nvSpPr>
        <p:spPr bwMode="auto">
          <a:xfrm>
            <a:off x="325120" y="5738614"/>
            <a:ext cx="707136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rPr>
              <a:t>Then the shared secret can be used for encryption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1201596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Title"/>
          <p:cNvSpPr txBox="1"/>
          <p:nvPr/>
        </p:nvSpPr>
        <p:spPr>
          <a:xfrm>
            <a:off x="457200" y="274320"/>
            <a:ext cx="11277295" cy="502920"/>
          </a:xfrm>
          <a:prstGeom prst="rect">
            <a:avLst/>
          </a:prstGeom>
          <a:noFill/>
        </p:spPr>
        <p:txBody>
          <a:bodyPr wrap="square" rtlCol="0">
            <a:spAutoFit/>
          </a:bodyPr>
          <a:lstStyle/>
          <a:p>
            <a:pPr algn="ctr"/>
            <a:r>
              <a:rPr lang="en-US" sz="2600" b="1" dirty="0">
                <a:solidFill>
                  <a:srgbClr val="1E2761"/>
                </a:solidFill>
                <a:latin typeface="Cambria"/>
              </a:rPr>
              <a:t>Diffie-Hellman: Setting the Stage</a:t>
            </a:r>
          </a:p>
        </p:txBody>
      </p:sp>
      <p:pic>
        <p:nvPicPr>
          <p:cNvPr id="3" name="Image 0" descr="final_dh_setup.png"/>
          <p:cNvPicPr>
            <a:picLocks noChangeAspect="1"/>
          </p:cNvPicPr>
          <p:nvPr/>
        </p:nvPicPr>
        <p:blipFill>
          <a:blip r:embed="rId2"/>
          <a:stretch>
            <a:fillRect/>
          </a:stretch>
        </p:blipFill>
        <p:spPr>
          <a:xfrm>
            <a:off x="838048" y="960120"/>
            <a:ext cx="10515600" cy="3312143"/>
          </a:xfrm>
          <a:prstGeom prst="rect">
            <a:avLst/>
          </a:prstGeom>
        </p:spPr>
      </p:pic>
      <p:sp>
        <p:nvSpPr>
          <p:cNvPr id="4" name="TextBox Desc"/>
          <p:cNvSpPr txBox="1"/>
          <p:nvPr/>
        </p:nvSpPr>
        <p:spPr>
          <a:xfrm>
            <a:off x="731520" y="4436855"/>
            <a:ext cx="10728655" cy="2192545"/>
          </a:xfrm>
          <a:prstGeom prst="rect">
            <a:avLst/>
          </a:prstGeom>
          <a:noFill/>
        </p:spPr>
        <p:txBody>
          <a:bodyPr wrap="square" rtlCol="0">
            <a:normAutofit/>
          </a:bodyPr>
          <a:lstStyle/>
          <a:p>
            <a:pPr algn="ctr"/>
            <a:r>
              <a:rPr lang="en-US" sz="1400" dirty="0">
                <a:solidFill>
                  <a:srgbClr val="333333"/>
                </a:solidFill>
                <a:latin typeface="Calibri"/>
              </a:rPr>
              <a:t>Alice and Bob agree publicly on a prime n = 11 and a base g = 7. Each will also pick a private number of their own (x for Alice, y for Bob) that never gets transmitted over the network.</a:t>
            </a:r>
          </a:p>
        </p:txBody>
      </p:sp>
    </p:spTree>
    <p:extLst>
      <p:ext uri="{BB962C8B-B14F-4D97-AF65-F5344CB8AC3E}">
        <p14:creationId xmlns:p14="http://schemas.microsoft.com/office/powerpoint/2010/main" val="1809772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Title"/>
          <p:cNvSpPr txBox="1"/>
          <p:nvPr/>
        </p:nvSpPr>
        <p:spPr>
          <a:xfrm>
            <a:off x="457200" y="274320"/>
            <a:ext cx="11277295" cy="502920"/>
          </a:xfrm>
          <a:prstGeom prst="rect">
            <a:avLst/>
          </a:prstGeom>
          <a:noFill/>
        </p:spPr>
        <p:txBody>
          <a:bodyPr wrap="square" rtlCol="0">
            <a:spAutoFit/>
          </a:bodyPr>
          <a:lstStyle/>
          <a:p>
            <a:pPr algn="ctr"/>
            <a:r>
              <a:rPr lang="en-US" sz="2600" b="1" dirty="0">
                <a:solidFill>
                  <a:srgbClr val="1E2761"/>
                </a:solidFill>
                <a:latin typeface="Cambria"/>
              </a:rPr>
              <a:t>Each Side Computes a Public Value</a:t>
            </a:r>
          </a:p>
        </p:txBody>
      </p:sp>
      <p:pic>
        <p:nvPicPr>
          <p:cNvPr id="3" name="Image 0" descr="final_dh_public_values.png"/>
          <p:cNvPicPr>
            <a:picLocks noChangeAspect="1"/>
          </p:cNvPicPr>
          <p:nvPr/>
        </p:nvPicPr>
        <p:blipFill>
          <a:blip r:embed="rId2"/>
          <a:stretch>
            <a:fillRect/>
          </a:stretch>
        </p:blipFill>
        <p:spPr>
          <a:xfrm>
            <a:off x="838048" y="985172"/>
            <a:ext cx="10515600" cy="3839578"/>
          </a:xfrm>
          <a:prstGeom prst="rect">
            <a:avLst/>
          </a:prstGeom>
        </p:spPr>
      </p:pic>
      <p:sp>
        <p:nvSpPr>
          <p:cNvPr id="4" name="TextBox Desc"/>
          <p:cNvSpPr txBox="1"/>
          <p:nvPr/>
        </p:nvSpPr>
        <p:spPr>
          <a:xfrm>
            <a:off x="731520" y="4964290"/>
            <a:ext cx="10728655" cy="1665110"/>
          </a:xfrm>
          <a:prstGeom prst="rect">
            <a:avLst/>
          </a:prstGeom>
          <a:noFill/>
        </p:spPr>
        <p:txBody>
          <a:bodyPr wrap="square" rtlCol="0">
            <a:normAutofit/>
          </a:bodyPr>
          <a:lstStyle/>
          <a:p>
            <a:pPr algn="ctr"/>
            <a:r>
              <a:rPr lang="en-US" sz="1400" dirty="0">
                <a:solidFill>
                  <a:srgbClr val="333333"/>
                </a:solidFill>
                <a:latin typeface="Calibri"/>
              </a:rPr>
              <a:t>With private values x = 3 and y = 5, Alice computes A = g^x mod n = 7^3 mod 11 = 2, and Bob computes B = g^y mod n = 7^5 mod 11 = 10. These public values are safe to exchange openly over the network.</a:t>
            </a:r>
          </a:p>
        </p:txBody>
      </p:sp>
    </p:spTree>
    <p:extLst>
      <p:ext uri="{BB962C8B-B14F-4D97-AF65-F5344CB8AC3E}">
        <p14:creationId xmlns:p14="http://schemas.microsoft.com/office/powerpoint/2010/main" val="34811607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Title"/>
          <p:cNvSpPr txBox="1"/>
          <p:nvPr/>
        </p:nvSpPr>
        <p:spPr>
          <a:xfrm>
            <a:off x="457200" y="274320"/>
            <a:ext cx="11277295" cy="502920"/>
          </a:xfrm>
          <a:prstGeom prst="rect">
            <a:avLst/>
          </a:prstGeom>
          <a:noFill/>
        </p:spPr>
        <p:txBody>
          <a:bodyPr wrap="square" rtlCol="0">
            <a:spAutoFit/>
          </a:bodyPr>
          <a:lstStyle/>
          <a:p>
            <a:pPr algn="ctr"/>
            <a:r>
              <a:rPr lang="en-US" sz="2600" b="1" dirty="0">
                <a:solidFill>
                  <a:srgbClr val="1E2761"/>
                </a:solidFill>
                <a:latin typeface="Cambria"/>
              </a:rPr>
              <a:t>Both Sides Land on the Same Secret</a:t>
            </a:r>
          </a:p>
        </p:txBody>
      </p:sp>
      <p:pic>
        <p:nvPicPr>
          <p:cNvPr id="3" name="Image 0" descr="final_dh_shared_secret.png"/>
          <p:cNvPicPr>
            <a:picLocks noChangeAspect="1"/>
          </p:cNvPicPr>
          <p:nvPr/>
        </p:nvPicPr>
        <p:blipFill>
          <a:blip r:embed="rId2"/>
          <a:stretch>
            <a:fillRect/>
          </a:stretch>
        </p:blipFill>
        <p:spPr>
          <a:xfrm>
            <a:off x="2525345" y="960120"/>
            <a:ext cx="7141006" cy="3977640"/>
          </a:xfrm>
          <a:prstGeom prst="rect">
            <a:avLst/>
          </a:prstGeom>
        </p:spPr>
      </p:pic>
      <p:sp>
        <p:nvSpPr>
          <p:cNvPr id="4" name="TextBox Desc"/>
          <p:cNvSpPr txBox="1"/>
          <p:nvPr/>
        </p:nvSpPr>
        <p:spPr>
          <a:xfrm>
            <a:off x="731520" y="5102352"/>
            <a:ext cx="10728655" cy="1527048"/>
          </a:xfrm>
          <a:prstGeom prst="rect">
            <a:avLst/>
          </a:prstGeom>
          <a:noFill/>
        </p:spPr>
        <p:txBody>
          <a:bodyPr wrap="square" rtlCol="0">
            <a:normAutofit/>
          </a:bodyPr>
          <a:lstStyle/>
          <a:p>
            <a:pPr algn="ctr"/>
            <a:r>
              <a:rPr lang="en-US" sz="1400" dirty="0">
                <a:solidFill>
                  <a:srgbClr val="333333"/>
                </a:solidFill>
                <a:latin typeface="Calibri"/>
              </a:rPr>
              <a:t>Alice raises Bob's public value to her own private exponent: K = B^x mod n = 10^3 mod 11 = 10. Bob does the mirror calculation: K = A^y mod n = 2^5 mod 11 = 10. Without ever transmitting x, y, or K itself, both sides now hold an identical shared secret key.</a:t>
            </a:r>
          </a:p>
        </p:txBody>
      </p:sp>
    </p:spTree>
    <p:extLst>
      <p:ext uri="{BB962C8B-B14F-4D97-AF65-F5344CB8AC3E}">
        <p14:creationId xmlns:p14="http://schemas.microsoft.com/office/powerpoint/2010/main" val="28267516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Title"/>
          <p:cNvSpPr txBox="1"/>
          <p:nvPr/>
        </p:nvSpPr>
        <p:spPr>
          <a:xfrm>
            <a:off x="457200" y="274320"/>
            <a:ext cx="11277295" cy="502920"/>
          </a:xfrm>
          <a:prstGeom prst="rect">
            <a:avLst/>
          </a:prstGeom>
          <a:noFill/>
        </p:spPr>
        <p:txBody>
          <a:bodyPr wrap="square" rtlCol="0">
            <a:spAutoFit/>
          </a:bodyPr>
          <a:lstStyle/>
          <a:p>
            <a:pPr algn="ctr"/>
            <a:r>
              <a:rPr lang="en-US" sz="2600" b="1" dirty="0">
                <a:solidFill>
                  <a:srgbClr val="1E2761"/>
                </a:solidFill>
                <a:latin typeface="Cambria"/>
              </a:rPr>
              <a:t>Enter Tom: An Attacker in the Middle</a:t>
            </a:r>
          </a:p>
        </p:txBody>
      </p:sp>
      <p:pic>
        <p:nvPicPr>
          <p:cNvPr id="3" name="Image 0" descr="final_dh_tom_setup.png"/>
          <p:cNvPicPr>
            <a:picLocks noChangeAspect="1"/>
          </p:cNvPicPr>
          <p:nvPr/>
        </p:nvPicPr>
        <p:blipFill>
          <a:blip r:embed="rId2"/>
          <a:stretch>
            <a:fillRect/>
          </a:stretch>
        </p:blipFill>
        <p:spPr>
          <a:xfrm>
            <a:off x="2219778" y="960120"/>
            <a:ext cx="7752139" cy="3977640"/>
          </a:xfrm>
          <a:prstGeom prst="rect">
            <a:avLst/>
          </a:prstGeom>
        </p:spPr>
      </p:pic>
      <p:sp>
        <p:nvSpPr>
          <p:cNvPr id="4" name="TextBox Desc"/>
          <p:cNvSpPr txBox="1"/>
          <p:nvPr/>
        </p:nvSpPr>
        <p:spPr>
          <a:xfrm>
            <a:off x="731520" y="5102352"/>
            <a:ext cx="10728655" cy="1527048"/>
          </a:xfrm>
          <a:prstGeom prst="rect">
            <a:avLst/>
          </a:prstGeom>
          <a:noFill/>
        </p:spPr>
        <p:txBody>
          <a:bodyPr wrap="square" rtlCol="0">
            <a:normAutofit/>
          </a:bodyPr>
          <a:lstStyle/>
          <a:p>
            <a:pPr algn="ctr"/>
            <a:r>
              <a:rPr lang="en-US" sz="1400" dirty="0">
                <a:solidFill>
                  <a:srgbClr val="333333"/>
                </a:solidFill>
                <a:latin typeface="Calibri"/>
              </a:rPr>
              <a:t>Tom secretly picks his own private value z = 4 and computes his own public value T = g^z mod n = 7^4 mod 11 = 3, ready to substitute himself for Alice and Bob without either one noticing.</a:t>
            </a:r>
          </a:p>
        </p:txBody>
      </p:sp>
    </p:spTree>
    <p:extLst>
      <p:ext uri="{BB962C8B-B14F-4D97-AF65-F5344CB8AC3E}">
        <p14:creationId xmlns:p14="http://schemas.microsoft.com/office/powerpoint/2010/main" val="389990908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Title"/>
          <p:cNvSpPr txBox="1"/>
          <p:nvPr/>
        </p:nvSpPr>
        <p:spPr>
          <a:xfrm>
            <a:off x="457200" y="274320"/>
            <a:ext cx="11277295" cy="502920"/>
          </a:xfrm>
          <a:prstGeom prst="rect">
            <a:avLst/>
          </a:prstGeom>
          <a:noFill/>
        </p:spPr>
        <p:txBody>
          <a:bodyPr wrap="square" rtlCol="0">
            <a:spAutoFit/>
          </a:bodyPr>
          <a:lstStyle/>
          <a:p>
            <a:pPr algn="ctr"/>
            <a:r>
              <a:rPr lang="en-US" sz="2600" b="1" dirty="0">
                <a:solidFill>
                  <a:srgbClr val="1E2761"/>
                </a:solidFill>
                <a:latin typeface="Cambria"/>
              </a:rPr>
              <a:t>Two Secrets, Two Victims: The Break</a:t>
            </a:r>
          </a:p>
        </p:txBody>
      </p:sp>
      <p:pic>
        <p:nvPicPr>
          <p:cNvPr id="3" name="Image 0" descr="final_dh_attack.png"/>
          <p:cNvPicPr>
            <a:picLocks noChangeAspect="1"/>
          </p:cNvPicPr>
          <p:nvPr/>
        </p:nvPicPr>
        <p:blipFill>
          <a:blip r:embed="rId2"/>
          <a:stretch>
            <a:fillRect/>
          </a:stretch>
        </p:blipFill>
        <p:spPr>
          <a:xfrm>
            <a:off x="2549799" y="960120"/>
            <a:ext cx="7092097" cy="3977640"/>
          </a:xfrm>
          <a:prstGeom prst="rect">
            <a:avLst/>
          </a:prstGeom>
        </p:spPr>
      </p:pic>
      <p:sp>
        <p:nvSpPr>
          <p:cNvPr id="4" name="TextBox Desc"/>
          <p:cNvSpPr txBox="1"/>
          <p:nvPr/>
        </p:nvSpPr>
        <p:spPr>
          <a:xfrm>
            <a:off x="731520" y="5102352"/>
            <a:ext cx="10728655" cy="1527048"/>
          </a:xfrm>
          <a:prstGeom prst="rect">
            <a:avLst/>
          </a:prstGeom>
          <a:noFill/>
        </p:spPr>
        <p:txBody>
          <a:bodyPr wrap="square" rtlCol="0">
            <a:normAutofit/>
          </a:bodyPr>
          <a:lstStyle/>
          <a:p>
            <a:pPr algn="ctr"/>
            <a:r>
              <a:rPr lang="en-US" sz="1400" dirty="0">
                <a:solidFill>
                  <a:srgbClr val="333333"/>
                </a:solidFill>
                <a:latin typeface="Calibri"/>
              </a:rPr>
              <a:t>Using Bob's real public value, Tom computes KA = B^z mod n = 10^4 mod 11 = 1 - the secret he now shares with Bob. Using Alice's real public value, he computes KB = A^z mod n = 2^4 mod 11 = 5 - the secret he shares with Alice. Tom relays traffic between them, decrypting with one key and re-encrypting with the other, while Alice and Bob believe they are still talking directly to each other.</a:t>
            </a:r>
          </a:p>
        </p:txBody>
      </p:sp>
    </p:spTree>
    <p:extLst>
      <p:ext uri="{BB962C8B-B14F-4D97-AF65-F5344CB8AC3E}">
        <p14:creationId xmlns:p14="http://schemas.microsoft.com/office/powerpoint/2010/main" val="170536423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age-36.jpg"/>
          <p:cNvPicPr>
            <a:picLocks noChangeAspect="1"/>
          </p:cNvPicPr>
          <p:nvPr/>
        </p:nvPicPr>
        <p:blipFill>
          <a:blip r:embed="rId3"/>
          <a:stretch>
            <a:fillRect/>
          </a:stretch>
        </p:blipFill>
        <p:spPr>
          <a:xfrm>
            <a:off x="0" y="0"/>
            <a:ext cx="12191695" cy="6858000"/>
          </a:xfrm>
          <a:prstGeom prst="rect">
            <a:avLst/>
          </a:prstGeom>
        </p:spPr>
      </p:pic>
    </p:spTree>
    <p:extLst>
      <p:ext uri="{BB962C8B-B14F-4D97-AF65-F5344CB8AC3E}">
        <p14:creationId xmlns:p14="http://schemas.microsoft.com/office/powerpoint/2010/main" val="331770266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age-39.jpg"/>
          <p:cNvPicPr>
            <a:picLocks noChangeAspect="1"/>
          </p:cNvPicPr>
          <p:nvPr/>
        </p:nvPicPr>
        <p:blipFill>
          <a:blip r:embed="rId3"/>
          <a:stretch>
            <a:fillRect/>
          </a:stretch>
        </p:blipFill>
        <p:spPr>
          <a:xfrm>
            <a:off x="0" y="0"/>
            <a:ext cx="12191695" cy="6858000"/>
          </a:xfrm>
          <a:prstGeom prst="rect">
            <a:avLst/>
          </a:prstGeom>
        </p:spPr>
      </p:pic>
    </p:spTree>
    <p:extLst>
      <p:ext uri="{BB962C8B-B14F-4D97-AF65-F5344CB8AC3E}">
        <p14:creationId xmlns:p14="http://schemas.microsoft.com/office/powerpoint/2010/main" val="18790381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age-40.jpg"/>
          <p:cNvPicPr>
            <a:picLocks noChangeAspect="1"/>
          </p:cNvPicPr>
          <p:nvPr/>
        </p:nvPicPr>
        <p:blipFill>
          <a:blip r:embed="rId3"/>
          <a:stretch>
            <a:fillRect/>
          </a:stretch>
        </p:blipFill>
        <p:spPr>
          <a:xfrm>
            <a:off x="0" y="0"/>
            <a:ext cx="12191695" cy="6858000"/>
          </a:xfrm>
          <a:prstGeom prst="rect">
            <a:avLst/>
          </a:prstGeom>
        </p:spPr>
      </p:pic>
    </p:spTree>
    <p:extLst>
      <p:ext uri="{BB962C8B-B14F-4D97-AF65-F5344CB8AC3E}">
        <p14:creationId xmlns:p14="http://schemas.microsoft.com/office/powerpoint/2010/main" val="14574029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age-41.jpg"/>
          <p:cNvPicPr>
            <a:picLocks noChangeAspect="1"/>
          </p:cNvPicPr>
          <p:nvPr/>
        </p:nvPicPr>
        <p:blipFill>
          <a:blip r:embed="rId3"/>
          <a:stretch>
            <a:fillRect/>
          </a:stretch>
        </p:blipFill>
        <p:spPr>
          <a:xfrm>
            <a:off x="0" y="0"/>
            <a:ext cx="12191695" cy="6858000"/>
          </a:xfrm>
          <a:prstGeom prst="rect">
            <a:avLst/>
          </a:prstGeom>
        </p:spPr>
      </p:pic>
    </p:spTree>
    <p:extLst>
      <p:ext uri="{BB962C8B-B14F-4D97-AF65-F5344CB8AC3E}">
        <p14:creationId xmlns:p14="http://schemas.microsoft.com/office/powerpoint/2010/main" val="45184513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7CFF3DD-D8C2-C790-E153-40B3BDF6E78B}"/>
              </a:ext>
            </a:extLst>
          </p:cNvPr>
          <p:cNvSpPr>
            <a:spLocks noChangeArrowheads="1"/>
          </p:cNvSpPr>
          <p:nvPr/>
        </p:nvSpPr>
        <p:spPr bwMode="auto">
          <a:xfrm>
            <a:off x="132080" y="378659"/>
            <a:ext cx="11714480"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“Imagine Bob has a box. Bob gives everyone a key that can </a:t>
            </a:r>
            <a:r>
              <a:rPr kumimoji="0" lang="en-US" altLang="en-US" sz="1800" b="1" i="0" u="none" strike="noStrike" cap="none" normalizeH="0" baseline="0" dirty="0">
                <a:ln>
                  <a:noFill/>
                </a:ln>
                <a:solidFill>
                  <a:schemeClr val="tx1"/>
                </a:solidFill>
                <a:effectLst/>
                <a:latin typeface="Arial" panose="020B0604020202020204" pitchFamily="34" charset="0"/>
              </a:rPr>
              <a:t>lock</a:t>
            </a:r>
            <a:r>
              <a:rPr kumimoji="0" lang="en-US" altLang="en-US" sz="1800" b="0" i="0" u="none" strike="noStrike" cap="none" normalizeH="0" baseline="0" dirty="0">
                <a:ln>
                  <a:noFill/>
                </a:ln>
                <a:solidFill>
                  <a:schemeClr val="tx1"/>
                </a:solidFill>
                <a:effectLst/>
                <a:latin typeface="Arial" panose="020B0604020202020204" pitchFamily="34" charset="0"/>
              </a:rPr>
              <a:t> the box, but only Bob has the key that can </a:t>
            </a:r>
            <a:r>
              <a:rPr kumimoji="0" lang="en-US" altLang="en-US" sz="1800" b="1" i="0" u="none" strike="noStrike" cap="none" normalizeH="0" baseline="0" dirty="0">
                <a:ln>
                  <a:noFill/>
                </a:ln>
                <a:solidFill>
                  <a:schemeClr val="tx1"/>
                </a:solidFill>
                <a:effectLst/>
                <a:latin typeface="Arial" panose="020B0604020202020204" pitchFamily="34" charset="0"/>
              </a:rPr>
              <a:t>unlock</a:t>
            </a:r>
            <a:r>
              <a:rPr kumimoji="0" lang="en-US" altLang="en-US" sz="1800" b="0" i="0" u="none" strike="noStrike" cap="none" normalizeH="0" baseline="0" dirty="0">
                <a:ln>
                  <a:noFill/>
                </a:ln>
                <a:solidFill>
                  <a:schemeClr val="tx1"/>
                </a:solidFill>
                <a:effectLst/>
                <a:latin typeface="Arial" panose="020B0604020202020204" pitchFamily="34" charset="0"/>
              </a:rPr>
              <a:t> it.”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So:</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Public Key = Lock the box</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a:ln>
                  <a:noFill/>
                </a:ln>
                <a:solidFill>
                  <a:schemeClr val="tx1"/>
                </a:solidFill>
                <a:effectLst/>
                <a:latin typeface="Arial" panose="020B0604020202020204" pitchFamily="34" charset="0"/>
              </a:rPr>
              <a:t>Private Key = Unlock the box</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Anyone can use Bob's </a:t>
            </a:r>
            <a:r>
              <a:rPr kumimoji="0" lang="en-US" altLang="en-US" sz="1800" b="1" i="0" u="none" strike="noStrike" cap="none" normalizeH="0" baseline="0" dirty="0">
                <a:ln>
                  <a:noFill/>
                </a:ln>
                <a:solidFill>
                  <a:schemeClr val="tx1"/>
                </a:solidFill>
                <a:effectLst/>
                <a:latin typeface="Arial" panose="020B0604020202020204" pitchFamily="34" charset="0"/>
              </a:rPr>
              <a:t>public key</a:t>
            </a:r>
            <a:r>
              <a:rPr kumimoji="0" lang="en-US" altLang="en-US" sz="1800" b="0" i="0" u="none" strike="noStrike" cap="none" normalizeH="0" baseline="0" dirty="0">
                <a:ln>
                  <a:noFill/>
                </a:ln>
                <a:solidFill>
                  <a:schemeClr val="tx1"/>
                </a:solidFill>
                <a:effectLst/>
                <a:latin typeface="Arial" panose="020B0604020202020204" pitchFamily="34" charset="0"/>
              </a:rPr>
              <a:t> to send him a secret message.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Only Bob can use his </a:t>
            </a:r>
            <a:r>
              <a:rPr kumimoji="0" lang="en-US" altLang="en-US" sz="1800" b="1" i="0" u="none" strike="noStrike" cap="none" normalizeH="0" baseline="0" dirty="0">
                <a:ln>
                  <a:noFill/>
                </a:ln>
                <a:solidFill>
                  <a:schemeClr val="tx1"/>
                </a:solidFill>
                <a:effectLst/>
                <a:latin typeface="Arial" panose="020B0604020202020204" pitchFamily="34" charset="0"/>
              </a:rPr>
              <a:t>private key</a:t>
            </a:r>
            <a:r>
              <a:rPr kumimoji="0" lang="en-US" altLang="en-US" sz="1800" b="0" i="0" u="none" strike="noStrike" cap="none" normalizeH="0" baseline="0" dirty="0">
                <a:ln>
                  <a:noFill/>
                </a:ln>
                <a:solidFill>
                  <a:schemeClr val="tx1"/>
                </a:solidFill>
                <a:effectLst/>
                <a:latin typeface="Arial" panose="020B0604020202020204" pitchFamily="34" charset="0"/>
              </a:rPr>
              <a:t> to read it.</a:t>
            </a:r>
          </a:p>
        </p:txBody>
      </p:sp>
    </p:spTree>
    <p:extLst>
      <p:ext uri="{BB962C8B-B14F-4D97-AF65-F5344CB8AC3E}">
        <p14:creationId xmlns:p14="http://schemas.microsoft.com/office/powerpoint/2010/main" val="113454166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EF24610-BD56-CF67-8758-94E74A8CB100}"/>
              </a:ext>
            </a:extLst>
          </p:cNvPr>
          <p:cNvSpPr txBox="1"/>
          <p:nvPr/>
        </p:nvSpPr>
        <p:spPr>
          <a:xfrm>
            <a:off x="3048000" y="0"/>
            <a:ext cx="4196080" cy="7017306"/>
          </a:xfrm>
          <a:prstGeom prst="rect">
            <a:avLst/>
          </a:prstGeom>
          <a:noFill/>
        </p:spPr>
        <p:txBody>
          <a:bodyPr wrap="square">
            <a:spAutoFit/>
          </a:bodyPr>
          <a:lstStyle/>
          <a:p>
            <a:r>
              <a:rPr lang="en-US" dirty="0"/>
              <a:t> BOB</a:t>
            </a:r>
          </a:p>
          <a:p>
            <a:r>
              <a:rPr lang="en-US" dirty="0"/>
              <a:t>       ┌─────────────────┐</a:t>
            </a:r>
          </a:p>
          <a:p>
            <a:r>
              <a:rPr lang="en-US" dirty="0"/>
              <a:t>       │ Public Key 🔓   │</a:t>
            </a:r>
          </a:p>
          <a:p>
            <a:r>
              <a:rPr lang="en-US" dirty="0"/>
              <a:t>       │ Private Key 🔐  │</a:t>
            </a:r>
          </a:p>
          <a:p>
            <a:r>
              <a:rPr lang="en-US" dirty="0"/>
              <a:t>       └─────────────────┘</a:t>
            </a:r>
          </a:p>
          <a:p>
            <a:r>
              <a:rPr lang="en-US" dirty="0"/>
              <a:t>                ↑</a:t>
            </a:r>
          </a:p>
          <a:p>
            <a:r>
              <a:rPr lang="en-US" dirty="0"/>
              <a:t>                │</a:t>
            </a:r>
          </a:p>
          <a:p>
            <a:r>
              <a:rPr lang="en-US" dirty="0"/>
              <a:t>        Public Key is shared</a:t>
            </a:r>
          </a:p>
          <a:p>
            <a:r>
              <a:rPr lang="en-US" dirty="0"/>
              <a:t>                ↓</a:t>
            </a:r>
          </a:p>
          <a:p>
            <a:r>
              <a:rPr lang="en-US" dirty="0"/>
              <a:t>             ALICE</a:t>
            </a:r>
          </a:p>
          <a:p>
            <a:r>
              <a:rPr lang="en-US" dirty="0"/>
              <a:t>                │</a:t>
            </a:r>
          </a:p>
          <a:p>
            <a:r>
              <a:rPr lang="en-US" dirty="0"/>
              <a:t>          Secret Message</a:t>
            </a:r>
          </a:p>
          <a:p>
            <a:r>
              <a:rPr lang="en-US" dirty="0"/>
              <a:t>                ↓</a:t>
            </a:r>
          </a:p>
          <a:p>
            <a:r>
              <a:rPr lang="en-US" dirty="0"/>
              <a:t>      Encrypt using Bob's</a:t>
            </a:r>
          </a:p>
          <a:p>
            <a:r>
              <a:rPr lang="en-US" dirty="0"/>
              <a:t>          Public Key</a:t>
            </a:r>
          </a:p>
          <a:p>
            <a:r>
              <a:rPr lang="en-US" dirty="0"/>
              <a:t>                ↓</a:t>
            </a:r>
          </a:p>
          <a:p>
            <a:r>
              <a:rPr lang="en-US" dirty="0"/>
              <a:t>          Encrypted Message</a:t>
            </a:r>
          </a:p>
          <a:p>
            <a:r>
              <a:rPr lang="en-US" dirty="0"/>
              <a:t>                │</a:t>
            </a:r>
          </a:p>
          <a:p>
            <a:r>
              <a:rPr lang="en-US" dirty="0"/>
              <a:t>                ↓</a:t>
            </a:r>
          </a:p>
          <a:p>
            <a:r>
              <a:rPr lang="en-US" dirty="0"/>
              <a:t>              BOB</a:t>
            </a:r>
          </a:p>
          <a:p>
            <a:r>
              <a:rPr lang="en-US" dirty="0"/>
              <a:t>                │</a:t>
            </a:r>
          </a:p>
          <a:p>
            <a:r>
              <a:rPr lang="en-US" dirty="0"/>
              <a:t>       Decrypt using his</a:t>
            </a:r>
          </a:p>
          <a:p>
            <a:r>
              <a:rPr lang="en-US" dirty="0"/>
              <a:t>          Private Key</a:t>
            </a:r>
          </a:p>
          <a:p>
            <a:r>
              <a:rPr lang="en-US" dirty="0"/>
              <a:t>                ↓</a:t>
            </a:r>
          </a:p>
          <a:p>
            <a:r>
              <a:rPr lang="en-US" dirty="0"/>
              <a:t>         Original Message</a:t>
            </a:r>
          </a:p>
        </p:txBody>
      </p:sp>
      <p:sp>
        <p:nvSpPr>
          <p:cNvPr id="4" name="Rectangle 1">
            <a:extLst>
              <a:ext uri="{FF2B5EF4-FFF2-40B4-BE49-F238E27FC236}">
                <a16:creationId xmlns:a16="http://schemas.microsoft.com/office/drawing/2014/main" id="{0EA738D9-7989-F628-598C-0FB231B5CCE1}"/>
              </a:ext>
            </a:extLst>
          </p:cNvPr>
          <p:cNvSpPr>
            <a:spLocks noChangeArrowheads="1"/>
          </p:cNvSpPr>
          <p:nvPr/>
        </p:nvSpPr>
        <p:spPr bwMode="auto">
          <a:xfrm>
            <a:off x="5933440" y="935335"/>
            <a:ext cx="625856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The public key can be shared. The private key must be kept secret.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That is the most important idea.</a:t>
            </a:r>
          </a:p>
        </p:txBody>
      </p:sp>
    </p:spTree>
    <p:extLst>
      <p:ext uri="{BB962C8B-B14F-4D97-AF65-F5344CB8AC3E}">
        <p14:creationId xmlns:p14="http://schemas.microsoft.com/office/powerpoint/2010/main" val="24962690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0B5C010-36E1-4C19-E0B9-F80716343017}"/>
              </a:ext>
            </a:extLst>
          </p:cNvPr>
          <p:cNvSpPr txBox="1"/>
          <p:nvPr/>
        </p:nvSpPr>
        <p:spPr>
          <a:xfrm>
            <a:off x="1188720" y="342315"/>
            <a:ext cx="8900160" cy="369332"/>
          </a:xfrm>
          <a:prstGeom prst="rect">
            <a:avLst/>
          </a:prstGeom>
          <a:noFill/>
        </p:spPr>
        <p:txBody>
          <a:bodyPr wrap="square">
            <a:spAutoFit/>
          </a:bodyPr>
          <a:lstStyle/>
          <a:p>
            <a:r>
              <a:rPr lang="en-US"/>
              <a:t>RSA creates the public key and private key using some mathematical steps</a:t>
            </a:r>
            <a:endParaRPr lang="en-US" dirty="0"/>
          </a:p>
        </p:txBody>
      </p:sp>
      <p:sp>
        <p:nvSpPr>
          <p:cNvPr id="5" name="TextBox 4">
            <a:extLst>
              <a:ext uri="{FF2B5EF4-FFF2-40B4-BE49-F238E27FC236}">
                <a16:creationId xmlns:a16="http://schemas.microsoft.com/office/drawing/2014/main" id="{96C81439-8904-5C19-51AE-4162209D5862}"/>
              </a:ext>
            </a:extLst>
          </p:cNvPr>
          <p:cNvSpPr txBox="1"/>
          <p:nvPr/>
        </p:nvSpPr>
        <p:spPr>
          <a:xfrm>
            <a:off x="782320" y="781388"/>
            <a:ext cx="6096000" cy="2031325"/>
          </a:xfrm>
          <a:prstGeom prst="rect">
            <a:avLst/>
          </a:prstGeom>
          <a:noFill/>
        </p:spPr>
        <p:txBody>
          <a:bodyPr wrap="square">
            <a:spAutoFit/>
          </a:bodyPr>
          <a:lstStyle/>
          <a:p>
            <a:r>
              <a:rPr lang="en-US" dirty="0"/>
              <a:t>Use these six steps:</a:t>
            </a:r>
          </a:p>
          <a:p>
            <a:pPr>
              <a:buFont typeface="+mj-lt"/>
              <a:buAutoNum type="arabicPeriod"/>
            </a:pPr>
            <a:r>
              <a:rPr lang="en-US" dirty="0"/>
              <a:t>Choose two prime numbers: </a:t>
            </a:r>
            <a:r>
              <a:rPr lang="en-US" b="1" dirty="0"/>
              <a:t>p and q</a:t>
            </a:r>
            <a:r>
              <a:rPr lang="en-US" dirty="0"/>
              <a:t> </a:t>
            </a:r>
          </a:p>
          <a:p>
            <a:pPr>
              <a:buFont typeface="+mj-lt"/>
              <a:buAutoNum type="arabicPeriod"/>
            </a:pPr>
            <a:r>
              <a:rPr lang="en-US" dirty="0"/>
              <a:t>Calculate </a:t>
            </a:r>
            <a:r>
              <a:rPr lang="en-US" b="1" dirty="0"/>
              <a:t>n = p × q</a:t>
            </a:r>
            <a:r>
              <a:rPr lang="en-US" dirty="0"/>
              <a:t> </a:t>
            </a:r>
          </a:p>
          <a:p>
            <a:pPr>
              <a:buFont typeface="+mj-lt"/>
              <a:buAutoNum type="arabicPeriod"/>
            </a:pPr>
            <a:r>
              <a:rPr lang="en-US" dirty="0"/>
              <a:t>Calculate </a:t>
            </a:r>
            <a:r>
              <a:rPr lang="en-US" b="1" dirty="0"/>
              <a:t>φ(n) = (p − 1)(q − 1)</a:t>
            </a:r>
            <a:r>
              <a:rPr lang="en-US" dirty="0"/>
              <a:t> </a:t>
            </a:r>
          </a:p>
          <a:p>
            <a:pPr>
              <a:buFont typeface="+mj-lt"/>
              <a:buAutoNum type="arabicPeriod"/>
            </a:pPr>
            <a:r>
              <a:rPr lang="en-US" dirty="0"/>
              <a:t>Choose </a:t>
            </a:r>
            <a:r>
              <a:rPr lang="en-US" b="1" dirty="0"/>
              <a:t>e</a:t>
            </a:r>
            <a:r>
              <a:rPr lang="en-US" dirty="0"/>
              <a:t> </a:t>
            </a:r>
          </a:p>
          <a:p>
            <a:pPr>
              <a:buFont typeface="+mj-lt"/>
              <a:buAutoNum type="arabicPeriod"/>
            </a:pPr>
            <a:r>
              <a:rPr lang="en-US" dirty="0"/>
              <a:t>Calculate </a:t>
            </a:r>
            <a:r>
              <a:rPr lang="en-US" b="1" dirty="0"/>
              <a:t>d</a:t>
            </a:r>
            <a:r>
              <a:rPr lang="en-US" dirty="0"/>
              <a:t> </a:t>
            </a:r>
          </a:p>
          <a:p>
            <a:pPr>
              <a:buFont typeface="+mj-lt"/>
              <a:buAutoNum type="arabicPeriod"/>
            </a:pPr>
            <a:r>
              <a:rPr lang="en-US" dirty="0"/>
              <a:t>Form the keys</a:t>
            </a:r>
          </a:p>
        </p:txBody>
      </p:sp>
      <p:graphicFrame>
        <p:nvGraphicFramePr>
          <p:cNvPr id="6" name="Table 5">
            <a:extLst>
              <a:ext uri="{FF2B5EF4-FFF2-40B4-BE49-F238E27FC236}">
                <a16:creationId xmlns:a16="http://schemas.microsoft.com/office/drawing/2014/main" id="{8C0C5DF2-0948-3417-D651-6912CECF52C6}"/>
              </a:ext>
            </a:extLst>
          </p:cNvPr>
          <p:cNvGraphicFramePr>
            <a:graphicFrameLocks noGrp="1"/>
          </p:cNvGraphicFramePr>
          <p:nvPr>
            <p:extLst>
              <p:ext uri="{D42A27DB-BD31-4B8C-83A1-F6EECF244321}">
                <p14:modId xmlns:p14="http://schemas.microsoft.com/office/powerpoint/2010/main" val="1911504472"/>
              </p:ext>
            </p:extLst>
          </p:nvPr>
        </p:nvGraphicFramePr>
        <p:xfrm>
          <a:off x="838200" y="3198654"/>
          <a:ext cx="10515600" cy="2926080"/>
        </p:xfrm>
        <a:graphic>
          <a:graphicData uri="http://schemas.openxmlformats.org/drawingml/2006/table">
            <a:tbl>
              <a:tblPr>
                <a:tableStyleId>{3C2FFA5D-87B4-456A-9821-1D502468CF0F}</a:tableStyleId>
              </a:tblPr>
              <a:tblGrid>
                <a:gridCol w="5257800">
                  <a:extLst>
                    <a:ext uri="{9D8B030D-6E8A-4147-A177-3AD203B41FA5}">
                      <a16:colId xmlns:a16="http://schemas.microsoft.com/office/drawing/2014/main" val="4133189615"/>
                    </a:ext>
                  </a:extLst>
                </a:gridCol>
                <a:gridCol w="5257800">
                  <a:extLst>
                    <a:ext uri="{9D8B030D-6E8A-4147-A177-3AD203B41FA5}">
                      <a16:colId xmlns:a16="http://schemas.microsoft.com/office/drawing/2014/main" val="1846927201"/>
                    </a:ext>
                  </a:extLst>
                </a:gridCol>
              </a:tblGrid>
              <a:tr h="0">
                <a:tc>
                  <a:txBody>
                    <a:bodyPr/>
                    <a:lstStyle/>
                    <a:p>
                      <a:r>
                        <a:rPr lang="en-US"/>
                        <a:t>Step</a:t>
                      </a:r>
                    </a:p>
                  </a:txBody>
                  <a:tcPr anchor="ctr"/>
                </a:tc>
                <a:tc>
                  <a:txBody>
                    <a:bodyPr/>
                    <a:lstStyle/>
                    <a:p>
                      <a:r>
                        <a:rPr lang="en-US"/>
                        <a:t>Calculation</a:t>
                      </a:r>
                    </a:p>
                  </a:txBody>
                  <a:tcPr anchor="ctr"/>
                </a:tc>
                <a:extLst>
                  <a:ext uri="{0D108BD9-81ED-4DB2-BD59-A6C34878D82A}">
                    <a16:rowId xmlns:a16="http://schemas.microsoft.com/office/drawing/2014/main" val="3044265751"/>
                  </a:ext>
                </a:extLst>
              </a:tr>
              <a:tr h="0">
                <a:tc>
                  <a:txBody>
                    <a:bodyPr/>
                    <a:lstStyle/>
                    <a:p>
                      <a:r>
                        <a:rPr lang="en-US"/>
                        <a:t>1</a:t>
                      </a:r>
                    </a:p>
                  </a:txBody>
                  <a:tcPr anchor="ctr"/>
                </a:tc>
                <a:tc>
                  <a:txBody>
                    <a:bodyPr/>
                    <a:lstStyle/>
                    <a:p>
                      <a:r>
                        <a:rPr lang="en-US"/>
                        <a:t>Choose p, q</a:t>
                      </a:r>
                    </a:p>
                  </a:txBody>
                  <a:tcPr anchor="ctr"/>
                </a:tc>
                <a:extLst>
                  <a:ext uri="{0D108BD9-81ED-4DB2-BD59-A6C34878D82A}">
                    <a16:rowId xmlns:a16="http://schemas.microsoft.com/office/drawing/2014/main" val="263033976"/>
                  </a:ext>
                </a:extLst>
              </a:tr>
              <a:tr h="0">
                <a:tc>
                  <a:txBody>
                    <a:bodyPr/>
                    <a:lstStyle/>
                    <a:p>
                      <a:r>
                        <a:rPr lang="en-US"/>
                        <a:t>2</a:t>
                      </a:r>
                    </a:p>
                  </a:txBody>
                  <a:tcPr anchor="ctr"/>
                </a:tc>
                <a:tc>
                  <a:txBody>
                    <a:bodyPr/>
                    <a:lstStyle/>
                    <a:p>
                      <a:r>
                        <a:rPr lang="en-US"/>
                        <a:t>n = p × q</a:t>
                      </a:r>
                    </a:p>
                  </a:txBody>
                  <a:tcPr anchor="ctr"/>
                </a:tc>
                <a:extLst>
                  <a:ext uri="{0D108BD9-81ED-4DB2-BD59-A6C34878D82A}">
                    <a16:rowId xmlns:a16="http://schemas.microsoft.com/office/drawing/2014/main" val="676974847"/>
                  </a:ext>
                </a:extLst>
              </a:tr>
              <a:tr h="0">
                <a:tc>
                  <a:txBody>
                    <a:bodyPr/>
                    <a:lstStyle/>
                    <a:p>
                      <a:r>
                        <a:rPr lang="en-US"/>
                        <a:t>3</a:t>
                      </a:r>
                    </a:p>
                  </a:txBody>
                  <a:tcPr anchor="ctr"/>
                </a:tc>
                <a:tc>
                  <a:txBody>
                    <a:bodyPr/>
                    <a:lstStyle/>
                    <a:p>
                      <a:r>
                        <a:rPr lang="pt-BR"/>
                        <a:t>φ(n) = (p−1)(q−1)</a:t>
                      </a:r>
                    </a:p>
                  </a:txBody>
                  <a:tcPr anchor="ctr"/>
                </a:tc>
                <a:extLst>
                  <a:ext uri="{0D108BD9-81ED-4DB2-BD59-A6C34878D82A}">
                    <a16:rowId xmlns:a16="http://schemas.microsoft.com/office/drawing/2014/main" val="3810377844"/>
                  </a:ext>
                </a:extLst>
              </a:tr>
              <a:tr h="0">
                <a:tc>
                  <a:txBody>
                    <a:bodyPr/>
                    <a:lstStyle/>
                    <a:p>
                      <a:r>
                        <a:rPr lang="en-US"/>
                        <a:t>4</a:t>
                      </a:r>
                    </a:p>
                  </a:txBody>
                  <a:tcPr anchor="ctr"/>
                </a:tc>
                <a:tc>
                  <a:txBody>
                    <a:bodyPr/>
                    <a:lstStyle/>
                    <a:p>
                      <a:r>
                        <a:rPr lang="en-US"/>
                        <a:t>Choose e</a:t>
                      </a:r>
                    </a:p>
                  </a:txBody>
                  <a:tcPr anchor="ctr"/>
                </a:tc>
                <a:extLst>
                  <a:ext uri="{0D108BD9-81ED-4DB2-BD59-A6C34878D82A}">
                    <a16:rowId xmlns:a16="http://schemas.microsoft.com/office/drawing/2014/main" val="3973280141"/>
                  </a:ext>
                </a:extLst>
              </a:tr>
              <a:tr h="0">
                <a:tc>
                  <a:txBody>
                    <a:bodyPr/>
                    <a:lstStyle/>
                    <a:p>
                      <a:r>
                        <a:rPr lang="en-US"/>
                        <a:t>5</a:t>
                      </a:r>
                    </a:p>
                  </a:txBody>
                  <a:tcPr anchor="ctr"/>
                </a:tc>
                <a:tc>
                  <a:txBody>
                    <a:bodyPr/>
                    <a:lstStyle/>
                    <a:p>
                      <a:r>
                        <a:rPr lang="en-US"/>
                        <a:t>Find d</a:t>
                      </a:r>
                    </a:p>
                  </a:txBody>
                  <a:tcPr anchor="ctr"/>
                </a:tc>
                <a:extLst>
                  <a:ext uri="{0D108BD9-81ED-4DB2-BD59-A6C34878D82A}">
                    <a16:rowId xmlns:a16="http://schemas.microsoft.com/office/drawing/2014/main" val="3705649760"/>
                  </a:ext>
                </a:extLst>
              </a:tr>
              <a:tr h="0">
                <a:tc>
                  <a:txBody>
                    <a:bodyPr/>
                    <a:lstStyle/>
                    <a:p>
                      <a:r>
                        <a:rPr lang="en-US"/>
                        <a:t>6</a:t>
                      </a:r>
                    </a:p>
                  </a:txBody>
                  <a:tcPr anchor="ctr"/>
                </a:tc>
                <a:tc>
                  <a:txBody>
                    <a:bodyPr/>
                    <a:lstStyle/>
                    <a:p>
                      <a:r>
                        <a:rPr lang="en-US"/>
                        <a:t>Public Key = (e,n)</a:t>
                      </a:r>
                    </a:p>
                  </a:txBody>
                  <a:tcPr anchor="ctr"/>
                </a:tc>
                <a:extLst>
                  <a:ext uri="{0D108BD9-81ED-4DB2-BD59-A6C34878D82A}">
                    <a16:rowId xmlns:a16="http://schemas.microsoft.com/office/drawing/2014/main" val="842636175"/>
                  </a:ext>
                </a:extLst>
              </a:tr>
              <a:tr h="0">
                <a:tc>
                  <a:txBody>
                    <a:bodyPr/>
                    <a:lstStyle/>
                    <a:p>
                      <a:endParaRPr lang="en-US"/>
                    </a:p>
                  </a:txBody>
                  <a:tcPr anchor="ctr"/>
                </a:tc>
                <a:tc>
                  <a:txBody>
                    <a:bodyPr/>
                    <a:lstStyle/>
                    <a:p>
                      <a:r>
                        <a:rPr lang="en-US" dirty="0"/>
                        <a:t>Private Key = (</a:t>
                      </a:r>
                      <a:r>
                        <a:rPr lang="en-US" dirty="0" err="1"/>
                        <a:t>d,n</a:t>
                      </a:r>
                      <a:r>
                        <a:rPr lang="en-US" dirty="0"/>
                        <a:t>)</a:t>
                      </a:r>
                    </a:p>
                  </a:txBody>
                  <a:tcPr anchor="ctr"/>
                </a:tc>
                <a:extLst>
                  <a:ext uri="{0D108BD9-81ED-4DB2-BD59-A6C34878D82A}">
                    <a16:rowId xmlns:a16="http://schemas.microsoft.com/office/drawing/2014/main" val="3438653282"/>
                  </a:ext>
                </a:extLst>
              </a:tr>
            </a:tbl>
          </a:graphicData>
        </a:graphic>
      </p:graphicFrame>
      <p:sp>
        <p:nvSpPr>
          <p:cNvPr id="23" name="TextBox 22">
            <a:extLst>
              <a:ext uri="{FF2B5EF4-FFF2-40B4-BE49-F238E27FC236}">
                <a16:creationId xmlns:a16="http://schemas.microsoft.com/office/drawing/2014/main" id="{0542AB58-EFEB-337A-FA8B-A2C2A2283F7B}"/>
              </a:ext>
            </a:extLst>
          </p:cNvPr>
          <p:cNvSpPr txBox="1"/>
          <p:nvPr/>
        </p:nvSpPr>
        <p:spPr>
          <a:xfrm>
            <a:off x="6878320" y="781388"/>
            <a:ext cx="4378960" cy="738664"/>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400" b="1" i="0" u="none" strike="noStrike" cap="none" normalizeH="0" baseline="0" dirty="0">
                <a:ln>
                  <a:noFill/>
                </a:ln>
                <a:solidFill>
                  <a:schemeClr val="tx1"/>
                </a:solidFill>
                <a:effectLst/>
              </a:rPr>
              <a:t>When selecting 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rPr>
              <a:t>Choose e between 1 and φ(n).</a:t>
            </a:r>
            <a:r>
              <a:rPr kumimoji="0" lang="en-US" altLang="en-US" sz="1400" b="0" i="0" u="none" strike="noStrike" cap="none" normalizeH="0" baseline="0" dirty="0">
                <a:ln>
                  <a:noFill/>
                </a:ln>
                <a:solidFill>
                  <a:schemeClr val="tx1"/>
                </a:solidFill>
                <a:effectLst/>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1" i="0" u="none" strike="noStrike" cap="none" normalizeH="0" baseline="0" dirty="0">
                <a:ln>
                  <a:noFill/>
                </a:ln>
                <a:solidFill>
                  <a:schemeClr val="tx1"/>
                </a:solidFill>
                <a:effectLst/>
              </a:rPr>
              <a:t>e must have no common factor with φ(n), except 1.</a:t>
            </a:r>
            <a:r>
              <a:rPr kumimoji="0" lang="en-US" altLang="en-US" sz="1400" b="0" i="0" u="none" strike="noStrike" cap="none" normalizeH="0" baseline="0" dirty="0">
                <a:ln>
                  <a:noFill/>
                </a:ln>
                <a:solidFill>
                  <a:schemeClr val="tx1"/>
                </a:solidFill>
                <a:effectLst/>
              </a:rPr>
              <a:t> </a:t>
            </a:r>
          </a:p>
        </p:txBody>
      </p:sp>
      <p:sp>
        <p:nvSpPr>
          <p:cNvPr id="25" name="TextBox 24">
            <a:extLst>
              <a:ext uri="{FF2B5EF4-FFF2-40B4-BE49-F238E27FC236}">
                <a16:creationId xmlns:a16="http://schemas.microsoft.com/office/drawing/2014/main" id="{76F03F62-12F2-3B4B-D3EA-064A730CE101}"/>
              </a:ext>
            </a:extLst>
          </p:cNvPr>
          <p:cNvSpPr txBox="1"/>
          <p:nvPr/>
        </p:nvSpPr>
        <p:spPr>
          <a:xfrm>
            <a:off x="6878320" y="2126318"/>
            <a:ext cx="4378960" cy="523220"/>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400" b="1" i="0" u="none" strike="noStrike" cap="none" normalizeH="0" baseline="0" dirty="0">
                <a:ln>
                  <a:noFill/>
                </a:ln>
                <a:solidFill>
                  <a:schemeClr val="tx1"/>
                </a:solidFill>
                <a:effectLst/>
              </a:rPr>
              <a:t>When selecting d,</a:t>
            </a:r>
          </a:p>
          <a:p>
            <a:pPr marL="0" marR="0" lvl="0" indent="0" algn="l" defTabSz="914400" rtl="0" eaLnBrk="0" fontAlgn="base" latinLnBrk="0" hangingPunct="0">
              <a:lnSpc>
                <a:spcPct val="100000"/>
              </a:lnSpc>
              <a:spcBef>
                <a:spcPct val="0"/>
              </a:spcBef>
              <a:spcAft>
                <a:spcPct val="0"/>
              </a:spcAft>
              <a:buClrTx/>
              <a:buSzTx/>
              <a:tabLst/>
            </a:pPr>
            <a:r>
              <a:rPr kumimoji="0" lang="en-US" altLang="en-US" sz="1400" b="0" i="0" u="none" strike="noStrike" cap="none" normalizeH="0" baseline="0" dirty="0">
                <a:ln>
                  <a:noFill/>
                </a:ln>
                <a:solidFill>
                  <a:schemeClr val="tx1"/>
                </a:solidFill>
                <a:effectLst/>
              </a:rPr>
              <a:t> </a:t>
            </a:r>
            <a:r>
              <a:rPr kumimoji="0" lang="en-US" altLang="en-US" sz="1400" b="1" i="0" u="none" strike="noStrike" cap="none" normalizeH="0" baseline="0" dirty="0">
                <a:ln>
                  <a:noFill/>
                </a:ln>
                <a:solidFill>
                  <a:schemeClr val="tx1"/>
                </a:solidFill>
                <a:effectLst/>
              </a:rPr>
              <a:t>d * e Mod </a:t>
            </a:r>
            <a:r>
              <a:rPr lang="en-US" sz="1400" b="1" dirty="0"/>
              <a:t>φ(n) = 1</a:t>
            </a:r>
            <a:endParaRPr kumimoji="0" lang="en-US" altLang="en-US" sz="1400" b="1"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316976290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694F54A-ECC2-8439-6B98-4A47A863A131}"/>
              </a:ext>
            </a:extLst>
          </p:cNvPr>
          <p:cNvSpPr txBox="1"/>
          <p:nvPr/>
        </p:nvSpPr>
        <p:spPr>
          <a:xfrm>
            <a:off x="701040" y="518775"/>
            <a:ext cx="6096000" cy="923330"/>
          </a:xfrm>
          <a:prstGeom prst="rect">
            <a:avLst/>
          </a:prstGeom>
          <a:noFill/>
        </p:spPr>
        <p:txBody>
          <a:bodyPr wrap="square">
            <a:spAutoFit/>
          </a:bodyPr>
          <a:lstStyle/>
          <a:p>
            <a:r>
              <a:rPr lang="en-US" dirty="0"/>
              <a:t>Choose:</a:t>
            </a:r>
          </a:p>
          <a:p>
            <a:r>
              <a:rPr lang="en-US" b="1" dirty="0"/>
              <a:t>p = 3</a:t>
            </a:r>
            <a:br>
              <a:rPr lang="en-US" dirty="0"/>
            </a:br>
            <a:r>
              <a:rPr lang="en-US" b="1" dirty="0"/>
              <a:t>q = 11</a:t>
            </a:r>
            <a:endParaRPr lang="en-US" dirty="0"/>
          </a:p>
        </p:txBody>
      </p:sp>
      <p:sp>
        <p:nvSpPr>
          <p:cNvPr id="7" name="TextBox 6">
            <a:extLst>
              <a:ext uri="{FF2B5EF4-FFF2-40B4-BE49-F238E27FC236}">
                <a16:creationId xmlns:a16="http://schemas.microsoft.com/office/drawing/2014/main" id="{2E6404DA-5D5C-CCDC-E031-F69DCD2FC466}"/>
              </a:ext>
            </a:extLst>
          </p:cNvPr>
          <p:cNvSpPr txBox="1"/>
          <p:nvPr/>
        </p:nvSpPr>
        <p:spPr>
          <a:xfrm>
            <a:off x="701040" y="1771134"/>
            <a:ext cx="6096000" cy="369332"/>
          </a:xfrm>
          <a:prstGeom prst="rect">
            <a:avLst/>
          </a:prstGeom>
          <a:noFill/>
        </p:spPr>
        <p:txBody>
          <a:bodyPr wrap="square">
            <a:spAutoFit/>
          </a:bodyPr>
          <a:lstStyle/>
          <a:p>
            <a:r>
              <a:rPr lang="en-US" dirty="0"/>
              <a:t>Step 1 — Calculate n</a:t>
            </a:r>
          </a:p>
        </p:txBody>
      </p:sp>
      <p:sp>
        <p:nvSpPr>
          <p:cNvPr id="9" name="TextBox 8">
            <a:extLst>
              <a:ext uri="{FF2B5EF4-FFF2-40B4-BE49-F238E27FC236}">
                <a16:creationId xmlns:a16="http://schemas.microsoft.com/office/drawing/2014/main" id="{5713A0A6-8450-5FF1-C022-6DE22F816633}"/>
              </a:ext>
            </a:extLst>
          </p:cNvPr>
          <p:cNvSpPr txBox="1"/>
          <p:nvPr/>
        </p:nvSpPr>
        <p:spPr>
          <a:xfrm>
            <a:off x="701040" y="2533749"/>
            <a:ext cx="2214880" cy="646331"/>
          </a:xfrm>
          <a:prstGeom prst="rect">
            <a:avLst/>
          </a:prstGeom>
          <a:noFill/>
        </p:spPr>
        <p:txBody>
          <a:bodyPr wrap="square">
            <a:spAutoFit/>
          </a:bodyPr>
          <a:lstStyle/>
          <a:p>
            <a:r>
              <a:rPr lang="en-US" dirty="0"/>
              <a:t>n=</a:t>
            </a:r>
            <a:r>
              <a:rPr lang="en-US" dirty="0" err="1"/>
              <a:t>pq</a:t>
            </a:r>
            <a:r>
              <a:rPr lang="en-US" dirty="0"/>
              <a:t> </a:t>
            </a:r>
          </a:p>
          <a:p>
            <a:r>
              <a:rPr lang="en-US" dirty="0"/>
              <a:t>n=3×11=33</a:t>
            </a:r>
          </a:p>
        </p:txBody>
      </p:sp>
      <p:sp>
        <p:nvSpPr>
          <p:cNvPr id="11" name="TextBox 10">
            <a:extLst>
              <a:ext uri="{FF2B5EF4-FFF2-40B4-BE49-F238E27FC236}">
                <a16:creationId xmlns:a16="http://schemas.microsoft.com/office/drawing/2014/main" id="{2C420DF2-38BB-2C52-84E4-9282B439C5D1}"/>
              </a:ext>
            </a:extLst>
          </p:cNvPr>
          <p:cNvSpPr txBox="1"/>
          <p:nvPr/>
        </p:nvSpPr>
        <p:spPr>
          <a:xfrm>
            <a:off x="701040" y="3820161"/>
            <a:ext cx="6096000" cy="646331"/>
          </a:xfrm>
          <a:prstGeom prst="rect">
            <a:avLst/>
          </a:prstGeom>
          <a:noFill/>
        </p:spPr>
        <p:txBody>
          <a:bodyPr wrap="square">
            <a:spAutoFit/>
          </a:bodyPr>
          <a:lstStyle/>
          <a:p>
            <a:r>
              <a:rPr lang="en-US" dirty="0"/>
              <a:t>So:</a:t>
            </a:r>
          </a:p>
          <a:p>
            <a:r>
              <a:rPr lang="en-US" b="1" dirty="0"/>
              <a:t>n = 33</a:t>
            </a:r>
            <a:endParaRPr lang="en-US" dirty="0"/>
          </a:p>
        </p:txBody>
      </p:sp>
    </p:spTree>
    <p:extLst>
      <p:ext uri="{BB962C8B-B14F-4D97-AF65-F5344CB8AC3E}">
        <p14:creationId xmlns:p14="http://schemas.microsoft.com/office/powerpoint/2010/main" val="20966766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A47FD72-F76D-36FE-D3F9-1A06291DC172}"/>
              </a:ext>
            </a:extLst>
          </p:cNvPr>
          <p:cNvSpPr txBox="1"/>
          <p:nvPr/>
        </p:nvSpPr>
        <p:spPr>
          <a:xfrm>
            <a:off x="670560" y="291174"/>
            <a:ext cx="6096000" cy="2031325"/>
          </a:xfrm>
          <a:prstGeom prst="rect">
            <a:avLst/>
          </a:prstGeom>
          <a:noFill/>
        </p:spPr>
        <p:txBody>
          <a:bodyPr wrap="square">
            <a:spAutoFit/>
          </a:bodyPr>
          <a:lstStyle/>
          <a:p>
            <a:r>
              <a:rPr lang="en-US" b="1" dirty="0"/>
              <a:t>Step 2 — Calculate Euler's Totient</a:t>
            </a:r>
          </a:p>
          <a:p>
            <a:r>
              <a:rPr lang="el-GR" dirty="0"/>
              <a:t>ϕ(</a:t>
            </a:r>
            <a:r>
              <a:rPr lang="en-US" dirty="0"/>
              <a:t>n)=(p−1)(q−1)</a:t>
            </a:r>
          </a:p>
          <a:p>
            <a:endParaRPr lang="en-US" dirty="0"/>
          </a:p>
          <a:p>
            <a:r>
              <a:rPr lang="el-GR" dirty="0"/>
              <a:t>ϕ(</a:t>
            </a:r>
            <a:r>
              <a:rPr lang="en-US" dirty="0"/>
              <a:t>n</a:t>
            </a:r>
            <a:r>
              <a:rPr lang="el-GR" dirty="0"/>
              <a:t>)=(3−1)(11−1</a:t>
            </a:r>
            <a:r>
              <a:rPr lang="en-US" dirty="0"/>
              <a:t>)</a:t>
            </a:r>
          </a:p>
          <a:p>
            <a:r>
              <a:rPr lang="en-US" dirty="0"/>
              <a:t>        =2×10=20</a:t>
            </a:r>
          </a:p>
          <a:p>
            <a:endParaRPr lang="en-US" dirty="0"/>
          </a:p>
          <a:p>
            <a:r>
              <a:rPr lang="el-GR" b="1" dirty="0"/>
              <a:t>φ(</a:t>
            </a:r>
            <a:r>
              <a:rPr lang="en-US" b="1" dirty="0"/>
              <a:t>n) = 20</a:t>
            </a:r>
            <a:endParaRPr lang="en-US" dirty="0"/>
          </a:p>
        </p:txBody>
      </p:sp>
      <p:sp>
        <p:nvSpPr>
          <p:cNvPr id="5" name="TextBox 4">
            <a:extLst>
              <a:ext uri="{FF2B5EF4-FFF2-40B4-BE49-F238E27FC236}">
                <a16:creationId xmlns:a16="http://schemas.microsoft.com/office/drawing/2014/main" id="{B98EBBA5-886D-637F-E899-C2828DED930A}"/>
              </a:ext>
            </a:extLst>
          </p:cNvPr>
          <p:cNvSpPr txBox="1"/>
          <p:nvPr/>
        </p:nvSpPr>
        <p:spPr>
          <a:xfrm>
            <a:off x="670560" y="3113316"/>
            <a:ext cx="6096000" cy="2031325"/>
          </a:xfrm>
          <a:prstGeom prst="rect">
            <a:avLst/>
          </a:prstGeom>
          <a:noFill/>
        </p:spPr>
        <p:txBody>
          <a:bodyPr wrap="square">
            <a:spAutoFit/>
          </a:bodyPr>
          <a:lstStyle/>
          <a:p>
            <a:r>
              <a:rPr lang="en-US" b="1" dirty="0"/>
              <a:t>Step 3 — Choose e</a:t>
            </a:r>
          </a:p>
          <a:p>
            <a:r>
              <a:rPr lang="en-US" dirty="0"/>
              <a:t>We need:</a:t>
            </a:r>
          </a:p>
          <a:p>
            <a:endParaRPr lang="en-US" dirty="0"/>
          </a:p>
          <a:p>
            <a:r>
              <a:rPr lang="en-US" dirty="0"/>
              <a:t>1&lt;e&lt;</a:t>
            </a:r>
            <a:r>
              <a:rPr lang="el-GR" dirty="0"/>
              <a:t>ϕ(</a:t>
            </a:r>
            <a:r>
              <a:rPr lang="en-US" dirty="0"/>
              <a:t>n)</a:t>
            </a:r>
          </a:p>
          <a:p>
            <a:r>
              <a:rPr lang="en-US" dirty="0"/>
              <a:t>1&lt;e&lt;20 and</a:t>
            </a:r>
          </a:p>
          <a:p>
            <a:endParaRPr lang="en-US" dirty="0"/>
          </a:p>
          <a:p>
            <a:r>
              <a:rPr lang="en-US" dirty="0" err="1"/>
              <a:t>gcd</a:t>
            </a:r>
            <a:r>
              <a:rPr lang="en-US" dirty="0"/>
              <a:t>(e,20)=1</a:t>
            </a:r>
          </a:p>
        </p:txBody>
      </p:sp>
      <p:sp>
        <p:nvSpPr>
          <p:cNvPr id="7" name="TextBox 6">
            <a:extLst>
              <a:ext uri="{FF2B5EF4-FFF2-40B4-BE49-F238E27FC236}">
                <a16:creationId xmlns:a16="http://schemas.microsoft.com/office/drawing/2014/main" id="{A280A4FA-BF02-100E-0D0A-198A8D316172}"/>
              </a:ext>
            </a:extLst>
          </p:cNvPr>
          <p:cNvSpPr txBox="1"/>
          <p:nvPr/>
        </p:nvSpPr>
        <p:spPr>
          <a:xfrm>
            <a:off x="1056640" y="5242451"/>
            <a:ext cx="2611120" cy="646331"/>
          </a:xfrm>
          <a:prstGeom prst="rect">
            <a:avLst/>
          </a:prstGeom>
          <a:noFill/>
          <a:ln>
            <a:solidFill>
              <a:schemeClr val="accent1"/>
            </a:solidFill>
          </a:ln>
        </p:spPr>
        <p:txBody>
          <a:bodyPr wrap="square">
            <a:spAutoFit/>
          </a:bodyPr>
          <a:lstStyle/>
          <a:p>
            <a:r>
              <a:rPr lang="pt-BR" b="1" dirty="0"/>
              <a:t>Public Key</a:t>
            </a:r>
          </a:p>
          <a:p>
            <a:r>
              <a:rPr lang="pt-BR" dirty="0"/>
              <a:t>(e,n)=(3,33)</a:t>
            </a:r>
            <a:endParaRPr lang="en-US" dirty="0"/>
          </a:p>
        </p:txBody>
      </p:sp>
    </p:spTree>
    <p:extLst>
      <p:ext uri="{BB962C8B-B14F-4D97-AF65-F5344CB8AC3E}">
        <p14:creationId xmlns:p14="http://schemas.microsoft.com/office/powerpoint/2010/main" val="377190188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17A0EC6-6AA8-3CDF-4EA9-77D0EDABD811}"/>
              </a:ext>
            </a:extLst>
          </p:cNvPr>
          <p:cNvSpPr txBox="1"/>
          <p:nvPr/>
        </p:nvSpPr>
        <p:spPr>
          <a:xfrm>
            <a:off x="762000" y="413435"/>
            <a:ext cx="6096000" cy="923330"/>
          </a:xfrm>
          <a:prstGeom prst="rect">
            <a:avLst/>
          </a:prstGeom>
          <a:noFill/>
        </p:spPr>
        <p:txBody>
          <a:bodyPr wrap="square">
            <a:spAutoFit/>
          </a:bodyPr>
          <a:lstStyle/>
          <a:p>
            <a:r>
              <a:rPr lang="en-US" dirty="0"/>
              <a:t>We need to find </a:t>
            </a:r>
            <a:r>
              <a:rPr lang="en-US" b="1" dirty="0"/>
              <a:t>d</a:t>
            </a:r>
            <a:r>
              <a:rPr lang="en-US" dirty="0"/>
              <a:t> such that:</a:t>
            </a:r>
          </a:p>
          <a:p>
            <a:endParaRPr lang="en-US" dirty="0"/>
          </a:p>
          <a:p>
            <a:r>
              <a:rPr lang="en-US" dirty="0"/>
              <a:t>D * e mod T = 1</a:t>
            </a:r>
          </a:p>
        </p:txBody>
      </p:sp>
      <p:sp>
        <p:nvSpPr>
          <p:cNvPr id="4" name="TextBox 3">
            <a:extLst>
              <a:ext uri="{FF2B5EF4-FFF2-40B4-BE49-F238E27FC236}">
                <a16:creationId xmlns:a16="http://schemas.microsoft.com/office/drawing/2014/main" id="{D0704CD2-0B35-827B-CE84-DAE8B85975E1}"/>
              </a:ext>
            </a:extLst>
          </p:cNvPr>
          <p:cNvSpPr txBox="1"/>
          <p:nvPr/>
        </p:nvSpPr>
        <p:spPr>
          <a:xfrm>
            <a:off x="8432800" y="456565"/>
            <a:ext cx="2682240" cy="369332"/>
          </a:xfrm>
          <a:prstGeom prst="rect">
            <a:avLst/>
          </a:prstGeom>
          <a:noFill/>
        </p:spPr>
        <p:txBody>
          <a:bodyPr wrap="square" rtlCol="0">
            <a:spAutoFit/>
          </a:bodyPr>
          <a:lstStyle/>
          <a:p>
            <a:r>
              <a:rPr lang="en-US" dirty="0"/>
              <a:t>T = </a:t>
            </a:r>
            <a:r>
              <a:rPr lang="el-GR" dirty="0"/>
              <a:t>ϕ(</a:t>
            </a:r>
            <a:r>
              <a:rPr lang="en-US" dirty="0"/>
              <a:t>n)</a:t>
            </a:r>
          </a:p>
        </p:txBody>
      </p:sp>
      <p:sp>
        <p:nvSpPr>
          <p:cNvPr id="6" name="TextBox 5">
            <a:extLst>
              <a:ext uri="{FF2B5EF4-FFF2-40B4-BE49-F238E27FC236}">
                <a16:creationId xmlns:a16="http://schemas.microsoft.com/office/drawing/2014/main" id="{3389E76A-5FBB-00F5-F289-3408D0E4F9B1}"/>
              </a:ext>
            </a:extLst>
          </p:cNvPr>
          <p:cNvSpPr txBox="1"/>
          <p:nvPr/>
        </p:nvSpPr>
        <p:spPr>
          <a:xfrm>
            <a:off x="680720" y="1760165"/>
            <a:ext cx="6096000" cy="369332"/>
          </a:xfrm>
          <a:prstGeom prst="rect">
            <a:avLst/>
          </a:prstGeom>
          <a:noFill/>
        </p:spPr>
        <p:txBody>
          <a:bodyPr wrap="square">
            <a:spAutoFit/>
          </a:bodyPr>
          <a:lstStyle/>
          <a:p>
            <a:r>
              <a:rPr lang="en-US" dirty="0"/>
              <a:t>21 mod 20 = 1</a:t>
            </a:r>
          </a:p>
        </p:txBody>
      </p:sp>
      <p:sp>
        <p:nvSpPr>
          <p:cNvPr id="8" name="TextBox 7">
            <a:extLst>
              <a:ext uri="{FF2B5EF4-FFF2-40B4-BE49-F238E27FC236}">
                <a16:creationId xmlns:a16="http://schemas.microsoft.com/office/drawing/2014/main" id="{4FC77852-3539-97AF-6F6D-A3F754E0F18B}"/>
              </a:ext>
            </a:extLst>
          </p:cNvPr>
          <p:cNvSpPr txBox="1"/>
          <p:nvPr/>
        </p:nvSpPr>
        <p:spPr>
          <a:xfrm>
            <a:off x="762000" y="1363799"/>
            <a:ext cx="6096000" cy="369332"/>
          </a:xfrm>
          <a:prstGeom prst="rect">
            <a:avLst/>
          </a:prstGeom>
          <a:noFill/>
        </p:spPr>
        <p:txBody>
          <a:bodyPr wrap="square">
            <a:spAutoFit/>
          </a:bodyPr>
          <a:lstStyle/>
          <a:p>
            <a:r>
              <a:rPr lang="en-US" dirty="0"/>
              <a:t>7*3=21</a:t>
            </a:r>
          </a:p>
        </p:txBody>
      </p:sp>
      <p:sp>
        <p:nvSpPr>
          <p:cNvPr id="10" name="TextBox 9">
            <a:extLst>
              <a:ext uri="{FF2B5EF4-FFF2-40B4-BE49-F238E27FC236}">
                <a16:creationId xmlns:a16="http://schemas.microsoft.com/office/drawing/2014/main" id="{DD85FC46-5C8E-4630-997E-E0540F9C862E}"/>
              </a:ext>
            </a:extLst>
          </p:cNvPr>
          <p:cNvSpPr txBox="1"/>
          <p:nvPr/>
        </p:nvSpPr>
        <p:spPr>
          <a:xfrm>
            <a:off x="680720" y="2505670"/>
            <a:ext cx="6096000" cy="923330"/>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dirty="0"/>
              <a:t>So:</a:t>
            </a:r>
          </a:p>
          <a:p>
            <a:r>
              <a:rPr lang="en-US" b="1" dirty="0"/>
              <a:t>Private Key</a:t>
            </a:r>
          </a:p>
          <a:p>
            <a:r>
              <a:rPr lang="en-US" dirty="0"/>
              <a:t>(</a:t>
            </a:r>
            <a:r>
              <a:rPr lang="en-US" dirty="0" err="1"/>
              <a:t>d,n</a:t>
            </a:r>
            <a:r>
              <a:rPr lang="en-US" dirty="0"/>
              <a:t>)=(7,33)</a:t>
            </a:r>
          </a:p>
        </p:txBody>
      </p:sp>
    </p:spTree>
    <p:extLst>
      <p:ext uri="{BB962C8B-B14F-4D97-AF65-F5344CB8AC3E}">
        <p14:creationId xmlns:p14="http://schemas.microsoft.com/office/powerpoint/2010/main" val="39565783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Freeform: Shape 33">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ctangle 35">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reeform: Shape 39">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2" name="Isosceles Triangle 41">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719CEB53-B6FE-CBC1-D6EF-9A850527A3F4}"/>
              </a:ext>
            </a:extLst>
          </p:cNvPr>
          <p:cNvPicPr>
            <a:picLocks noChangeAspect="1"/>
          </p:cNvPicPr>
          <p:nvPr/>
        </p:nvPicPr>
        <p:blipFill>
          <a:blip r:embed="rId2"/>
          <a:stretch>
            <a:fillRect/>
          </a:stretch>
        </p:blipFill>
        <p:spPr>
          <a:xfrm>
            <a:off x="3201940" y="643467"/>
            <a:ext cx="5788119" cy="5571065"/>
          </a:xfrm>
          <a:prstGeom prst="rect">
            <a:avLst/>
          </a:prstGeom>
          <a:ln>
            <a:noFill/>
          </a:ln>
        </p:spPr>
      </p:pic>
      <p:sp>
        <p:nvSpPr>
          <p:cNvPr id="44" name="Isosceles Triangle 43">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p14="http://schemas.microsoft.com/office/powerpoint/2010/main">
        <mc:Choice Requires="p14">
          <p:contentPart p14:bwMode="auto" r:id="rId3">
            <p14:nvContentPartPr>
              <p14:cNvPr id="8" name="Ink 7">
                <a:extLst>
                  <a:ext uri="{FF2B5EF4-FFF2-40B4-BE49-F238E27FC236}">
                    <a16:creationId xmlns:a16="http://schemas.microsoft.com/office/drawing/2014/main" id="{1850AEDB-1DBC-1F09-347E-CD6C8FDC6224}"/>
                  </a:ext>
                </a:extLst>
              </p14:cNvPr>
              <p14:cNvContentPartPr/>
              <p14:nvPr/>
            </p14:nvContentPartPr>
            <p14:xfrm>
              <a:off x="7231480" y="5596520"/>
              <a:ext cx="623520" cy="409680"/>
            </p14:xfrm>
          </p:contentPart>
        </mc:Choice>
        <mc:Fallback xmlns="">
          <p:pic>
            <p:nvPicPr>
              <p:cNvPr id="8" name="Ink 7">
                <a:extLst>
                  <a:ext uri="{FF2B5EF4-FFF2-40B4-BE49-F238E27FC236}">
                    <a16:creationId xmlns:a16="http://schemas.microsoft.com/office/drawing/2014/main" id="{1850AEDB-1DBC-1F09-347E-CD6C8FDC6224}"/>
                  </a:ext>
                </a:extLst>
              </p:cNvPr>
              <p:cNvPicPr/>
              <p:nvPr/>
            </p:nvPicPr>
            <p:blipFill>
              <a:blip r:embed="rId4"/>
              <a:stretch>
                <a:fillRect/>
              </a:stretch>
            </p:blipFill>
            <p:spPr>
              <a:xfrm>
                <a:off x="7177840" y="5488520"/>
                <a:ext cx="731160" cy="625320"/>
              </a:xfrm>
              <a:prstGeom prst="rect">
                <a:avLst/>
              </a:prstGeom>
            </p:spPr>
          </p:pic>
        </mc:Fallback>
      </mc:AlternateContent>
      <p:sp>
        <p:nvSpPr>
          <p:cNvPr id="11" name="TextBox 10">
            <a:extLst>
              <a:ext uri="{FF2B5EF4-FFF2-40B4-BE49-F238E27FC236}">
                <a16:creationId xmlns:a16="http://schemas.microsoft.com/office/drawing/2014/main" id="{2B3D55D0-E219-00E6-014B-A5A5F9803059}"/>
              </a:ext>
            </a:extLst>
          </p:cNvPr>
          <p:cNvSpPr txBox="1"/>
          <p:nvPr/>
        </p:nvSpPr>
        <p:spPr>
          <a:xfrm>
            <a:off x="1037860" y="0"/>
            <a:ext cx="4328160" cy="584775"/>
          </a:xfrm>
          <a:prstGeom prst="rect">
            <a:avLst/>
          </a:prstGeom>
          <a:noFill/>
        </p:spPr>
        <p:txBody>
          <a:bodyPr wrap="square" rtlCol="0">
            <a:spAutoFit/>
          </a:bodyPr>
          <a:lstStyle/>
          <a:p>
            <a:r>
              <a:rPr lang="en-US" sz="3200" dirty="0"/>
              <a:t>Encryption Formula</a:t>
            </a:r>
          </a:p>
        </p:txBody>
      </p:sp>
    </p:spTree>
    <p:extLst>
      <p:ext uri="{BB962C8B-B14F-4D97-AF65-F5344CB8AC3E}">
        <p14:creationId xmlns:p14="http://schemas.microsoft.com/office/powerpoint/2010/main" val="4144590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Isosceles Triangle 17">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0AA9E0AF-E27B-0F65-03D2-009FD7D058D3}"/>
              </a:ext>
            </a:extLst>
          </p:cNvPr>
          <p:cNvPicPr>
            <a:picLocks noChangeAspect="1"/>
          </p:cNvPicPr>
          <p:nvPr/>
        </p:nvPicPr>
        <p:blipFill rotWithShape="1">
          <a:blip r:embed="rId2"/>
          <a:srcRect t="6140"/>
          <a:stretch/>
        </p:blipFill>
        <p:spPr>
          <a:xfrm>
            <a:off x="3310467" y="985520"/>
            <a:ext cx="5571065" cy="5229012"/>
          </a:xfrm>
          <a:prstGeom prst="rect">
            <a:avLst/>
          </a:prstGeom>
          <a:ln>
            <a:noFill/>
          </a:ln>
        </p:spPr>
      </p:pic>
      <p:sp>
        <p:nvSpPr>
          <p:cNvPr id="20" name="Isosceles Triangle 19">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B937B453-74D7-EEFD-7E1B-B37699EE7D53}"/>
                  </a:ext>
                </a:extLst>
              </p14:cNvPr>
              <p14:cNvContentPartPr/>
              <p14:nvPr/>
            </p14:nvContentPartPr>
            <p14:xfrm>
              <a:off x="7359280" y="6014120"/>
              <a:ext cx="516240" cy="90000"/>
            </p14:xfrm>
          </p:contentPart>
        </mc:Choice>
        <mc:Fallback xmlns="">
          <p:pic>
            <p:nvPicPr>
              <p:cNvPr id="4" name="Ink 3">
                <a:extLst>
                  <a:ext uri="{FF2B5EF4-FFF2-40B4-BE49-F238E27FC236}">
                    <a16:creationId xmlns:a16="http://schemas.microsoft.com/office/drawing/2014/main" id="{B937B453-74D7-EEFD-7E1B-B37699EE7D53}"/>
                  </a:ext>
                </a:extLst>
              </p:cNvPr>
              <p:cNvPicPr/>
              <p:nvPr/>
            </p:nvPicPr>
            <p:blipFill>
              <a:blip r:embed="rId4"/>
              <a:stretch>
                <a:fillRect/>
              </a:stretch>
            </p:blipFill>
            <p:spPr>
              <a:xfrm>
                <a:off x="7305280" y="5906120"/>
                <a:ext cx="623880" cy="305640"/>
              </a:xfrm>
              <a:prstGeom prst="rect">
                <a:avLst/>
              </a:prstGeom>
            </p:spPr>
          </p:pic>
        </mc:Fallback>
      </mc:AlternateContent>
      <p:sp>
        <p:nvSpPr>
          <p:cNvPr id="5" name="TextBox 4">
            <a:extLst>
              <a:ext uri="{FF2B5EF4-FFF2-40B4-BE49-F238E27FC236}">
                <a16:creationId xmlns:a16="http://schemas.microsoft.com/office/drawing/2014/main" id="{C2BCDC08-EAD9-A5DF-53BA-9B1A70881922}"/>
              </a:ext>
            </a:extLst>
          </p:cNvPr>
          <p:cNvSpPr txBox="1"/>
          <p:nvPr/>
        </p:nvSpPr>
        <p:spPr>
          <a:xfrm>
            <a:off x="1037860" y="0"/>
            <a:ext cx="4328160" cy="584775"/>
          </a:xfrm>
          <a:prstGeom prst="rect">
            <a:avLst/>
          </a:prstGeom>
          <a:noFill/>
        </p:spPr>
        <p:txBody>
          <a:bodyPr wrap="square" rtlCol="0">
            <a:spAutoFit/>
          </a:bodyPr>
          <a:lstStyle/>
          <a:p>
            <a:r>
              <a:rPr lang="en-US" sz="3200" dirty="0"/>
              <a:t>Decryption Formula</a:t>
            </a:r>
          </a:p>
        </p:txBody>
      </p:sp>
    </p:spTree>
    <p:extLst>
      <p:ext uri="{BB962C8B-B14F-4D97-AF65-F5344CB8AC3E}">
        <p14:creationId xmlns:p14="http://schemas.microsoft.com/office/powerpoint/2010/main" val="40873872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C7B48EE-7DCF-101E-5588-238364BEAA53}"/>
              </a:ext>
            </a:extLst>
          </p:cNvPr>
          <p:cNvSpPr txBox="1"/>
          <p:nvPr/>
        </p:nvSpPr>
        <p:spPr>
          <a:xfrm>
            <a:off x="2449286" y="838200"/>
            <a:ext cx="5998028" cy="584775"/>
          </a:xfrm>
          <a:prstGeom prst="rect">
            <a:avLst/>
          </a:prstGeom>
          <a:noFill/>
        </p:spPr>
        <p:txBody>
          <a:bodyPr wrap="square" rtlCol="0">
            <a:spAutoFit/>
          </a:bodyPr>
          <a:lstStyle/>
          <a:p>
            <a:r>
              <a:rPr lang="en-US" sz="3200" dirty="0"/>
              <a:t>Further Study</a:t>
            </a:r>
          </a:p>
        </p:txBody>
      </p:sp>
    </p:spTree>
    <p:extLst>
      <p:ext uri="{BB962C8B-B14F-4D97-AF65-F5344CB8AC3E}">
        <p14:creationId xmlns:p14="http://schemas.microsoft.com/office/powerpoint/2010/main" val="98396690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age-24.jpg"/>
          <p:cNvPicPr>
            <a:picLocks noChangeAspect="1"/>
          </p:cNvPicPr>
          <p:nvPr/>
        </p:nvPicPr>
        <p:blipFill>
          <a:blip r:embed="rId3"/>
          <a:stretch>
            <a:fillRect/>
          </a:stretch>
        </p:blipFill>
        <p:spPr>
          <a:xfrm>
            <a:off x="0" y="0"/>
            <a:ext cx="12191695" cy="6858000"/>
          </a:xfrm>
          <a:prstGeom prst="rect">
            <a:avLst/>
          </a:prstGeom>
        </p:spPr>
      </p:pic>
    </p:spTree>
    <p:extLst>
      <p:ext uri="{BB962C8B-B14F-4D97-AF65-F5344CB8AC3E}">
        <p14:creationId xmlns:p14="http://schemas.microsoft.com/office/powerpoint/2010/main" val="79187458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age-25.jpg"/>
          <p:cNvPicPr>
            <a:picLocks noChangeAspect="1"/>
          </p:cNvPicPr>
          <p:nvPr/>
        </p:nvPicPr>
        <p:blipFill>
          <a:blip r:embed="rId3"/>
          <a:stretch>
            <a:fillRect/>
          </a:stretch>
        </p:blipFill>
        <p:spPr>
          <a:xfrm>
            <a:off x="0" y="0"/>
            <a:ext cx="12191695" cy="6858000"/>
          </a:xfrm>
          <a:prstGeom prst="rect">
            <a:avLst/>
          </a:prstGeom>
        </p:spPr>
      </p:pic>
    </p:spTree>
    <p:extLst>
      <p:ext uri="{BB962C8B-B14F-4D97-AF65-F5344CB8AC3E}">
        <p14:creationId xmlns:p14="http://schemas.microsoft.com/office/powerpoint/2010/main" val="65350945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age-26.jpg"/>
          <p:cNvPicPr>
            <a:picLocks noChangeAspect="1"/>
          </p:cNvPicPr>
          <p:nvPr/>
        </p:nvPicPr>
        <p:blipFill>
          <a:blip r:embed="rId3"/>
          <a:stretch>
            <a:fillRect/>
          </a:stretch>
        </p:blipFill>
        <p:spPr>
          <a:xfrm>
            <a:off x="0" y="0"/>
            <a:ext cx="12191695" cy="6858000"/>
          </a:xfrm>
          <a:prstGeom prst="rect">
            <a:avLst/>
          </a:prstGeom>
        </p:spPr>
      </p:pic>
    </p:spTree>
    <p:extLst>
      <p:ext uri="{BB962C8B-B14F-4D97-AF65-F5344CB8AC3E}">
        <p14:creationId xmlns:p14="http://schemas.microsoft.com/office/powerpoint/2010/main" val="146144455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age-27.jpg"/>
          <p:cNvPicPr>
            <a:picLocks noChangeAspect="1"/>
          </p:cNvPicPr>
          <p:nvPr/>
        </p:nvPicPr>
        <p:blipFill>
          <a:blip r:embed="rId3"/>
          <a:stretch>
            <a:fillRect/>
          </a:stretch>
        </p:blipFill>
        <p:spPr>
          <a:xfrm>
            <a:off x="0" y="0"/>
            <a:ext cx="12191695" cy="6858000"/>
          </a:xfrm>
          <a:prstGeom prst="rect">
            <a:avLst/>
          </a:prstGeom>
        </p:spPr>
      </p:pic>
    </p:spTree>
    <p:extLst>
      <p:ext uri="{BB962C8B-B14F-4D97-AF65-F5344CB8AC3E}">
        <p14:creationId xmlns:p14="http://schemas.microsoft.com/office/powerpoint/2010/main" val="222457126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age-28.jpg"/>
          <p:cNvPicPr>
            <a:picLocks noChangeAspect="1"/>
          </p:cNvPicPr>
          <p:nvPr/>
        </p:nvPicPr>
        <p:blipFill>
          <a:blip r:embed="rId3"/>
          <a:stretch>
            <a:fillRect/>
          </a:stretch>
        </p:blipFill>
        <p:spPr>
          <a:xfrm>
            <a:off x="0" y="0"/>
            <a:ext cx="12191695" cy="6858000"/>
          </a:xfrm>
          <a:prstGeom prst="rect">
            <a:avLst/>
          </a:prstGeom>
        </p:spPr>
      </p:pic>
    </p:spTree>
    <p:extLst>
      <p:ext uri="{BB962C8B-B14F-4D97-AF65-F5344CB8AC3E}">
        <p14:creationId xmlns:p14="http://schemas.microsoft.com/office/powerpoint/2010/main" val="420267124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age-29.jpg"/>
          <p:cNvPicPr>
            <a:picLocks noChangeAspect="1"/>
          </p:cNvPicPr>
          <p:nvPr/>
        </p:nvPicPr>
        <p:blipFill>
          <a:blip r:embed="rId3"/>
          <a:stretch>
            <a:fillRect/>
          </a:stretch>
        </p:blipFill>
        <p:spPr>
          <a:xfrm>
            <a:off x="0" y="0"/>
            <a:ext cx="12191695" cy="6858000"/>
          </a:xfrm>
          <a:prstGeom prst="rect">
            <a:avLst/>
          </a:prstGeom>
        </p:spPr>
      </p:pic>
    </p:spTree>
    <p:extLst>
      <p:ext uri="{BB962C8B-B14F-4D97-AF65-F5344CB8AC3E}">
        <p14:creationId xmlns:p14="http://schemas.microsoft.com/office/powerpoint/2010/main" val="335663986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age-30.jpg"/>
          <p:cNvPicPr>
            <a:picLocks noChangeAspect="1"/>
          </p:cNvPicPr>
          <p:nvPr/>
        </p:nvPicPr>
        <p:blipFill>
          <a:blip r:embed="rId3"/>
          <a:stretch>
            <a:fillRect/>
          </a:stretch>
        </p:blipFill>
        <p:spPr>
          <a:xfrm>
            <a:off x="0" y="0"/>
            <a:ext cx="12191695" cy="6858000"/>
          </a:xfrm>
          <a:prstGeom prst="rect">
            <a:avLst/>
          </a:prstGeom>
        </p:spPr>
      </p:pic>
    </p:spTree>
    <p:extLst>
      <p:ext uri="{BB962C8B-B14F-4D97-AF65-F5344CB8AC3E}">
        <p14:creationId xmlns:p14="http://schemas.microsoft.com/office/powerpoint/2010/main" val="282250175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age-54.jp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age-55.jpg"/>
          <p:cNvPicPr>
            <a:picLocks noChangeAspect="1"/>
          </p:cNvPicPr>
          <p:nvPr/>
        </p:nvPicPr>
        <p:blipFill>
          <a:blip r:embed="rId3"/>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3511</TotalTime>
  <Words>1889</Words>
  <Application>Microsoft Office PowerPoint</Application>
  <PresentationFormat>Widescreen</PresentationFormat>
  <Paragraphs>180</Paragraphs>
  <Slides>57</Slides>
  <Notes>25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57</vt:i4>
      </vt:variant>
    </vt:vector>
  </HeadingPairs>
  <TitlesOfParts>
    <vt:vector size="62" baseType="lpstr">
      <vt:lpstr>Arial</vt:lpstr>
      <vt:lpstr>Calibri</vt:lpstr>
      <vt:lpstr>Calibri Light</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Ms. K Anuradha</cp:lastModifiedBy>
  <cp:revision>16</cp:revision>
  <dcterms:created xsi:type="dcterms:W3CDTF">2026-09-10T17:14:38Z</dcterms:created>
  <dcterms:modified xsi:type="dcterms:W3CDTF">2026-10-16T04:06:50Z</dcterms:modified>
</cp:coreProperties>
</file>