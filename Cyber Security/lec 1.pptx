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2393" autoAdjust="0"/>
  </p:normalViewPr>
  <p:slideViewPr>
    <p:cSldViewPr snapToGrid="0" snapToObjects="1">
      <p:cViewPr varScale="1">
        <p:scale>
          <a:sx n="52" d="100"/>
          <a:sy n="52" d="100"/>
        </p:scale>
        <p:origin x="17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702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960120"/>
            <a:ext cx="1737360" cy="1737360"/>
          </a:xfrm>
          <a:prstGeom prst="ellipse">
            <a:avLst/>
          </a:prstGeom>
          <a:solidFill>
            <a:srgbClr val="13315C"/>
          </a:solidFill>
          <a:ln w="19050">
            <a:solidFill>
              <a:srgbClr val="2EC4B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173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2344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v2.1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2920" y="196596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 for</a:t>
            </a:r>
            <a:endParaRPr lang="en-US" sz="4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Materials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Sections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83880" cy="804672"/>
          </a:xfrm>
          <a:prstGeom prst="roundRect">
            <a:avLst>
              <a:gd name="adj" fmla="val 6818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27048"/>
            <a:ext cx="493776" cy="49377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270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personal data, explain its characteristics and value, and why it is profitable to hackers.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231136"/>
            <a:ext cx="8183880" cy="804672"/>
          </a:xfrm>
          <a:prstGeom prst="roundRect">
            <a:avLst>
              <a:gd name="adj" fmla="val 6818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386584"/>
            <a:ext cx="493776" cy="49377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3865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71600" y="232257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61518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types of data used by governments and organizations, and the impact of a security breach.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090672"/>
            <a:ext cx="8183880" cy="804672"/>
          </a:xfrm>
          <a:prstGeom prst="roundRect">
            <a:avLst>
              <a:gd name="adj" fmla="val 6818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246120"/>
            <a:ext cx="493776" cy="49377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246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71600" y="318211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&amp; Professionals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474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characteristics and motives of attackers, plus legal and ethical issues for professionals.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950208"/>
            <a:ext cx="8183880" cy="804672"/>
          </a:xfrm>
          <a:prstGeom prst="roundRect">
            <a:avLst>
              <a:gd name="adj" fmla="val 6818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105656"/>
            <a:ext cx="493776" cy="49377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1056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371600" y="40416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Cyberwarfare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33425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characteristics and purpose of cyberwarfare.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234440"/>
            <a:ext cx="1554480" cy="1554480"/>
          </a:xfrm>
          <a:prstGeom prst="ellipse">
            <a:avLst/>
          </a:prstGeom>
          <a:solidFill>
            <a:srgbClr val="13315C"/>
          </a:solidFill>
          <a:ln w="19050">
            <a:solidFill>
              <a:srgbClr val="2EC4B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45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20116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Data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data is, where it lives, and why criminals want 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PERSONAL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Personal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0B254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Cybersecurity?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199339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protection of networked systems and data from unauthorized use or harm.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926080"/>
            <a:ext cx="3931920" cy="1691640"/>
          </a:xfrm>
          <a:prstGeom prst="roundRect">
            <a:avLst>
              <a:gd name="adj" fmla="val 3784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username or alias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40156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not include any personal information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appropriate and respectful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not attract unwanted attention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371600"/>
            <a:ext cx="3977640" cy="1572768"/>
          </a:xfrm>
          <a:prstGeom prst="roundRect">
            <a:avLst>
              <a:gd name="adj" fmla="val 4070"/>
            </a:avLst>
          </a:prstGeom>
          <a:solidFill>
            <a:srgbClr val="13315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56048" y="1572768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17099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1500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Identity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715000" y="1883664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real-life identity that interacts on a regular basis at home, school, or work.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709160" y="3044952"/>
            <a:ext cx="3977640" cy="1572768"/>
          </a:xfrm>
          <a:prstGeom prst="roundRect">
            <a:avLst>
              <a:gd name="adj" fmla="val 4070"/>
            </a:avLst>
          </a:prstGeom>
          <a:solidFill>
            <a:srgbClr val="13315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56048" y="324612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208" y="338328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15000" y="32278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Identity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715000" y="3557016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identity while in cyberspace. It should reveal only a limited amount of information about you.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PERSONAL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51760" cy="3246120"/>
          </a:xfrm>
          <a:prstGeom prst="roundRect">
            <a:avLst>
              <a:gd name="adj" fmla="val 2414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889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health records (EHR): physical, mental, and other personal information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9272" y="1371600"/>
            <a:ext cx="2651760" cy="3246120"/>
          </a:xfrm>
          <a:prstGeom prst="roundRect">
            <a:avLst>
              <a:gd name="adj" fmla="val 2414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47872" y="16002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Records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47872" y="27889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Grades, test scores, courses taken, awards and degrees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Disciplinary reports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35624" y="1371600"/>
            <a:ext cx="2651760" cy="3246120"/>
          </a:xfrm>
          <a:prstGeom prst="roundRect">
            <a:avLst>
              <a:gd name="adj" fmla="val 2414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64224" y="16002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737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&amp; Financial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64224" y="27889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expenditures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records: paycheck stubs, credit card statements, credit rating, bank statements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employment and performance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PERSONAL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Your Data?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lives far beyond your own devices - copies exist wherever you interact.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83880" cy="713232"/>
          </a:xfrm>
          <a:prstGeom prst="roundRect">
            <a:avLst>
              <a:gd name="adj" fmla="val 7692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591056"/>
            <a:ext cx="493776" cy="493776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170535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5448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71600" y="1828800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at your doctor's office and shared with your insurance company.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333327"/>
            <a:ext cx="8183880" cy="713232"/>
          </a:xfrm>
          <a:prstGeom prst="roundRect">
            <a:avLst>
              <a:gd name="adj" fmla="val 7692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2386584"/>
            <a:ext cx="493776" cy="493776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250088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350008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loyalty cards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371600" y="2624328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compile your purchases; marketing partners use the profiles for targeted advertisement.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3072384"/>
            <a:ext cx="8183880" cy="713232"/>
          </a:xfrm>
          <a:prstGeom prst="roundRect">
            <a:avLst>
              <a:gd name="adj" fmla="val 7692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3232" y="3182112"/>
            <a:ext cx="493776" cy="493776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3296412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14553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pictures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371600" y="3419856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shared, friends - and strangers - may also have a copy.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2920" y="3867912"/>
            <a:ext cx="8183880" cy="713232"/>
          </a:xfrm>
          <a:prstGeom prst="roundRect">
            <a:avLst>
              <a:gd name="adj" fmla="val 7692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3232" y="3977640"/>
            <a:ext cx="493776" cy="493776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" y="4091940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941064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computing devices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371600" y="4215384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 storage and your portal to your online data. Think: laptop, phone, tablet, smartwatch.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PERSONAL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Data as a Target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246120"/>
          </a:xfrm>
          <a:prstGeom prst="roundRect">
            <a:avLst>
              <a:gd name="adj" fmla="val 1972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criminals get your money?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14884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130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credentials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23957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 give thieves direct access to your accounts.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15468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136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schemes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34440" y="34015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 you into wiring money to what appear to be your friends or family.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709160" y="1371600"/>
            <a:ext cx="3977640" cy="3246120"/>
          </a:xfrm>
          <a:prstGeom prst="roundRect">
            <a:avLst>
              <a:gd name="adj" fmla="val 1972"/>
            </a:avLst>
          </a:prstGeom>
          <a:solidFill>
            <a:srgbClr val="13315C"/>
          </a:solidFill>
          <a:ln/>
        </p:spPr>
      </p:sp>
      <p:sp>
        <p:nvSpPr>
          <p:cNvPr id="13" name="Text 9"/>
          <p:cNvSpPr/>
          <p:nvPr/>
        </p:nvSpPr>
        <p:spPr>
          <a:xfrm>
            <a:off x="4983480" y="1554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they want your identity?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83480" y="19659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profits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medical benefits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 fake tax return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credit card accounts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loans in your name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234440"/>
            <a:ext cx="1554480" cy="1554480"/>
          </a:xfrm>
          <a:prstGeom prst="ellipse">
            <a:avLst/>
          </a:prstGeom>
          <a:solidFill>
            <a:srgbClr val="13315C"/>
          </a:solidFill>
          <a:ln w="19050">
            <a:solidFill>
              <a:srgbClr val="2EC4B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45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20116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Organizational Data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data, IoT and Big Data, and the CIA triad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ORGANIZATIONAL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Organizational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2148840"/>
          </a:xfrm>
          <a:prstGeom prst="roundRect">
            <a:avLst>
              <a:gd name="adj" fmla="val 2979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36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Data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- application materials, payroll, offer letters, employee agreements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- patents, trademarks, product plans, trade secrets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- income statements, balance sheets, cash flow statements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657600"/>
            <a:ext cx="3931920" cy="96012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0448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785616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Big Data - </a:t>
            </a:r>
            <a:r>
              <a:rPr lang="en-US" sz="10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is a large network of physical objects such as sensors; Big Data is the data produced by the IoT.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09160" y="13716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CIA Triad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709160" y="1783080"/>
            <a:ext cx="3977640" cy="877824"/>
          </a:xfrm>
          <a:prstGeom prst="roundRect">
            <a:avLst>
              <a:gd name="adj" fmla="val 7292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94767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08483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892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623560" y="218541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- only authorized people can access the data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09160" y="2752344"/>
            <a:ext cx="3977640" cy="877824"/>
          </a:xfrm>
          <a:prstGeom prst="roundRect">
            <a:avLst>
              <a:gd name="adj" fmla="val 7292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37760" y="2916936"/>
            <a:ext cx="548640" cy="5486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05409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623560" y="28620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62356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trustworthiness of the information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09160" y="3721608"/>
            <a:ext cx="3977640" cy="877824"/>
          </a:xfrm>
          <a:prstGeom prst="roundRect">
            <a:avLst>
              <a:gd name="adj" fmla="val 7292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37760" y="3886200"/>
            <a:ext cx="548640" cy="548640"/>
          </a:xfrm>
          <a:prstGeom prst="ellipse">
            <a:avLst/>
          </a:prstGeom>
          <a:solidFill>
            <a:srgbClr val="B0632E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402336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38313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623560" y="41239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accessible when it is needed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ORGANIZATIONAL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Impact of a Security Breach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feasible to prevent every attack - attackers will always find new ways in.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536192" cy="1325880"/>
          </a:xfrm>
          <a:prstGeom prst="roundRect">
            <a:avLst>
              <a:gd name="adj" fmla="val 4828"/>
            </a:avLst>
          </a:prstGeom>
          <a:solidFill>
            <a:srgbClr val="0B254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73736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212848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Ruined reputation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176272" y="1536192"/>
            <a:ext cx="1536192" cy="1325880"/>
          </a:xfrm>
          <a:prstGeom prst="roundRect">
            <a:avLst>
              <a:gd name="adj" fmla="val 4828"/>
            </a:avLst>
          </a:prstGeom>
          <a:solidFill>
            <a:srgbClr val="0B254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737360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67712" y="2212848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Vandalism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849624" y="1536192"/>
            <a:ext cx="1536192" cy="1325880"/>
          </a:xfrm>
          <a:prstGeom prst="roundRect">
            <a:avLst>
              <a:gd name="adj" fmla="val 4828"/>
            </a:avLst>
          </a:prstGeom>
          <a:solidFill>
            <a:srgbClr val="0B254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1737360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41064" y="2212848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522976" y="1536192"/>
            <a:ext cx="1536192" cy="1325880"/>
          </a:xfrm>
          <a:prstGeom prst="roundRect">
            <a:avLst>
              <a:gd name="adj" fmla="val 4828"/>
            </a:avLst>
          </a:prstGeom>
          <a:solidFill>
            <a:srgbClr val="0B254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1737360"/>
            <a:ext cx="402336" cy="4023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14416" y="2212848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7196328" y="1536192"/>
            <a:ext cx="1536192" cy="1325880"/>
          </a:xfrm>
          <a:prstGeom prst="roundRect">
            <a:avLst>
              <a:gd name="adj" fmla="val 4828"/>
            </a:avLst>
          </a:prstGeom>
          <a:solidFill>
            <a:srgbClr val="0B254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256" y="1737360"/>
            <a:ext cx="402336" cy="40233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87768" y="2212848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intellectual property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502920" y="3063240"/>
            <a:ext cx="8183880" cy="1554480"/>
          </a:xfrm>
          <a:prstGeom prst="roundRect">
            <a:avLst>
              <a:gd name="adj" fmla="val 4118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777240" y="32186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example: LastPass </a:t>
            </a: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(online password manager)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777240" y="3547872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Stolen: email addresses, password reminders, and authentication hashes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email verification or multi-factor authentication required when logging in from an unknown device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lesson: use a complex master password, change it periodically, and beware of phishing attacks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ORGANIZATIONAL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Breach Examples: Vtech &amp; Equifax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246120"/>
          </a:xfrm>
          <a:prstGeom prst="roundRect">
            <a:avLst>
              <a:gd name="adj" fmla="val 1972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099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727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Vtech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17320" y="18653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High-tech toy maker for children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3520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customer names, email addresses, passwords, pictures, and chat logs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safeguard information properly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can create email accounts, apply for credit, and commit crimes using the children's information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can also take over the parents' online accounts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371600"/>
            <a:ext cx="3977640" cy="3246120"/>
          </a:xfrm>
          <a:prstGeom prst="roundRect">
            <a:avLst>
              <a:gd name="adj" fmla="val 1972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572768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70992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5727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Equifax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623560" y="18653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reporting agency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937760" y="2286000"/>
            <a:ext cx="3520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exploited a vulnerability in web application software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Equifax set up a dedicated breach-response website on a new domain name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allowed nefarious parties to create lookalike websites for phishing schemes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234440"/>
            <a:ext cx="1554480" cy="1554480"/>
          </a:xfrm>
          <a:prstGeom prst="ellipse">
            <a:avLst/>
          </a:prstGeom>
          <a:solidFill>
            <a:srgbClr val="13315C"/>
          </a:solidFill>
          <a:ln w="19050">
            <a:solidFill>
              <a:srgbClr val="2EC4B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45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20116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Attackers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Professionals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attacks, from where, and why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ATTACKERS &amp; CYBERSECURITY PROFESSIONALS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Attackers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1463040"/>
          </a:xfrm>
          <a:prstGeom prst="roundRect">
            <a:avLst>
              <a:gd name="adj" fmla="val 4375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36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Amateurs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1865376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“Script kiddies” with little or no skill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existing tools or instructions found online to launch attacks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3931920" cy="16002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004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32186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Hackers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6576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of cyber criminals, hacktivists, terrorists, and state-sponsored hackers.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09160" y="13716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- break into computers or networks to gain access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709160" y="1783080"/>
            <a:ext cx="3977640" cy="877824"/>
          </a:xfrm>
          <a:prstGeom prst="roundRect">
            <a:avLst>
              <a:gd name="adj" fmla="val 7292"/>
            </a:avLst>
          </a:prstGeom>
          <a:solidFill>
            <a:srgbClr val="E8EDF2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56048" y="1892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hats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56048" y="21671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in with permission to discover weaknesses so security can be improved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09160" y="2752344"/>
            <a:ext cx="3977640" cy="877824"/>
          </a:xfrm>
          <a:prstGeom prst="roundRect">
            <a:avLst>
              <a:gd name="adj" fmla="val 7292"/>
            </a:avLst>
          </a:prstGeom>
          <a:solidFill>
            <a:srgbClr val="8DA9C4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56048" y="2862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hats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56048" y="31363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 systems without permission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09160" y="3721608"/>
            <a:ext cx="3977640" cy="877824"/>
          </a:xfrm>
          <a:prstGeom prst="roundRect">
            <a:avLst>
              <a:gd name="adj" fmla="val 7292"/>
            </a:avLst>
          </a:prstGeom>
          <a:solidFill>
            <a:srgbClr val="1B2A41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956048" y="3831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hats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56048" y="41056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any vulnerability for illegal personal, financial, or political gain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ATTACKERS &amp; CYBERSECURITY PROFESSIONALS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&amp; External Threats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246120"/>
          </a:xfrm>
          <a:prstGeom prst="roundRect">
            <a:avLst>
              <a:gd name="adj" fmla="val 1972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548640" cy="548640"/>
          </a:xfrm>
          <a:prstGeom prst="ellipse">
            <a:avLst/>
          </a:prstGeom>
          <a:solidFill>
            <a:srgbClr val="B063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099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27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threats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or contract partners who: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331720"/>
            <a:ext cx="35204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Mishandle confidential data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 internal servers or network infrastructure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 outside attacks by connecting infected USB media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Accidentally invite malware in via malicious email or websites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cause great damage because of direct access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371600"/>
            <a:ext cx="3977640" cy="3246120"/>
          </a:xfrm>
          <a:prstGeom prst="roundRect">
            <a:avLst>
              <a:gd name="adj" fmla="val 1972"/>
            </a:avLst>
          </a:prstGeom>
          <a:solidFill>
            <a:srgbClr val="0B254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572768"/>
            <a:ext cx="548640" cy="5486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70992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627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threats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623560" y="1920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Outsiders: organized attackers (cyber criminals, hacktivists, terrorists, state-sponsored), hackers, and amateurs.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983480" y="27432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vulnerabilities in network or computing devices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social engineering to gain access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83480" y="38862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Insiders include employees and ex-employees, contract staff, and trusted partners.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234440"/>
            <a:ext cx="1554480" cy="1554480"/>
          </a:xfrm>
          <a:prstGeom prst="ellipse">
            <a:avLst/>
          </a:prstGeom>
          <a:solidFill>
            <a:srgbClr val="13315C"/>
          </a:solidFill>
          <a:ln w="19050">
            <a:solidFill>
              <a:srgbClr val="2EC4B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45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20116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Cyberwarfare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fought through cyberspace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CYBERWARFARE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Cyberwarfare?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1234440"/>
          </a:xfrm>
          <a:prstGeom prst="roundRect">
            <a:avLst>
              <a:gd name="adj" fmla="val 5185"/>
            </a:avLst>
          </a:prstGeom>
          <a:solidFill>
            <a:srgbClr val="0B254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using cyberspace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between nations, adversaries, or competitors carried out through networks and software.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3931920" cy="1828800"/>
          </a:xfrm>
          <a:prstGeom prst="roundRect">
            <a:avLst>
              <a:gd name="adj" fmla="val 3500"/>
            </a:avLst>
          </a:prstGeom>
          <a:solidFill>
            <a:srgbClr val="EEF4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990088"/>
            <a:ext cx="502920" cy="502920"/>
          </a:xfrm>
          <a:prstGeom prst="ellipse">
            <a:avLst/>
          </a:prstGeom>
          <a:solidFill>
            <a:srgbClr val="B0632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11353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Stuxnet malware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35204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damage Iran's nuclear enrichment plant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modular coding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stolen digital certificates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09160" y="13716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purpose: gain advantage over adversaries, nations, or competitors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709160" y="201168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212598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21808" y="198424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Sabotage the infrastructure of other nations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09160" y="2670048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60" y="278434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21808" y="264261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the ability to blackmail governmental personnel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3328416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3460" y="3442716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21808" y="330098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may lose confidence in the government's ability to protect them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709160" y="3986784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460" y="4101084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21808" y="395935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 citizens' faith in their government without ever physically invading the targeted nation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should now be able to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713232"/>
          </a:xfrm>
          <a:prstGeom prst="roundRect">
            <a:avLst>
              <a:gd name="adj" fmla="val 7692"/>
            </a:avLst>
          </a:prstGeom>
          <a:solidFill>
            <a:srgbClr val="13315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3677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7218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personal data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2221992"/>
            <a:ext cx="3977640" cy="713232"/>
          </a:xfrm>
          <a:prstGeom prst="roundRect">
            <a:avLst>
              <a:gd name="adj" fmla="val 7692"/>
            </a:avLst>
          </a:prstGeom>
          <a:solidFill>
            <a:srgbClr val="13315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4144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276856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characteristics and value of personal data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2920" y="3026664"/>
            <a:ext cx="3977640" cy="713232"/>
          </a:xfrm>
          <a:prstGeom prst="roundRect">
            <a:avLst>
              <a:gd name="adj" fmla="val 7692"/>
            </a:avLst>
          </a:prstGeom>
          <a:solidFill>
            <a:srgbClr val="13315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4612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3081528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characteristics and value of data within an organization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02920" y="3831336"/>
            <a:ext cx="3977640" cy="713232"/>
          </a:xfrm>
          <a:prstGeom prst="roundRect">
            <a:avLst>
              <a:gd name="adj" fmla="val 7692"/>
            </a:avLst>
          </a:prstGeom>
          <a:solidFill>
            <a:srgbClr val="13315C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5079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9848" y="388620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impact of a security breach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4709160" y="1417320"/>
            <a:ext cx="3977640" cy="713232"/>
          </a:xfrm>
          <a:prstGeom prst="roundRect">
            <a:avLst>
              <a:gd name="adj" fmla="val 7692"/>
            </a:avLst>
          </a:prstGeom>
          <a:solidFill>
            <a:srgbClr val="13315C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36776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76088" y="147218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characteristics and motives of an attacker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4709160" y="2221992"/>
            <a:ext cx="3977640" cy="713232"/>
          </a:xfrm>
          <a:prstGeom prst="roundRect">
            <a:avLst>
              <a:gd name="adj" fmla="val 7692"/>
            </a:avLst>
          </a:prstGeom>
          <a:solidFill>
            <a:srgbClr val="13315C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441448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76088" y="2276856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legal and ethical issues facing a cybersecurity professional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4709160" y="3026664"/>
            <a:ext cx="3977640" cy="713232"/>
          </a:xfrm>
          <a:prstGeom prst="roundRect">
            <a:avLst>
              <a:gd name="adj" fmla="val 7692"/>
            </a:avLst>
          </a:prstGeom>
          <a:solidFill>
            <a:srgbClr val="13315C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246120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76088" y="3081528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characteristics and purpose of cyberwarfare</a:t>
            </a:r>
            <a:endParaRPr lang="en-US" sz="1150" dirty="0"/>
          </a:p>
        </p:txBody>
      </p:sp>
      <p:sp>
        <p:nvSpPr>
          <p:cNvPr id="25" name="Text 16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Cisco Introduction to Cybersecurity v2.1 © 2016 Cisco and/or its affiliates</a:t>
            </a:r>
            <a:endParaRPr lang="en-US" sz="850" dirty="0"/>
          </a:p>
        </p:txBody>
      </p:sp>
      <p:sp>
        <p:nvSpPr>
          <p:cNvPr id="26" name="Text 17"/>
          <p:cNvSpPr/>
          <p:nvPr/>
        </p:nvSpPr>
        <p:spPr>
          <a:xfrm>
            <a:off x="859536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13BAB6-4140-0A92-E696-31C0CF423EC0}"/>
              </a:ext>
            </a:extLst>
          </p:cNvPr>
          <p:cNvSpPr txBox="1"/>
          <p:nvPr/>
        </p:nvSpPr>
        <p:spPr>
          <a:xfrm>
            <a:off x="195943" y="25309"/>
            <a:ext cx="87521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Scenario</a:t>
            </a:r>
          </a:p>
          <a:p>
            <a:r>
              <a:rPr lang="en-US" dirty="0"/>
              <a:t>Imagine your cybersecurity consulting company has been hired to investigate a major cyber incident. Your client wants to understand </a:t>
            </a:r>
            <a:r>
              <a:rPr lang="en-US" b="1" dirty="0"/>
              <a:t>what happened, why it happened, and how similar attacks can be prevented in the future</a:t>
            </a:r>
            <a:r>
              <a:rPr lang="en-US" dirty="0"/>
              <a:t>.</a:t>
            </a:r>
          </a:p>
          <a:p>
            <a:r>
              <a:rPr lang="en-US" dirty="0"/>
              <a:t>You have been assigned </a:t>
            </a:r>
            <a:r>
              <a:rPr lang="en-US" b="1" dirty="0"/>
              <a:t>one real-world cyber attack</a:t>
            </a:r>
            <a:r>
              <a:rPr lang="en-US" dirty="0"/>
              <a:t> to investigate.</a:t>
            </a:r>
          </a:p>
          <a:p>
            <a:r>
              <a:rPr lang="en-US" dirty="0"/>
              <a:t>Your task is to analyze the incident and prepare a professional briefing for the organization's Board of Directors. Remember that the Board members are business executives, not cybersecurity experts. Therefore, your explanation should be clear, concise, and supported by evidence.</a:t>
            </a:r>
          </a:p>
          <a:p>
            <a:r>
              <a:rPr lang="en-US" b="1" dirty="0"/>
              <a:t>Available Case Studies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Stuxnet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Equifax Data Breach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Colonial Pipeline Ransomware Attack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SolarWinds Supply Chain Attack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LastPass Security Incident</a:t>
            </a:r>
          </a:p>
        </p:txBody>
      </p:sp>
    </p:spTree>
    <p:extLst>
      <p:ext uri="{BB962C8B-B14F-4D97-AF65-F5344CB8AC3E}">
        <p14:creationId xmlns:p14="http://schemas.microsoft.com/office/powerpoint/2010/main" val="2371641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D724A0-0766-4D44-28BA-10C5BC489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721" y="488619"/>
            <a:ext cx="81153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cybersecurity consultants, investigate your assigned case and answer the following questions: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happened?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was responsible for the attack (if known)?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was the attacker's objective?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was the attack carried out?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vulnerability or weakness made the attack possible?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was the business and technical impact?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you were the Chief Information Security Officer (CISO), what security controls would you recommend?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three most important lessons every organization should learn from this incident?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Remember: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 your answers with evidence from reliable sources rather than personal opinions.</a:t>
            </a:r>
          </a:p>
        </p:txBody>
      </p:sp>
    </p:spTree>
    <p:extLst>
      <p:ext uri="{BB962C8B-B14F-4D97-AF65-F5344CB8AC3E}">
        <p14:creationId xmlns:p14="http://schemas.microsoft.com/office/powerpoint/2010/main" val="2572453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C32672-88EC-4EC7-E9F6-CB7586C78797}"/>
              </a:ext>
            </a:extLst>
          </p:cNvPr>
          <p:cNvSpPr txBox="1"/>
          <p:nvPr/>
        </p:nvSpPr>
        <p:spPr>
          <a:xfrm>
            <a:off x="155121" y="114823"/>
            <a:ext cx="856433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Your presentation should include the following sections:</a:t>
            </a:r>
          </a:p>
          <a:p>
            <a:r>
              <a:rPr lang="en-US" b="1" dirty="0"/>
              <a:t>Executive Summary</a:t>
            </a:r>
          </a:p>
          <a:p>
            <a:r>
              <a:rPr lang="en-US" dirty="0"/>
              <a:t>Provide a brief overview of the incident.</a:t>
            </a:r>
          </a:p>
          <a:p>
            <a:r>
              <a:rPr lang="en-US" b="1" dirty="0"/>
              <a:t>Attack Timeline</a:t>
            </a:r>
          </a:p>
          <a:p>
            <a:r>
              <a:rPr lang="en-US" dirty="0"/>
              <a:t>Explain the sequence of events from the initial compromise to the final impact.</a:t>
            </a:r>
          </a:p>
          <a:p>
            <a:r>
              <a:rPr lang="en-US" b="1" dirty="0"/>
              <a:t>Root Cause Analysis</a:t>
            </a:r>
          </a:p>
          <a:p>
            <a:r>
              <a:rPr lang="en-US" dirty="0"/>
              <a:t>Identify the weaknesses that allowed the attack to succeed.</a:t>
            </a:r>
          </a:p>
          <a:p>
            <a:r>
              <a:rPr lang="en-US" b="1" dirty="0"/>
              <a:t>Business Impact</a:t>
            </a:r>
          </a:p>
          <a:p>
            <a:r>
              <a:rPr lang="en-US" dirty="0"/>
              <a:t>Discuss financial losses, operational disruption, reputational damage, legal implications, and customer impact.</a:t>
            </a:r>
          </a:p>
          <a:p>
            <a:r>
              <a:rPr lang="en-US" b="1" dirty="0"/>
              <a:t>Security Recommendations</a:t>
            </a:r>
          </a:p>
          <a:p>
            <a:r>
              <a:rPr lang="en-US" dirty="0"/>
              <a:t>Recommend practical controls that could have prevented or reduced the impact of the attack.</a:t>
            </a:r>
          </a:p>
          <a:p>
            <a:r>
              <a:rPr lang="en-US" b="1" dirty="0"/>
              <a:t>Key Lessons Learned</a:t>
            </a:r>
          </a:p>
          <a:p>
            <a:r>
              <a:rPr lang="en-US" dirty="0"/>
              <a:t>Summarize the most important takeaways for modern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3048095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3500</TotalTime>
  <Words>1685</Words>
  <Application>Microsoft Office PowerPoint</Application>
  <PresentationFormat>On-screen Show (16:9)</PresentationFormat>
  <Paragraphs>254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The Need for Cybersecurity</dc:title>
  <dc:subject>PptxGenJS Presentation</dc:subject>
  <dc:creator>Introduction to Cybersecurity v2.1</dc:creator>
  <cp:lastModifiedBy>Ms. K Anuradha</cp:lastModifiedBy>
  <cp:revision>7</cp:revision>
  <dcterms:created xsi:type="dcterms:W3CDTF">2026-07-02T19:43:45Z</dcterms:created>
  <dcterms:modified xsi:type="dcterms:W3CDTF">2026-10-01T18:48:17Z</dcterms:modified>
</cp:coreProperties>
</file>