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 id="2147483650" r:id="rId2"/>
  </p:sldMasterIdLst>
  <p:notesMasterIdLst>
    <p:notesMasterId r:id="rId45"/>
  </p:notesMasterIdLst>
  <p:sldIdLst>
    <p:sldId id="256" r:id="rId3"/>
    <p:sldId id="257" r:id="rId4"/>
    <p:sldId id="258" r:id="rId5"/>
    <p:sldId id="259" r:id="rId6"/>
    <p:sldId id="260" r:id="rId7"/>
    <p:sldId id="261" r:id="rId8"/>
    <p:sldId id="262" r:id="rId9"/>
    <p:sldId id="263" r:id="rId10"/>
    <p:sldId id="264" r:id="rId11"/>
    <p:sldId id="265" r:id="rId12"/>
    <p:sldId id="302" r:id="rId13"/>
    <p:sldId id="303" r:id="rId14"/>
    <p:sldId id="304" r:id="rId15"/>
    <p:sldId id="277" r:id="rId16"/>
    <p:sldId id="278" r:id="rId17"/>
    <p:sldId id="279" r:id="rId18"/>
    <p:sldId id="280" r:id="rId19"/>
    <p:sldId id="281" r:id="rId20"/>
    <p:sldId id="282" r:id="rId21"/>
    <p:sldId id="283" r:id="rId22"/>
    <p:sldId id="284" r:id="rId23"/>
    <p:sldId id="285" r:id="rId24"/>
    <p:sldId id="286" r:id="rId25"/>
    <p:sldId id="287" r:id="rId26"/>
    <p:sldId id="289" r:id="rId27"/>
    <p:sldId id="291" r:id="rId28"/>
    <p:sldId id="292" r:id="rId29"/>
    <p:sldId id="293" r:id="rId30"/>
    <p:sldId id="294" r:id="rId31"/>
    <p:sldId id="295" r:id="rId32"/>
    <p:sldId id="296" r:id="rId33"/>
    <p:sldId id="300" r:id="rId34"/>
    <p:sldId id="301" r:id="rId35"/>
    <p:sldId id="268" r:id="rId36"/>
    <p:sldId id="269" r:id="rId37"/>
    <p:sldId id="270" r:id="rId38"/>
    <p:sldId id="271" r:id="rId39"/>
    <p:sldId id="272" r:id="rId40"/>
    <p:sldId id="273" r:id="rId41"/>
    <p:sldId id="274" r:id="rId42"/>
    <p:sldId id="275" r:id="rId43"/>
    <p:sldId id="276" r:id="rId4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ieN1XA+GyCJEAZOVg6xA1CC4gM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98" autoAdjust="0"/>
  </p:normalViewPr>
  <p:slideViewPr>
    <p:cSldViewPr snapToGrid="0">
      <p:cViewPr varScale="1">
        <p:scale>
          <a:sx n="67" d="100"/>
          <a:sy n="67" d="100"/>
        </p:scale>
        <p:origin x="126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50" Type="http://customschemas.google.com/relationships/presentationmetadata" Target="meta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 name="Google Shape;4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7" name="Google Shape;5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Self Introduction of my self –</a:t>
            </a:r>
            <a:endParaRPr/>
          </a:p>
          <a:p>
            <a:pPr marL="0" lvl="0" indent="0" algn="l" rtl="0">
              <a:spcBef>
                <a:spcPts val="360"/>
              </a:spcBef>
              <a:spcAft>
                <a:spcPts val="0"/>
              </a:spcAft>
              <a:buNone/>
            </a:pPr>
            <a:endParaRPr/>
          </a:p>
          <a:p>
            <a:pPr marL="0" lvl="0" indent="0" algn="l" rtl="0">
              <a:spcBef>
                <a:spcPts val="360"/>
              </a:spcBef>
              <a:spcAft>
                <a:spcPts val="0"/>
              </a:spcAft>
              <a:buNone/>
            </a:pPr>
            <a:r>
              <a:rPr lang="en-US"/>
              <a:t>Give students some general guidelines – about KDU, their choice</a:t>
            </a:r>
            <a:endParaRPr/>
          </a:p>
        </p:txBody>
      </p:sp>
      <p:sp>
        <p:nvSpPr>
          <p:cNvPr id="58" name="Google Shape;58;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Tell them why u learn IT subjects</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en-US" dirty="0"/>
              <a:t>Ultimate purpose of this subject</a:t>
            </a:r>
            <a:endParaRPr dirty="0"/>
          </a:p>
          <a:p>
            <a:pPr marL="0" lvl="0" indent="0" algn="l" rtl="0">
              <a:spcBef>
                <a:spcPts val="360"/>
              </a:spcBef>
              <a:spcAft>
                <a:spcPts val="0"/>
              </a:spcAft>
              <a:buNone/>
            </a:pPr>
            <a:r>
              <a:rPr lang="en-US" dirty="0"/>
              <a:t>--what is the real of a system to a business</a:t>
            </a:r>
            <a:endParaRPr dirty="0"/>
          </a:p>
          <a:p>
            <a:pPr marL="0" lvl="0" indent="0" algn="l" rtl="0">
              <a:spcBef>
                <a:spcPts val="360"/>
              </a:spcBef>
              <a:spcAft>
                <a:spcPts val="0"/>
              </a:spcAft>
              <a:buNone/>
            </a:pPr>
            <a:r>
              <a:rPr lang="en-US" dirty="0"/>
              <a:t>--designing a system</a:t>
            </a:r>
            <a:endParaRPr dirty="0"/>
          </a:p>
          <a:p>
            <a:pPr marL="0" lvl="0" indent="0" algn="l" rtl="0">
              <a:spcBef>
                <a:spcPts val="360"/>
              </a:spcBef>
              <a:spcAft>
                <a:spcPts val="0"/>
              </a:spcAft>
              <a:buNone/>
            </a:pPr>
            <a:r>
              <a:rPr lang="en-US" dirty="0"/>
              <a:t>--Building it</a:t>
            </a:r>
            <a:endParaRPr dirty="0"/>
          </a:p>
          <a:p>
            <a:pPr marL="0" lvl="0" indent="0" algn="l" rtl="0">
              <a:spcBef>
                <a:spcPts val="360"/>
              </a:spcBef>
              <a:spcAft>
                <a:spcPts val="0"/>
              </a:spcAft>
              <a:buNone/>
            </a:pPr>
            <a:r>
              <a:rPr lang="en-US" dirty="0"/>
              <a:t>--Delivering it to users</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en-US" dirty="0"/>
              <a:t>Feasibility analysis - </a:t>
            </a:r>
            <a:r>
              <a:rPr lang="en-US" dirty="0">
                <a:solidFill>
                  <a:srgbClr val="202124"/>
                </a:solidFill>
                <a:latin typeface="Arial"/>
                <a:ea typeface="Arial"/>
                <a:cs typeface="Arial"/>
                <a:sym typeface="Arial"/>
              </a:rPr>
              <a:t>As the name implies, a feasibility analysis is </a:t>
            </a:r>
            <a:r>
              <a:rPr lang="en-US" b="1" dirty="0">
                <a:solidFill>
                  <a:srgbClr val="202124"/>
                </a:solidFill>
                <a:latin typeface="Arial"/>
                <a:ea typeface="Arial"/>
                <a:cs typeface="Arial"/>
                <a:sym typeface="Arial"/>
              </a:rPr>
              <a:t>used to determine the viability of an idea</a:t>
            </a:r>
            <a:r>
              <a:rPr lang="en-US" dirty="0">
                <a:solidFill>
                  <a:srgbClr val="202124"/>
                </a:solidFill>
                <a:latin typeface="Arial"/>
                <a:ea typeface="Arial"/>
                <a:cs typeface="Arial"/>
                <a:sym typeface="Arial"/>
              </a:rPr>
              <a:t>, such as ensuring a project is legally and technically feasible as well as economically justifiable</a:t>
            </a:r>
            <a:endParaRPr dirty="0"/>
          </a:p>
        </p:txBody>
      </p:sp>
      <p:sp>
        <p:nvSpPr>
          <p:cNvPr id="66" name="Google Shape;66;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dirty="0"/>
              <a:t>https://www.youtube.com/watch?v=SR4MzMsrASQ</a:t>
            </a:r>
          </a:p>
          <a:p>
            <a:pPr marL="0" lvl="0" indent="0" algn="l" rtl="0">
              <a:spcBef>
                <a:spcPts val="0"/>
              </a:spcBef>
              <a:spcAft>
                <a:spcPts val="0"/>
              </a:spcAft>
              <a:buNone/>
            </a:pPr>
            <a:endParaRPr lang="en-US" dirty="0"/>
          </a:p>
          <a:p>
            <a:pPr marL="0" lvl="0" indent="0" algn="l" rtl="0">
              <a:spcBef>
                <a:spcPts val="0"/>
              </a:spcBef>
              <a:spcAft>
                <a:spcPts val="0"/>
              </a:spcAft>
              <a:buNone/>
            </a:pPr>
            <a:r>
              <a:rPr lang="en-US" b="0" i="0" dirty="0">
                <a:solidFill>
                  <a:srgbClr val="EEF0FF"/>
                </a:solidFill>
                <a:effectLst/>
                <a:latin typeface="Google Sans"/>
              </a:rPr>
              <a:t>is a professional who analyzes an organization's business operations, processes, products, and services to identify areas for improvement and propose solutions. They act as a bridge between business stakeholders and technical teams, translating business needs into technical requirements and ensuring that solutions align with organizational goals. </a:t>
            </a:r>
            <a:endParaRPr dirty="0"/>
          </a:p>
        </p:txBody>
      </p:sp>
      <p:sp>
        <p:nvSpPr>
          <p:cNvPr id="74" name="Google Shape;7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1" name="Google Shape;81;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algn="l" fontAlgn="ctr"/>
            <a:r>
              <a:rPr lang="en-US" b="0" i="0" dirty="0">
                <a:solidFill>
                  <a:srgbClr val="EEF0FF"/>
                </a:solidFill>
                <a:effectLst/>
                <a:latin typeface="Google Sans"/>
              </a:rPr>
              <a:t>A system analyst, also known as a business technology analyst, is an IT professional who analyzes, designs, and implements information systems to improve business operations. They act as a bridge between business needs and IT solutions, translating business requirements into technical specifications and ensuring systems are efficient and effective. </a:t>
            </a:r>
            <a:endParaRPr lang="en-US" b="0" i="0" dirty="0">
              <a:solidFill>
                <a:srgbClr val="A8C7FA"/>
              </a:solidFill>
              <a:effectLst/>
              <a:latin typeface="Google Sans"/>
            </a:endParaRPr>
          </a:p>
          <a:p>
            <a:pPr algn="l"/>
            <a:r>
              <a:rPr lang="en-US" b="0" i="0" dirty="0">
                <a:solidFill>
                  <a:srgbClr val="EEF0FF"/>
                </a:solidFill>
                <a:effectLst/>
                <a:latin typeface="Google Sans"/>
              </a:rPr>
              <a:t>Key Responsibilities of a Systems Analyst:</a:t>
            </a:r>
          </a:p>
          <a:p>
            <a:pPr algn="l" fontAlgn="ctr">
              <a:buFont typeface="Arial" panose="020B0604020202020204" pitchFamily="34" charset="0"/>
              <a:buChar char="•"/>
            </a:pPr>
            <a:r>
              <a:rPr lang="en-US" b="1" i="0" dirty="0">
                <a:solidFill>
                  <a:srgbClr val="EEF0FF"/>
                </a:solidFill>
                <a:effectLst/>
                <a:latin typeface="Google Sans"/>
              </a:rPr>
              <a:t>Analyzing Business Needs:</a:t>
            </a:r>
            <a:r>
              <a:rPr lang="en-US" b="0" i="0" dirty="0">
                <a:solidFill>
                  <a:srgbClr val="EEF0FF"/>
                </a:solidFill>
                <a:effectLst/>
                <a:latin typeface="Google Sans"/>
              </a:rPr>
              <a:t> Understanding the organization's objectives, processes, and requirements. </a:t>
            </a:r>
            <a:endParaRPr lang="en-US" b="0" i="0" dirty="0">
              <a:solidFill>
                <a:srgbClr val="A8C7FA"/>
              </a:solidFill>
              <a:effectLst/>
              <a:latin typeface="Google Sans"/>
            </a:endParaRPr>
          </a:p>
          <a:p>
            <a:pPr algn="l" fontAlgn="ctr">
              <a:buFont typeface="Arial" panose="020B0604020202020204" pitchFamily="34" charset="0"/>
              <a:buChar char="•"/>
            </a:pPr>
            <a:r>
              <a:rPr lang="en-US" b="1" i="0" dirty="0">
                <a:solidFill>
                  <a:srgbClr val="EEF0FF"/>
                </a:solidFill>
                <a:effectLst/>
                <a:latin typeface="Google Sans"/>
              </a:rPr>
              <a:t>Designing Systems:</a:t>
            </a:r>
            <a:r>
              <a:rPr lang="en-US" b="0" i="0" dirty="0">
                <a:solidFill>
                  <a:srgbClr val="EEF0FF"/>
                </a:solidFill>
                <a:effectLst/>
                <a:latin typeface="Google Sans"/>
              </a:rPr>
              <a:t> Developing plans to improve or replace existing IT systems, including hardware and software configuration. </a:t>
            </a:r>
            <a:endParaRPr lang="en-US" b="0" i="0" dirty="0">
              <a:solidFill>
                <a:srgbClr val="A8C7FA"/>
              </a:solidFill>
              <a:effectLst/>
              <a:latin typeface="Google Sans"/>
            </a:endParaRPr>
          </a:p>
          <a:p>
            <a:pPr algn="l" fontAlgn="ctr"/>
            <a:r>
              <a:rPr lang="en-US" b="1" i="0" dirty="0">
                <a:solidFill>
                  <a:srgbClr val="EEF0FF"/>
                </a:solidFill>
                <a:effectLst/>
                <a:latin typeface="Google Sans"/>
              </a:rPr>
              <a:t>Cost-Benefit Analysis:</a:t>
            </a:r>
            <a:r>
              <a:rPr lang="en-US" b="0" i="0" dirty="0">
                <a:solidFill>
                  <a:srgbClr val="EEF0FF"/>
                </a:solidFill>
                <a:effectLst/>
                <a:latin typeface="Google Sans"/>
              </a:rPr>
              <a:t> Evaluating the financial implications of IT systems and upgrades. </a:t>
            </a:r>
            <a:endParaRPr lang="en-US" b="0" i="0" dirty="0">
              <a:solidFill>
                <a:srgbClr val="A8C7FA"/>
              </a:solidFill>
              <a:effectLst/>
              <a:latin typeface="Google Sans"/>
            </a:endParaRPr>
          </a:p>
          <a:p>
            <a:pPr algn="l" fontAlgn="ctr"/>
            <a:r>
              <a:rPr lang="en-US" b="1" i="0" dirty="0">
                <a:solidFill>
                  <a:srgbClr val="EEF0FF"/>
                </a:solidFill>
                <a:effectLst/>
                <a:latin typeface="Google Sans"/>
              </a:rPr>
              <a:t>System Testing and Implementation:</a:t>
            </a:r>
            <a:r>
              <a:rPr lang="en-US" b="0" i="0" dirty="0">
                <a:solidFill>
                  <a:srgbClr val="EEF0FF"/>
                </a:solidFill>
                <a:effectLst/>
                <a:latin typeface="Google Sans"/>
              </a:rPr>
              <a:t> Ensuring systems function as expected and overseeing their installation and configuration. </a:t>
            </a:r>
            <a:endParaRPr lang="en-US" b="0" i="0" dirty="0">
              <a:solidFill>
                <a:srgbClr val="A8C7FA"/>
              </a:solidFill>
              <a:effectLst/>
              <a:latin typeface="Google Sans"/>
            </a:endParaRPr>
          </a:p>
          <a:p>
            <a:pPr algn="l" fontAlgn="ctr"/>
            <a:r>
              <a:rPr lang="en-US" b="1" i="0" dirty="0">
                <a:solidFill>
                  <a:srgbClr val="EEF0FF"/>
                </a:solidFill>
                <a:effectLst/>
                <a:latin typeface="Google Sans"/>
              </a:rPr>
              <a:t>Training and Support:</a:t>
            </a:r>
            <a:r>
              <a:rPr lang="en-US" b="0" i="0" dirty="0">
                <a:solidFill>
                  <a:srgbClr val="EEF0FF"/>
                </a:solidFill>
                <a:effectLst/>
                <a:latin typeface="Google Sans"/>
              </a:rPr>
              <a:t> Providing guidance and documentation to end-users on new or upgraded systems. </a:t>
            </a:r>
            <a:endParaRPr lang="en-US" b="0" i="0" dirty="0">
              <a:solidFill>
                <a:srgbClr val="A8C7FA"/>
              </a:solidFill>
              <a:effectLst/>
              <a:latin typeface="Google Sans"/>
            </a:endParaRPr>
          </a:p>
          <a:p>
            <a:pPr algn="l" fontAlgn="ctr"/>
            <a:r>
              <a:rPr lang="en-US" b="1" i="0" dirty="0">
                <a:solidFill>
                  <a:srgbClr val="EEF0FF"/>
                </a:solidFill>
                <a:effectLst/>
                <a:latin typeface="Google Sans"/>
              </a:rPr>
              <a:t>Troubleshooting:</a:t>
            </a:r>
            <a:r>
              <a:rPr lang="en-US" b="0" i="0" dirty="0">
                <a:solidFill>
                  <a:srgbClr val="EEF0FF"/>
                </a:solidFill>
                <a:effectLst/>
                <a:latin typeface="Google Sans"/>
              </a:rPr>
              <a:t> Identifying and resolving issues within computer systems. </a:t>
            </a:r>
            <a:endParaRPr lang="en-US" b="0" i="0" dirty="0">
              <a:solidFill>
                <a:srgbClr val="A8C7FA"/>
              </a:solidFill>
              <a:effectLst/>
              <a:latin typeface="Google Sans"/>
            </a:endParaRPr>
          </a:p>
          <a:p>
            <a:pPr algn="l" fontAlgn="ctr"/>
            <a:r>
              <a:rPr lang="en-US" b="1" i="0" dirty="0">
                <a:solidFill>
                  <a:srgbClr val="EEF0FF"/>
                </a:solidFill>
                <a:effectLst/>
                <a:latin typeface="Google Sans"/>
              </a:rPr>
              <a:t>Staying Updated:</a:t>
            </a:r>
            <a:r>
              <a:rPr lang="en-US" b="0" i="0" dirty="0">
                <a:solidFill>
                  <a:srgbClr val="EEF0FF"/>
                </a:solidFill>
                <a:effectLst/>
                <a:latin typeface="Google Sans"/>
              </a:rPr>
              <a:t> Keeping abreast of new technologies and their potential impact on the organization. </a:t>
            </a:r>
            <a:endParaRPr lang="en-US" b="0" i="0" dirty="0">
              <a:solidFill>
                <a:srgbClr val="A8C7FA"/>
              </a:solidFill>
              <a:effectLst/>
              <a:latin typeface="Google Sans"/>
            </a:endParaRPr>
          </a:p>
          <a:p>
            <a:pPr algn="l"/>
            <a:r>
              <a:rPr lang="en-US" b="1" i="0" dirty="0">
                <a:solidFill>
                  <a:srgbClr val="EEF0FF"/>
                </a:solidFill>
                <a:effectLst/>
                <a:latin typeface="Google Sans"/>
              </a:rPr>
              <a:t>Risk Analysis:</a:t>
            </a:r>
            <a:r>
              <a:rPr lang="en-US" b="0" i="0" dirty="0">
                <a:solidFill>
                  <a:srgbClr val="EEF0FF"/>
                </a:solidFill>
                <a:effectLst/>
                <a:latin typeface="Google Sans"/>
              </a:rPr>
              <a:t> Identifying potential risks to IT systems and developing mitigation strategies. </a:t>
            </a:r>
          </a:p>
          <a:p>
            <a:pPr marL="0" lvl="0" indent="0" algn="l" rtl="0">
              <a:spcBef>
                <a:spcPts val="0"/>
              </a:spcBef>
              <a:spcAft>
                <a:spcPts val="0"/>
              </a:spcAft>
              <a:buNone/>
            </a:pPr>
            <a:endParaRPr dirty="0"/>
          </a:p>
        </p:txBody>
      </p:sp>
      <p:sp>
        <p:nvSpPr>
          <p:cNvPr id="82" name="Google Shape;82;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 name="Google Shape;8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6" name="Google Shape;9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3" name="Google Shape;10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4" name="Google Shape;10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1" name="Google Shape;11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2" name="Google Shape;11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 name="Google Shape;11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went wrong in this system project?✅ Sample Answers:</a:t>
            </a:r>
          </a:p>
          <a:p>
            <a:r>
              <a:rPr lang="en-US" dirty="0"/>
              <a:t>No stakeholder engagement: Key users like immigration officers and citizens were not consulted.</a:t>
            </a:r>
          </a:p>
          <a:p>
            <a:r>
              <a:rPr lang="en-US" dirty="0"/>
              <a:t>Integration failure: The system couldn't reliably connect to the National ID database.</a:t>
            </a:r>
          </a:p>
          <a:p>
            <a:r>
              <a:rPr lang="en-US" dirty="0"/>
              <a:t>Usability problems: The interface was too complex, especially for rural and non-tech-savvy users.</a:t>
            </a:r>
          </a:p>
          <a:p>
            <a:r>
              <a:rPr lang="en-US" dirty="0"/>
              <a:t>Testing issues: Data mismatches were not identified early, showing poor validation and testing procedures.2️⃣ </a:t>
            </a:r>
          </a:p>
          <a:p>
            <a:endParaRPr lang="en-US" dirty="0"/>
          </a:p>
          <a:p>
            <a:r>
              <a:rPr lang="en-US" dirty="0"/>
              <a:t>At what point could these issues have been caught?✅ Sample Answers:</a:t>
            </a:r>
          </a:p>
          <a:p>
            <a:endParaRPr lang="en-US" dirty="0"/>
          </a:p>
          <a:p>
            <a:r>
              <a:rPr lang="en-US" dirty="0"/>
              <a:t>During the Requirements Gathering phase, if proper stakeholder interviews or surveys were done.</a:t>
            </a:r>
          </a:p>
          <a:p>
            <a:r>
              <a:rPr lang="en-US" dirty="0"/>
              <a:t>In the Feasibility Study, technical challenges (like database integration) could have been identified.</a:t>
            </a:r>
          </a:p>
          <a:p>
            <a:r>
              <a:rPr lang="en-US" dirty="0"/>
              <a:t>During Prototyping or Usability Testing, interface issues would have been discovered early</a:t>
            </a:r>
          </a:p>
          <a:p>
            <a:endParaRPr lang="en-US" dirty="0"/>
          </a:p>
          <a:p>
            <a:r>
              <a:rPr lang="en-US" dirty="0"/>
              <a:t>.3️⃣ Could the analysis phase have prevented this failure? How?✅ Sample Answers:</a:t>
            </a:r>
          </a:p>
          <a:p>
            <a:endParaRPr lang="en-US" dirty="0"/>
          </a:p>
          <a:p>
            <a:r>
              <a:rPr lang="en-US" dirty="0" err="1"/>
              <a:t>Yes!The</a:t>
            </a:r>
            <a:r>
              <a:rPr lang="en-US" dirty="0"/>
              <a:t> analysis phase involves identifying system requirements, user needs, and system constraints.</a:t>
            </a:r>
          </a:p>
          <a:p>
            <a:endParaRPr lang="en-US" dirty="0"/>
          </a:p>
          <a:p>
            <a:r>
              <a:rPr lang="en-US" dirty="0"/>
              <a:t>Validating requirements with actual users would have revealed that the UI was too </a:t>
            </a:r>
            <a:r>
              <a:rPr lang="en-US" dirty="0" err="1"/>
              <a:t>complex.Analyzing</a:t>
            </a:r>
            <a:r>
              <a:rPr lang="en-US" dirty="0"/>
              <a:t> technical feasibility could have uncovered integration challenges with the National ID system.</a:t>
            </a:r>
          </a:p>
          <a:p>
            <a:endParaRPr lang="en-US" dirty="0"/>
          </a:p>
          <a:p>
            <a:r>
              <a:rPr lang="en-US" dirty="0"/>
              <a:t>Proper documentation and stakeholder involvement would have helped align the system goals with user expectations.4️⃣ </a:t>
            </a:r>
          </a:p>
          <a:p>
            <a:endParaRPr lang="en-US" dirty="0"/>
          </a:p>
          <a:p>
            <a:r>
              <a:rPr lang="en-US" dirty="0"/>
              <a:t>What would you have done differently?✅ Sample Answers:</a:t>
            </a:r>
          </a:p>
          <a:p>
            <a:endParaRPr lang="en-US" dirty="0"/>
          </a:p>
          <a:p>
            <a:r>
              <a:rPr lang="en-US" dirty="0"/>
              <a:t>Conduct thorough stakeholder analysis and interviews </a:t>
            </a:r>
            <a:r>
              <a:rPr lang="en-US" dirty="0" err="1"/>
              <a:t>early.Use</a:t>
            </a:r>
            <a:r>
              <a:rPr lang="en-US" dirty="0"/>
              <a:t> user personas and use cases to understand needs.</a:t>
            </a:r>
          </a:p>
          <a:p>
            <a:endParaRPr lang="en-US" dirty="0"/>
          </a:p>
          <a:p>
            <a:r>
              <a:rPr lang="en-US" dirty="0"/>
              <a:t>Develop and test prototypes with real users before development.</a:t>
            </a:r>
          </a:p>
          <a:p>
            <a:endParaRPr lang="en-US" dirty="0"/>
          </a:p>
          <a:p>
            <a:r>
              <a:rPr lang="en-US" dirty="0"/>
              <a:t>Involve technical experts to assess integration feasibility.</a:t>
            </a:r>
          </a:p>
          <a:p>
            <a:endParaRPr lang="en-US" dirty="0"/>
          </a:p>
          <a:p>
            <a:r>
              <a:rPr lang="en-US" dirty="0"/>
              <a:t>Maintain a feedback loop throughout development.🎯 </a:t>
            </a:r>
          </a:p>
          <a:p>
            <a:endParaRPr lang="en-US" dirty="0"/>
          </a:p>
          <a:p>
            <a:r>
              <a:rPr lang="en-US" dirty="0"/>
              <a:t>Wrap-Up Message to </a:t>
            </a:r>
            <a:r>
              <a:rPr lang="en-US" dirty="0" err="1"/>
              <a:t>Students:"This</a:t>
            </a:r>
            <a:r>
              <a:rPr lang="en-US" dirty="0"/>
              <a:t> case shows that SAD isn’t just about flowcharts and diagrams—it’s about asking the right questions, analyzing the situation critically, and involving the right people. A strong analysis phase can save millions and prevent total failure."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54220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0320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sz="1200" dirty="0">
                <a:solidFill>
                  <a:schemeClr val="tx1"/>
                </a:solidFill>
              </a:rPr>
              <a:t>In this stage logical mode of the current system is modified until it represents the blueprint for the new system. </a:t>
            </a:r>
          </a:p>
          <a:p>
            <a:pPr algn="just">
              <a:lnSpc>
                <a:spcPct val="150000"/>
              </a:lnSpc>
            </a:pPr>
            <a:r>
              <a:rPr lang="en-US" sz="1200" dirty="0">
                <a:solidFill>
                  <a:schemeClr val="tx1"/>
                </a:solidFill>
              </a:rPr>
              <a:t>This logical model represents what the new system will do.</a:t>
            </a:r>
          </a:p>
          <a:p>
            <a:pPr algn="just">
              <a:lnSpc>
                <a:spcPct val="150000"/>
              </a:lnSpc>
            </a:pPr>
            <a:r>
              <a:rPr lang="en-US" sz="1200" dirty="0">
                <a:solidFill>
                  <a:schemeClr val="tx1"/>
                </a:solidFill>
              </a:rPr>
              <a:t>In the physical design part they focus on determining how the system will accomplish its objectives.</a:t>
            </a:r>
          </a:p>
          <a:p>
            <a:pPr algn="just">
              <a:lnSpc>
                <a:spcPct val="150000"/>
              </a:lnSpc>
            </a:pPr>
            <a:r>
              <a:rPr lang="en-US" sz="1200" dirty="0">
                <a:solidFill>
                  <a:schemeClr val="tx1"/>
                </a:solidFill>
              </a:rPr>
              <a:t>Issues related to hardware, software, networking , data storage, security , and many others will be discussed and determined.</a:t>
            </a:r>
          </a:p>
          <a:p>
            <a:pPr algn="just">
              <a:lnSpc>
                <a:spcPct val="150000"/>
              </a:lnSpc>
            </a:pPr>
            <a:r>
              <a:rPr lang="en-US" sz="1200" dirty="0">
                <a:solidFill>
                  <a:schemeClr val="tx1"/>
                </a:solidFill>
              </a:rPr>
              <a:t>This stage focuses on three major products, or deliverables, that should result from the design stage.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5469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sz="1200" dirty="0"/>
              <a:t>During this design phase they includes, a </a:t>
            </a:r>
            <a:r>
              <a:rPr lang="en-US" sz="1200" b="1" i="1" dirty="0"/>
              <a:t>prototyping</a:t>
            </a:r>
            <a:r>
              <a:rPr lang="en-US" sz="1200" dirty="0"/>
              <a:t> approach.</a:t>
            </a:r>
          </a:p>
          <a:p>
            <a:pPr algn="just">
              <a:lnSpc>
                <a:spcPct val="150000"/>
              </a:lnSpc>
            </a:pPr>
            <a:endParaRPr lang="en-US" sz="1200" dirty="0"/>
          </a:p>
          <a:p>
            <a:pPr algn="just">
              <a:lnSpc>
                <a:spcPct val="150000"/>
              </a:lnSpc>
            </a:pPr>
            <a:r>
              <a:rPr lang="en-US" sz="1200" dirty="0"/>
              <a:t>Prototyping is the rapid development and testing of working models, or </a:t>
            </a:r>
            <a:r>
              <a:rPr lang="en-US" sz="1200" b="1" dirty="0"/>
              <a:t>prototypes</a:t>
            </a:r>
            <a:r>
              <a:rPr lang="en-US" sz="1200" dirty="0"/>
              <a:t>, of new applications in an interactive, iterative process that can be used  by both IS specialists and business professionals.</a:t>
            </a:r>
          </a:p>
          <a:p>
            <a:pPr algn="just">
              <a:lnSpc>
                <a:spcPct val="150000"/>
              </a:lnSpc>
            </a:pPr>
            <a:r>
              <a:rPr lang="en-US" sz="1200" b="1" dirty="0"/>
              <a:t>System Specification </a:t>
            </a:r>
            <a:r>
              <a:rPr lang="en-US" sz="1200" dirty="0"/>
              <a:t>Formalize the design of application’s user interface methods and products, database and structures, and processing and control procedures.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90435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lgn="just">
              <a:lnSpc>
                <a:spcPct val="150000"/>
              </a:lnSpc>
            </a:pPr>
            <a:r>
              <a:rPr lang="en-US" sz="1200" dirty="0">
                <a:solidFill>
                  <a:schemeClr val="tx1"/>
                </a:solidFill>
              </a:rPr>
              <a:t>Referred to as the </a:t>
            </a:r>
            <a:r>
              <a:rPr lang="en-US" sz="1200" b="1" i="1" dirty="0">
                <a:solidFill>
                  <a:schemeClr val="tx1"/>
                </a:solidFill>
              </a:rPr>
              <a:t>slam dunk </a:t>
            </a:r>
            <a:r>
              <a:rPr lang="en-US" sz="1200" dirty="0">
                <a:solidFill>
                  <a:schemeClr val="tx1"/>
                </a:solidFill>
              </a:rPr>
              <a:t>or </a:t>
            </a:r>
            <a:r>
              <a:rPr lang="en-US" sz="1200" b="1" i="1" dirty="0">
                <a:solidFill>
                  <a:schemeClr val="tx1"/>
                </a:solidFill>
              </a:rPr>
              <a:t>cold-turkey strategy</a:t>
            </a:r>
          </a:p>
          <a:p>
            <a:pPr algn="just">
              <a:lnSpc>
                <a:spcPct val="150000"/>
              </a:lnSpc>
            </a:pPr>
            <a:r>
              <a:rPr lang="en-US" sz="1200" dirty="0">
                <a:solidFill>
                  <a:schemeClr val="tx1"/>
                </a:solidFill>
              </a:rPr>
              <a:t>In this approach , the old system is just turned off, and the new system is turned on in its place.</a:t>
            </a:r>
          </a:p>
          <a:p>
            <a:pPr algn="just">
              <a:lnSpc>
                <a:spcPct val="150000"/>
              </a:lnSpc>
            </a:pPr>
            <a:r>
              <a:rPr lang="en-US" sz="1200" dirty="0">
                <a:solidFill>
                  <a:schemeClr val="tx1"/>
                </a:solidFill>
              </a:rPr>
              <a:t>Least expensive of all available strategies.</a:t>
            </a:r>
          </a:p>
          <a:p>
            <a:pPr algn="just">
              <a:lnSpc>
                <a:spcPct val="150000"/>
              </a:lnSpc>
            </a:pPr>
            <a:r>
              <a:rPr lang="en-US" sz="1200" dirty="0">
                <a:solidFill>
                  <a:schemeClr val="tx1"/>
                </a:solidFill>
              </a:rPr>
              <a:t>This method use when new system is an emergency or when the two systems cannot coexist under any condition.</a:t>
            </a:r>
          </a:p>
          <a:p>
            <a:pPr algn="just">
              <a:lnSpc>
                <a:spcPct val="150000"/>
              </a:lnSpc>
            </a:pPr>
            <a:r>
              <a:rPr lang="en-US" sz="1200" dirty="0">
                <a:solidFill>
                  <a:schemeClr val="tx1"/>
                </a:solidFill>
              </a:rPr>
              <a:t>This method considered where no other conversion strategy is viable.  </a:t>
            </a:r>
          </a:p>
          <a:p>
            <a:endParaRPr lang="en-US" dirty="0"/>
          </a:p>
          <a:p>
            <a:pPr algn="just">
              <a:lnSpc>
                <a:spcPct val="150000"/>
              </a:lnSpc>
            </a:pPr>
            <a:r>
              <a:rPr lang="en-US" sz="1200" dirty="0">
                <a:solidFill>
                  <a:schemeClr val="tx1"/>
                </a:solidFill>
              </a:rPr>
              <a:t>Having the advantage of low risk</a:t>
            </a:r>
          </a:p>
          <a:p>
            <a:pPr algn="just">
              <a:lnSpc>
                <a:spcPct val="150000"/>
              </a:lnSpc>
            </a:pPr>
            <a:r>
              <a:rPr lang="en-US" sz="1200" dirty="0">
                <a:solidFill>
                  <a:schemeClr val="tx1"/>
                </a:solidFill>
              </a:rPr>
              <a:t>Also brings the highest cost.</a:t>
            </a:r>
          </a:p>
          <a:p>
            <a:pPr algn="just">
              <a:lnSpc>
                <a:spcPct val="150000"/>
              </a:lnSpc>
            </a:pPr>
            <a:r>
              <a:rPr lang="en-US" sz="1200" dirty="0">
                <a:solidFill>
                  <a:schemeClr val="tx1"/>
                </a:solidFill>
              </a:rPr>
              <a:t>The old and new systems are run simultaneously until the end users and project coordinators are fully satisfied that the new system is functioning correctly and the old system is no longer necessary.</a:t>
            </a:r>
          </a:p>
          <a:p>
            <a:pPr algn="just">
              <a:lnSpc>
                <a:spcPct val="150000"/>
              </a:lnSpc>
            </a:pPr>
            <a:r>
              <a:rPr lang="en-US" sz="1200" dirty="0">
                <a:solidFill>
                  <a:schemeClr val="tx1"/>
                </a:solidFill>
              </a:rPr>
              <a:t>This is the best choice in situation where an automated system is replacing a manual one.</a:t>
            </a:r>
          </a:p>
          <a:p>
            <a:endParaRPr lang="en-US" dirty="0"/>
          </a:p>
          <a:p>
            <a:endParaRPr lang="en-US" dirty="0"/>
          </a:p>
          <a:p>
            <a:pPr algn="just">
              <a:lnSpc>
                <a:spcPct val="150000"/>
              </a:lnSpc>
            </a:pPr>
            <a:r>
              <a:rPr lang="en-US" sz="1200" dirty="0">
                <a:solidFill>
                  <a:schemeClr val="tx1"/>
                </a:solidFill>
              </a:rPr>
              <a:t>This method has the best features of both the direct and parallel approaches.</a:t>
            </a:r>
          </a:p>
          <a:p>
            <a:pPr algn="just">
              <a:lnSpc>
                <a:spcPct val="150000"/>
              </a:lnSpc>
            </a:pPr>
            <a:r>
              <a:rPr lang="en-US" sz="1200" dirty="0">
                <a:solidFill>
                  <a:schemeClr val="tx1"/>
                </a:solidFill>
              </a:rPr>
              <a:t>This mechanism build new system as a series of functional components that are logically ordered to minimize the disruption.</a:t>
            </a:r>
          </a:p>
          <a:p>
            <a:pPr algn="just">
              <a:lnSpc>
                <a:spcPct val="150000"/>
              </a:lnSpc>
            </a:pPr>
            <a:r>
              <a:rPr lang="en-US" sz="1200" dirty="0">
                <a:solidFill>
                  <a:schemeClr val="tx1"/>
                </a:solidFill>
              </a:rPr>
              <a:t>Low risk</a:t>
            </a:r>
          </a:p>
          <a:p>
            <a:pPr algn="just">
              <a:lnSpc>
                <a:spcPct val="150000"/>
              </a:lnSpc>
            </a:pPr>
            <a:r>
              <a:rPr lang="en-US" sz="1200" dirty="0">
                <a:solidFill>
                  <a:schemeClr val="tx1"/>
                </a:solidFill>
              </a:rPr>
              <a:t>Take lot of time to finalize.</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1063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 name="Google Shape;15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2" name="Google Shape;1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 name="Google Shape;17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 name="Google Shape;18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0" name="Google Shape;19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7" name="Google Shape;19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5"/>
          <p:cNvSpPr txBox="1">
            <a:spLocks noGrp="1"/>
          </p:cNvSpPr>
          <p:nvPr>
            <p:ph type="ctrTitle"/>
          </p:nvPr>
        </p:nvSpPr>
        <p:spPr>
          <a:xfrm>
            <a:off x="685800" y="838200"/>
            <a:ext cx="7772400" cy="3429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5"/>
          <p:cNvSpPr txBox="1">
            <a:spLocks noGrp="1"/>
          </p:cNvSpPr>
          <p:nvPr>
            <p:ph type="subTitle" idx="1"/>
          </p:nvPr>
        </p:nvSpPr>
        <p:spPr>
          <a:xfrm>
            <a:off x="304800" y="4953000"/>
            <a:ext cx="8534400" cy="6858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sz="3200">
                <a:solidFill>
                  <a:schemeClr val="lt1"/>
                </a:solidFill>
              </a:defRPr>
            </a:lvl1pPr>
            <a:lvl2pPr lvl="1" algn="ctr">
              <a:spcBef>
                <a:spcPts val="560"/>
              </a:spcBef>
              <a:spcAft>
                <a:spcPts val="0"/>
              </a:spcAft>
              <a:buClr>
                <a:schemeClr val="lt1"/>
              </a:buClr>
              <a:buSzPts val="2800"/>
              <a:buNone/>
              <a:defRPr>
                <a:solidFill>
                  <a:schemeClr val="lt1"/>
                </a:solidFill>
              </a:defRPr>
            </a:lvl2pPr>
            <a:lvl3pPr lvl="2" algn="ctr">
              <a:spcBef>
                <a:spcPts val="480"/>
              </a:spcBef>
              <a:spcAft>
                <a:spcPts val="0"/>
              </a:spcAft>
              <a:buClr>
                <a:schemeClr val="lt1"/>
              </a:buClr>
              <a:buSzPts val="2400"/>
              <a:buNone/>
              <a:defRPr>
                <a:solidFill>
                  <a:schemeClr val="lt1"/>
                </a:solidFill>
              </a:defRPr>
            </a:lvl3pPr>
            <a:lvl4pPr lvl="3" algn="ctr">
              <a:spcBef>
                <a:spcPts val="400"/>
              </a:spcBef>
              <a:spcAft>
                <a:spcPts val="0"/>
              </a:spcAft>
              <a:buClr>
                <a:schemeClr val="lt1"/>
              </a:buClr>
              <a:buSzPts val="2000"/>
              <a:buNone/>
              <a:defRPr>
                <a:solidFill>
                  <a:schemeClr val="lt1"/>
                </a:solidFill>
              </a:defRPr>
            </a:lvl4pPr>
            <a:lvl5pPr lvl="4" algn="ctr">
              <a:spcBef>
                <a:spcPts val="400"/>
              </a:spcBef>
              <a:spcAft>
                <a:spcPts val="0"/>
              </a:spcAft>
              <a:buClr>
                <a:schemeClr val="lt1"/>
              </a:buClr>
              <a:buSzPts val="2000"/>
              <a:buNone/>
              <a:defRPr>
                <a:solidFill>
                  <a:schemeClr val="lt1"/>
                </a:solidFill>
              </a:defRPr>
            </a:lvl5pPr>
            <a:lvl6pPr lvl="5" algn="ctr">
              <a:spcBef>
                <a:spcPts val="400"/>
              </a:spcBef>
              <a:spcAft>
                <a:spcPts val="0"/>
              </a:spcAft>
              <a:buClr>
                <a:schemeClr val="lt1"/>
              </a:buClr>
              <a:buSzPts val="2000"/>
              <a:buNone/>
              <a:defRPr>
                <a:solidFill>
                  <a:schemeClr val="lt1"/>
                </a:solidFill>
              </a:defRPr>
            </a:lvl6pPr>
            <a:lvl7pPr lvl="6" algn="ctr">
              <a:spcBef>
                <a:spcPts val="400"/>
              </a:spcBef>
              <a:spcAft>
                <a:spcPts val="0"/>
              </a:spcAft>
              <a:buClr>
                <a:schemeClr val="lt1"/>
              </a:buClr>
              <a:buSzPts val="2000"/>
              <a:buNone/>
              <a:defRPr>
                <a:solidFill>
                  <a:schemeClr val="lt1"/>
                </a:solidFill>
              </a:defRPr>
            </a:lvl7pPr>
            <a:lvl8pPr lvl="7" algn="ctr">
              <a:spcBef>
                <a:spcPts val="400"/>
              </a:spcBef>
              <a:spcAft>
                <a:spcPts val="0"/>
              </a:spcAft>
              <a:buClr>
                <a:schemeClr val="lt1"/>
              </a:buClr>
              <a:buSzPts val="2000"/>
              <a:buNone/>
              <a:defRPr>
                <a:solidFill>
                  <a:schemeClr val="lt1"/>
                </a:solidFill>
              </a:defRPr>
            </a:lvl8pPr>
            <a:lvl9pPr lvl="8" algn="ctr">
              <a:spcBef>
                <a:spcPts val="400"/>
              </a:spcBef>
              <a:spcAft>
                <a:spcPts val="0"/>
              </a:spcAft>
              <a:buClr>
                <a:schemeClr val="lt1"/>
              </a:buClr>
              <a:buSzPts val="2000"/>
              <a:buNone/>
              <a:defRPr>
                <a:solidFill>
                  <a:schemeClr val="lt1"/>
                </a:solidFill>
              </a:defRPr>
            </a:lvl9pPr>
          </a:lstStyle>
          <a:p>
            <a:endParaRPr/>
          </a:p>
        </p:txBody>
      </p:sp>
      <p:sp>
        <p:nvSpPr>
          <p:cNvPr id="18" name="Google Shape;18;p25"/>
          <p:cNvSpPr txBox="1">
            <a:spLocks noGrp="1"/>
          </p:cNvSpPr>
          <p:nvPr>
            <p:ph type="dt" idx="10"/>
          </p:nvPr>
        </p:nvSpPr>
        <p:spPr>
          <a:xfrm>
            <a:off x="457200" y="6356350"/>
            <a:ext cx="15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24"/>
          <p:cNvSpPr txBox="1">
            <a:spLocks noGrp="1"/>
          </p:cNvSpPr>
          <p:nvPr>
            <p:ph type="ctrTitle"/>
          </p:nvPr>
        </p:nvSpPr>
        <p:spPr>
          <a:xfrm>
            <a:off x="685800" y="838200"/>
            <a:ext cx="7772400" cy="3429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24"/>
          <p:cNvSpPr txBox="1">
            <a:spLocks noGrp="1"/>
          </p:cNvSpPr>
          <p:nvPr>
            <p:ph type="subTitle" idx="1"/>
          </p:nvPr>
        </p:nvSpPr>
        <p:spPr>
          <a:xfrm>
            <a:off x="304800" y="4953000"/>
            <a:ext cx="8534400" cy="6858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0" name="Google Shape;30;p24"/>
          <p:cNvSpPr txBox="1">
            <a:spLocks noGrp="1"/>
          </p:cNvSpPr>
          <p:nvPr>
            <p:ph type="dt" idx="10"/>
          </p:nvPr>
        </p:nvSpPr>
        <p:spPr>
          <a:xfrm>
            <a:off x="457200" y="6356350"/>
            <a:ext cx="15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cxnSp>
        <p:nvCxnSpPr>
          <p:cNvPr id="34" name="Google Shape;34;p26"/>
          <p:cNvCxnSpPr/>
          <p:nvPr/>
        </p:nvCxnSpPr>
        <p:spPr>
          <a:xfrm>
            <a:off x="457200" y="1447800"/>
            <a:ext cx="8229600" cy="0"/>
          </a:xfrm>
          <a:prstGeom prst="straightConnector1">
            <a:avLst/>
          </a:prstGeom>
          <a:noFill/>
          <a:ln w="76200" cap="flat" cmpd="sng">
            <a:solidFill>
              <a:srgbClr val="538CD5"/>
            </a:solidFill>
            <a:prstDash val="solid"/>
            <a:round/>
            <a:headEnd type="none" w="sm" len="sm"/>
            <a:tailEnd type="none" w="sm" len="sm"/>
          </a:ln>
        </p:spPr>
      </p:cxnSp>
      <p:sp>
        <p:nvSpPr>
          <p:cNvPr id="35" name="Google Shape;35;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609600" algn="l">
              <a:spcBef>
                <a:spcPts val="0"/>
              </a:spcBef>
              <a:spcAft>
                <a:spcPts val="0"/>
              </a:spcAft>
              <a:buClr>
                <a:srgbClr val="0070C0"/>
              </a:buClr>
              <a:buSzPts val="6000"/>
              <a:buFont typeface="Noto Sans Symbols"/>
              <a:buChar char="▪"/>
              <a:defRPr sz="4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2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lt1"/>
                </a:solidFill>
                <a:latin typeface="Calibri"/>
                <a:ea typeface="Calibri"/>
                <a:cs typeface="Calibri"/>
                <a:sym typeface="Calibri"/>
              </a:defRPr>
            </a:lvl9pPr>
          </a:lstStyle>
          <a:p>
            <a:endParaRPr/>
          </a:p>
        </p:txBody>
      </p:sp>
      <p:sp>
        <p:nvSpPr>
          <p:cNvPr id="11" name="Google Shape;1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lt1"/>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spcBef>
                <a:spcPts val="56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6pPr>
            <a:lvl7pPr marL="3200400" marR="0" lvl="6"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7pPr>
            <a:lvl8pPr marL="3657600" marR="0" lvl="7"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8pPr>
            <a:lvl9pPr marL="4114800" marR="0" lvl="8"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r>
              <a:rPr lang="en-US"/>
              <a:t>x-</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3" name="Google Shape;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 name="Google Shape;2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r>
              <a:rPr lang="en-US"/>
              <a:t>x-</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0"/>
        <p:cNvGrpSpPr/>
        <p:nvPr/>
      </p:nvGrpSpPr>
      <p:grpSpPr>
        <a:xfrm>
          <a:off x="0" y="0"/>
          <a:ext cx="0" cy="0"/>
          <a:chOff x="0" y="0"/>
          <a:chExt cx="0" cy="0"/>
        </a:xfrm>
      </p:grpSpPr>
      <p:sp>
        <p:nvSpPr>
          <p:cNvPr id="51" name="Google Shape;51;p1"/>
          <p:cNvSpPr/>
          <p:nvPr/>
        </p:nvSpPr>
        <p:spPr>
          <a:xfrm>
            <a:off x="0" y="0"/>
            <a:ext cx="9144000" cy="6857999"/>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2" name="Google Shape;52;p1" descr="A picture containing text, electronics&#10;&#10;Description automatically generated"/>
          <p:cNvPicPr preferRelativeResize="0"/>
          <p:nvPr/>
        </p:nvPicPr>
        <p:blipFill rotWithShape="1">
          <a:blip r:embed="rId3">
            <a:alphaModFix amt="50000"/>
          </a:blip>
          <a:srcRect l="16344" r="16988"/>
          <a:stretch/>
        </p:blipFill>
        <p:spPr>
          <a:xfrm>
            <a:off x="20" y="1"/>
            <a:ext cx="9143980" cy="6857999"/>
          </a:xfrm>
          <a:prstGeom prst="rect">
            <a:avLst/>
          </a:prstGeom>
          <a:noFill/>
          <a:ln>
            <a:noFill/>
          </a:ln>
        </p:spPr>
      </p:pic>
      <p:sp>
        <p:nvSpPr>
          <p:cNvPr id="53" name="Google Shape;53;p1"/>
          <p:cNvSpPr txBox="1">
            <a:spLocks noGrp="1"/>
          </p:cNvSpPr>
          <p:nvPr>
            <p:ph type="ctrTitle"/>
          </p:nvPr>
        </p:nvSpPr>
        <p:spPr>
          <a:xfrm>
            <a:off x="1143000" y="3048000"/>
            <a:ext cx="6858000" cy="97488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sz="4400">
                <a:solidFill>
                  <a:srgbClr val="FFFFFF"/>
                </a:solidFill>
              </a:rPr>
              <a:t>Systems Analysis &amp; Design</a:t>
            </a:r>
            <a:endParaRPr/>
          </a:p>
        </p:txBody>
      </p:sp>
      <p:sp>
        <p:nvSpPr>
          <p:cNvPr id="2" name="TextBox 1">
            <a:extLst>
              <a:ext uri="{FF2B5EF4-FFF2-40B4-BE49-F238E27FC236}">
                <a16:creationId xmlns:a16="http://schemas.microsoft.com/office/drawing/2014/main" id="{2E890929-8011-47B3-D8C1-2711968A431A}"/>
              </a:ext>
            </a:extLst>
          </p:cNvPr>
          <p:cNvSpPr txBox="1"/>
          <p:nvPr/>
        </p:nvSpPr>
        <p:spPr>
          <a:xfrm>
            <a:off x="3882684" y="4987636"/>
            <a:ext cx="5106572" cy="830997"/>
          </a:xfrm>
          <a:prstGeom prst="rect">
            <a:avLst/>
          </a:prstGeom>
          <a:noFill/>
        </p:spPr>
        <p:txBody>
          <a:bodyPr wrap="square" rtlCol="0">
            <a:spAutoFit/>
          </a:bodyPr>
          <a:lstStyle/>
          <a:p>
            <a:r>
              <a:rPr lang="en-US" sz="1600" dirty="0">
                <a:solidFill>
                  <a:schemeClr val="bg1"/>
                </a:solidFill>
              </a:rPr>
              <a:t>K Anuradha</a:t>
            </a:r>
          </a:p>
          <a:p>
            <a:r>
              <a:rPr lang="en-US" sz="1600" dirty="0">
                <a:solidFill>
                  <a:schemeClr val="bg1"/>
                </a:solidFill>
              </a:rPr>
              <a:t>BSc (Hons) in Information Technology (KDU)</a:t>
            </a:r>
          </a:p>
          <a:p>
            <a:r>
              <a:rPr lang="en-US" sz="1600" dirty="0">
                <a:solidFill>
                  <a:schemeClr val="bg1"/>
                </a:solidFill>
              </a:rPr>
              <a:t>Masters in Information Systems Management (UOC)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7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4F8FB"/>
            </a:gs>
            <a:gs pos="74000">
              <a:srgbClr val="AEC5E1"/>
            </a:gs>
            <a:gs pos="83000">
              <a:srgbClr val="AEC5E1"/>
            </a:gs>
            <a:gs pos="100000">
              <a:srgbClr val="C8D8EB"/>
            </a:gs>
          </a:gsLst>
          <a:lin ang="5400000" scaled="0"/>
        </a:gradFill>
        <a:effectLst/>
      </p:bgPr>
    </p:bg>
    <p:spTree>
      <p:nvGrpSpPr>
        <p:cNvPr id="1" name="Shape 59"/>
        <p:cNvGrpSpPr/>
        <p:nvPr/>
      </p:nvGrpSpPr>
      <p:grpSpPr>
        <a:xfrm>
          <a:off x="0" y="0"/>
          <a:ext cx="0" cy="0"/>
          <a:chOff x="0" y="0"/>
          <a:chExt cx="0" cy="0"/>
        </a:xfrm>
      </p:grpSpPr>
      <p:sp>
        <p:nvSpPr>
          <p:cNvPr id="60" name="Google Shape;60;p2"/>
          <p:cNvSpPr txBox="1">
            <a:spLocks noGrp="1"/>
          </p:cNvSpPr>
          <p:nvPr>
            <p:ph type="ctrTitle"/>
          </p:nvPr>
        </p:nvSpPr>
        <p:spPr>
          <a:xfrm>
            <a:off x="685800" y="1066800"/>
            <a:ext cx="7772400" cy="3048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sz="4300" dirty="0">
                <a:solidFill>
                  <a:srgbClr val="17375E"/>
                </a:solidFill>
              </a:rPr>
              <a:t>Introduction to Systems Analysis &amp; Design</a:t>
            </a:r>
            <a:endParaRPr sz="3600" dirty="0">
              <a:solidFill>
                <a:srgbClr val="17375E"/>
              </a:solidFill>
            </a:endParaRPr>
          </a:p>
        </p:txBody>
      </p:sp>
      <p:sp>
        <p:nvSpPr>
          <p:cNvPr id="61" name="Google Shape;6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1</a:t>
            </a:fld>
            <a:endParaRPr sz="1200" b="0" i="0" u="none" strike="noStrike" cap="none">
              <a:solidFill>
                <a:srgbClr val="89898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a:t>
            </a:r>
            <a:endParaRPr/>
          </a:p>
        </p:txBody>
      </p:sp>
      <p:sp>
        <p:nvSpPr>
          <p:cNvPr id="69" name="Google Shape;6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81000" algn="l" rtl="0">
              <a:spcBef>
                <a:spcPts val="0"/>
              </a:spcBef>
              <a:spcAft>
                <a:spcPts val="0"/>
              </a:spcAft>
              <a:buSzPts val="6000"/>
              <a:buChar char="▪"/>
            </a:pPr>
            <a:r>
              <a:rPr lang="en-US" dirty="0"/>
              <a:t> System Analysis and Design</a:t>
            </a:r>
            <a:endParaRPr dirty="0"/>
          </a:p>
          <a:p>
            <a:pPr marL="342900" lvl="0" indent="-381000" algn="l" rtl="0">
              <a:spcBef>
                <a:spcPts val="0"/>
              </a:spcBef>
              <a:spcAft>
                <a:spcPts val="0"/>
              </a:spcAft>
              <a:buSzPts val="6000"/>
              <a:buChar char="▪"/>
            </a:pPr>
            <a:r>
              <a:rPr lang="en-US" dirty="0"/>
              <a:t>The systems analyst.</a:t>
            </a:r>
            <a:endParaRPr dirty="0"/>
          </a:p>
          <a:p>
            <a:pPr marL="342900" lvl="0" indent="-381000" algn="l" rtl="0">
              <a:spcBef>
                <a:spcPts val="0"/>
              </a:spcBef>
              <a:spcAft>
                <a:spcPts val="0"/>
              </a:spcAft>
              <a:buSzPts val="6000"/>
              <a:buChar char="▪"/>
            </a:pPr>
            <a:r>
              <a:rPr lang="en-US" dirty="0"/>
              <a:t> The Systems Development Life Cycle (SDLC).</a:t>
            </a:r>
            <a:endParaRPr dirty="0"/>
          </a:p>
          <a:p>
            <a:pPr marL="342900" lvl="0" indent="-381000" algn="l" rtl="0">
              <a:spcBef>
                <a:spcPts val="0"/>
              </a:spcBef>
              <a:spcAft>
                <a:spcPts val="0"/>
              </a:spcAft>
              <a:buSzPts val="6000"/>
              <a:buChar char="▪"/>
            </a:pPr>
            <a:r>
              <a:rPr lang="en-US" dirty="0"/>
              <a:t> Information system project identification and initiation.</a:t>
            </a:r>
            <a:endParaRPr dirty="0"/>
          </a:p>
          <a:p>
            <a:pPr marL="342900" lvl="0" indent="-381000" algn="l" rtl="0">
              <a:spcBef>
                <a:spcPts val="0"/>
              </a:spcBef>
              <a:spcAft>
                <a:spcPts val="0"/>
              </a:spcAft>
              <a:buSzPts val="6000"/>
              <a:buChar char="▪"/>
            </a:pPr>
            <a:r>
              <a:rPr lang="en-US" dirty="0"/>
              <a:t> Feasibility analysis.</a:t>
            </a:r>
            <a:endParaRPr dirty="0"/>
          </a:p>
          <a:p>
            <a:pPr marL="342900" lvl="0" indent="0" algn="l" rtl="0">
              <a:spcBef>
                <a:spcPts val="0"/>
              </a:spcBef>
              <a:spcAft>
                <a:spcPts val="0"/>
              </a:spcAft>
              <a:buSzPts val="6000"/>
              <a:buNone/>
            </a:pPr>
            <a:endParaRPr dirty="0"/>
          </a:p>
          <a:p>
            <a:pPr marL="342900" lvl="0" indent="0" algn="l" rtl="0">
              <a:spcBef>
                <a:spcPts val="0"/>
              </a:spcBef>
              <a:spcAft>
                <a:spcPts val="0"/>
              </a:spcAft>
              <a:buSzPts val="6000"/>
              <a:buNone/>
            </a:pPr>
            <a:endParaRPr dirty="0"/>
          </a:p>
        </p:txBody>
      </p:sp>
      <p:sp>
        <p:nvSpPr>
          <p:cNvPr id="70" name="Google Shape;7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2</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a:t>
            </a:r>
            <a:endParaRPr/>
          </a:p>
        </p:txBody>
      </p:sp>
      <p:sp>
        <p:nvSpPr>
          <p:cNvPr id="77" name="Google Shape;77;p4"/>
          <p:cNvSpPr txBox="1">
            <a:spLocks noGrp="1"/>
          </p:cNvSpPr>
          <p:nvPr>
            <p:ph type="body" idx="1"/>
          </p:nvPr>
        </p:nvSpPr>
        <p:spPr>
          <a:xfrm>
            <a:off x="457200" y="1600200"/>
            <a:ext cx="8229600" cy="4876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4200"/>
              <a:buChar char="▪"/>
            </a:pPr>
            <a:r>
              <a:rPr lang="en-US" sz="2800"/>
              <a:t> </a:t>
            </a:r>
            <a:r>
              <a:rPr lang="en-US" sz="3200"/>
              <a:t>The </a:t>
            </a:r>
            <a:r>
              <a:rPr lang="en-US" sz="3200">
                <a:solidFill>
                  <a:srgbClr val="FF0000"/>
                </a:solidFill>
              </a:rPr>
              <a:t>systems development life cycle (SDLC) </a:t>
            </a:r>
            <a:r>
              <a:rPr lang="en-US" sz="3200"/>
              <a:t>is the process of determining how an information system (IS) can support business needs, designing the system, building it, and delivering it to users.</a:t>
            </a:r>
            <a:endParaRPr/>
          </a:p>
          <a:p>
            <a:pPr marL="342900" lvl="0" indent="-342900" algn="l" rtl="0">
              <a:spcBef>
                <a:spcPts val="0"/>
              </a:spcBef>
              <a:spcAft>
                <a:spcPts val="0"/>
              </a:spcAft>
              <a:buSzPts val="4800"/>
              <a:buChar char="▪"/>
            </a:pPr>
            <a:r>
              <a:rPr lang="en-US" sz="3200"/>
              <a:t>The key person in the SDLC is the </a:t>
            </a:r>
            <a:r>
              <a:rPr lang="en-US" sz="3200">
                <a:solidFill>
                  <a:srgbClr val="FF0000"/>
                </a:solidFill>
              </a:rPr>
              <a:t>systems analyst</a:t>
            </a:r>
            <a:r>
              <a:rPr lang="en-US" sz="3200"/>
              <a:t>, who analyzes the business situation, identifies the opportunities for improvements, and designs an IS to implement the improvements. </a:t>
            </a:r>
            <a:endParaRPr sz="3200">
              <a:solidFill>
                <a:srgbClr val="FF0000"/>
              </a:solidFill>
            </a:endParaRPr>
          </a:p>
        </p:txBody>
      </p:sp>
      <p:sp>
        <p:nvSpPr>
          <p:cNvPr id="78" name="Google Shape;7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THE SYSTEMS ANALYST</a:t>
            </a:r>
            <a:endParaRPr dirty="0"/>
          </a:p>
        </p:txBody>
      </p:sp>
      <p:sp>
        <p:nvSpPr>
          <p:cNvPr id="85" name="Google Shape;85;p5" descr="Rectangle: Click to edit Master text styles&#10;Second level&#10;Third level&#10;Fourth level&#10;Fifth level"/>
          <p:cNvSpPr txBox="1">
            <a:spLocks noGrp="1"/>
          </p:cNvSpPr>
          <p:nvPr>
            <p:ph type="body" idx="1"/>
          </p:nvPr>
        </p:nvSpPr>
        <p:spPr>
          <a:xfrm>
            <a:off x="457200" y="1600200"/>
            <a:ext cx="8229600" cy="4648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3900"/>
              <a:buChar char="▪"/>
            </a:pPr>
            <a:r>
              <a:rPr lang="en-US" sz="2600" dirty="0"/>
              <a:t>The systems analyst plays a key role in IS development projects. </a:t>
            </a:r>
            <a:endParaRPr dirty="0"/>
          </a:p>
          <a:p>
            <a:pPr marL="342900" lvl="0" indent="-342900" algn="l" rtl="0">
              <a:spcBef>
                <a:spcPts val="0"/>
              </a:spcBef>
              <a:spcAft>
                <a:spcPts val="0"/>
              </a:spcAft>
              <a:buSzPts val="3900"/>
              <a:buChar char="▪"/>
            </a:pPr>
            <a:r>
              <a:rPr lang="en-US" sz="2600" dirty="0"/>
              <a:t>The systems analyst works closely with all project team members so that the team develops the right system in an effective way.</a:t>
            </a:r>
            <a:endParaRPr dirty="0"/>
          </a:p>
          <a:p>
            <a:pPr marL="342900" lvl="0" indent="-342900" algn="l" rtl="0">
              <a:spcBef>
                <a:spcPts val="0"/>
              </a:spcBef>
              <a:spcAft>
                <a:spcPts val="0"/>
              </a:spcAft>
              <a:buSzPts val="3900"/>
              <a:buChar char="▪"/>
            </a:pPr>
            <a:r>
              <a:rPr lang="en-US" sz="2600" dirty="0"/>
              <a:t>Systems analysts must understand how to apply technology in order to solve problems.</a:t>
            </a:r>
            <a:endParaRPr dirty="0"/>
          </a:p>
          <a:p>
            <a:pPr marL="342900" lvl="0" indent="-342900" algn="l" rtl="0">
              <a:spcBef>
                <a:spcPts val="0"/>
              </a:spcBef>
              <a:spcAft>
                <a:spcPts val="0"/>
              </a:spcAft>
              <a:buSzPts val="3900"/>
              <a:buChar char="▪"/>
            </a:pPr>
            <a:r>
              <a:rPr lang="en-US" sz="2600" dirty="0"/>
              <a:t>Systems analysts may serve as </a:t>
            </a:r>
            <a:r>
              <a:rPr lang="en-US" sz="2600" b="1" dirty="0">
                <a:solidFill>
                  <a:srgbClr val="0000FF"/>
                </a:solidFill>
              </a:rPr>
              <a:t>change agents </a:t>
            </a:r>
            <a:r>
              <a:rPr lang="en-US" sz="2600" dirty="0"/>
              <a:t>who identify organizational improvement needed, design systems to implement those changes, and train and motivate others to use the systems.</a:t>
            </a:r>
            <a:endParaRPr dirty="0"/>
          </a:p>
          <a:p>
            <a:pPr marL="342900" lvl="0" indent="-342900" algn="l" rtl="0">
              <a:spcBef>
                <a:spcPts val="0"/>
              </a:spcBef>
              <a:spcAft>
                <a:spcPts val="0"/>
              </a:spcAft>
              <a:buSzPts val="4200"/>
              <a:buFont typeface="Noto Sans Symbols"/>
              <a:buNone/>
            </a:pPr>
            <a:endParaRPr sz="2800" dirty="0"/>
          </a:p>
        </p:txBody>
      </p:sp>
      <p:sp>
        <p:nvSpPr>
          <p:cNvPr id="86" name="Google Shape;8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4</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Systems Analyst Skills</a:t>
            </a:r>
            <a:endParaRPr/>
          </a:p>
        </p:txBody>
      </p:sp>
      <p:sp>
        <p:nvSpPr>
          <p:cNvPr id="92" name="Google Shape;92;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81000" algn="l" rtl="0">
              <a:spcBef>
                <a:spcPts val="0"/>
              </a:spcBef>
              <a:spcAft>
                <a:spcPts val="0"/>
              </a:spcAft>
              <a:buSzPts val="6000"/>
              <a:buChar char="▪"/>
            </a:pPr>
            <a:r>
              <a:rPr lang="en-US">
                <a:solidFill>
                  <a:srgbClr val="4E2FD1"/>
                </a:solidFill>
              </a:rPr>
              <a:t>Technical</a:t>
            </a:r>
            <a:r>
              <a:rPr lang="en-US">
                <a:solidFill>
                  <a:srgbClr val="000099"/>
                </a:solidFill>
              </a:rPr>
              <a:t> </a:t>
            </a:r>
            <a:r>
              <a:rPr lang="en-US"/>
              <a:t>– Must understand the technical environment, technical foundation, and technical solution.</a:t>
            </a:r>
            <a:endParaRPr/>
          </a:p>
          <a:p>
            <a:pPr marL="342900" lvl="0" indent="-381000" algn="l" rtl="0">
              <a:spcBef>
                <a:spcPts val="0"/>
              </a:spcBef>
              <a:spcAft>
                <a:spcPts val="0"/>
              </a:spcAft>
              <a:buSzPts val="6000"/>
              <a:buChar char="▪"/>
            </a:pPr>
            <a:r>
              <a:rPr lang="en-US">
                <a:solidFill>
                  <a:srgbClr val="4E2FD1"/>
                </a:solidFill>
              </a:rPr>
              <a:t>Business</a:t>
            </a:r>
            <a:r>
              <a:rPr lang="en-US"/>
              <a:t> – Must understand how IT can be applied to business situations.</a:t>
            </a:r>
            <a:endParaRPr/>
          </a:p>
          <a:p>
            <a:pPr marL="342900" lvl="0" indent="-381000" algn="l" rtl="0">
              <a:spcBef>
                <a:spcPts val="0"/>
              </a:spcBef>
              <a:spcAft>
                <a:spcPts val="0"/>
              </a:spcAft>
              <a:buSzPts val="6000"/>
              <a:buChar char="▪"/>
            </a:pPr>
            <a:r>
              <a:rPr lang="en-US">
                <a:solidFill>
                  <a:srgbClr val="4E2FD1"/>
                </a:solidFill>
              </a:rPr>
              <a:t>Analytical</a:t>
            </a:r>
            <a:r>
              <a:rPr lang="en-US"/>
              <a:t> – Must be problem solvers.</a:t>
            </a:r>
            <a:endParaRPr/>
          </a:p>
        </p:txBody>
      </p:sp>
      <p:sp>
        <p:nvSpPr>
          <p:cNvPr id="93" name="Google Shape;9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5</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(cont’d)</a:t>
            </a:r>
            <a:endParaRPr/>
          </a:p>
        </p:txBody>
      </p:sp>
      <p:sp>
        <p:nvSpPr>
          <p:cNvPr id="99" name="Google Shape;99;p7"/>
          <p:cNvSpPr txBox="1">
            <a:spLocks noGrp="1"/>
          </p:cNvSpPr>
          <p:nvPr>
            <p:ph type="body" idx="1"/>
          </p:nvPr>
        </p:nvSpPr>
        <p:spPr>
          <a:xfrm>
            <a:off x="457200" y="1600200"/>
            <a:ext cx="8458200" cy="4525963"/>
          </a:xfrm>
          <a:prstGeom prst="rect">
            <a:avLst/>
          </a:prstGeom>
          <a:noFill/>
          <a:ln>
            <a:noFill/>
          </a:ln>
        </p:spPr>
        <p:txBody>
          <a:bodyPr spcFirstLastPara="1" wrap="square" lIns="91425" tIns="45700" rIns="91425" bIns="45700" anchor="t" anchorCtr="0">
            <a:noAutofit/>
          </a:bodyPr>
          <a:lstStyle/>
          <a:p>
            <a:pPr marL="342900" lvl="0" indent="-352425" algn="l" rtl="0">
              <a:lnSpc>
                <a:spcPct val="110000"/>
              </a:lnSpc>
              <a:spcBef>
                <a:spcPts val="0"/>
              </a:spcBef>
              <a:spcAft>
                <a:spcPts val="0"/>
              </a:spcAft>
              <a:buSzPts val="5550"/>
              <a:buChar char="▪"/>
            </a:pPr>
            <a:r>
              <a:rPr lang="en-US" sz="3700">
                <a:solidFill>
                  <a:srgbClr val="4E2FD1"/>
                </a:solidFill>
              </a:rPr>
              <a:t>Interpersonal</a:t>
            </a:r>
            <a:r>
              <a:rPr lang="en-US" sz="3700"/>
              <a:t> – Need to communicate effectively.</a:t>
            </a:r>
            <a:endParaRPr/>
          </a:p>
          <a:p>
            <a:pPr marL="342900" lvl="0" indent="-352425" algn="l" rtl="0">
              <a:lnSpc>
                <a:spcPct val="110000"/>
              </a:lnSpc>
              <a:spcBef>
                <a:spcPts val="0"/>
              </a:spcBef>
              <a:spcAft>
                <a:spcPts val="0"/>
              </a:spcAft>
              <a:buSzPts val="5550"/>
              <a:buChar char="▪"/>
            </a:pPr>
            <a:r>
              <a:rPr lang="en-US" sz="3700">
                <a:solidFill>
                  <a:srgbClr val="4E2FD1"/>
                </a:solidFill>
              </a:rPr>
              <a:t>Management</a:t>
            </a:r>
            <a:r>
              <a:rPr lang="en-US" sz="3700"/>
              <a:t> – Need to manage people and to manage pressure and risks. </a:t>
            </a:r>
            <a:endParaRPr/>
          </a:p>
          <a:p>
            <a:pPr marL="342900" lvl="0" indent="-352425" algn="l" rtl="0">
              <a:lnSpc>
                <a:spcPct val="110000"/>
              </a:lnSpc>
              <a:spcBef>
                <a:spcPts val="0"/>
              </a:spcBef>
              <a:spcAft>
                <a:spcPts val="0"/>
              </a:spcAft>
              <a:buSzPts val="5550"/>
              <a:buChar char="▪"/>
            </a:pPr>
            <a:r>
              <a:rPr lang="en-US" sz="3700">
                <a:solidFill>
                  <a:srgbClr val="4E2FD1"/>
                </a:solidFill>
              </a:rPr>
              <a:t>Ethical</a:t>
            </a:r>
            <a:r>
              <a:rPr lang="en-US" sz="3700"/>
              <a:t> - Must deal fairly, honestly, and ethically with other project members, managers, and systems users.</a:t>
            </a:r>
            <a:endParaRPr/>
          </a:p>
          <a:p>
            <a:pPr marL="342900" lvl="0" indent="0" algn="l" rtl="0">
              <a:spcBef>
                <a:spcPts val="0"/>
              </a:spcBef>
              <a:spcAft>
                <a:spcPts val="0"/>
              </a:spcAft>
              <a:buSzPts val="5550"/>
              <a:buNone/>
            </a:pPr>
            <a:endParaRPr sz="3700"/>
          </a:p>
        </p:txBody>
      </p:sp>
      <p:sp>
        <p:nvSpPr>
          <p:cNvPr id="100" name="Google Shape;10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6</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457200" y="274638"/>
            <a:ext cx="8229600" cy="1096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Systems Analyst Roles</a:t>
            </a:r>
            <a:endParaRPr/>
          </a:p>
        </p:txBody>
      </p:sp>
      <p:sp>
        <p:nvSpPr>
          <p:cNvPr id="107" name="Google Shape;107;p8"/>
          <p:cNvSpPr txBox="1">
            <a:spLocks noGrp="1"/>
          </p:cNvSpPr>
          <p:nvPr>
            <p:ph type="body" idx="1"/>
          </p:nvPr>
        </p:nvSpPr>
        <p:spPr>
          <a:xfrm>
            <a:off x="457200" y="2209800"/>
            <a:ext cx="8229600" cy="26670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4200"/>
              <a:buChar char="▪"/>
            </a:pPr>
            <a:r>
              <a:rPr lang="en-US" sz="2800" b="1">
                <a:solidFill>
                  <a:srgbClr val="0000FF"/>
                </a:solidFill>
              </a:rPr>
              <a:t>Systems analyst </a:t>
            </a:r>
            <a:r>
              <a:rPr lang="en-US" sz="2800"/>
              <a:t>- Focuses on the IS issues surrounding the system.</a:t>
            </a:r>
            <a:endParaRPr/>
          </a:p>
          <a:p>
            <a:pPr marL="342900" lvl="0" indent="-342900" algn="l" rtl="0">
              <a:lnSpc>
                <a:spcPct val="80000"/>
              </a:lnSpc>
              <a:spcBef>
                <a:spcPts val="1200"/>
              </a:spcBef>
              <a:spcAft>
                <a:spcPts val="0"/>
              </a:spcAft>
              <a:buSzPts val="4200"/>
              <a:buChar char="▪"/>
            </a:pPr>
            <a:r>
              <a:rPr lang="en-US" sz="2800" b="1">
                <a:solidFill>
                  <a:srgbClr val="0000FF"/>
                </a:solidFill>
              </a:rPr>
              <a:t>Business analyst </a:t>
            </a:r>
            <a:r>
              <a:rPr lang="en-US" sz="2800"/>
              <a:t>- Focuses on the business issues surrounding the system.</a:t>
            </a:r>
            <a:endParaRPr/>
          </a:p>
          <a:p>
            <a:pPr marL="342900" lvl="0" indent="-342900" algn="l" rtl="0">
              <a:lnSpc>
                <a:spcPct val="80000"/>
              </a:lnSpc>
              <a:spcBef>
                <a:spcPts val="1200"/>
              </a:spcBef>
              <a:spcAft>
                <a:spcPts val="0"/>
              </a:spcAft>
              <a:buSzPts val="4200"/>
              <a:buChar char="▪"/>
            </a:pPr>
            <a:r>
              <a:rPr lang="en-US" sz="2800" b="1">
                <a:solidFill>
                  <a:srgbClr val="0000FF"/>
                </a:solidFill>
              </a:rPr>
              <a:t>Requirements analyst </a:t>
            </a:r>
            <a:r>
              <a:rPr lang="en-US" sz="2800"/>
              <a:t>- Focuses on the eliciting the requirements from the stakeholders.</a:t>
            </a:r>
            <a:endParaRPr sz="2800" b="1">
              <a:solidFill>
                <a:srgbClr val="0000FF"/>
              </a:solidFill>
            </a:endParaRPr>
          </a:p>
        </p:txBody>
      </p:sp>
      <p:sp>
        <p:nvSpPr>
          <p:cNvPr id="108" name="Google Shape;10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7</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9"/>
          <p:cNvSpPr txBox="1">
            <a:spLocks noGrp="1"/>
          </p:cNvSpPr>
          <p:nvPr>
            <p:ph type="title"/>
          </p:nvPr>
        </p:nvSpPr>
        <p:spPr>
          <a:xfrm>
            <a:off x="457200" y="274638"/>
            <a:ext cx="8229600" cy="1096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(cont’d)</a:t>
            </a:r>
            <a:endParaRPr/>
          </a:p>
        </p:txBody>
      </p:sp>
      <p:sp>
        <p:nvSpPr>
          <p:cNvPr id="115" name="Google Shape;115;p9"/>
          <p:cNvSpPr txBox="1">
            <a:spLocks noGrp="1"/>
          </p:cNvSpPr>
          <p:nvPr>
            <p:ph type="body" idx="1"/>
          </p:nvPr>
        </p:nvSpPr>
        <p:spPr>
          <a:xfrm>
            <a:off x="457200" y="2057400"/>
            <a:ext cx="8229600" cy="51054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4200"/>
              <a:buChar char="▪"/>
            </a:pPr>
            <a:r>
              <a:rPr lang="en-US" sz="2800" b="1">
                <a:solidFill>
                  <a:srgbClr val="0000FF"/>
                </a:solidFill>
              </a:rPr>
              <a:t>Infrastructure analyst </a:t>
            </a:r>
            <a:r>
              <a:rPr lang="en-US" sz="2800"/>
              <a:t>- Focuses on technical issues </a:t>
            </a:r>
            <a:endParaRPr/>
          </a:p>
          <a:p>
            <a:pPr marL="342900" lvl="0" indent="-342900" algn="l" rtl="0">
              <a:lnSpc>
                <a:spcPct val="80000"/>
              </a:lnSpc>
              <a:spcBef>
                <a:spcPts val="1200"/>
              </a:spcBef>
              <a:spcAft>
                <a:spcPts val="0"/>
              </a:spcAft>
              <a:buSzPts val="4200"/>
              <a:buChar char="▪"/>
            </a:pPr>
            <a:r>
              <a:rPr lang="en-US" sz="2800" b="1">
                <a:solidFill>
                  <a:srgbClr val="0000FF"/>
                </a:solidFill>
              </a:rPr>
              <a:t>Change management analyst </a:t>
            </a:r>
            <a:r>
              <a:rPr lang="en-US" sz="2800"/>
              <a:t>- Focuses on the people and management issues surrounding the system installation.</a:t>
            </a:r>
            <a:endParaRPr/>
          </a:p>
          <a:p>
            <a:pPr marL="342900" lvl="0" indent="-342900" algn="l" rtl="0">
              <a:lnSpc>
                <a:spcPct val="80000"/>
              </a:lnSpc>
              <a:spcBef>
                <a:spcPts val="1200"/>
              </a:spcBef>
              <a:spcAft>
                <a:spcPts val="0"/>
              </a:spcAft>
              <a:buSzPts val="4200"/>
              <a:buChar char="▪"/>
            </a:pPr>
            <a:r>
              <a:rPr lang="en-US" sz="2800" b="1">
                <a:solidFill>
                  <a:srgbClr val="0000FF"/>
                </a:solidFill>
              </a:rPr>
              <a:t>Project manager </a:t>
            </a:r>
            <a:r>
              <a:rPr lang="en-US" sz="2800"/>
              <a:t>- Ensures that the project is completed on time and within budget, and that the system delivers the expected vale to the organization.</a:t>
            </a:r>
            <a:endParaRPr/>
          </a:p>
        </p:txBody>
      </p:sp>
      <p:sp>
        <p:nvSpPr>
          <p:cNvPr id="116" name="Google Shape;11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8</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Career Paths for Systems Analysts</a:t>
            </a:r>
            <a:endParaRPr/>
          </a:p>
        </p:txBody>
      </p:sp>
      <p:sp>
        <p:nvSpPr>
          <p:cNvPr id="122" name="Google Shape;12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9</a:t>
            </a:fld>
            <a:endParaRPr sz="1200" b="0" i="0" u="none" strike="noStrike" cap="none">
              <a:solidFill>
                <a:srgbClr val="898989"/>
              </a:solidFill>
              <a:latin typeface="Calibri"/>
              <a:ea typeface="Calibri"/>
              <a:cs typeface="Calibri"/>
              <a:sym typeface="Calibri"/>
            </a:endParaRPr>
          </a:p>
        </p:txBody>
      </p:sp>
      <p:pic>
        <p:nvPicPr>
          <p:cNvPr id="123" name="Google Shape;123;p10"/>
          <p:cNvPicPr preferRelativeResize="0">
            <a:picLocks noGrp="1"/>
          </p:cNvPicPr>
          <p:nvPr>
            <p:ph type="body" idx="1"/>
          </p:nvPr>
        </p:nvPicPr>
        <p:blipFill rotWithShape="1">
          <a:blip r:embed="rId3">
            <a:alphaModFix/>
          </a:blip>
          <a:srcRect l="2049" t="4362" r="-2048" b="4892"/>
          <a:stretch/>
        </p:blipFill>
        <p:spPr>
          <a:xfrm>
            <a:off x="998538" y="1651000"/>
            <a:ext cx="7078662" cy="4978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668C-41CE-FF32-DD5D-1F9A785F9A2F}"/>
              </a:ext>
            </a:extLst>
          </p:cNvPr>
          <p:cNvSpPr>
            <a:spLocks noGrp="1"/>
          </p:cNvSpPr>
          <p:nvPr>
            <p:ph type="title"/>
          </p:nvPr>
        </p:nvSpPr>
        <p:spPr>
          <a:xfrm>
            <a:off x="-548640" y="466979"/>
            <a:ext cx="10241280" cy="1133221"/>
          </a:xfrm>
        </p:spPr>
        <p:txBody>
          <a:bodyPr/>
          <a:lstStyle/>
          <a:p>
            <a:r>
              <a:rPr lang="en-US" sz="3800" b="1" dirty="0">
                <a:solidFill>
                  <a:schemeClr val="tx1"/>
                </a:solidFill>
              </a:rPr>
              <a:t>Mini Case Example: The Failed E-Government Project – “Lankan e-Passport System”</a:t>
            </a:r>
            <a:br>
              <a:rPr lang="en-US" sz="4000" b="1" dirty="0">
                <a:solidFill>
                  <a:schemeClr val="tx1"/>
                </a:solidFill>
              </a:rPr>
            </a:br>
            <a:endParaRPr lang="en-US" sz="4000" dirty="0"/>
          </a:p>
        </p:txBody>
      </p:sp>
      <p:sp>
        <p:nvSpPr>
          <p:cNvPr id="3" name="Text Placeholder 2">
            <a:extLst>
              <a:ext uri="{FF2B5EF4-FFF2-40B4-BE49-F238E27FC236}">
                <a16:creationId xmlns:a16="http://schemas.microsoft.com/office/drawing/2014/main" id="{B2D7CEA1-9D95-FE6D-921C-4DC2EF6A9E7F}"/>
              </a:ext>
            </a:extLst>
          </p:cNvPr>
          <p:cNvSpPr>
            <a:spLocks noGrp="1"/>
          </p:cNvSpPr>
          <p:nvPr>
            <p:ph type="body" idx="1"/>
          </p:nvPr>
        </p:nvSpPr>
        <p:spPr/>
        <p:txBody>
          <a:bodyPr/>
          <a:lstStyle/>
          <a:p>
            <a:r>
              <a:rPr lang="en-US" sz="2800" b="1" dirty="0">
                <a:solidFill>
                  <a:schemeClr val="tx1"/>
                </a:solidFill>
              </a:rPr>
              <a:t>Background:</a:t>
            </a:r>
            <a:br>
              <a:rPr lang="en-US" sz="2800" dirty="0">
                <a:solidFill>
                  <a:schemeClr val="tx1"/>
                </a:solidFill>
              </a:rPr>
            </a:br>
            <a:r>
              <a:rPr lang="en-US" sz="2800" dirty="0">
                <a:solidFill>
                  <a:schemeClr val="tx1"/>
                </a:solidFill>
              </a:rPr>
              <a:t>In 2020, the Sri Lankan government initiated an ambitious e-passport system to modernize immigration and reduce manual workload. The system was supposed to launch within 12 months, integrate with existing national ID databases, and allow citizens to apply and renew passports online.</a:t>
            </a:r>
          </a:p>
          <a:p>
            <a:r>
              <a:rPr lang="en-US" sz="2800" dirty="0">
                <a:solidFill>
                  <a:schemeClr val="tx1"/>
                </a:solidFill>
              </a:rPr>
              <a:t>However, after investing LKR 400 million, the project was </a:t>
            </a:r>
            <a:r>
              <a:rPr lang="en-US" sz="2800" b="1" dirty="0">
                <a:solidFill>
                  <a:schemeClr val="tx1"/>
                </a:solidFill>
              </a:rPr>
              <a:t>abandoned</a:t>
            </a:r>
            <a:r>
              <a:rPr lang="en-US" sz="2800" dirty="0">
                <a:solidFill>
                  <a:schemeClr val="tx1"/>
                </a:solidFill>
              </a:rPr>
              <a:t> halfway. A government audit found that:</a:t>
            </a:r>
          </a:p>
          <a:p>
            <a:endParaRPr lang="en-US" dirty="0">
              <a:solidFill>
                <a:schemeClr val="bg1"/>
              </a:solidFill>
            </a:endParaRPr>
          </a:p>
        </p:txBody>
      </p:sp>
      <p:sp>
        <p:nvSpPr>
          <p:cNvPr id="4" name="Slide Number Placeholder 3">
            <a:extLst>
              <a:ext uri="{FF2B5EF4-FFF2-40B4-BE49-F238E27FC236}">
                <a16:creationId xmlns:a16="http://schemas.microsoft.com/office/drawing/2014/main" id="{B4B60B00-85AC-657F-55DF-6FD1D598A48A}"/>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10</a:t>
            </a:fld>
            <a:endParaRPr/>
          </a:p>
        </p:txBody>
      </p:sp>
    </p:spTree>
    <p:extLst>
      <p:ext uri="{BB962C8B-B14F-4D97-AF65-F5344CB8AC3E}">
        <p14:creationId xmlns:p14="http://schemas.microsoft.com/office/powerpoint/2010/main" val="2377100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275D4-4D30-7ABD-543D-36782BB5439A}"/>
              </a:ext>
            </a:extLst>
          </p:cNvPr>
          <p:cNvSpPr>
            <a:spLocks noGrp="1"/>
          </p:cNvSpPr>
          <p:nvPr>
            <p:ph type="title"/>
          </p:nvPr>
        </p:nvSpPr>
        <p:spPr/>
        <p:txBody>
          <a:bodyPr/>
          <a:lstStyle/>
          <a:p>
            <a:r>
              <a:rPr lang="en-US" dirty="0"/>
              <a:t>Cont..</a:t>
            </a:r>
          </a:p>
        </p:txBody>
      </p:sp>
      <p:sp>
        <p:nvSpPr>
          <p:cNvPr id="3" name="Text Placeholder 2">
            <a:extLst>
              <a:ext uri="{FF2B5EF4-FFF2-40B4-BE49-F238E27FC236}">
                <a16:creationId xmlns:a16="http://schemas.microsoft.com/office/drawing/2014/main" id="{553656B6-EA28-85A7-FC9D-2053E2EE1E71}"/>
              </a:ext>
            </a:extLst>
          </p:cNvPr>
          <p:cNvSpPr>
            <a:spLocks noGrp="1"/>
          </p:cNvSpPr>
          <p:nvPr>
            <p:ph type="body" idx="1"/>
          </p:nvPr>
        </p:nvSpPr>
        <p:spPr/>
        <p:txBody>
          <a:bodyPr/>
          <a:lstStyle/>
          <a:p>
            <a:pPr>
              <a:buFont typeface="Arial" panose="020B0604020202020204" pitchFamily="34" charset="0"/>
              <a:buChar char="•"/>
            </a:pPr>
            <a:r>
              <a:rPr lang="en-US" sz="3200" dirty="0">
                <a:solidFill>
                  <a:schemeClr val="tx1"/>
                </a:solidFill>
              </a:rPr>
              <a:t>The system could not connect reliably with the National Identity database.</a:t>
            </a:r>
          </a:p>
          <a:p>
            <a:pPr>
              <a:buFont typeface="Arial" panose="020B0604020202020204" pitchFamily="34" charset="0"/>
              <a:buChar char="•"/>
            </a:pPr>
            <a:r>
              <a:rPr lang="en-US" sz="3200" dirty="0">
                <a:solidFill>
                  <a:schemeClr val="tx1"/>
                </a:solidFill>
              </a:rPr>
              <a:t>The user interface was too complex for rural users.</a:t>
            </a:r>
          </a:p>
          <a:p>
            <a:pPr>
              <a:buFont typeface="Arial" panose="020B0604020202020204" pitchFamily="34" charset="0"/>
              <a:buChar char="•"/>
            </a:pPr>
            <a:r>
              <a:rPr lang="en-US" sz="3200" dirty="0">
                <a:solidFill>
                  <a:schemeClr val="tx1"/>
                </a:solidFill>
              </a:rPr>
              <a:t>There were repeated data mismatches during test runs.</a:t>
            </a:r>
          </a:p>
          <a:p>
            <a:pPr>
              <a:buFont typeface="Arial" panose="020B0604020202020204" pitchFamily="34" charset="0"/>
              <a:buChar char="•"/>
            </a:pPr>
            <a:r>
              <a:rPr lang="en-US" sz="3200" dirty="0">
                <a:solidFill>
                  <a:schemeClr val="tx1"/>
                </a:solidFill>
              </a:rPr>
              <a:t>Key stakeholders (immigration officers and citizens) were not consulted during planning.</a:t>
            </a:r>
          </a:p>
          <a:p>
            <a:endParaRPr lang="en-US" dirty="0"/>
          </a:p>
        </p:txBody>
      </p:sp>
      <p:sp>
        <p:nvSpPr>
          <p:cNvPr id="4" name="Slide Number Placeholder 3">
            <a:extLst>
              <a:ext uri="{FF2B5EF4-FFF2-40B4-BE49-F238E27FC236}">
                <a16:creationId xmlns:a16="http://schemas.microsoft.com/office/drawing/2014/main" id="{CB18C949-64EE-6826-EBB6-95900306E1F4}"/>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11</a:t>
            </a:fld>
            <a:endParaRPr/>
          </a:p>
        </p:txBody>
      </p:sp>
    </p:spTree>
    <p:extLst>
      <p:ext uri="{BB962C8B-B14F-4D97-AF65-F5344CB8AC3E}">
        <p14:creationId xmlns:p14="http://schemas.microsoft.com/office/powerpoint/2010/main" val="1319987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CBDA-3657-49FA-1125-B5AC496EEC20}"/>
              </a:ext>
            </a:extLst>
          </p:cNvPr>
          <p:cNvSpPr>
            <a:spLocks noGrp="1"/>
          </p:cNvSpPr>
          <p:nvPr>
            <p:ph type="title"/>
          </p:nvPr>
        </p:nvSpPr>
        <p:spPr/>
        <p:txBody>
          <a:bodyPr/>
          <a:lstStyle/>
          <a:p>
            <a:r>
              <a:rPr lang="en-US" b="1" dirty="0"/>
              <a:t>Discussion</a:t>
            </a:r>
            <a:br>
              <a:rPr lang="en-US" b="1" dirty="0"/>
            </a:br>
            <a:endParaRPr lang="en-US" dirty="0"/>
          </a:p>
        </p:txBody>
      </p:sp>
      <p:sp>
        <p:nvSpPr>
          <p:cNvPr id="3" name="Text Placeholder 2">
            <a:extLst>
              <a:ext uri="{FF2B5EF4-FFF2-40B4-BE49-F238E27FC236}">
                <a16:creationId xmlns:a16="http://schemas.microsoft.com/office/drawing/2014/main" id="{17949C54-2362-8120-52DD-742FE3D4B19D}"/>
              </a:ext>
            </a:extLst>
          </p:cNvPr>
          <p:cNvSpPr>
            <a:spLocks noGrp="1"/>
          </p:cNvSpPr>
          <p:nvPr>
            <p:ph type="body" idx="1"/>
          </p:nvPr>
        </p:nvSpPr>
        <p:spPr/>
        <p:txBody>
          <a:bodyPr/>
          <a:lstStyle/>
          <a:p>
            <a:pPr>
              <a:buFont typeface="+mj-lt"/>
              <a:buAutoNum type="arabicPeriod"/>
            </a:pPr>
            <a:r>
              <a:rPr lang="en-US" sz="3200" dirty="0"/>
              <a:t>What went wrong in this system project?</a:t>
            </a:r>
          </a:p>
          <a:p>
            <a:pPr>
              <a:buFont typeface="+mj-lt"/>
              <a:buAutoNum type="arabicPeriod"/>
            </a:pPr>
            <a:r>
              <a:rPr lang="en-US" sz="3200" dirty="0"/>
              <a:t>At what point could these issues have been caught?</a:t>
            </a:r>
          </a:p>
          <a:p>
            <a:pPr>
              <a:buFont typeface="+mj-lt"/>
              <a:buAutoNum type="arabicPeriod"/>
            </a:pPr>
            <a:r>
              <a:rPr lang="en-US" sz="3200" dirty="0"/>
              <a:t>Do you think the analysis phase could have prevented this failure? How?</a:t>
            </a:r>
          </a:p>
          <a:p>
            <a:pPr>
              <a:buFont typeface="+mj-lt"/>
              <a:buAutoNum type="arabicPeriod"/>
            </a:pPr>
            <a:r>
              <a:rPr lang="en-US" sz="3200" dirty="0"/>
              <a:t>What would you have done differently?</a:t>
            </a:r>
          </a:p>
          <a:p>
            <a:endParaRPr lang="en-US" dirty="0"/>
          </a:p>
        </p:txBody>
      </p:sp>
      <p:sp>
        <p:nvSpPr>
          <p:cNvPr id="4" name="Slide Number Placeholder 3">
            <a:extLst>
              <a:ext uri="{FF2B5EF4-FFF2-40B4-BE49-F238E27FC236}">
                <a16:creationId xmlns:a16="http://schemas.microsoft.com/office/drawing/2014/main" id="{8AD66687-C3EC-79F8-0AFB-F16696677024}"/>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12</a:t>
            </a:fld>
            <a:endParaRPr/>
          </a:p>
        </p:txBody>
      </p:sp>
    </p:spTree>
    <p:extLst>
      <p:ext uri="{BB962C8B-B14F-4D97-AF65-F5344CB8AC3E}">
        <p14:creationId xmlns:p14="http://schemas.microsoft.com/office/powerpoint/2010/main" val="132629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683" y="136525"/>
            <a:ext cx="8020182" cy="1047843"/>
          </a:xfrm>
        </p:spPr>
        <p:txBody>
          <a:bodyPr/>
          <a:lstStyle/>
          <a:p>
            <a:r>
              <a:rPr lang="en-US" dirty="0"/>
              <a:t>The Systems Development Life Cycle</a:t>
            </a:r>
          </a:p>
        </p:txBody>
      </p:sp>
      <p:sp>
        <p:nvSpPr>
          <p:cNvPr id="3" name="Content Placeholder 2"/>
          <p:cNvSpPr>
            <a:spLocks noGrp="1"/>
          </p:cNvSpPr>
          <p:nvPr>
            <p:ph idx="1"/>
          </p:nvPr>
        </p:nvSpPr>
        <p:spPr>
          <a:xfrm>
            <a:off x="378383" y="1480195"/>
            <a:ext cx="8020182" cy="4451499"/>
          </a:xfrm>
        </p:spPr>
        <p:txBody>
          <a:bodyPr>
            <a:normAutofit fontScale="47500" lnSpcReduction="20000"/>
          </a:bodyPr>
          <a:lstStyle/>
          <a:p>
            <a:pPr algn="just">
              <a:lnSpc>
                <a:spcPct val="150000"/>
              </a:lnSpc>
            </a:pPr>
            <a:r>
              <a:rPr lang="en-US" dirty="0"/>
              <a:t>This most prevalent systems design approach can be viewed as a multistep, iterative process called the </a:t>
            </a:r>
            <a:r>
              <a:rPr lang="en-US" b="1" dirty="0"/>
              <a:t>systems development life cycle (SDLC)</a:t>
            </a:r>
          </a:p>
          <a:p>
            <a:pPr algn="just">
              <a:lnSpc>
                <a:spcPct val="150000"/>
              </a:lnSpc>
            </a:pPr>
            <a:endParaRPr lang="en-US" b="1" dirty="0"/>
          </a:p>
          <a:p>
            <a:pPr algn="just">
              <a:lnSpc>
                <a:spcPct val="150000"/>
              </a:lnSpc>
            </a:pPr>
            <a:endParaRPr lang="en-US" b="1" dirty="0"/>
          </a:p>
          <a:p>
            <a:pPr algn="just">
              <a:lnSpc>
                <a:spcPct val="150000"/>
              </a:lnSpc>
            </a:pPr>
            <a:endParaRPr lang="en-US" b="1" dirty="0"/>
          </a:p>
          <a:p>
            <a:pPr algn="just">
              <a:lnSpc>
                <a:spcPct val="150000"/>
              </a:lnSpc>
            </a:pPr>
            <a:endParaRPr lang="en-US" b="1" dirty="0"/>
          </a:p>
          <a:p>
            <a:pPr algn="just">
              <a:lnSpc>
                <a:spcPct val="150000"/>
              </a:lnSpc>
            </a:pPr>
            <a:endParaRPr lang="en-US" b="1" dirty="0"/>
          </a:p>
          <a:p>
            <a:pPr algn="just">
              <a:lnSpc>
                <a:spcPct val="150000"/>
              </a:lnSpc>
            </a:pPr>
            <a:r>
              <a:rPr lang="en-US" dirty="0"/>
              <a:t>Each step of the cycle is based on the stages of the system approach and there are products result from each step.</a:t>
            </a:r>
          </a:p>
          <a:p>
            <a:pPr algn="just">
              <a:lnSpc>
                <a:spcPct val="150000"/>
              </a:lnSpc>
            </a:pPr>
            <a:r>
              <a:rPr lang="en-US" dirty="0"/>
              <a:t>You can recycle back to any previous step if more work is needed.</a:t>
            </a:r>
          </a:p>
          <a:p>
            <a:pPr algn="just">
              <a:lnSpc>
                <a:spcPct val="150000"/>
              </a:lnSpc>
            </a:pPr>
            <a:endParaRPr lang="en-US" dirty="0"/>
          </a:p>
          <a:p>
            <a:pPr algn="just">
              <a:lnSpc>
                <a:spcPct val="150000"/>
              </a:lnSpc>
            </a:pPr>
            <a:endParaRPr lang="en-US" b="1" dirty="0"/>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13</a:t>
            </a:fld>
            <a:endParaRPr lang="en-US" dirty="0"/>
          </a:p>
        </p:txBody>
      </p:sp>
      <p:grpSp>
        <p:nvGrpSpPr>
          <p:cNvPr id="37" name="Group 36"/>
          <p:cNvGrpSpPr/>
          <p:nvPr/>
        </p:nvGrpSpPr>
        <p:grpSpPr>
          <a:xfrm>
            <a:off x="418139" y="2318276"/>
            <a:ext cx="7929199" cy="2101046"/>
            <a:chOff x="504510" y="2703401"/>
            <a:chExt cx="10572265" cy="2801394"/>
          </a:xfrm>
        </p:grpSpPr>
        <p:sp>
          <p:nvSpPr>
            <p:cNvPr id="7" name="Rectangle 6"/>
            <p:cNvSpPr/>
            <p:nvPr/>
          </p:nvSpPr>
          <p:spPr>
            <a:xfrm>
              <a:off x="504510" y="2729941"/>
              <a:ext cx="1868556" cy="140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Systems</a:t>
              </a:r>
            </a:p>
            <a:p>
              <a:pPr algn="ctr"/>
              <a:r>
                <a:rPr lang="en-US" sz="1050"/>
                <a:t>Investigation</a:t>
              </a:r>
            </a:p>
            <a:p>
              <a:pPr algn="ctr"/>
              <a:r>
                <a:rPr lang="en-US" sz="1050" i="1"/>
                <a:t>Product:</a:t>
              </a:r>
            </a:p>
            <a:p>
              <a:pPr algn="ctr"/>
              <a:r>
                <a:rPr lang="en-US" sz="1050"/>
                <a:t>Feasibility Study</a:t>
              </a:r>
              <a:endParaRPr lang="en-US" sz="1050" dirty="0"/>
            </a:p>
          </p:txBody>
        </p:sp>
        <p:sp>
          <p:nvSpPr>
            <p:cNvPr id="8" name="Rectangle 7"/>
            <p:cNvSpPr/>
            <p:nvPr/>
          </p:nvSpPr>
          <p:spPr>
            <a:xfrm>
              <a:off x="2701128" y="2729940"/>
              <a:ext cx="1868556" cy="140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Systems</a:t>
              </a:r>
            </a:p>
            <a:p>
              <a:pPr algn="ctr"/>
              <a:r>
                <a:rPr lang="en-US" sz="1050" dirty="0"/>
                <a:t>Analysis</a:t>
              </a:r>
            </a:p>
            <a:p>
              <a:pPr algn="ctr"/>
              <a:r>
                <a:rPr lang="en-US" sz="1050" i="1" dirty="0"/>
                <a:t>Product:</a:t>
              </a:r>
            </a:p>
            <a:p>
              <a:pPr algn="ctr"/>
              <a:r>
                <a:rPr lang="en-US" sz="1050" dirty="0"/>
                <a:t>Functional</a:t>
              </a:r>
            </a:p>
            <a:p>
              <a:pPr algn="ctr"/>
              <a:r>
                <a:rPr lang="en-US" sz="1050" dirty="0"/>
                <a:t>Requirements</a:t>
              </a:r>
            </a:p>
          </p:txBody>
        </p:sp>
        <p:sp>
          <p:nvSpPr>
            <p:cNvPr id="9" name="Rectangle 8"/>
            <p:cNvSpPr/>
            <p:nvPr/>
          </p:nvSpPr>
          <p:spPr>
            <a:xfrm>
              <a:off x="4886625" y="2703401"/>
              <a:ext cx="1868556" cy="140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Systems</a:t>
              </a:r>
            </a:p>
            <a:p>
              <a:pPr algn="ctr"/>
              <a:r>
                <a:rPr lang="en-US" sz="1050" dirty="0"/>
                <a:t>Design</a:t>
              </a:r>
            </a:p>
            <a:p>
              <a:pPr algn="ctr"/>
              <a:r>
                <a:rPr lang="en-US" sz="1050" i="1" dirty="0"/>
                <a:t>Product:</a:t>
              </a:r>
            </a:p>
            <a:p>
              <a:pPr algn="ctr"/>
              <a:r>
                <a:rPr lang="en-US" sz="1050" dirty="0"/>
                <a:t>System</a:t>
              </a:r>
            </a:p>
            <a:p>
              <a:pPr algn="ctr"/>
              <a:r>
                <a:rPr lang="en-US" sz="1050" dirty="0"/>
                <a:t>Specification</a:t>
              </a:r>
            </a:p>
          </p:txBody>
        </p:sp>
        <p:sp>
          <p:nvSpPr>
            <p:cNvPr id="10" name="Rectangle 9"/>
            <p:cNvSpPr/>
            <p:nvPr/>
          </p:nvSpPr>
          <p:spPr>
            <a:xfrm>
              <a:off x="7064942" y="2703436"/>
              <a:ext cx="1906779" cy="140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Systems</a:t>
              </a:r>
            </a:p>
            <a:p>
              <a:pPr algn="ctr"/>
              <a:r>
                <a:rPr lang="en-US" sz="1050" dirty="0"/>
                <a:t>Implementation</a:t>
              </a:r>
            </a:p>
            <a:p>
              <a:pPr algn="ctr"/>
              <a:r>
                <a:rPr lang="en-US" sz="1050" i="1" dirty="0"/>
                <a:t>Product:</a:t>
              </a:r>
            </a:p>
            <a:p>
              <a:pPr algn="ctr"/>
              <a:r>
                <a:rPr lang="en-US" sz="1050" dirty="0"/>
                <a:t>Operational</a:t>
              </a:r>
            </a:p>
            <a:p>
              <a:pPr algn="ctr"/>
              <a:r>
                <a:rPr lang="en-US" sz="1050" dirty="0"/>
                <a:t>System</a:t>
              </a:r>
            </a:p>
          </p:txBody>
        </p:sp>
        <p:sp>
          <p:nvSpPr>
            <p:cNvPr id="11" name="Rectangle 10"/>
            <p:cNvSpPr/>
            <p:nvPr/>
          </p:nvSpPr>
          <p:spPr>
            <a:xfrm>
              <a:off x="9208219" y="2703401"/>
              <a:ext cx="1868556" cy="140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Systems</a:t>
              </a:r>
            </a:p>
            <a:p>
              <a:pPr algn="ctr"/>
              <a:r>
                <a:rPr lang="en-US" sz="1050" dirty="0"/>
                <a:t>Maintenance</a:t>
              </a:r>
            </a:p>
            <a:p>
              <a:pPr algn="ctr"/>
              <a:r>
                <a:rPr lang="en-US" sz="1050" i="1" dirty="0"/>
                <a:t>Product:</a:t>
              </a:r>
            </a:p>
            <a:p>
              <a:pPr algn="ctr"/>
              <a:r>
                <a:rPr lang="en-US" sz="1050" dirty="0"/>
                <a:t>Improved</a:t>
              </a:r>
            </a:p>
            <a:p>
              <a:pPr algn="ctr"/>
              <a:r>
                <a:rPr lang="en-US" sz="1050" dirty="0"/>
                <a:t>System</a:t>
              </a:r>
            </a:p>
          </p:txBody>
        </p:sp>
        <p:cxnSp>
          <p:nvCxnSpPr>
            <p:cNvPr id="13" name="Straight Arrow Connector 12"/>
            <p:cNvCxnSpPr>
              <a:stCxn id="7" idx="3"/>
              <a:endCxn id="8" idx="1"/>
            </p:cNvCxnSpPr>
            <p:nvPr/>
          </p:nvCxnSpPr>
          <p:spPr>
            <a:xfrm flipV="1">
              <a:off x="2373066" y="3432306"/>
              <a:ext cx="32806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8" idx="3"/>
            </p:cNvCxnSpPr>
            <p:nvPr/>
          </p:nvCxnSpPr>
          <p:spPr>
            <a:xfrm>
              <a:off x="4569684" y="3432306"/>
              <a:ext cx="3169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cxnSpLocks/>
              <a:stCxn id="9" idx="3"/>
              <a:endCxn id="10" idx="1"/>
            </p:cNvCxnSpPr>
            <p:nvPr/>
          </p:nvCxnSpPr>
          <p:spPr>
            <a:xfrm>
              <a:off x="6755181" y="3405767"/>
              <a:ext cx="309761" cy="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0" idx="3"/>
              <a:endCxn id="11" idx="1"/>
            </p:cNvCxnSpPr>
            <p:nvPr/>
          </p:nvCxnSpPr>
          <p:spPr>
            <a:xfrm flipV="1">
              <a:off x="8971721" y="3405767"/>
              <a:ext cx="236498" cy="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1" idx="2"/>
            </p:cNvCxnSpPr>
            <p:nvPr/>
          </p:nvCxnSpPr>
          <p:spPr>
            <a:xfrm>
              <a:off x="10142497" y="4108132"/>
              <a:ext cx="8668" cy="4241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flipH="1">
              <a:off x="1444487" y="4532243"/>
              <a:ext cx="8719930" cy="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Arrow Connector 27"/>
            <p:cNvCxnSpPr>
              <a:endCxn id="7" idx="2"/>
            </p:cNvCxnSpPr>
            <p:nvPr/>
          </p:nvCxnSpPr>
          <p:spPr>
            <a:xfrm flipV="1">
              <a:off x="1431235" y="4134672"/>
              <a:ext cx="7553" cy="3975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8" idx="2"/>
            </p:cNvCxnSpPr>
            <p:nvPr/>
          </p:nvCxnSpPr>
          <p:spPr>
            <a:xfrm>
              <a:off x="3635406" y="4134671"/>
              <a:ext cx="8942" cy="397572"/>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p:nvPr/>
          </p:nvCxnSpPr>
          <p:spPr>
            <a:xfrm>
              <a:off x="5827553" y="4108131"/>
              <a:ext cx="8942" cy="397572"/>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Arrow Connector 31"/>
            <p:cNvCxnSpPr/>
            <p:nvPr/>
          </p:nvCxnSpPr>
          <p:spPr>
            <a:xfrm>
              <a:off x="8050122" y="4108131"/>
              <a:ext cx="8942" cy="397572"/>
            </a:xfrm>
            <a:prstGeom prst="straightConnector1">
              <a:avLst/>
            </a:prstGeom>
            <a:ln w="9525"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4" name="TextBox 33"/>
            <p:cNvSpPr txBox="1"/>
            <p:nvPr/>
          </p:nvSpPr>
          <p:spPr>
            <a:xfrm>
              <a:off x="574017" y="4735354"/>
              <a:ext cx="2127111" cy="769441"/>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Understand the business Problem or Opportunity</a:t>
              </a:r>
            </a:p>
          </p:txBody>
        </p:sp>
        <p:sp>
          <p:nvSpPr>
            <p:cNvPr id="35" name="TextBox 34"/>
            <p:cNvSpPr txBox="1"/>
            <p:nvPr/>
          </p:nvSpPr>
          <p:spPr>
            <a:xfrm>
              <a:off x="3070521" y="4772909"/>
              <a:ext cx="2127111" cy="553997"/>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Develop an Information System Solution</a:t>
              </a:r>
            </a:p>
          </p:txBody>
        </p:sp>
        <p:sp>
          <p:nvSpPr>
            <p:cNvPr id="36" name="TextBox 35"/>
            <p:cNvSpPr txBox="1"/>
            <p:nvPr/>
          </p:nvSpPr>
          <p:spPr>
            <a:xfrm>
              <a:off x="7134303" y="4682309"/>
              <a:ext cx="2127111" cy="769441"/>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Implement the Information System Solution</a:t>
              </a:r>
            </a:p>
          </p:txBody>
        </p:sp>
      </p:grpSp>
    </p:spTree>
    <p:extLst>
      <p:ext uri="{BB962C8B-B14F-4D97-AF65-F5344CB8AC3E}">
        <p14:creationId xmlns:p14="http://schemas.microsoft.com/office/powerpoint/2010/main" val="1368633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924" y="228325"/>
            <a:ext cx="7269480" cy="1047843"/>
          </a:xfrm>
        </p:spPr>
        <p:txBody>
          <a:bodyPr>
            <a:normAutofit/>
          </a:bodyPr>
          <a:lstStyle/>
          <a:p>
            <a:r>
              <a:rPr lang="en-US" sz="2100" dirty="0"/>
              <a:t>Important…….</a:t>
            </a:r>
          </a:p>
        </p:txBody>
      </p:sp>
      <p:sp>
        <p:nvSpPr>
          <p:cNvPr id="3" name="Content Placeholder 2"/>
          <p:cNvSpPr>
            <a:spLocks noGrp="1"/>
          </p:cNvSpPr>
          <p:nvPr>
            <p:ph idx="1"/>
          </p:nvPr>
        </p:nvSpPr>
        <p:spPr>
          <a:xfrm>
            <a:off x="457200" y="1286404"/>
            <a:ext cx="7936173" cy="4645290"/>
          </a:xfrm>
        </p:spPr>
        <p:txBody>
          <a:bodyPr>
            <a:normAutofit/>
          </a:bodyPr>
          <a:lstStyle/>
          <a:p>
            <a:pPr algn="just">
              <a:lnSpc>
                <a:spcPct val="150000"/>
              </a:lnSpc>
            </a:pPr>
            <a:r>
              <a:rPr lang="en-US" sz="2100" dirty="0">
                <a:solidFill>
                  <a:schemeClr val="tx1"/>
                </a:solidFill>
              </a:rPr>
              <a:t>All of the activities involved in the SDLC are highly related and interdependent. </a:t>
            </a:r>
          </a:p>
          <a:p>
            <a:pPr algn="just">
              <a:lnSpc>
                <a:spcPct val="150000"/>
              </a:lnSpc>
            </a:pPr>
            <a:r>
              <a:rPr lang="en-US" sz="2100" dirty="0">
                <a:solidFill>
                  <a:schemeClr val="tx1"/>
                </a:solidFill>
              </a:rPr>
              <a:t>Several development activities may be occurring at the same time, while certain activities within a given step may be repeated.</a:t>
            </a:r>
          </a:p>
          <a:p>
            <a:pPr algn="just">
              <a:lnSpc>
                <a:spcPct val="150000"/>
              </a:lnSpc>
            </a:pPr>
            <a:r>
              <a:rPr lang="en-US" sz="2100" dirty="0">
                <a:solidFill>
                  <a:schemeClr val="tx1"/>
                </a:solidFill>
              </a:rPr>
              <a:t>Previous activities may repeat at any time to modify and improve a system under development. </a:t>
            </a: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14</a:t>
            </a:fld>
            <a:endParaRPr lang="en-US" dirty="0"/>
          </a:p>
        </p:txBody>
      </p:sp>
    </p:spTree>
    <p:extLst>
      <p:ext uri="{BB962C8B-B14F-4D97-AF65-F5344CB8AC3E}">
        <p14:creationId xmlns:p14="http://schemas.microsoft.com/office/powerpoint/2010/main" val="475908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7930" y="1639492"/>
            <a:ext cx="8131700" cy="3732608"/>
          </a:xfrm>
        </p:spPr>
        <p:txBody>
          <a:bodyPr>
            <a:normAutofit/>
          </a:bodyPr>
          <a:lstStyle/>
          <a:p>
            <a:pPr lvl="1" algn="just">
              <a:lnSpc>
                <a:spcPct val="150000"/>
              </a:lnSpc>
            </a:pPr>
            <a:r>
              <a:rPr lang="en-US" sz="2100" dirty="0">
                <a:solidFill>
                  <a:schemeClr val="tx1"/>
                </a:solidFill>
              </a:rPr>
              <a:t>Determine how to address business opportunities and priorities.</a:t>
            </a:r>
          </a:p>
          <a:p>
            <a:pPr lvl="1" algn="just">
              <a:lnSpc>
                <a:spcPct val="150000"/>
              </a:lnSpc>
            </a:pPr>
            <a:r>
              <a:rPr lang="en-US" sz="2100" dirty="0">
                <a:solidFill>
                  <a:schemeClr val="tx1"/>
                </a:solidFill>
              </a:rPr>
              <a:t>Conduct a feasibility study to determine whether a new or improved business system is a feasible solution.</a:t>
            </a:r>
          </a:p>
          <a:p>
            <a:pPr lvl="1" algn="just">
              <a:lnSpc>
                <a:spcPct val="150000"/>
              </a:lnSpc>
            </a:pPr>
            <a:r>
              <a:rPr lang="en-US" sz="2100" dirty="0">
                <a:solidFill>
                  <a:schemeClr val="tx1"/>
                </a:solidFill>
              </a:rPr>
              <a:t>Develop a project management plan and obtain management approval.</a:t>
            </a:r>
          </a:p>
          <a:p>
            <a:endParaRPr lang="en-US" sz="2100" dirty="0">
              <a:solidFill>
                <a:schemeClr val="tx1"/>
              </a:solidFill>
            </a:endParaRP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15</a:t>
            </a:fld>
            <a:endParaRPr lang="en-US" dirty="0"/>
          </a:p>
        </p:txBody>
      </p:sp>
      <p:sp>
        <p:nvSpPr>
          <p:cNvPr id="7" name="Title 1"/>
          <p:cNvSpPr>
            <a:spLocks noGrp="1"/>
          </p:cNvSpPr>
          <p:nvPr>
            <p:ph type="title"/>
          </p:nvPr>
        </p:nvSpPr>
        <p:spPr>
          <a:xfrm>
            <a:off x="417138" y="611880"/>
            <a:ext cx="7269480" cy="833641"/>
          </a:xfrm>
        </p:spPr>
        <p:txBody>
          <a:bodyPr/>
          <a:lstStyle/>
          <a:p>
            <a:r>
              <a:rPr lang="en-US" dirty="0"/>
              <a:t>Systems investigation stage</a:t>
            </a:r>
          </a:p>
        </p:txBody>
      </p:sp>
    </p:spTree>
    <p:extLst>
      <p:ext uri="{BB962C8B-B14F-4D97-AF65-F5344CB8AC3E}">
        <p14:creationId xmlns:p14="http://schemas.microsoft.com/office/powerpoint/2010/main" val="1610818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816" y="1028700"/>
            <a:ext cx="8324984" cy="4710918"/>
          </a:xfrm>
        </p:spPr>
        <p:txBody>
          <a:bodyPr>
            <a:normAutofit/>
          </a:bodyPr>
          <a:lstStyle/>
          <a:p>
            <a:pPr lvl="1" algn="just">
              <a:lnSpc>
                <a:spcPct val="150000"/>
              </a:lnSpc>
            </a:pPr>
            <a:r>
              <a:rPr lang="en-US" sz="1500" dirty="0">
                <a:solidFill>
                  <a:schemeClr val="tx1"/>
                </a:solidFill>
              </a:rPr>
              <a:t>At this stage, this is a preliminary study where the information needs of prospective users and the resource requirements, costs, benefits, and feasibility of a proposed project are determined.</a:t>
            </a:r>
          </a:p>
          <a:p>
            <a:pPr lvl="1" algn="just">
              <a:lnSpc>
                <a:spcPct val="150000"/>
              </a:lnSpc>
            </a:pPr>
            <a:r>
              <a:rPr lang="en-US" sz="1500" dirty="0">
                <a:solidFill>
                  <a:schemeClr val="tx1"/>
                </a:solidFill>
              </a:rPr>
              <a:t>Findings of this study documented in a written report that includes preliminary specifications and a developmental plan for a proposed business application.</a:t>
            </a:r>
          </a:p>
          <a:p>
            <a:pPr lvl="1" algn="just">
              <a:lnSpc>
                <a:spcPct val="150000"/>
              </a:lnSpc>
            </a:pPr>
            <a:r>
              <a:rPr lang="en-US" sz="1500" dirty="0">
                <a:solidFill>
                  <a:schemeClr val="tx1"/>
                </a:solidFill>
              </a:rPr>
              <a:t>Feasibility assessment may be better directed to the analysis of alternative approaches to the solution rather than the problem itself.</a:t>
            </a:r>
          </a:p>
          <a:p>
            <a:pPr lvl="1" algn="just">
              <a:lnSpc>
                <a:spcPct val="150000"/>
              </a:lnSpc>
            </a:pPr>
            <a:r>
              <a:rPr lang="en-US" sz="1500" dirty="0">
                <a:solidFill>
                  <a:schemeClr val="tx1"/>
                </a:solidFill>
              </a:rPr>
              <a:t>The goal of the preliminary feasibility study is to evaluate alternative system solutions and to propose the most feasible and desirable business application for development.</a:t>
            </a:r>
          </a:p>
          <a:p>
            <a:pPr lvl="1" algn="just">
              <a:lnSpc>
                <a:spcPct val="150000"/>
              </a:lnSpc>
            </a:pPr>
            <a:r>
              <a:rPr lang="en-US" sz="1500" dirty="0">
                <a:solidFill>
                  <a:schemeClr val="tx1"/>
                </a:solidFill>
              </a:rPr>
              <a:t>There are five major categories.</a:t>
            </a:r>
          </a:p>
          <a:p>
            <a:pPr lvl="1" algn="just">
              <a:lnSpc>
                <a:spcPct val="150000"/>
              </a:lnSpc>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16</a:t>
            </a:fld>
            <a:endParaRPr lang="en-US" dirty="0"/>
          </a:p>
        </p:txBody>
      </p:sp>
      <p:sp>
        <p:nvSpPr>
          <p:cNvPr id="9" name="TextBox 8">
            <a:extLst>
              <a:ext uri="{FF2B5EF4-FFF2-40B4-BE49-F238E27FC236}">
                <a16:creationId xmlns:a16="http://schemas.microsoft.com/office/drawing/2014/main" id="{A6EC0881-DB3C-F7E9-BE10-C5D2A47F3662}"/>
              </a:ext>
            </a:extLst>
          </p:cNvPr>
          <p:cNvSpPr txBox="1"/>
          <p:nvPr/>
        </p:nvSpPr>
        <p:spPr>
          <a:xfrm>
            <a:off x="2286000" y="127107"/>
            <a:ext cx="4572000" cy="901593"/>
          </a:xfrm>
          <a:prstGeom prst="rect">
            <a:avLst/>
          </a:prstGeom>
          <a:noFill/>
        </p:spPr>
        <p:txBody>
          <a:bodyPr wrap="square">
            <a:spAutoFit/>
          </a:bodyPr>
          <a:lstStyle/>
          <a:p>
            <a:pPr algn="just">
              <a:lnSpc>
                <a:spcPct val="150000"/>
              </a:lnSpc>
            </a:pPr>
            <a:r>
              <a:rPr lang="en-US" sz="4000" b="1" dirty="0">
                <a:solidFill>
                  <a:schemeClr val="tx1"/>
                </a:solidFill>
              </a:rPr>
              <a:t>Feasibility study</a:t>
            </a:r>
          </a:p>
        </p:txBody>
      </p:sp>
    </p:spTree>
    <p:extLst>
      <p:ext uri="{BB962C8B-B14F-4D97-AF65-F5344CB8AC3E}">
        <p14:creationId xmlns:p14="http://schemas.microsoft.com/office/powerpoint/2010/main" val="857108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624" y="1326639"/>
            <a:ext cx="7784752" cy="4902994"/>
          </a:xfrm>
        </p:spPr>
        <p:txBody>
          <a:bodyPr>
            <a:noAutofit/>
          </a:bodyPr>
          <a:lstStyle/>
          <a:p>
            <a:pPr marL="385763" indent="-385763">
              <a:lnSpc>
                <a:spcPct val="150000"/>
              </a:lnSpc>
              <a:buFont typeface="+mj-lt"/>
              <a:buAutoNum type="romanLcPeriod"/>
            </a:pPr>
            <a:r>
              <a:rPr lang="en-US" dirty="0">
                <a:solidFill>
                  <a:schemeClr val="tx1"/>
                </a:solidFill>
              </a:rPr>
              <a:t>Operational Feasibility</a:t>
            </a:r>
          </a:p>
          <a:p>
            <a:pPr lvl="1">
              <a:lnSpc>
                <a:spcPct val="150000"/>
              </a:lnSpc>
            </a:pPr>
            <a:r>
              <a:rPr lang="en-US" sz="1500" dirty="0">
                <a:solidFill>
                  <a:schemeClr val="tx1"/>
                </a:solidFill>
              </a:rPr>
              <a:t>How well the proposed system supports the business priorities of the organization.</a:t>
            </a:r>
          </a:p>
          <a:p>
            <a:pPr lvl="1">
              <a:lnSpc>
                <a:spcPct val="150000"/>
              </a:lnSpc>
            </a:pPr>
            <a:r>
              <a:rPr lang="en-US" sz="1500" dirty="0">
                <a:solidFill>
                  <a:schemeClr val="tx1"/>
                </a:solidFill>
              </a:rPr>
              <a:t>How well the proposed system will solve the identified problem.</a:t>
            </a:r>
          </a:p>
          <a:p>
            <a:pPr lvl="1">
              <a:lnSpc>
                <a:spcPct val="150000"/>
              </a:lnSpc>
            </a:pPr>
            <a:r>
              <a:rPr lang="en-US" sz="1500" dirty="0">
                <a:solidFill>
                  <a:schemeClr val="tx1"/>
                </a:solidFill>
              </a:rPr>
              <a:t>How well the proposed system will fit with the existing organizational structure.</a:t>
            </a:r>
          </a:p>
          <a:p>
            <a:pPr marL="300038" indent="-300038">
              <a:lnSpc>
                <a:spcPct val="150000"/>
              </a:lnSpc>
              <a:buFont typeface="+mj-lt"/>
              <a:buAutoNum type="romanLcPeriod"/>
            </a:pPr>
            <a:r>
              <a:rPr lang="en-US" dirty="0">
                <a:solidFill>
                  <a:schemeClr val="tx1"/>
                </a:solidFill>
              </a:rPr>
              <a:t>Economic Feasibility</a:t>
            </a:r>
          </a:p>
          <a:p>
            <a:pPr lvl="1">
              <a:lnSpc>
                <a:spcPct val="150000"/>
              </a:lnSpc>
            </a:pPr>
            <a:r>
              <a:rPr lang="en-US" sz="1500" dirty="0">
                <a:solidFill>
                  <a:schemeClr val="tx1"/>
                </a:solidFill>
              </a:rPr>
              <a:t>Cost savings</a:t>
            </a:r>
          </a:p>
          <a:p>
            <a:pPr lvl="1">
              <a:lnSpc>
                <a:spcPct val="150000"/>
              </a:lnSpc>
            </a:pPr>
            <a:r>
              <a:rPr lang="en-US" sz="1500" dirty="0">
                <a:solidFill>
                  <a:schemeClr val="tx1"/>
                </a:solidFill>
              </a:rPr>
              <a:t>Increased revenue</a:t>
            </a:r>
          </a:p>
          <a:p>
            <a:pPr lvl="1">
              <a:lnSpc>
                <a:spcPct val="150000"/>
              </a:lnSpc>
            </a:pPr>
            <a:r>
              <a:rPr lang="en-US" sz="1500" dirty="0">
                <a:solidFill>
                  <a:schemeClr val="tx1"/>
                </a:solidFill>
              </a:rPr>
              <a:t>Decreased investment requirements</a:t>
            </a:r>
          </a:p>
          <a:p>
            <a:pPr lvl="1">
              <a:lnSpc>
                <a:spcPct val="150000"/>
              </a:lnSpc>
            </a:pPr>
            <a:r>
              <a:rPr lang="en-US" sz="1500" dirty="0">
                <a:solidFill>
                  <a:schemeClr val="tx1"/>
                </a:solidFill>
              </a:rPr>
              <a:t>Increased profits</a:t>
            </a:r>
          </a:p>
          <a:p>
            <a:pPr lvl="1">
              <a:lnSpc>
                <a:spcPct val="150000"/>
              </a:lnSpc>
            </a:pPr>
            <a:r>
              <a:rPr lang="en-US" sz="1500" dirty="0">
                <a:solidFill>
                  <a:schemeClr val="tx1"/>
                </a:solidFill>
              </a:rPr>
              <a:t>Cost/benefit analysis (tangible/intangible cost/</a:t>
            </a:r>
            <a:r>
              <a:rPr lang="en-US" sz="1500" dirty="0" err="1">
                <a:solidFill>
                  <a:schemeClr val="tx1"/>
                </a:solidFill>
              </a:rPr>
              <a:t>benifit</a:t>
            </a:r>
            <a:r>
              <a:rPr lang="en-US" sz="1500" dirty="0">
                <a:solidFill>
                  <a:schemeClr val="tx1"/>
                </a:solidFill>
              </a:rPr>
              <a:t>)</a:t>
            </a: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17</a:t>
            </a:fld>
            <a:endParaRPr lang="en-US" dirty="0"/>
          </a:p>
        </p:txBody>
      </p:sp>
    </p:spTree>
    <p:extLst>
      <p:ext uri="{BB962C8B-B14F-4D97-AF65-F5344CB8AC3E}">
        <p14:creationId xmlns:p14="http://schemas.microsoft.com/office/powerpoint/2010/main" val="453942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18</a:t>
            </a:fld>
            <a:endParaRPr lang="en-US" dirty="0"/>
          </a:p>
        </p:txBody>
      </p:sp>
      <p:sp>
        <p:nvSpPr>
          <p:cNvPr id="7" name="Content Placeholder 2"/>
          <p:cNvSpPr>
            <a:spLocks noGrp="1"/>
          </p:cNvSpPr>
          <p:nvPr>
            <p:ph idx="1"/>
          </p:nvPr>
        </p:nvSpPr>
        <p:spPr>
          <a:xfrm>
            <a:off x="543951" y="1762738"/>
            <a:ext cx="7784752" cy="5237812"/>
          </a:xfrm>
        </p:spPr>
        <p:txBody>
          <a:bodyPr>
            <a:noAutofit/>
          </a:bodyPr>
          <a:lstStyle/>
          <a:p>
            <a:pPr marL="385763" indent="-385763">
              <a:buFont typeface="+mj-lt"/>
              <a:buAutoNum type="romanLcPeriod" startAt="3"/>
            </a:pPr>
            <a:r>
              <a:rPr lang="en-US" sz="1800" dirty="0">
                <a:solidFill>
                  <a:schemeClr val="tx1"/>
                </a:solidFill>
              </a:rPr>
              <a:t>Technical Feasibility</a:t>
            </a:r>
          </a:p>
          <a:p>
            <a:pPr lvl="1">
              <a:lnSpc>
                <a:spcPct val="150000"/>
              </a:lnSpc>
            </a:pPr>
            <a:r>
              <a:rPr lang="en-US" sz="1800" dirty="0">
                <a:solidFill>
                  <a:schemeClr val="tx1"/>
                </a:solidFill>
              </a:rPr>
              <a:t>Hardware, Software, and network capability, reliability, and availability.</a:t>
            </a:r>
          </a:p>
          <a:p>
            <a:pPr marL="428625" indent="-428625">
              <a:buFont typeface="+mj-lt"/>
              <a:buAutoNum type="romanLcPeriod" startAt="4"/>
            </a:pPr>
            <a:r>
              <a:rPr lang="en-US" sz="1800" dirty="0">
                <a:solidFill>
                  <a:schemeClr val="tx1"/>
                </a:solidFill>
              </a:rPr>
              <a:t>Human factors Feasibility</a:t>
            </a:r>
          </a:p>
          <a:p>
            <a:pPr lvl="1">
              <a:lnSpc>
                <a:spcPct val="150000"/>
              </a:lnSpc>
            </a:pPr>
            <a:r>
              <a:rPr lang="en-US" sz="1800" dirty="0">
                <a:solidFill>
                  <a:schemeClr val="tx1"/>
                </a:solidFill>
              </a:rPr>
              <a:t>Employee, customer, supplier acceptance.</a:t>
            </a:r>
          </a:p>
          <a:p>
            <a:pPr lvl="1">
              <a:lnSpc>
                <a:spcPct val="150000"/>
              </a:lnSpc>
            </a:pPr>
            <a:r>
              <a:rPr lang="en-US" sz="1800" dirty="0">
                <a:solidFill>
                  <a:schemeClr val="tx1"/>
                </a:solidFill>
              </a:rPr>
              <a:t>Management support.</a:t>
            </a:r>
          </a:p>
          <a:p>
            <a:pPr lvl="1">
              <a:lnSpc>
                <a:spcPct val="150000"/>
              </a:lnSpc>
            </a:pPr>
            <a:r>
              <a:rPr lang="en-US" sz="1800" dirty="0">
                <a:solidFill>
                  <a:schemeClr val="tx1"/>
                </a:solidFill>
              </a:rPr>
              <a:t>Determining the right people for the various new or revised roles.</a:t>
            </a:r>
          </a:p>
          <a:p>
            <a:pPr marL="300038" indent="-300038">
              <a:buFont typeface="+mj-lt"/>
              <a:buAutoNum type="romanLcPeriod" startAt="4"/>
            </a:pPr>
            <a:r>
              <a:rPr lang="en-US" sz="1800" dirty="0">
                <a:solidFill>
                  <a:schemeClr val="tx1"/>
                </a:solidFill>
              </a:rPr>
              <a:t>Legal/Political Feasibility</a:t>
            </a:r>
          </a:p>
          <a:p>
            <a:pPr lvl="1">
              <a:lnSpc>
                <a:spcPct val="150000"/>
              </a:lnSpc>
            </a:pPr>
            <a:r>
              <a:rPr lang="en-US" sz="1800" dirty="0">
                <a:solidFill>
                  <a:schemeClr val="tx1"/>
                </a:solidFill>
              </a:rPr>
              <a:t>Patent, copyright, and licensing.</a:t>
            </a:r>
          </a:p>
          <a:p>
            <a:pPr lvl="1">
              <a:lnSpc>
                <a:spcPct val="150000"/>
              </a:lnSpc>
            </a:pPr>
            <a:r>
              <a:rPr lang="en-US" sz="1800" dirty="0">
                <a:solidFill>
                  <a:schemeClr val="tx1"/>
                </a:solidFill>
              </a:rPr>
              <a:t>Governmental restriction.</a:t>
            </a:r>
          </a:p>
          <a:p>
            <a:pPr lvl="1">
              <a:lnSpc>
                <a:spcPct val="150000"/>
              </a:lnSpc>
            </a:pPr>
            <a:r>
              <a:rPr lang="en-US" sz="1800" dirty="0">
                <a:solidFill>
                  <a:schemeClr val="tx1"/>
                </a:solidFill>
              </a:rPr>
              <a:t>Affected stakeholders and reporting authority.</a:t>
            </a:r>
          </a:p>
        </p:txBody>
      </p:sp>
    </p:spTree>
    <p:extLst>
      <p:ext uri="{BB962C8B-B14F-4D97-AF65-F5344CB8AC3E}">
        <p14:creationId xmlns:p14="http://schemas.microsoft.com/office/powerpoint/2010/main" val="1417097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4451" y="1676969"/>
            <a:ext cx="8125180" cy="4179663"/>
          </a:xfrm>
        </p:spPr>
        <p:txBody>
          <a:bodyPr>
            <a:normAutofit/>
          </a:bodyPr>
          <a:lstStyle/>
          <a:p>
            <a:pPr lvl="1" algn="just">
              <a:lnSpc>
                <a:spcPct val="150000"/>
              </a:lnSpc>
            </a:pPr>
            <a:r>
              <a:rPr lang="en-US" sz="2100" dirty="0">
                <a:solidFill>
                  <a:schemeClr val="tx1"/>
                </a:solidFill>
              </a:rPr>
              <a:t>Analyze the information needs of employees, customers, and other business stakeholders.</a:t>
            </a:r>
          </a:p>
          <a:p>
            <a:pPr lvl="1" algn="just">
              <a:lnSpc>
                <a:spcPct val="150000"/>
              </a:lnSpc>
            </a:pPr>
            <a:r>
              <a:rPr lang="en-US" sz="2100" dirty="0">
                <a:solidFill>
                  <a:schemeClr val="tx1"/>
                </a:solidFill>
              </a:rPr>
              <a:t>Develop the functional requirements of a system that can meet business priorities and the needs of all stakeholders.</a:t>
            </a:r>
          </a:p>
          <a:p>
            <a:pPr lvl="1" algn="just">
              <a:lnSpc>
                <a:spcPct val="150000"/>
              </a:lnSpc>
            </a:pPr>
            <a:r>
              <a:rPr lang="en-US" sz="2100" dirty="0">
                <a:solidFill>
                  <a:schemeClr val="tx1"/>
                </a:solidFill>
              </a:rPr>
              <a:t>Develop logical models of current system. </a:t>
            </a:r>
          </a:p>
          <a:p>
            <a:endParaRPr lang="en-US" sz="2100" dirty="0">
              <a:solidFill>
                <a:schemeClr val="tx1"/>
              </a:solidFill>
            </a:endParaRP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19</a:t>
            </a:fld>
            <a:endParaRPr lang="en-US" dirty="0"/>
          </a:p>
        </p:txBody>
      </p:sp>
      <p:sp>
        <p:nvSpPr>
          <p:cNvPr id="7" name="Title 1"/>
          <p:cNvSpPr>
            <a:spLocks noGrp="1"/>
          </p:cNvSpPr>
          <p:nvPr>
            <p:ph type="title"/>
          </p:nvPr>
        </p:nvSpPr>
        <p:spPr>
          <a:xfrm>
            <a:off x="507183" y="504779"/>
            <a:ext cx="7269480" cy="1047843"/>
          </a:xfrm>
        </p:spPr>
        <p:txBody>
          <a:bodyPr/>
          <a:lstStyle/>
          <a:p>
            <a:r>
              <a:rPr lang="en-US" dirty="0"/>
              <a:t>Systems Analysis stage</a:t>
            </a:r>
          </a:p>
        </p:txBody>
      </p:sp>
    </p:spTree>
    <p:extLst>
      <p:ext uri="{BB962C8B-B14F-4D97-AF65-F5344CB8AC3E}">
        <p14:creationId xmlns:p14="http://schemas.microsoft.com/office/powerpoint/2010/main" val="4142634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6778"/>
            <a:ext cx="8111375" cy="5194697"/>
          </a:xfrm>
        </p:spPr>
        <p:txBody>
          <a:bodyPr>
            <a:noAutofit/>
          </a:bodyPr>
          <a:lstStyle/>
          <a:p>
            <a:pPr algn="just">
              <a:lnSpc>
                <a:spcPct val="150000"/>
              </a:lnSpc>
            </a:pPr>
            <a:r>
              <a:rPr lang="en-US" sz="1800" dirty="0">
                <a:solidFill>
                  <a:schemeClr val="tx1"/>
                </a:solidFill>
              </a:rPr>
              <a:t>System analysis is not a preliminary study. </a:t>
            </a:r>
          </a:p>
          <a:p>
            <a:pPr algn="just">
              <a:lnSpc>
                <a:spcPct val="150000"/>
              </a:lnSpc>
            </a:pPr>
            <a:r>
              <a:rPr lang="en-US" sz="1800" dirty="0">
                <a:solidFill>
                  <a:schemeClr val="tx1"/>
                </a:solidFill>
              </a:rPr>
              <a:t>It is an in-depth study of end-user information needs that produces functional requirements that are used as the basis for the design of a new information system.</a:t>
            </a:r>
          </a:p>
          <a:p>
            <a:pPr algn="just">
              <a:lnSpc>
                <a:spcPct val="150000"/>
              </a:lnSpc>
            </a:pPr>
            <a:r>
              <a:rPr lang="en-US" sz="1800" dirty="0">
                <a:solidFill>
                  <a:schemeClr val="tx1"/>
                </a:solidFill>
              </a:rPr>
              <a:t>Involves a detailed study of:</a:t>
            </a:r>
          </a:p>
          <a:p>
            <a:pPr lvl="1" algn="just">
              <a:lnSpc>
                <a:spcPct val="150000"/>
              </a:lnSpc>
            </a:pPr>
            <a:r>
              <a:rPr lang="en-US" sz="1800" dirty="0">
                <a:solidFill>
                  <a:schemeClr val="tx1"/>
                </a:solidFill>
              </a:rPr>
              <a:t>The information need a of a company and end users.</a:t>
            </a:r>
          </a:p>
          <a:p>
            <a:pPr lvl="1" algn="just">
              <a:lnSpc>
                <a:spcPct val="150000"/>
              </a:lnSpc>
            </a:pPr>
            <a:r>
              <a:rPr lang="en-US" sz="1800" dirty="0">
                <a:solidFill>
                  <a:schemeClr val="tx1"/>
                </a:solidFill>
              </a:rPr>
              <a:t>The activities, resources, and products of one or more of the present information systems being used.</a:t>
            </a:r>
          </a:p>
          <a:p>
            <a:pPr lvl="1" algn="just">
              <a:lnSpc>
                <a:spcPct val="150000"/>
              </a:lnSpc>
            </a:pPr>
            <a:r>
              <a:rPr lang="en-US" sz="1800" dirty="0">
                <a:solidFill>
                  <a:schemeClr val="tx1"/>
                </a:solidFill>
              </a:rPr>
              <a:t>The information system capabilities required to meet your information needs, and those of other business stakeholders that may use the system.</a:t>
            </a: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20</a:t>
            </a:fld>
            <a:endParaRPr lang="en-US" dirty="0"/>
          </a:p>
        </p:txBody>
      </p:sp>
    </p:spTree>
    <p:extLst>
      <p:ext uri="{BB962C8B-B14F-4D97-AF65-F5344CB8AC3E}">
        <p14:creationId xmlns:p14="http://schemas.microsoft.com/office/powerpoint/2010/main" val="177028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17062"/>
            <a:ext cx="7961243" cy="4902994"/>
          </a:xfrm>
        </p:spPr>
        <p:txBody>
          <a:bodyPr>
            <a:noAutofit/>
          </a:bodyPr>
          <a:lstStyle/>
          <a:p>
            <a:pPr algn="just">
              <a:lnSpc>
                <a:spcPct val="150000"/>
              </a:lnSpc>
              <a:buFont typeface="Wingdings" panose="05000000000000000000" pitchFamily="2" charset="2"/>
              <a:buChar char="q"/>
            </a:pPr>
            <a:r>
              <a:rPr lang="en-US" dirty="0"/>
              <a:t> </a:t>
            </a:r>
            <a:r>
              <a:rPr lang="en-US" dirty="0">
                <a:solidFill>
                  <a:schemeClr val="accent1">
                    <a:lumMod val="75000"/>
                  </a:schemeClr>
                </a:solidFill>
              </a:rPr>
              <a:t>Organizational Analysis</a:t>
            </a:r>
          </a:p>
          <a:p>
            <a:pPr lvl="1" algn="just">
              <a:lnSpc>
                <a:spcPct val="150000"/>
              </a:lnSpc>
            </a:pPr>
            <a:r>
              <a:rPr lang="en-US" sz="1500" dirty="0">
                <a:solidFill>
                  <a:schemeClr val="tx1"/>
                </a:solidFill>
              </a:rPr>
              <a:t>Members of a development team have to know something about the organization, its management structure, its business activities, the environmental systems it must deal with , and its current information systems.</a:t>
            </a:r>
          </a:p>
          <a:p>
            <a:pPr algn="just">
              <a:lnSpc>
                <a:spcPct val="150000"/>
              </a:lnSpc>
              <a:buFont typeface="Wingdings" panose="05000000000000000000" pitchFamily="2" charset="2"/>
              <a:buChar char="q"/>
            </a:pPr>
            <a:r>
              <a:rPr lang="en-US" dirty="0">
                <a:solidFill>
                  <a:schemeClr val="tx1"/>
                </a:solidFill>
              </a:rPr>
              <a:t> </a:t>
            </a:r>
            <a:r>
              <a:rPr lang="en-US" dirty="0">
                <a:solidFill>
                  <a:schemeClr val="accent1">
                    <a:lumMod val="75000"/>
                  </a:schemeClr>
                </a:solidFill>
              </a:rPr>
              <a:t>Analysis of the present system</a:t>
            </a:r>
            <a:endParaRPr lang="en-US" dirty="0">
              <a:solidFill>
                <a:schemeClr val="tx1"/>
              </a:solidFill>
            </a:endParaRPr>
          </a:p>
          <a:p>
            <a:pPr lvl="1" algn="just">
              <a:lnSpc>
                <a:spcPct val="150000"/>
              </a:lnSpc>
            </a:pPr>
            <a:r>
              <a:rPr lang="en-US" sz="1500" dirty="0">
                <a:solidFill>
                  <a:schemeClr val="tx1"/>
                </a:solidFill>
              </a:rPr>
              <a:t>Need to analyze how this system uses hardware, software, network and people resources to convert data resources, such as trans actions data, into information products, such as reports and displays.</a:t>
            </a:r>
          </a:p>
          <a:p>
            <a:pPr algn="just">
              <a:lnSpc>
                <a:spcPct val="150000"/>
              </a:lnSpc>
              <a:buFont typeface="Wingdings" panose="05000000000000000000" pitchFamily="2" charset="2"/>
              <a:buChar char="q"/>
            </a:pPr>
            <a:r>
              <a:rPr lang="en-US" dirty="0">
                <a:solidFill>
                  <a:schemeClr val="tx1"/>
                </a:solidFill>
              </a:rPr>
              <a:t> </a:t>
            </a:r>
            <a:r>
              <a:rPr lang="en-US" dirty="0">
                <a:solidFill>
                  <a:schemeClr val="accent1">
                    <a:lumMod val="75000"/>
                  </a:schemeClr>
                </a:solidFill>
              </a:rPr>
              <a:t>Logical Analysis</a:t>
            </a:r>
          </a:p>
          <a:p>
            <a:pPr lvl="1" algn="just">
              <a:lnSpc>
                <a:spcPct val="150000"/>
              </a:lnSpc>
            </a:pPr>
            <a:r>
              <a:rPr lang="en-US" sz="1500" dirty="0">
                <a:solidFill>
                  <a:schemeClr val="tx1"/>
                </a:solidFill>
              </a:rPr>
              <a:t>The logical model can be thought of as a blueprint of the current system that displays only what the current system does without regard for how it does it. With logical model various noncomputer components of a system can be incorporated, analyzed and understood.</a:t>
            </a:r>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21</a:t>
            </a:fld>
            <a:endParaRPr lang="en-US" dirty="0"/>
          </a:p>
        </p:txBody>
      </p:sp>
    </p:spTree>
    <p:extLst>
      <p:ext uri="{BB962C8B-B14F-4D97-AF65-F5344CB8AC3E}">
        <p14:creationId xmlns:p14="http://schemas.microsoft.com/office/powerpoint/2010/main" val="4248532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2258" y="1635918"/>
            <a:ext cx="8061267" cy="4902994"/>
          </a:xfrm>
        </p:spPr>
        <p:txBody>
          <a:bodyPr>
            <a:normAutofit/>
          </a:bodyPr>
          <a:lstStyle/>
          <a:p>
            <a:pPr>
              <a:lnSpc>
                <a:spcPct val="150000"/>
              </a:lnSpc>
              <a:buFont typeface="Wingdings" panose="05000000000000000000" pitchFamily="2" charset="2"/>
              <a:buChar char="q"/>
            </a:pPr>
            <a:r>
              <a:rPr lang="en-US" sz="2100" dirty="0">
                <a:solidFill>
                  <a:schemeClr val="tx1"/>
                </a:solidFill>
              </a:rPr>
              <a:t> </a:t>
            </a:r>
            <a:r>
              <a:rPr lang="en-US" sz="2400" dirty="0">
                <a:solidFill>
                  <a:schemeClr val="accent1">
                    <a:lumMod val="75000"/>
                  </a:schemeClr>
                </a:solidFill>
              </a:rPr>
              <a:t>Functional requirement analysis and determination.</a:t>
            </a:r>
          </a:p>
          <a:p>
            <a:pPr lvl="1" algn="just">
              <a:lnSpc>
                <a:spcPct val="150000"/>
              </a:lnSpc>
            </a:pPr>
            <a:r>
              <a:rPr lang="en-US" sz="2100" dirty="0">
                <a:solidFill>
                  <a:schemeClr val="tx1"/>
                </a:solidFill>
              </a:rPr>
              <a:t>Need to work as a team with IS analysts and other end users to determine specific business information needs.</a:t>
            </a:r>
          </a:p>
          <a:p>
            <a:pPr lvl="1" algn="just">
              <a:lnSpc>
                <a:spcPct val="150000"/>
              </a:lnSpc>
            </a:pPr>
            <a:r>
              <a:rPr lang="en-US" sz="2100" dirty="0">
                <a:solidFill>
                  <a:schemeClr val="tx1"/>
                </a:solidFill>
              </a:rPr>
              <a:t>Example of functional requirements</a:t>
            </a:r>
          </a:p>
          <a:p>
            <a:pPr lvl="2" algn="just">
              <a:lnSpc>
                <a:spcPct val="150000"/>
              </a:lnSpc>
              <a:buFont typeface="Wingdings" panose="05000000000000000000" pitchFamily="2" charset="2"/>
              <a:buChar char="v"/>
            </a:pPr>
            <a:r>
              <a:rPr lang="en-US" sz="2100" dirty="0">
                <a:solidFill>
                  <a:schemeClr val="tx1"/>
                </a:solidFill>
              </a:rPr>
              <a:t> User interface requirements</a:t>
            </a:r>
          </a:p>
          <a:p>
            <a:pPr lvl="2" algn="just">
              <a:lnSpc>
                <a:spcPct val="150000"/>
              </a:lnSpc>
              <a:buFont typeface="Wingdings" panose="05000000000000000000" pitchFamily="2" charset="2"/>
              <a:buChar char="v"/>
            </a:pPr>
            <a:r>
              <a:rPr lang="en-US" sz="2100" dirty="0">
                <a:solidFill>
                  <a:schemeClr val="tx1"/>
                </a:solidFill>
              </a:rPr>
              <a:t> Processing requirements</a:t>
            </a:r>
          </a:p>
          <a:p>
            <a:pPr lvl="2" algn="just">
              <a:lnSpc>
                <a:spcPct val="150000"/>
              </a:lnSpc>
              <a:buFont typeface="Wingdings" panose="05000000000000000000" pitchFamily="2" charset="2"/>
              <a:buChar char="v"/>
            </a:pPr>
            <a:r>
              <a:rPr lang="en-US" sz="2100" dirty="0">
                <a:solidFill>
                  <a:schemeClr val="tx1"/>
                </a:solidFill>
              </a:rPr>
              <a:t> Storage requirements</a:t>
            </a:r>
          </a:p>
          <a:p>
            <a:pPr lvl="2" algn="just">
              <a:lnSpc>
                <a:spcPct val="150000"/>
              </a:lnSpc>
              <a:buFont typeface="Wingdings" panose="05000000000000000000" pitchFamily="2" charset="2"/>
              <a:buChar char="v"/>
            </a:pPr>
            <a:r>
              <a:rPr lang="en-US" sz="2100" dirty="0">
                <a:solidFill>
                  <a:schemeClr val="tx1"/>
                </a:solidFill>
              </a:rPr>
              <a:t> Control requirements</a:t>
            </a:r>
          </a:p>
          <a:p>
            <a:pPr algn="just">
              <a:lnSpc>
                <a:spcPct val="150000"/>
              </a:lnSpc>
            </a:pPr>
            <a:endParaRPr lang="en-US" sz="2100" dirty="0"/>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22</a:t>
            </a:fld>
            <a:endParaRPr lang="en-US" dirty="0"/>
          </a:p>
        </p:txBody>
      </p:sp>
    </p:spTree>
    <p:extLst>
      <p:ext uri="{BB962C8B-B14F-4D97-AF65-F5344CB8AC3E}">
        <p14:creationId xmlns:p14="http://schemas.microsoft.com/office/powerpoint/2010/main" val="3388826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366" y="879390"/>
            <a:ext cx="8111264" cy="5110234"/>
          </a:xfrm>
        </p:spPr>
        <p:txBody>
          <a:bodyPr>
            <a:normAutofit/>
          </a:bodyPr>
          <a:lstStyle/>
          <a:p>
            <a:pPr marL="0" indent="0" algn="just">
              <a:lnSpc>
                <a:spcPct val="150000"/>
              </a:lnSpc>
              <a:buNone/>
            </a:pPr>
            <a:endParaRPr lang="en-US" sz="2400" dirty="0">
              <a:solidFill>
                <a:schemeClr val="accent1">
                  <a:lumMod val="75000"/>
                </a:schemeClr>
              </a:solidFill>
            </a:endParaRPr>
          </a:p>
          <a:p>
            <a:pPr lvl="1" algn="just">
              <a:lnSpc>
                <a:spcPct val="150000"/>
              </a:lnSpc>
            </a:pPr>
            <a:r>
              <a:rPr lang="en-US" sz="2400" dirty="0">
                <a:solidFill>
                  <a:schemeClr val="tx1"/>
                </a:solidFill>
              </a:rPr>
              <a:t>Develop specifications for the hardware, software, people, network, and data resources, and the information products that will satisfy the functional requirements of the proposed business information systems.</a:t>
            </a:r>
          </a:p>
          <a:p>
            <a:pPr lvl="1" algn="just">
              <a:lnSpc>
                <a:spcPct val="150000"/>
              </a:lnSpc>
            </a:pPr>
            <a:r>
              <a:rPr lang="en-US" sz="2400" dirty="0">
                <a:solidFill>
                  <a:schemeClr val="tx1"/>
                </a:solidFill>
              </a:rPr>
              <a:t>Develop logical models of new system.</a:t>
            </a:r>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23</a:t>
            </a:fld>
            <a:endParaRPr lang="en-US" dirty="0"/>
          </a:p>
        </p:txBody>
      </p:sp>
      <p:sp>
        <p:nvSpPr>
          <p:cNvPr id="7" name="Title 1"/>
          <p:cNvSpPr>
            <a:spLocks noGrp="1"/>
          </p:cNvSpPr>
          <p:nvPr>
            <p:ph type="title"/>
          </p:nvPr>
        </p:nvSpPr>
        <p:spPr>
          <a:xfrm>
            <a:off x="548839" y="879389"/>
            <a:ext cx="6456872" cy="626663"/>
          </a:xfrm>
        </p:spPr>
        <p:txBody>
          <a:bodyPr>
            <a:normAutofit fontScale="90000"/>
          </a:bodyPr>
          <a:lstStyle/>
          <a:p>
            <a:r>
              <a:rPr lang="en-US" dirty="0"/>
              <a:t>Systems Design Stage</a:t>
            </a:r>
          </a:p>
        </p:txBody>
      </p:sp>
    </p:spTree>
    <p:extLst>
      <p:ext uri="{BB962C8B-B14F-4D97-AF65-F5344CB8AC3E}">
        <p14:creationId xmlns:p14="http://schemas.microsoft.com/office/powerpoint/2010/main" val="3881233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01" y="452723"/>
            <a:ext cx="4870175" cy="626663"/>
          </a:xfrm>
        </p:spPr>
        <p:txBody>
          <a:bodyPr/>
          <a:lstStyle/>
          <a:p>
            <a:r>
              <a:rPr lang="en-US" dirty="0"/>
              <a:t>System Design</a:t>
            </a:r>
          </a:p>
        </p:txBody>
      </p:sp>
      <p:sp>
        <p:nvSpPr>
          <p:cNvPr id="4" name="Date Placeholder 3"/>
          <p:cNvSpPr>
            <a:spLocks noGrp="1"/>
          </p:cNvSpPr>
          <p:nvPr>
            <p:ph type="dt" sz="half" idx="10"/>
          </p:nvPr>
        </p:nvSpPr>
        <p:spPr/>
        <p:txBody>
          <a:bodyPr/>
          <a:lstStyle/>
          <a:p>
            <a:r>
              <a:rPr lang="en-US"/>
              <a:t>2020-04-28</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24</a:t>
            </a:fld>
            <a:endParaRPr lang="en-US" dirty="0"/>
          </a:p>
        </p:txBody>
      </p:sp>
      <p:grpSp>
        <p:nvGrpSpPr>
          <p:cNvPr id="16" name="Group 15"/>
          <p:cNvGrpSpPr/>
          <p:nvPr/>
        </p:nvGrpSpPr>
        <p:grpSpPr>
          <a:xfrm>
            <a:off x="1069253" y="2061416"/>
            <a:ext cx="7005494" cy="1978676"/>
            <a:chOff x="1364854" y="2332382"/>
            <a:chExt cx="9340659" cy="2638233"/>
          </a:xfrm>
        </p:grpSpPr>
        <p:sp>
          <p:nvSpPr>
            <p:cNvPr id="7" name="Rectangle 6"/>
            <p:cNvSpPr/>
            <p:nvPr/>
          </p:nvSpPr>
          <p:spPr>
            <a:xfrm>
              <a:off x="1722779" y="2557670"/>
              <a:ext cx="2014331" cy="1510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User Interface</a:t>
              </a:r>
            </a:p>
            <a:p>
              <a:pPr algn="ctr"/>
              <a:r>
                <a:rPr lang="en-US" sz="1050" dirty="0"/>
                <a:t>Design</a:t>
              </a:r>
            </a:p>
          </p:txBody>
        </p:sp>
        <p:sp>
          <p:nvSpPr>
            <p:cNvPr id="8" name="Rectangle 7"/>
            <p:cNvSpPr/>
            <p:nvPr/>
          </p:nvSpPr>
          <p:spPr>
            <a:xfrm>
              <a:off x="4904762" y="2557670"/>
              <a:ext cx="2014331" cy="1510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Data Design</a:t>
              </a:r>
            </a:p>
          </p:txBody>
        </p:sp>
        <p:sp>
          <p:nvSpPr>
            <p:cNvPr id="9" name="Rectangle 8"/>
            <p:cNvSpPr/>
            <p:nvPr/>
          </p:nvSpPr>
          <p:spPr>
            <a:xfrm>
              <a:off x="8166261" y="2557669"/>
              <a:ext cx="2014331" cy="1510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Process Design</a:t>
              </a:r>
            </a:p>
          </p:txBody>
        </p:sp>
        <p:sp>
          <p:nvSpPr>
            <p:cNvPr id="10" name="TextBox 9"/>
            <p:cNvSpPr txBox="1"/>
            <p:nvPr/>
          </p:nvSpPr>
          <p:spPr>
            <a:xfrm>
              <a:off x="1638203" y="4416617"/>
              <a:ext cx="2406621" cy="553997"/>
            </a:xfrm>
            <a:prstGeom prst="rect">
              <a:avLst/>
            </a:prstGeom>
            <a:noFill/>
          </p:spPr>
          <p:txBody>
            <a:bodyPr wrap="square" rtlCol="0">
              <a:spAutoFit/>
            </a:bodyPr>
            <a:lstStyle/>
            <a:p>
              <a:pPr marL="214313" indent="-214313">
                <a:buFont typeface="Wingdings" panose="05000000000000000000" pitchFamily="2" charset="2"/>
                <a:buChar char="v"/>
              </a:pPr>
              <a:r>
                <a:rPr lang="en-US" sz="1050" dirty="0"/>
                <a:t> Screen, Form, Report, and Dialog Design</a:t>
              </a:r>
            </a:p>
          </p:txBody>
        </p:sp>
        <p:sp>
          <p:nvSpPr>
            <p:cNvPr id="12" name="TextBox 11"/>
            <p:cNvSpPr txBox="1"/>
            <p:nvPr/>
          </p:nvSpPr>
          <p:spPr>
            <a:xfrm>
              <a:off x="4708615" y="4416618"/>
              <a:ext cx="2406621" cy="553997"/>
            </a:xfrm>
            <a:prstGeom prst="rect">
              <a:avLst/>
            </a:prstGeom>
            <a:noFill/>
          </p:spPr>
          <p:txBody>
            <a:bodyPr wrap="square" rtlCol="0">
              <a:spAutoFit/>
            </a:bodyPr>
            <a:lstStyle/>
            <a:p>
              <a:pPr marL="214313" indent="-214313">
                <a:buFont typeface="Wingdings" panose="05000000000000000000" pitchFamily="2" charset="2"/>
                <a:buChar char="v"/>
              </a:pPr>
              <a:r>
                <a:rPr lang="en-US" sz="1050" dirty="0"/>
                <a:t> Data Element Structure Design</a:t>
              </a:r>
            </a:p>
          </p:txBody>
        </p:sp>
        <p:sp>
          <p:nvSpPr>
            <p:cNvPr id="14" name="TextBox 13"/>
            <p:cNvSpPr txBox="1"/>
            <p:nvPr/>
          </p:nvSpPr>
          <p:spPr>
            <a:xfrm>
              <a:off x="8147324" y="4416618"/>
              <a:ext cx="2406621" cy="553997"/>
            </a:xfrm>
            <a:prstGeom prst="rect">
              <a:avLst/>
            </a:prstGeom>
            <a:noFill/>
          </p:spPr>
          <p:txBody>
            <a:bodyPr wrap="square" rtlCol="0">
              <a:spAutoFit/>
            </a:bodyPr>
            <a:lstStyle/>
            <a:p>
              <a:pPr marL="214313" indent="-214313">
                <a:buFont typeface="Wingdings" panose="05000000000000000000" pitchFamily="2" charset="2"/>
                <a:buChar char="v"/>
              </a:pPr>
              <a:r>
                <a:rPr lang="en-US" sz="1050" dirty="0"/>
                <a:t> Program and Procedure Design</a:t>
              </a:r>
            </a:p>
          </p:txBody>
        </p:sp>
        <p:sp>
          <p:nvSpPr>
            <p:cNvPr id="15" name="TextBox 14"/>
            <p:cNvSpPr txBox="1"/>
            <p:nvPr/>
          </p:nvSpPr>
          <p:spPr>
            <a:xfrm>
              <a:off x="1364854" y="2332382"/>
              <a:ext cx="9340659" cy="338554"/>
            </a:xfrm>
            <a:prstGeom prst="rect">
              <a:avLst/>
            </a:prstGeom>
            <a:noFill/>
            <a:ln>
              <a:solidFill>
                <a:schemeClr val="tx1"/>
              </a:solidFill>
            </a:ln>
          </p:spPr>
          <p:txBody>
            <a:bodyPr wrap="square" rtlCol="0">
              <a:spAutoFit/>
            </a:bodyPr>
            <a:lstStyle/>
            <a:p>
              <a:endParaRPr lang="en-US" sz="1050" dirty="0"/>
            </a:p>
          </p:txBody>
        </p:sp>
      </p:grpSp>
    </p:spTree>
    <p:extLst>
      <p:ext uri="{BB962C8B-B14F-4D97-AF65-F5344CB8AC3E}">
        <p14:creationId xmlns:p14="http://schemas.microsoft.com/office/powerpoint/2010/main" val="1265287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688" y="1785315"/>
            <a:ext cx="8091943" cy="4813395"/>
          </a:xfrm>
        </p:spPr>
        <p:txBody>
          <a:bodyPr/>
          <a:lstStyle/>
          <a:p>
            <a:pPr lvl="1" algn="just">
              <a:lnSpc>
                <a:spcPct val="150000"/>
              </a:lnSpc>
            </a:pPr>
            <a:r>
              <a:rPr lang="en-US" sz="2400" dirty="0">
                <a:solidFill>
                  <a:schemeClr val="tx1"/>
                </a:solidFill>
              </a:rPr>
              <a:t>Acquire (or develop) hardware and software.</a:t>
            </a:r>
          </a:p>
          <a:p>
            <a:pPr lvl="1" algn="just">
              <a:lnSpc>
                <a:spcPct val="150000"/>
              </a:lnSpc>
            </a:pPr>
            <a:r>
              <a:rPr lang="en-US" sz="2400" dirty="0">
                <a:solidFill>
                  <a:schemeClr val="tx1"/>
                </a:solidFill>
              </a:rPr>
              <a:t>Test the system, and train people to operate and use it.</a:t>
            </a:r>
          </a:p>
          <a:p>
            <a:pPr lvl="1" algn="just">
              <a:lnSpc>
                <a:spcPct val="150000"/>
              </a:lnSpc>
            </a:pPr>
            <a:r>
              <a:rPr lang="en-US" sz="2400" dirty="0">
                <a:solidFill>
                  <a:schemeClr val="tx1"/>
                </a:solidFill>
              </a:rPr>
              <a:t>Convert to the new business system.</a:t>
            </a:r>
          </a:p>
          <a:p>
            <a:pPr lvl="1" algn="just">
              <a:lnSpc>
                <a:spcPct val="150000"/>
              </a:lnSpc>
            </a:pPr>
            <a:r>
              <a:rPr lang="en-US" sz="2400" dirty="0">
                <a:solidFill>
                  <a:schemeClr val="tx1"/>
                </a:solidFill>
              </a:rPr>
              <a:t>Manage the effects of system changes on end users.</a:t>
            </a:r>
          </a:p>
          <a:p>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25</a:t>
            </a:fld>
            <a:endParaRPr lang="en-US" dirty="0"/>
          </a:p>
        </p:txBody>
      </p:sp>
      <p:sp>
        <p:nvSpPr>
          <p:cNvPr id="7" name="Title 1"/>
          <p:cNvSpPr>
            <a:spLocks noGrp="1"/>
          </p:cNvSpPr>
          <p:nvPr>
            <p:ph type="title"/>
          </p:nvPr>
        </p:nvSpPr>
        <p:spPr>
          <a:xfrm>
            <a:off x="605445" y="395654"/>
            <a:ext cx="8651095" cy="756616"/>
          </a:xfrm>
        </p:spPr>
        <p:txBody>
          <a:bodyPr>
            <a:noAutofit/>
          </a:bodyPr>
          <a:lstStyle/>
          <a:p>
            <a:pPr algn="just">
              <a:lnSpc>
                <a:spcPct val="150000"/>
              </a:lnSpc>
            </a:pPr>
            <a:r>
              <a:rPr lang="en-US" dirty="0">
                <a:solidFill>
                  <a:schemeClr val="accent1">
                    <a:lumMod val="75000"/>
                  </a:schemeClr>
                </a:solidFill>
              </a:rPr>
              <a:t>Systems implementation Stage</a:t>
            </a:r>
          </a:p>
        </p:txBody>
      </p:sp>
    </p:spTree>
    <p:extLst>
      <p:ext uri="{BB962C8B-B14F-4D97-AF65-F5344CB8AC3E}">
        <p14:creationId xmlns:p14="http://schemas.microsoft.com/office/powerpoint/2010/main" val="2631032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758" y="668404"/>
            <a:ext cx="8201273" cy="5413082"/>
          </a:xfrm>
        </p:spPr>
        <p:txBody>
          <a:bodyPr>
            <a:normAutofit fontScale="92500" lnSpcReduction="20000"/>
          </a:bodyPr>
          <a:lstStyle/>
          <a:p>
            <a:pPr marL="0" indent="0" algn="ctr">
              <a:buNone/>
            </a:pPr>
            <a:r>
              <a:rPr lang="en-US" sz="3000" dirty="0">
                <a:solidFill>
                  <a:schemeClr val="accent1">
                    <a:lumMod val="75000"/>
                  </a:schemeClr>
                </a:solidFill>
              </a:rPr>
              <a:t>Implementing New Systems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lnSpc>
                <a:spcPct val="150000"/>
              </a:lnSpc>
            </a:pPr>
            <a:r>
              <a:rPr lang="en-US" sz="1800" dirty="0"/>
              <a:t>Even a well-designed system will fail if it is not properly implemented, which is why the </a:t>
            </a:r>
            <a:r>
              <a:rPr lang="en-US" sz="1800" b="1" dirty="0"/>
              <a:t>implementation process</a:t>
            </a:r>
            <a:r>
              <a:rPr lang="en-US" sz="1800" dirty="0"/>
              <a:t> typically requires a </a:t>
            </a:r>
            <a:r>
              <a:rPr lang="en-US" sz="1800" b="1" dirty="0"/>
              <a:t>project management</a:t>
            </a:r>
            <a:r>
              <a:rPr lang="en-US" sz="1800" dirty="0"/>
              <a:t> effort on the part of IT and business unit managers.</a:t>
            </a:r>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26</a:t>
            </a:fld>
            <a:endParaRPr lang="en-US" dirty="0"/>
          </a:p>
        </p:txBody>
      </p:sp>
      <p:grpSp>
        <p:nvGrpSpPr>
          <p:cNvPr id="27" name="Group 26"/>
          <p:cNvGrpSpPr/>
          <p:nvPr/>
        </p:nvGrpSpPr>
        <p:grpSpPr>
          <a:xfrm>
            <a:off x="445528" y="1642439"/>
            <a:ext cx="7850053" cy="2633869"/>
            <a:chOff x="527777" y="781878"/>
            <a:chExt cx="10466737" cy="3511825"/>
          </a:xfrm>
        </p:grpSpPr>
        <p:sp>
          <p:nvSpPr>
            <p:cNvPr id="11" name="Rectangle 10"/>
            <p:cNvSpPr/>
            <p:nvPr/>
          </p:nvSpPr>
          <p:spPr>
            <a:xfrm>
              <a:off x="9239398" y="2797864"/>
              <a:ext cx="1755116" cy="1495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Conversion</a:t>
              </a:r>
            </a:p>
            <a:p>
              <a:pPr marL="214313" indent="-214313">
                <a:buFont typeface="Arial" panose="020B0604020202020204" pitchFamily="34" charset="0"/>
                <a:buChar char="•"/>
              </a:pPr>
              <a:r>
                <a:rPr lang="en-US" sz="1050" dirty="0"/>
                <a:t>Parallel</a:t>
              </a:r>
            </a:p>
            <a:p>
              <a:pPr marL="214313" indent="-214313">
                <a:buFont typeface="Arial" panose="020B0604020202020204" pitchFamily="34" charset="0"/>
                <a:buChar char="•"/>
              </a:pPr>
              <a:r>
                <a:rPr lang="en-US" sz="1050" dirty="0"/>
                <a:t>Pilot</a:t>
              </a:r>
            </a:p>
            <a:p>
              <a:pPr marL="214313" indent="-214313">
                <a:buFont typeface="Arial" panose="020B0604020202020204" pitchFamily="34" charset="0"/>
                <a:buChar char="•"/>
              </a:pPr>
              <a:r>
                <a:rPr lang="en-US" sz="1050" dirty="0"/>
                <a:t>Phased</a:t>
              </a:r>
            </a:p>
            <a:p>
              <a:pPr marL="214313" indent="-214313">
                <a:buFont typeface="Arial" panose="020B0604020202020204" pitchFamily="34" charset="0"/>
                <a:buChar char="•"/>
              </a:pPr>
              <a:r>
                <a:rPr lang="en-US" sz="1050" dirty="0"/>
                <a:t>Plunge</a:t>
              </a:r>
            </a:p>
          </p:txBody>
        </p:sp>
        <p:grpSp>
          <p:nvGrpSpPr>
            <p:cNvPr id="26" name="Group 25"/>
            <p:cNvGrpSpPr/>
            <p:nvPr/>
          </p:nvGrpSpPr>
          <p:grpSpPr>
            <a:xfrm>
              <a:off x="527777" y="781878"/>
              <a:ext cx="9589179" cy="3087757"/>
              <a:chOff x="527777" y="781878"/>
              <a:chExt cx="9589179" cy="3087757"/>
            </a:xfrm>
          </p:grpSpPr>
          <p:sp>
            <p:nvSpPr>
              <p:cNvPr id="2" name="Rectangle 1"/>
              <p:cNvSpPr/>
              <p:nvPr/>
            </p:nvSpPr>
            <p:spPr>
              <a:xfrm>
                <a:off x="4956313" y="781878"/>
                <a:ext cx="1974574"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Implementation Activities</a:t>
                </a:r>
              </a:p>
            </p:txBody>
          </p:sp>
          <p:sp>
            <p:nvSpPr>
              <p:cNvPr id="7" name="Rectangle 6"/>
              <p:cNvSpPr/>
              <p:nvPr/>
            </p:nvSpPr>
            <p:spPr>
              <a:xfrm>
                <a:off x="527777" y="2797865"/>
                <a:ext cx="2102192" cy="107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Acquisition of Hardware, Software, and Services</a:t>
                </a:r>
              </a:p>
            </p:txBody>
          </p:sp>
          <p:sp>
            <p:nvSpPr>
              <p:cNvPr id="8" name="Rectangle 7"/>
              <p:cNvSpPr/>
              <p:nvPr/>
            </p:nvSpPr>
            <p:spPr>
              <a:xfrm>
                <a:off x="2981739" y="2797865"/>
                <a:ext cx="1827553" cy="107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Software Development or Modification</a:t>
                </a:r>
              </a:p>
            </p:txBody>
          </p:sp>
          <p:sp>
            <p:nvSpPr>
              <p:cNvPr id="9" name="Rectangle 8"/>
              <p:cNvSpPr/>
              <p:nvPr/>
            </p:nvSpPr>
            <p:spPr>
              <a:xfrm>
                <a:off x="5161062" y="2797865"/>
                <a:ext cx="1619680" cy="107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Data </a:t>
                </a:r>
              </a:p>
              <a:p>
                <a:pPr algn="ctr"/>
                <a:r>
                  <a:rPr lang="en-US" sz="1050" dirty="0"/>
                  <a:t>Conversion</a:t>
                </a:r>
              </a:p>
            </p:txBody>
          </p:sp>
          <p:sp>
            <p:nvSpPr>
              <p:cNvPr id="10" name="Rectangle 9"/>
              <p:cNvSpPr/>
              <p:nvPr/>
            </p:nvSpPr>
            <p:spPr>
              <a:xfrm>
                <a:off x="7132512" y="2797865"/>
                <a:ext cx="1755116" cy="10717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End-User</a:t>
                </a:r>
              </a:p>
              <a:p>
                <a:pPr algn="ctr"/>
                <a:r>
                  <a:rPr lang="en-US" sz="1050" dirty="0"/>
                  <a:t>Training</a:t>
                </a:r>
              </a:p>
            </p:txBody>
          </p:sp>
          <p:cxnSp>
            <p:nvCxnSpPr>
              <p:cNvPr id="13" name="Straight Connector 12"/>
              <p:cNvCxnSpPr>
                <a:stCxn id="2" idx="2"/>
              </p:cNvCxnSpPr>
              <p:nvPr/>
            </p:nvCxnSpPr>
            <p:spPr>
              <a:xfrm>
                <a:off x="5943600" y="2001078"/>
                <a:ext cx="6626" cy="940905"/>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cxnSpLocks/>
              </p:cNvCxnSpPr>
              <p:nvPr/>
            </p:nvCxnSpPr>
            <p:spPr>
              <a:xfrm>
                <a:off x="1593620" y="2332383"/>
                <a:ext cx="8517789"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a:cxnSpLocks/>
                <a:stCxn id="7" idx="0"/>
              </p:cNvCxnSpPr>
              <p:nvPr/>
            </p:nvCxnSpPr>
            <p:spPr>
              <a:xfrm flipV="1">
                <a:off x="1578873" y="2332383"/>
                <a:ext cx="14747" cy="46548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a:stCxn id="8" idx="0"/>
              </p:cNvCxnSpPr>
              <p:nvPr/>
            </p:nvCxnSpPr>
            <p:spPr>
              <a:xfrm flipH="1" flipV="1">
                <a:off x="3882887" y="2332383"/>
                <a:ext cx="12629" cy="465482"/>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a:stCxn id="10" idx="0"/>
              </p:cNvCxnSpPr>
              <p:nvPr/>
            </p:nvCxnSpPr>
            <p:spPr>
              <a:xfrm flipV="1">
                <a:off x="8010070" y="2332383"/>
                <a:ext cx="7495" cy="465482"/>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a:stCxn id="11" idx="0"/>
              </p:cNvCxnSpPr>
              <p:nvPr/>
            </p:nvCxnSpPr>
            <p:spPr>
              <a:xfrm flipH="1" flipV="1">
                <a:off x="10111409" y="2332383"/>
                <a:ext cx="5547" cy="465481"/>
              </a:xfrm>
              <a:prstGeom prst="line">
                <a:avLst/>
              </a:prstGeom>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576973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783" y="1402511"/>
            <a:ext cx="7909362" cy="4902994"/>
          </a:xfrm>
        </p:spPr>
        <p:txBody>
          <a:bodyPr>
            <a:normAutofit/>
          </a:bodyPr>
          <a:lstStyle/>
          <a:p>
            <a:pPr algn="just">
              <a:lnSpc>
                <a:spcPct val="150000"/>
              </a:lnSpc>
            </a:pPr>
            <a:r>
              <a:rPr lang="en-US" sz="1800" dirty="0">
                <a:solidFill>
                  <a:schemeClr val="tx1"/>
                </a:solidFill>
              </a:rPr>
              <a:t>In the implementation phase of the SDLC, acquisition of the hardware and software necessary to implement the new system is very important.</a:t>
            </a:r>
          </a:p>
          <a:p>
            <a:pPr algn="just">
              <a:lnSpc>
                <a:spcPct val="150000"/>
              </a:lnSpc>
            </a:pPr>
            <a:r>
              <a:rPr lang="en-US" sz="1800" dirty="0">
                <a:solidFill>
                  <a:schemeClr val="tx1"/>
                </a:solidFill>
              </a:rPr>
              <a:t>Minimum acceptable physical and performance characteristics for all hardware and software requirements are established. </a:t>
            </a:r>
          </a:p>
          <a:p>
            <a:pPr algn="just">
              <a:lnSpc>
                <a:spcPct val="150000"/>
              </a:lnSpc>
            </a:pPr>
            <a:r>
              <a:rPr lang="en-US" sz="3000" dirty="0">
                <a:solidFill>
                  <a:schemeClr val="tx1"/>
                </a:solidFill>
              </a:rPr>
              <a:t>Hardware Evaluation Factors</a:t>
            </a:r>
          </a:p>
          <a:p>
            <a:pPr lvl="1" algn="just">
              <a:lnSpc>
                <a:spcPct val="150000"/>
              </a:lnSpc>
            </a:pPr>
            <a:r>
              <a:rPr lang="en-US" sz="1800" dirty="0">
                <a:solidFill>
                  <a:schemeClr val="tx1"/>
                </a:solidFill>
              </a:rPr>
              <a:t>Performance			</a:t>
            </a:r>
          </a:p>
          <a:p>
            <a:pPr lvl="1" algn="just">
              <a:lnSpc>
                <a:spcPct val="150000"/>
              </a:lnSpc>
            </a:pPr>
            <a:r>
              <a:rPr lang="en-US" sz="1800" dirty="0">
                <a:solidFill>
                  <a:schemeClr val="tx1"/>
                </a:solidFill>
              </a:rPr>
              <a:t>Cost</a:t>
            </a:r>
          </a:p>
          <a:p>
            <a:pPr lvl="1" algn="just">
              <a:lnSpc>
                <a:spcPct val="150000"/>
              </a:lnSpc>
            </a:pPr>
            <a:r>
              <a:rPr lang="en-US" sz="1800" dirty="0">
                <a:solidFill>
                  <a:schemeClr val="tx1"/>
                </a:solidFill>
              </a:rPr>
              <a:t>Reliability</a:t>
            </a:r>
          </a:p>
          <a:p>
            <a:pPr lvl="1" algn="just">
              <a:lnSpc>
                <a:spcPct val="150000"/>
              </a:lnSpc>
            </a:pPr>
            <a:r>
              <a:rPr lang="en-US" sz="1800" dirty="0">
                <a:solidFill>
                  <a:schemeClr val="tx1"/>
                </a:solidFill>
              </a:rPr>
              <a:t>Compatibility</a:t>
            </a: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27</a:t>
            </a:fld>
            <a:endParaRPr lang="en-US" dirty="0"/>
          </a:p>
        </p:txBody>
      </p:sp>
      <p:sp>
        <p:nvSpPr>
          <p:cNvPr id="7" name="TextBox 6"/>
          <p:cNvSpPr txBox="1"/>
          <p:nvPr/>
        </p:nvSpPr>
        <p:spPr>
          <a:xfrm>
            <a:off x="2777253" y="3854009"/>
            <a:ext cx="2301643" cy="2118529"/>
          </a:xfrm>
          <a:prstGeom prst="rect">
            <a:avLst/>
          </a:prstGeom>
          <a:noFill/>
        </p:spPr>
        <p:txBody>
          <a:bodyPr wrap="square" rtlCol="0">
            <a:spAutoFit/>
          </a:bodyPr>
          <a:lstStyle/>
          <a:p>
            <a:pPr marL="214313" indent="-214313">
              <a:lnSpc>
                <a:spcPct val="150000"/>
              </a:lnSpc>
              <a:buClr>
                <a:schemeClr val="accent1">
                  <a:lumMod val="75000"/>
                </a:schemeClr>
              </a:buClr>
              <a:buFont typeface="Arial" panose="020B0604020202020204" pitchFamily="34" charset="0"/>
              <a:buChar char="•"/>
            </a:pPr>
            <a:r>
              <a:rPr lang="en-US" sz="1800" dirty="0"/>
              <a:t>Technology</a:t>
            </a:r>
          </a:p>
          <a:p>
            <a:pPr marL="214313" indent="-214313">
              <a:lnSpc>
                <a:spcPct val="150000"/>
              </a:lnSpc>
              <a:buClr>
                <a:schemeClr val="accent1">
                  <a:lumMod val="75000"/>
                </a:schemeClr>
              </a:buClr>
              <a:buFont typeface="Arial" panose="020B0604020202020204" pitchFamily="34" charset="0"/>
              <a:buChar char="•"/>
            </a:pPr>
            <a:r>
              <a:rPr lang="en-US" sz="1800" dirty="0"/>
              <a:t>Ergonomics</a:t>
            </a:r>
          </a:p>
          <a:p>
            <a:pPr marL="214313" indent="-214313">
              <a:lnSpc>
                <a:spcPct val="150000"/>
              </a:lnSpc>
              <a:buClr>
                <a:schemeClr val="accent1">
                  <a:lumMod val="75000"/>
                </a:schemeClr>
              </a:buClr>
              <a:buFont typeface="Arial" panose="020B0604020202020204" pitchFamily="34" charset="0"/>
              <a:buChar char="•"/>
            </a:pPr>
            <a:r>
              <a:rPr lang="en-US" sz="1800" dirty="0"/>
              <a:t>Connectivity</a:t>
            </a:r>
          </a:p>
          <a:p>
            <a:pPr marL="214313" indent="-214313">
              <a:lnSpc>
                <a:spcPct val="150000"/>
              </a:lnSpc>
              <a:buClr>
                <a:schemeClr val="accent1">
                  <a:lumMod val="75000"/>
                </a:schemeClr>
              </a:buClr>
              <a:buFont typeface="Arial" panose="020B0604020202020204" pitchFamily="34" charset="0"/>
              <a:buChar char="•"/>
            </a:pPr>
            <a:r>
              <a:rPr lang="en-US" sz="1800" dirty="0"/>
              <a:t>Scalability</a:t>
            </a:r>
          </a:p>
          <a:p>
            <a:pPr marL="214313" indent="-214313">
              <a:lnSpc>
                <a:spcPct val="150000"/>
              </a:lnSpc>
              <a:buClr>
                <a:schemeClr val="accent1">
                  <a:lumMod val="75000"/>
                </a:schemeClr>
              </a:buClr>
              <a:buFont typeface="Arial" panose="020B0604020202020204" pitchFamily="34" charset="0"/>
              <a:buChar char="•"/>
            </a:pPr>
            <a:endParaRPr lang="en-US" sz="1800" dirty="0"/>
          </a:p>
        </p:txBody>
      </p:sp>
      <p:sp>
        <p:nvSpPr>
          <p:cNvPr id="8" name="TextBox 7"/>
          <p:cNvSpPr txBox="1"/>
          <p:nvPr/>
        </p:nvSpPr>
        <p:spPr>
          <a:xfrm>
            <a:off x="4868706" y="3854008"/>
            <a:ext cx="2301643" cy="872034"/>
          </a:xfrm>
          <a:prstGeom prst="rect">
            <a:avLst/>
          </a:prstGeom>
          <a:noFill/>
        </p:spPr>
        <p:txBody>
          <a:bodyPr wrap="square" rtlCol="0">
            <a:spAutoFit/>
          </a:bodyPr>
          <a:lstStyle/>
          <a:p>
            <a:pPr marL="214313" indent="-214313">
              <a:lnSpc>
                <a:spcPct val="150000"/>
              </a:lnSpc>
              <a:buClr>
                <a:schemeClr val="accent1">
                  <a:lumMod val="75000"/>
                </a:schemeClr>
              </a:buClr>
              <a:buFont typeface="Arial" panose="020B0604020202020204" pitchFamily="34" charset="0"/>
              <a:buChar char="•"/>
            </a:pPr>
            <a:r>
              <a:rPr lang="en-US" sz="1800" dirty="0"/>
              <a:t>Software</a:t>
            </a:r>
          </a:p>
          <a:p>
            <a:pPr marL="214313" indent="-214313">
              <a:lnSpc>
                <a:spcPct val="150000"/>
              </a:lnSpc>
              <a:buClr>
                <a:schemeClr val="accent1">
                  <a:lumMod val="75000"/>
                </a:schemeClr>
              </a:buClr>
              <a:buFont typeface="Arial" panose="020B0604020202020204" pitchFamily="34" charset="0"/>
              <a:buChar char="•"/>
            </a:pPr>
            <a:r>
              <a:rPr lang="en-US" sz="1800" dirty="0"/>
              <a:t>Support</a:t>
            </a:r>
          </a:p>
        </p:txBody>
      </p:sp>
    </p:spTree>
    <p:extLst>
      <p:ext uri="{BB962C8B-B14F-4D97-AF65-F5344CB8AC3E}">
        <p14:creationId xmlns:p14="http://schemas.microsoft.com/office/powerpoint/2010/main" val="1518194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17685"/>
            <a:ext cx="7790092" cy="4902994"/>
          </a:xfrm>
        </p:spPr>
        <p:txBody>
          <a:bodyPr>
            <a:normAutofit/>
          </a:bodyPr>
          <a:lstStyle/>
          <a:p>
            <a:r>
              <a:rPr lang="en-US" sz="3000" b="1" dirty="0">
                <a:solidFill>
                  <a:schemeClr val="tx1"/>
                </a:solidFill>
              </a:rPr>
              <a:t>Software Evaluation Factors</a:t>
            </a:r>
          </a:p>
          <a:p>
            <a:pPr lvl="1">
              <a:lnSpc>
                <a:spcPct val="150000"/>
              </a:lnSpc>
            </a:pPr>
            <a:r>
              <a:rPr lang="en-US" sz="2400" dirty="0">
                <a:solidFill>
                  <a:schemeClr val="tx1"/>
                </a:solidFill>
              </a:rPr>
              <a:t>Quality</a:t>
            </a:r>
          </a:p>
          <a:p>
            <a:pPr lvl="1">
              <a:lnSpc>
                <a:spcPct val="150000"/>
              </a:lnSpc>
            </a:pPr>
            <a:r>
              <a:rPr lang="en-US" sz="2400" dirty="0">
                <a:solidFill>
                  <a:schemeClr val="tx1"/>
                </a:solidFill>
              </a:rPr>
              <a:t>Efficiency</a:t>
            </a:r>
          </a:p>
          <a:p>
            <a:pPr lvl="1">
              <a:lnSpc>
                <a:spcPct val="150000"/>
              </a:lnSpc>
            </a:pPr>
            <a:r>
              <a:rPr lang="en-US" sz="2400" dirty="0">
                <a:solidFill>
                  <a:schemeClr val="tx1"/>
                </a:solidFill>
              </a:rPr>
              <a:t>Flexibility</a:t>
            </a:r>
          </a:p>
          <a:p>
            <a:pPr lvl="1">
              <a:lnSpc>
                <a:spcPct val="150000"/>
              </a:lnSpc>
            </a:pPr>
            <a:r>
              <a:rPr lang="en-US" sz="2400" dirty="0">
                <a:solidFill>
                  <a:schemeClr val="tx1"/>
                </a:solidFill>
              </a:rPr>
              <a:t>Security</a:t>
            </a:r>
          </a:p>
          <a:p>
            <a:pPr lvl="1">
              <a:lnSpc>
                <a:spcPct val="150000"/>
              </a:lnSpc>
            </a:pPr>
            <a:r>
              <a:rPr lang="en-US" sz="2400" dirty="0">
                <a:solidFill>
                  <a:schemeClr val="tx1"/>
                </a:solidFill>
              </a:rPr>
              <a:t>Connectivity</a:t>
            </a: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28</a:t>
            </a:fld>
            <a:endParaRPr lang="en-US" dirty="0"/>
          </a:p>
        </p:txBody>
      </p:sp>
      <p:sp>
        <p:nvSpPr>
          <p:cNvPr id="7" name="TextBox 6"/>
          <p:cNvSpPr txBox="1"/>
          <p:nvPr/>
        </p:nvSpPr>
        <p:spPr>
          <a:xfrm>
            <a:off x="3065487" y="1384079"/>
            <a:ext cx="3103084" cy="1685846"/>
          </a:xfrm>
          <a:prstGeom prst="rect">
            <a:avLst/>
          </a:prstGeom>
          <a:noFill/>
        </p:spPr>
        <p:txBody>
          <a:bodyPr wrap="square" rtlCol="0">
            <a:spAutoFit/>
          </a:bodyPr>
          <a:lstStyle/>
          <a:p>
            <a:pPr marL="214313" indent="-214313">
              <a:lnSpc>
                <a:spcPct val="150000"/>
              </a:lnSpc>
              <a:buClr>
                <a:schemeClr val="accent1">
                  <a:lumMod val="75000"/>
                </a:schemeClr>
              </a:buClr>
              <a:buFont typeface="Arial" panose="020B0604020202020204" pitchFamily="34" charset="0"/>
              <a:buChar char="•"/>
            </a:pPr>
            <a:r>
              <a:rPr lang="en-US" sz="2400" dirty="0"/>
              <a:t>Maintenance</a:t>
            </a:r>
          </a:p>
          <a:p>
            <a:pPr marL="214313" indent="-214313">
              <a:lnSpc>
                <a:spcPct val="150000"/>
              </a:lnSpc>
              <a:buClr>
                <a:schemeClr val="accent1">
                  <a:lumMod val="75000"/>
                </a:schemeClr>
              </a:buClr>
              <a:buFont typeface="Arial" panose="020B0604020202020204" pitchFamily="34" charset="0"/>
              <a:buChar char="•"/>
            </a:pPr>
            <a:r>
              <a:rPr lang="en-US" sz="2400" dirty="0"/>
              <a:t>Documentation</a:t>
            </a:r>
          </a:p>
          <a:p>
            <a:pPr>
              <a:lnSpc>
                <a:spcPct val="150000"/>
              </a:lnSpc>
              <a:buClr>
                <a:schemeClr val="accent1">
                  <a:lumMod val="75000"/>
                </a:schemeClr>
              </a:buClr>
            </a:pPr>
            <a:endParaRPr lang="en-US" sz="2400" dirty="0"/>
          </a:p>
        </p:txBody>
      </p:sp>
    </p:spTree>
    <p:extLst>
      <p:ext uri="{BB962C8B-B14F-4D97-AF65-F5344CB8AC3E}">
        <p14:creationId xmlns:p14="http://schemas.microsoft.com/office/powerpoint/2010/main" val="4132532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9142" y="1599464"/>
            <a:ext cx="7899423" cy="4332230"/>
          </a:xfrm>
        </p:spPr>
        <p:txBody>
          <a:bodyPr>
            <a:normAutofit/>
          </a:bodyPr>
          <a:lstStyle/>
          <a:p>
            <a:pPr algn="just">
              <a:lnSpc>
                <a:spcPct val="150000"/>
              </a:lnSpc>
            </a:pPr>
            <a:r>
              <a:rPr lang="en-US" sz="1800" b="1" dirty="0">
                <a:solidFill>
                  <a:schemeClr val="tx1"/>
                </a:solidFill>
              </a:rPr>
              <a:t>Testing</a:t>
            </a:r>
            <a:r>
              <a:rPr lang="en-US" sz="1800" dirty="0">
                <a:solidFill>
                  <a:schemeClr val="tx1"/>
                </a:solidFill>
              </a:rPr>
              <a:t> :- involve testing and debugging software, testing performance, testing hardware.</a:t>
            </a:r>
          </a:p>
          <a:p>
            <a:pPr algn="just">
              <a:lnSpc>
                <a:spcPct val="150000"/>
              </a:lnSpc>
            </a:pPr>
            <a:r>
              <a:rPr lang="en-US" sz="1800" b="1" dirty="0">
                <a:solidFill>
                  <a:schemeClr val="tx1"/>
                </a:solidFill>
              </a:rPr>
              <a:t>Data conversion </a:t>
            </a:r>
            <a:r>
              <a:rPr lang="en-US" sz="1800" dirty="0">
                <a:solidFill>
                  <a:schemeClr val="tx1"/>
                </a:solidFill>
              </a:rPr>
              <a:t>:- Implementing new information system involves replacing a pervious system and its software and databases.</a:t>
            </a:r>
          </a:p>
          <a:p>
            <a:pPr algn="just">
              <a:lnSpc>
                <a:spcPct val="150000"/>
              </a:lnSpc>
            </a:pPr>
            <a:r>
              <a:rPr lang="en-US" sz="1800" b="1" dirty="0">
                <a:solidFill>
                  <a:schemeClr val="tx1"/>
                </a:solidFill>
              </a:rPr>
              <a:t>Documentation</a:t>
            </a:r>
            <a:r>
              <a:rPr lang="en-US" sz="1800" dirty="0">
                <a:solidFill>
                  <a:schemeClr val="tx1"/>
                </a:solidFill>
              </a:rPr>
              <a:t> :- this is an important part of the implementation process. Sample data entry display screens, forms, and reports are good examples of documentation.</a:t>
            </a:r>
          </a:p>
          <a:p>
            <a:pPr algn="just">
              <a:lnSpc>
                <a:spcPct val="150000"/>
              </a:lnSpc>
            </a:pPr>
            <a:r>
              <a:rPr lang="en-US" sz="1800" b="1" dirty="0">
                <a:solidFill>
                  <a:schemeClr val="tx1"/>
                </a:solidFill>
              </a:rPr>
              <a:t>Training</a:t>
            </a:r>
            <a:r>
              <a:rPr lang="en-US" sz="1800" dirty="0">
                <a:solidFill>
                  <a:schemeClr val="tx1"/>
                </a:solidFill>
              </a:rPr>
              <a:t> :- involves only activities like data entry, or it may also involve all aspects of a new system use.</a:t>
            </a:r>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29</a:t>
            </a:fld>
            <a:endParaRPr lang="en-US" dirty="0"/>
          </a:p>
        </p:txBody>
      </p:sp>
      <p:sp>
        <p:nvSpPr>
          <p:cNvPr id="7" name="Title 1"/>
          <p:cNvSpPr>
            <a:spLocks noGrp="1"/>
          </p:cNvSpPr>
          <p:nvPr>
            <p:ph type="title"/>
          </p:nvPr>
        </p:nvSpPr>
        <p:spPr>
          <a:xfrm>
            <a:off x="457200" y="531984"/>
            <a:ext cx="7269480" cy="642824"/>
          </a:xfrm>
        </p:spPr>
        <p:txBody>
          <a:bodyPr/>
          <a:lstStyle/>
          <a:p>
            <a:r>
              <a:rPr lang="en-US" dirty="0"/>
              <a:t>Other Implementation Activities</a:t>
            </a:r>
          </a:p>
        </p:txBody>
      </p:sp>
    </p:spTree>
    <p:extLst>
      <p:ext uri="{BB962C8B-B14F-4D97-AF65-F5344CB8AC3E}">
        <p14:creationId xmlns:p14="http://schemas.microsoft.com/office/powerpoint/2010/main" val="1396086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883" y="408809"/>
            <a:ext cx="7269480" cy="662204"/>
          </a:xfrm>
        </p:spPr>
        <p:txBody>
          <a:bodyPr/>
          <a:lstStyle/>
          <a:p>
            <a:r>
              <a:rPr lang="en-US" dirty="0"/>
              <a:t>System conversion strategies</a:t>
            </a:r>
          </a:p>
        </p:txBody>
      </p:sp>
      <p:pic>
        <p:nvPicPr>
          <p:cNvPr id="8" name="Content Placeholder 7"/>
          <p:cNvPicPr>
            <a:picLocks noGrp="1" noChangeAspect="1"/>
          </p:cNvPicPr>
          <p:nvPr>
            <p:ph idx="1"/>
          </p:nvPr>
        </p:nvPicPr>
        <p:blipFill>
          <a:blip r:embed="rId3"/>
          <a:stretch>
            <a:fillRect/>
          </a:stretch>
        </p:blipFill>
        <p:spPr>
          <a:xfrm>
            <a:off x="2230508" y="1737308"/>
            <a:ext cx="4432231" cy="3971739"/>
          </a:xfrm>
        </p:spPr>
      </p:pic>
      <p:sp>
        <p:nvSpPr>
          <p:cNvPr id="6" name="Slide Number Placeholder 5"/>
          <p:cNvSpPr>
            <a:spLocks noGrp="1"/>
          </p:cNvSpPr>
          <p:nvPr>
            <p:ph type="sldNum" sz="quarter" idx="12"/>
          </p:nvPr>
        </p:nvSpPr>
        <p:spPr/>
        <p:txBody>
          <a:bodyPr>
            <a:normAutofit/>
          </a:bodyPr>
          <a:lstStyle/>
          <a:p>
            <a:fld id="{4FAB73BC-B049-4115-A692-8D63A059BFB8}" type="slidenum">
              <a:rPr lang="en-US" smtClean="0"/>
              <a:t>30</a:t>
            </a:fld>
            <a:endParaRPr lang="en-US" dirty="0"/>
          </a:p>
        </p:txBody>
      </p:sp>
      <p:sp>
        <p:nvSpPr>
          <p:cNvPr id="9" name="TextBox 8"/>
          <p:cNvSpPr txBox="1"/>
          <p:nvPr/>
        </p:nvSpPr>
        <p:spPr>
          <a:xfrm>
            <a:off x="5907365" y="5432048"/>
            <a:ext cx="755374" cy="253916"/>
          </a:xfrm>
          <a:prstGeom prst="rect">
            <a:avLst/>
          </a:prstGeom>
          <a:noFill/>
        </p:spPr>
        <p:txBody>
          <a:bodyPr wrap="square" rtlCol="0">
            <a:spAutoFit/>
          </a:bodyPr>
          <a:lstStyle/>
          <a:p>
            <a:r>
              <a:rPr lang="en-US" sz="1050" dirty="0"/>
              <a:t>(Direct)</a:t>
            </a:r>
          </a:p>
        </p:txBody>
      </p:sp>
    </p:spTree>
    <p:extLst>
      <p:ext uri="{BB962C8B-B14F-4D97-AF65-F5344CB8AC3E}">
        <p14:creationId xmlns:p14="http://schemas.microsoft.com/office/powerpoint/2010/main" val="3160686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632" y="402384"/>
            <a:ext cx="7269480" cy="1047843"/>
          </a:xfrm>
        </p:spPr>
        <p:txBody>
          <a:bodyPr/>
          <a:lstStyle/>
          <a:p>
            <a:r>
              <a:rPr lang="en-US" dirty="0"/>
              <a:t>Systems Maintenance Stage</a:t>
            </a:r>
            <a:br>
              <a:rPr lang="en-US" dirty="0"/>
            </a:br>
            <a:endParaRPr lang="en-US" dirty="0"/>
          </a:p>
        </p:txBody>
      </p:sp>
      <p:sp>
        <p:nvSpPr>
          <p:cNvPr id="3" name="Content Placeholder 2"/>
          <p:cNvSpPr>
            <a:spLocks noGrp="1"/>
          </p:cNvSpPr>
          <p:nvPr>
            <p:ph idx="1"/>
          </p:nvPr>
        </p:nvSpPr>
        <p:spPr>
          <a:xfrm>
            <a:off x="399752" y="1453230"/>
            <a:ext cx="7978935" cy="4478464"/>
          </a:xfrm>
        </p:spPr>
        <p:txBody>
          <a:bodyPr>
            <a:normAutofit/>
          </a:bodyPr>
          <a:lstStyle/>
          <a:p>
            <a:pPr lvl="1" algn="just">
              <a:lnSpc>
                <a:spcPct val="150000"/>
              </a:lnSpc>
            </a:pPr>
            <a:r>
              <a:rPr lang="en-US" sz="2400" dirty="0">
                <a:solidFill>
                  <a:schemeClr val="tx1"/>
                </a:solidFill>
              </a:rPr>
              <a:t>Use a postimplementation review process to monitor, evaluate, and modify the business system as needed</a:t>
            </a:r>
          </a:p>
          <a:p>
            <a:pPr lvl="1" algn="just">
              <a:lnSpc>
                <a:spcPct val="150000"/>
              </a:lnSpc>
            </a:pPr>
            <a:r>
              <a:rPr lang="en-US" sz="2400" dirty="0">
                <a:solidFill>
                  <a:schemeClr val="tx1"/>
                </a:solidFill>
              </a:rPr>
              <a:t>In some ways, once the maintenance phase begins, the life cycle starts over again.</a:t>
            </a:r>
          </a:p>
          <a:p>
            <a:pPr lvl="1" algn="just">
              <a:lnSpc>
                <a:spcPct val="150000"/>
              </a:lnSpc>
            </a:pPr>
            <a:r>
              <a:rPr lang="en-US" sz="2400" dirty="0">
                <a:solidFill>
                  <a:schemeClr val="tx1"/>
                </a:solidFill>
              </a:rPr>
              <a:t>New requirements are articulated, analyzed, designed, checked for feasibility, tested, and implemented.</a:t>
            </a:r>
          </a:p>
          <a:p>
            <a:endParaRPr lang="en-US" sz="2400" dirty="0">
              <a:solidFill>
                <a:schemeClr val="tx1"/>
              </a:solidFill>
            </a:endParaRP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31</a:t>
            </a:fld>
            <a:endParaRPr lang="en-US" dirty="0"/>
          </a:p>
        </p:txBody>
      </p:sp>
    </p:spTree>
    <p:extLst>
      <p:ext uri="{BB962C8B-B14F-4D97-AF65-F5344CB8AC3E}">
        <p14:creationId xmlns:p14="http://schemas.microsoft.com/office/powerpoint/2010/main" val="1284422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386" y="1028700"/>
            <a:ext cx="7790092" cy="4688785"/>
          </a:xfrm>
        </p:spPr>
        <p:txBody>
          <a:bodyPr>
            <a:normAutofit/>
          </a:bodyPr>
          <a:lstStyle/>
          <a:p>
            <a:r>
              <a:rPr lang="en-US" sz="1800" dirty="0">
                <a:solidFill>
                  <a:schemeClr val="tx1"/>
                </a:solidFill>
              </a:rPr>
              <a:t>Four basic categories of maintenance can be identified</a:t>
            </a:r>
          </a:p>
          <a:p>
            <a:pPr marL="591503" lvl="1" indent="-385763">
              <a:lnSpc>
                <a:spcPct val="200000"/>
              </a:lnSpc>
              <a:buFont typeface="+mj-lt"/>
              <a:buAutoNum type="romanLcPeriod"/>
            </a:pPr>
            <a:r>
              <a:rPr lang="en-US" sz="1800" b="1" dirty="0">
                <a:solidFill>
                  <a:schemeClr val="tx1"/>
                </a:solidFill>
              </a:rPr>
              <a:t>Corrective </a:t>
            </a:r>
            <a:r>
              <a:rPr lang="en-US" sz="1800" dirty="0">
                <a:solidFill>
                  <a:schemeClr val="tx1"/>
                </a:solidFill>
              </a:rPr>
              <a:t>:- Fixing bugs and logic errors</a:t>
            </a:r>
          </a:p>
          <a:p>
            <a:pPr marL="591503" lvl="1" indent="-385763">
              <a:lnSpc>
                <a:spcPct val="200000"/>
              </a:lnSpc>
              <a:buFont typeface="+mj-lt"/>
              <a:buAutoNum type="romanLcPeriod"/>
            </a:pPr>
            <a:r>
              <a:rPr lang="en-US" sz="1800" b="1" dirty="0">
                <a:solidFill>
                  <a:schemeClr val="tx1"/>
                </a:solidFill>
              </a:rPr>
              <a:t>Adaptive</a:t>
            </a:r>
            <a:r>
              <a:rPr lang="en-US" sz="1800" dirty="0">
                <a:solidFill>
                  <a:schemeClr val="tx1"/>
                </a:solidFill>
              </a:rPr>
              <a:t> :- Changes to new business or operating environment</a:t>
            </a:r>
          </a:p>
          <a:p>
            <a:pPr marL="591503" lvl="1" indent="-385763">
              <a:lnSpc>
                <a:spcPct val="200000"/>
              </a:lnSpc>
              <a:buFont typeface="+mj-lt"/>
              <a:buAutoNum type="romanLcPeriod"/>
            </a:pPr>
            <a:r>
              <a:rPr lang="en-US" sz="1800" b="1" dirty="0">
                <a:solidFill>
                  <a:schemeClr val="tx1"/>
                </a:solidFill>
              </a:rPr>
              <a:t>Perfective</a:t>
            </a:r>
            <a:r>
              <a:rPr lang="en-US" sz="1800" dirty="0">
                <a:solidFill>
                  <a:schemeClr val="tx1"/>
                </a:solidFill>
              </a:rPr>
              <a:t> :- Improve the performance of a function or interface</a:t>
            </a:r>
          </a:p>
          <a:p>
            <a:pPr marL="591503" lvl="1" indent="-385763">
              <a:lnSpc>
                <a:spcPct val="200000"/>
              </a:lnSpc>
              <a:buFont typeface="+mj-lt"/>
              <a:buAutoNum type="romanLcPeriod"/>
            </a:pPr>
            <a:r>
              <a:rPr lang="en-US" sz="1800" b="1" dirty="0">
                <a:solidFill>
                  <a:schemeClr val="tx1"/>
                </a:solidFill>
              </a:rPr>
              <a:t>Preventive</a:t>
            </a:r>
            <a:r>
              <a:rPr lang="en-US" sz="1800" dirty="0">
                <a:solidFill>
                  <a:schemeClr val="tx1"/>
                </a:solidFill>
              </a:rPr>
              <a:t> :- Reduce chances of a system failure or extended the capacity of current system.</a:t>
            </a:r>
          </a:p>
          <a:p>
            <a:pPr marL="591503" lvl="1" indent="-385763">
              <a:buFont typeface="+mj-lt"/>
              <a:buAutoNum type="romanLcPeriod"/>
            </a:pPr>
            <a:endParaRPr lang="en-US" sz="1800" dirty="0">
              <a:solidFill>
                <a:schemeClr val="tx1"/>
              </a:solidFill>
            </a:endParaRPr>
          </a:p>
        </p:txBody>
      </p:sp>
      <p:sp>
        <p:nvSpPr>
          <p:cNvPr id="4" name="Date Placeholder 3"/>
          <p:cNvSpPr>
            <a:spLocks noGrp="1"/>
          </p:cNvSpPr>
          <p:nvPr>
            <p:ph type="dt" sz="half" idx="10"/>
          </p:nvPr>
        </p:nvSpPr>
        <p:spPr/>
        <p:txBody>
          <a:bodyPr/>
          <a:lstStyle/>
          <a:p>
            <a:r>
              <a:rPr lang="en-US"/>
              <a:t>2020-04-28</a:t>
            </a:r>
            <a:endParaRPr lang="en-US" dirty="0"/>
          </a:p>
        </p:txBody>
      </p:sp>
      <p:sp>
        <p:nvSpPr>
          <p:cNvPr id="5" name="Footer Placeholder 4"/>
          <p:cNvSpPr>
            <a:spLocks noGrp="1"/>
          </p:cNvSpPr>
          <p:nvPr>
            <p:ph type="ftr" sz="quarter" idx="11"/>
          </p:nvPr>
        </p:nvSpPr>
        <p:spPr/>
        <p:txBody>
          <a:bodyPr/>
          <a:lstStyle/>
          <a:p>
            <a:r>
              <a:rPr lang="en-US"/>
              <a:t>Information Technology Concept 1022</a:t>
            </a:r>
            <a:endParaRPr lang="en-US" dirty="0"/>
          </a:p>
        </p:txBody>
      </p:sp>
      <p:sp>
        <p:nvSpPr>
          <p:cNvPr id="6" name="Slide Number Placeholder 5"/>
          <p:cNvSpPr>
            <a:spLocks noGrp="1"/>
          </p:cNvSpPr>
          <p:nvPr>
            <p:ph type="sldNum" sz="quarter" idx="12"/>
          </p:nvPr>
        </p:nvSpPr>
        <p:spPr/>
        <p:txBody>
          <a:bodyPr>
            <a:normAutofit/>
          </a:bodyPr>
          <a:lstStyle/>
          <a:p>
            <a:fld id="{4FAB73BC-B049-4115-A692-8D63A059BFB8}" type="slidenum">
              <a:rPr lang="en-US" smtClean="0"/>
              <a:t>32</a:t>
            </a:fld>
            <a:endParaRPr lang="en-US" dirty="0"/>
          </a:p>
        </p:txBody>
      </p:sp>
    </p:spTree>
    <p:extLst>
      <p:ext uri="{BB962C8B-B14F-4D97-AF65-F5344CB8AC3E}">
        <p14:creationId xmlns:p14="http://schemas.microsoft.com/office/powerpoint/2010/main" val="381249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Planning</a:t>
            </a:r>
            <a:endParaRPr/>
          </a:p>
        </p:txBody>
      </p:sp>
      <p:sp>
        <p:nvSpPr>
          <p:cNvPr id="144" name="Google Shape;144;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81000" algn="l" rtl="0">
              <a:spcBef>
                <a:spcPts val="0"/>
              </a:spcBef>
              <a:spcAft>
                <a:spcPts val="0"/>
              </a:spcAft>
              <a:buSzPts val="6000"/>
              <a:buChar char="▪"/>
            </a:pPr>
            <a:r>
              <a:rPr lang="en-US"/>
              <a:t>This phase is the fundamental process of understanding </a:t>
            </a:r>
            <a:r>
              <a:rPr lang="en-US" i="1">
                <a:solidFill>
                  <a:srgbClr val="0000FF"/>
                </a:solidFill>
              </a:rPr>
              <a:t>why</a:t>
            </a:r>
            <a:r>
              <a:rPr lang="en-US"/>
              <a:t> an information system should be built, and determining </a:t>
            </a:r>
            <a:r>
              <a:rPr lang="en-US" i="1">
                <a:solidFill>
                  <a:srgbClr val="0000FF"/>
                </a:solidFill>
              </a:rPr>
              <a:t>how</a:t>
            </a:r>
            <a:r>
              <a:rPr lang="en-US"/>
              <a:t> the project team will go about building it.</a:t>
            </a:r>
            <a:endParaRPr/>
          </a:p>
          <a:p>
            <a:pPr marL="342900" lvl="0" indent="0" algn="l" rtl="0">
              <a:spcBef>
                <a:spcPts val="0"/>
              </a:spcBef>
              <a:spcAft>
                <a:spcPts val="0"/>
              </a:spcAft>
              <a:buSzPts val="6000"/>
              <a:buNone/>
            </a:pPr>
            <a:endParaRPr/>
          </a:p>
        </p:txBody>
      </p:sp>
      <p:sp>
        <p:nvSpPr>
          <p:cNvPr id="145" name="Google Shape;145;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33</a:t>
            </a:fld>
            <a:endParaRPr sz="1200" b="0" i="0" u="none" strike="noStrike" cap="none">
              <a:solidFill>
                <a:srgbClr val="898989"/>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planning phase has two steps:</a:t>
            </a:r>
            <a:endParaRPr/>
          </a:p>
        </p:txBody>
      </p:sp>
      <p:sp>
        <p:nvSpPr>
          <p:cNvPr id="151" name="Google Shape;151;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742950" lvl="0" indent="-742950" algn="l" rtl="0">
              <a:spcBef>
                <a:spcPts val="0"/>
              </a:spcBef>
              <a:spcAft>
                <a:spcPts val="0"/>
              </a:spcAft>
              <a:buSzPts val="4650"/>
              <a:buFont typeface="Noto Sans Symbols"/>
              <a:buNone/>
            </a:pPr>
            <a:r>
              <a:rPr lang="en-US" sz="3100"/>
              <a:t>1. </a:t>
            </a:r>
            <a:r>
              <a:rPr lang="en-US" sz="3200"/>
              <a:t>During </a:t>
            </a:r>
            <a:r>
              <a:rPr lang="en-US" sz="3200" b="1">
                <a:solidFill>
                  <a:schemeClr val="hlink"/>
                </a:solidFill>
              </a:rPr>
              <a:t>project initiation</a:t>
            </a:r>
            <a:r>
              <a:rPr lang="en-US" sz="3200"/>
              <a:t>, the system’s business value to the organization is identified (How will it lower costs or increase revenues?).</a:t>
            </a:r>
            <a:endParaRPr/>
          </a:p>
          <a:p>
            <a:pPr marL="742950" lvl="0" indent="-742950" algn="l" rtl="0">
              <a:spcBef>
                <a:spcPts val="0"/>
              </a:spcBef>
              <a:spcAft>
                <a:spcPts val="0"/>
              </a:spcAft>
              <a:buSzPts val="4800"/>
              <a:buFont typeface="Noto Sans Symbols"/>
              <a:buNone/>
            </a:pPr>
            <a:r>
              <a:rPr lang="en-US" sz="3200"/>
              <a:t>2. During </a:t>
            </a:r>
            <a:r>
              <a:rPr lang="en-US" sz="3200" b="1">
                <a:solidFill>
                  <a:schemeClr val="hlink"/>
                </a:solidFill>
              </a:rPr>
              <a:t>project management</a:t>
            </a:r>
            <a:r>
              <a:rPr lang="en-US" sz="3200"/>
              <a:t>, the project manager creates a work plan, staffs the project, and puts techniques in place to help the project team control and direct the project through the entire SDLC.</a:t>
            </a:r>
            <a:endParaRPr/>
          </a:p>
          <a:p>
            <a:pPr marL="742950" lvl="0" indent="-438150" algn="l" rtl="0">
              <a:spcBef>
                <a:spcPts val="0"/>
              </a:spcBef>
              <a:spcAft>
                <a:spcPts val="0"/>
              </a:spcAft>
              <a:buSzPts val="4800"/>
              <a:buNone/>
            </a:pPr>
            <a:endParaRPr sz="3200"/>
          </a:p>
          <a:p>
            <a:pPr marL="742950" lvl="0" indent="-447675" algn="l" rtl="0">
              <a:lnSpc>
                <a:spcPct val="80000"/>
              </a:lnSpc>
              <a:spcBef>
                <a:spcPts val="0"/>
              </a:spcBef>
              <a:spcAft>
                <a:spcPts val="0"/>
              </a:spcAft>
              <a:buSzPts val="4650"/>
              <a:buNone/>
            </a:pPr>
            <a:endParaRPr sz="3100"/>
          </a:p>
        </p:txBody>
      </p:sp>
      <p:sp>
        <p:nvSpPr>
          <p:cNvPr id="152" name="Google Shape;15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34</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Analysis</a:t>
            </a:r>
            <a:endParaRPr/>
          </a:p>
        </p:txBody>
      </p:sp>
      <p:sp>
        <p:nvSpPr>
          <p:cNvPr id="158" name="Google Shape;158;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10000"/>
              </a:lnSpc>
              <a:spcBef>
                <a:spcPts val="0"/>
              </a:spcBef>
              <a:spcAft>
                <a:spcPts val="0"/>
              </a:spcAft>
              <a:buSzPct val="150000"/>
              <a:buChar char="▪"/>
            </a:pPr>
            <a:r>
              <a:rPr lang="en-US"/>
              <a:t>The analysis phase answers the questions of </a:t>
            </a:r>
            <a:r>
              <a:rPr lang="en-US" i="1">
                <a:solidFill>
                  <a:srgbClr val="0000FF"/>
                </a:solidFill>
              </a:rPr>
              <a:t>who</a:t>
            </a:r>
            <a:r>
              <a:rPr lang="en-US"/>
              <a:t> will use the system, </a:t>
            </a:r>
            <a:r>
              <a:rPr lang="en-US" i="1">
                <a:solidFill>
                  <a:srgbClr val="0000FF"/>
                </a:solidFill>
              </a:rPr>
              <a:t>what</a:t>
            </a:r>
            <a:r>
              <a:rPr lang="en-US" i="1">
                <a:solidFill>
                  <a:srgbClr val="00B0F0"/>
                </a:solidFill>
              </a:rPr>
              <a:t> </a:t>
            </a:r>
            <a:r>
              <a:rPr lang="en-US"/>
              <a:t>the system will do, and </a:t>
            </a:r>
            <a:r>
              <a:rPr lang="en-US" i="1">
                <a:solidFill>
                  <a:srgbClr val="0000FF"/>
                </a:solidFill>
              </a:rPr>
              <a:t>where</a:t>
            </a:r>
            <a:r>
              <a:rPr lang="en-US"/>
              <a:t> and </a:t>
            </a:r>
            <a:r>
              <a:rPr lang="en-US" i="1">
                <a:solidFill>
                  <a:srgbClr val="0000FF"/>
                </a:solidFill>
              </a:rPr>
              <a:t>when</a:t>
            </a:r>
            <a:r>
              <a:rPr lang="en-US" i="1">
                <a:solidFill>
                  <a:srgbClr val="00B0F0"/>
                </a:solidFill>
              </a:rPr>
              <a:t> </a:t>
            </a:r>
            <a:r>
              <a:rPr lang="en-US"/>
              <a:t>it will be used.</a:t>
            </a:r>
            <a:endParaRPr/>
          </a:p>
          <a:p>
            <a:pPr marL="342900" lvl="0" indent="-342900" algn="l" rtl="0">
              <a:lnSpc>
                <a:spcPct val="110000"/>
              </a:lnSpc>
              <a:spcBef>
                <a:spcPts val="0"/>
              </a:spcBef>
              <a:spcAft>
                <a:spcPts val="0"/>
              </a:spcAft>
              <a:buSzPct val="150000"/>
              <a:buChar char="▪"/>
            </a:pPr>
            <a:r>
              <a:rPr lang="en-US"/>
              <a:t>During this phase the project team investigates any current system(s), identifies improvement opportunities, and develops a concept for the new system.</a:t>
            </a:r>
            <a:endParaRPr/>
          </a:p>
        </p:txBody>
      </p:sp>
      <p:sp>
        <p:nvSpPr>
          <p:cNvPr id="159" name="Google Shape;15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35</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The analysis phase has three steps:</a:t>
            </a:r>
            <a:endParaRPr/>
          </a:p>
        </p:txBody>
      </p:sp>
      <p:sp>
        <p:nvSpPr>
          <p:cNvPr id="165" name="Google Shape;165;p16"/>
          <p:cNvSpPr txBox="1">
            <a:spLocks noGrp="1"/>
          </p:cNvSpPr>
          <p:nvPr>
            <p:ph type="body" idx="1"/>
          </p:nvPr>
        </p:nvSpPr>
        <p:spPr>
          <a:xfrm>
            <a:off x="381000" y="1676400"/>
            <a:ext cx="8229600" cy="4525963"/>
          </a:xfrm>
          <a:prstGeom prst="rect">
            <a:avLst/>
          </a:prstGeom>
          <a:noFill/>
          <a:ln>
            <a:noFill/>
          </a:ln>
        </p:spPr>
        <p:txBody>
          <a:bodyPr spcFirstLastPara="1" wrap="square" lIns="91425" tIns="45700" rIns="91425" bIns="45700" anchor="t" anchorCtr="0">
            <a:noAutofit/>
          </a:bodyPr>
          <a:lstStyle/>
          <a:p>
            <a:pPr marL="571500" lvl="0" indent="-571500" algn="l" rtl="0">
              <a:spcBef>
                <a:spcPts val="0"/>
              </a:spcBef>
              <a:spcAft>
                <a:spcPts val="0"/>
              </a:spcAft>
              <a:buSzPts val="3900"/>
              <a:buFont typeface="Noto Sans Symbols"/>
              <a:buNone/>
            </a:pPr>
            <a:r>
              <a:rPr lang="en-US" sz="2600" b="1"/>
              <a:t>1. </a:t>
            </a:r>
            <a:r>
              <a:rPr lang="en-US" sz="2600" b="1">
                <a:solidFill>
                  <a:schemeClr val="hlink"/>
                </a:solidFill>
              </a:rPr>
              <a:t>Analysis strategy</a:t>
            </a:r>
            <a:r>
              <a:rPr lang="en-US" sz="2600">
                <a:solidFill>
                  <a:schemeClr val="hlink"/>
                </a:solidFill>
              </a:rPr>
              <a:t>: </a:t>
            </a:r>
            <a:r>
              <a:rPr lang="en-US" sz="2600"/>
              <a:t>This is developed to guide the projects team’s efforts. This includes a study of the current system and its problems, and envisioning ways to design a new system.</a:t>
            </a:r>
            <a:endParaRPr/>
          </a:p>
          <a:p>
            <a:pPr marL="571500" lvl="0" indent="-571500" algn="l" rtl="0">
              <a:spcBef>
                <a:spcPts val="0"/>
              </a:spcBef>
              <a:spcAft>
                <a:spcPts val="0"/>
              </a:spcAft>
              <a:buSzPts val="3900"/>
              <a:buFont typeface="Noto Sans Symbols"/>
              <a:buNone/>
            </a:pPr>
            <a:r>
              <a:rPr lang="en-US" sz="2600" b="1"/>
              <a:t>2. </a:t>
            </a:r>
            <a:r>
              <a:rPr lang="en-US" sz="2600" b="1">
                <a:solidFill>
                  <a:schemeClr val="hlink"/>
                </a:solidFill>
              </a:rPr>
              <a:t>Requirements gathering</a:t>
            </a:r>
            <a:r>
              <a:rPr lang="en-US" sz="2600">
                <a:solidFill>
                  <a:schemeClr val="hlink"/>
                </a:solidFill>
              </a:rPr>
              <a:t>: </a:t>
            </a:r>
            <a:r>
              <a:rPr lang="en-US" sz="2600"/>
              <a:t>The analysis of this information leads to the development of a concept for a new system. This concept is used to build a set of analysis models.</a:t>
            </a:r>
            <a:endParaRPr/>
          </a:p>
          <a:p>
            <a:pPr marL="571500" lvl="0" indent="-571500" algn="l" rtl="0">
              <a:spcBef>
                <a:spcPts val="0"/>
              </a:spcBef>
              <a:spcAft>
                <a:spcPts val="0"/>
              </a:spcAft>
              <a:buSzPts val="3900"/>
              <a:buFont typeface="Noto Sans Symbols"/>
              <a:buNone/>
            </a:pPr>
            <a:r>
              <a:rPr lang="en-US" sz="2600" b="1"/>
              <a:t>3.</a:t>
            </a:r>
            <a:r>
              <a:rPr lang="en-US" sz="2600" b="1">
                <a:solidFill>
                  <a:schemeClr val="hlink"/>
                </a:solidFill>
              </a:rPr>
              <a:t> System proposal</a:t>
            </a:r>
            <a:r>
              <a:rPr lang="en-US" sz="2600"/>
              <a:t>: The proposal is presented to the project sponsor and other key individuals who decide whether the project should continue to move forward.</a:t>
            </a:r>
            <a:endParaRPr sz="2600">
              <a:solidFill>
                <a:schemeClr val="hlink"/>
              </a:solidFill>
            </a:endParaRPr>
          </a:p>
          <a:p>
            <a:pPr marL="571500" lvl="0" indent="-361950" algn="l" rtl="0">
              <a:lnSpc>
                <a:spcPct val="80000"/>
              </a:lnSpc>
              <a:spcBef>
                <a:spcPts val="0"/>
              </a:spcBef>
              <a:spcAft>
                <a:spcPts val="0"/>
              </a:spcAft>
              <a:buSzPts val="3300"/>
              <a:buNone/>
            </a:pPr>
            <a:endParaRPr sz="2200"/>
          </a:p>
        </p:txBody>
      </p:sp>
      <p:sp>
        <p:nvSpPr>
          <p:cNvPr id="166" name="Google Shape;166;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36</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Design</a:t>
            </a:r>
            <a:endParaRPr/>
          </a:p>
        </p:txBody>
      </p:sp>
      <p:sp>
        <p:nvSpPr>
          <p:cNvPr id="172" name="Google Shape;172;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81000" algn="l" rtl="0">
              <a:lnSpc>
                <a:spcPct val="90000"/>
              </a:lnSpc>
              <a:spcBef>
                <a:spcPts val="0"/>
              </a:spcBef>
              <a:spcAft>
                <a:spcPts val="0"/>
              </a:spcAft>
              <a:buSzPts val="6000"/>
              <a:buChar char="▪"/>
            </a:pPr>
            <a:r>
              <a:rPr lang="en-US" dirty="0"/>
              <a:t>The design phase decides </a:t>
            </a:r>
            <a:r>
              <a:rPr lang="en-US" b="1" i="1" dirty="0">
                <a:solidFill>
                  <a:srgbClr val="0000FF"/>
                </a:solidFill>
              </a:rPr>
              <a:t>how</a:t>
            </a:r>
            <a:r>
              <a:rPr lang="en-US" dirty="0"/>
              <a:t> the system will operate, in terms of the hardware, software, and network infrastructure; the user interface, forms, and reports that will be used; and the specific programs, databases, and files that will be needed.</a:t>
            </a:r>
            <a:endParaRPr dirty="0"/>
          </a:p>
          <a:p>
            <a:pPr marL="342900" lvl="0" indent="0" algn="l" rtl="0">
              <a:lnSpc>
                <a:spcPct val="90000"/>
              </a:lnSpc>
              <a:spcBef>
                <a:spcPts val="0"/>
              </a:spcBef>
              <a:spcAft>
                <a:spcPts val="0"/>
              </a:spcAft>
              <a:buSzPts val="6000"/>
              <a:buNone/>
            </a:pPr>
            <a:endParaRPr dirty="0"/>
          </a:p>
        </p:txBody>
      </p:sp>
      <p:sp>
        <p:nvSpPr>
          <p:cNvPr id="173" name="Google Shape;17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37</a:t>
            </a:fld>
            <a:endParaRPr sz="1200" b="0" i="0" u="none" strike="noStrike" cap="none">
              <a:solidFill>
                <a:srgbClr val="898989"/>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design phase has four steps:</a:t>
            </a:r>
            <a:endParaRPr/>
          </a:p>
        </p:txBody>
      </p:sp>
      <p:sp>
        <p:nvSpPr>
          <p:cNvPr id="179" name="Google Shape;179;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685800" lvl="0" indent="-685800" algn="l" rtl="0">
              <a:spcBef>
                <a:spcPts val="0"/>
              </a:spcBef>
              <a:spcAft>
                <a:spcPts val="0"/>
              </a:spcAft>
              <a:buSzPts val="4200"/>
              <a:buFont typeface="Noto Sans Symbols"/>
              <a:buNone/>
            </a:pPr>
            <a:r>
              <a:rPr lang="en-US" sz="2800" b="1" dirty="0"/>
              <a:t>1. </a:t>
            </a:r>
            <a:r>
              <a:rPr lang="en-US" sz="2800" b="1" dirty="0">
                <a:solidFill>
                  <a:schemeClr val="hlink"/>
                </a:solidFill>
              </a:rPr>
              <a:t>Design Strategy</a:t>
            </a:r>
            <a:r>
              <a:rPr lang="en-US" sz="2800" dirty="0">
                <a:solidFill>
                  <a:schemeClr val="hlink"/>
                </a:solidFill>
              </a:rPr>
              <a:t>: </a:t>
            </a:r>
            <a:r>
              <a:rPr lang="en-US" sz="2800" dirty="0"/>
              <a:t>This clarifies whether the system will be developed by the company or outside the company.</a:t>
            </a:r>
            <a:endParaRPr dirty="0"/>
          </a:p>
          <a:p>
            <a:pPr marL="685800" lvl="0" indent="-685800" algn="l" rtl="0">
              <a:spcBef>
                <a:spcPts val="0"/>
              </a:spcBef>
              <a:spcAft>
                <a:spcPts val="0"/>
              </a:spcAft>
              <a:buSzPts val="4200"/>
              <a:buFont typeface="Noto Sans Symbols"/>
              <a:buNone/>
            </a:pPr>
            <a:r>
              <a:rPr lang="en-US" sz="2800" b="1" dirty="0"/>
              <a:t>2.</a:t>
            </a:r>
            <a:r>
              <a:rPr lang="en-US" sz="2800" b="1" dirty="0">
                <a:solidFill>
                  <a:schemeClr val="hlink"/>
                </a:solidFill>
              </a:rPr>
              <a:t> Architecture Design</a:t>
            </a:r>
            <a:r>
              <a:rPr lang="en-US" sz="2800" dirty="0">
                <a:solidFill>
                  <a:schemeClr val="hlink"/>
                </a:solidFill>
              </a:rPr>
              <a:t>: </a:t>
            </a:r>
            <a:r>
              <a:rPr lang="en-US" sz="2800" dirty="0"/>
              <a:t>This describes the hardware, software, and network infrastructure that will be used.</a:t>
            </a:r>
            <a:endParaRPr dirty="0"/>
          </a:p>
          <a:p>
            <a:pPr marL="685800" lvl="0" indent="-685800" algn="l" rtl="0">
              <a:spcBef>
                <a:spcPts val="0"/>
              </a:spcBef>
              <a:spcAft>
                <a:spcPts val="0"/>
              </a:spcAft>
              <a:buSzPts val="4200"/>
              <a:buFont typeface="Noto Sans Symbols"/>
              <a:buNone/>
            </a:pPr>
            <a:r>
              <a:rPr lang="en-US" sz="2800" b="1" dirty="0"/>
              <a:t>3. </a:t>
            </a:r>
            <a:r>
              <a:rPr lang="en-US" sz="2800" b="1" dirty="0">
                <a:solidFill>
                  <a:schemeClr val="hlink"/>
                </a:solidFill>
              </a:rPr>
              <a:t>Database and File Specifications</a:t>
            </a:r>
            <a:r>
              <a:rPr lang="en-US" sz="2800" dirty="0"/>
              <a:t>: These documents define what and where the data will be stored.</a:t>
            </a:r>
            <a:endParaRPr dirty="0"/>
          </a:p>
          <a:p>
            <a:pPr marL="685800" lvl="0" indent="-685800" algn="l" rtl="0">
              <a:spcBef>
                <a:spcPts val="0"/>
              </a:spcBef>
              <a:spcAft>
                <a:spcPts val="0"/>
              </a:spcAft>
              <a:buSzPts val="4200"/>
              <a:buFont typeface="Noto Sans Symbols"/>
              <a:buNone/>
            </a:pPr>
            <a:r>
              <a:rPr lang="en-US" sz="2800" b="1" dirty="0"/>
              <a:t>4. </a:t>
            </a:r>
            <a:r>
              <a:rPr lang="en-US" sz="2800" b="1" dirty="0">
                <a:solidFill>
                  <a:schemeClr val="hlink"/>
                </a:solidFill>
              </a:rPr>
              <a:t>Program Design</a:t>
            </a:r>
            <a:r>
              <a:rPr lang="en-US" sz="2800" dirty="0"/>
              <a:t>: Defines what programs need to be written and what they will do.</a:t>
            </a:r>
            <a:endParaRPr dirty="0"/>
          </a:p>
          <a:p>
            <a:pPr marL="685800" lvl="0" indent="-419100" algn="l" rtl="0">
              <a:lnSpc>
                <a:spcPct val="80000"/>
              </a:lnSpc>
              <a:spcBef>
                <a:spcPts val="0"/>
              </a:spcBef>
              <a:spcAft>
                <a:spcPts val="0"/>
              </a:spcAft>
              <a:buSzPts val="4200"/>
              <a:buNone/>
            </a:pPr>
            <a:endParaRPr sz="2800" dirty="0"/>
          </a:p>
        </p:txBody>
      </p:sp>
      <p:sp>
        <p:nvSpPr>
          <p:cNvPr id="180" name="Google Shape;18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38</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a:t>
            </a:r>
            <a:endParaRPr/>
          </a:p>
        </p:txBody>
      </p:sp>
      <p:sp>
        <p:nvSpPr>
          <p:cNvPr id="186" name="Google Shape;186;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81000" algn="l" rtl="0">
              <a:spcBef>
                <a:spcPts val="0"/>
              </a:spcBef>
              <a:spcAft>
                <a:spcPts val="0"/>
              </a:spcAft>
              <a:buSzPts val="6000"/>
              <a:buChar char="▪"/>
            </a:pPr>
            <a:r>
              <a:rPr lang="en-US"/>
              <a:t>During the implementation phase, the system is either developed or purchased (in the case of packaged software) and installed.</a:t>
            </a:r>
            <a:endParaRPr/>
          </a:p>
          <a:p>
            <a:pPr marL="342900" lvl="0" indent="-381000" algn="l" rtl="0">
              <a:spcBef>
                <a:spcPts val="0"/>
              </a:spcBef>
              <a:spcAft>
                <a:spcPts val="0"/>
              </a:spcAft>
              <a:buSzPts val="6000"/>
              <a:buChar char="▪"/>
            </a:pPr>
            <a:r>
              <a:rPr lang="en-US"/>
              <a:t>This phase is usually the longest and most expensive part of the process.</a:t>
            </a:r>
            <a:endParaRPr/>
          </a:p>
        </p:txBody>
      </p:sp>
      <p:sp>
        <p:nvSpPr>
          <p:cNvPr id="187" name="Google Shape;18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39</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The implementation phase has three steps:</a:t>
            </a:r>
            <a:endParaRPr/>
          </a:p>
        </p:txBody>
      </p:sp>
      <p:sp>
        <p:nvSpPr>
          <p:cNvPr id="193" name="Google Shape;193;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5550"/>
              <a:buFont typeface="Noto Sans Symbols"/>
              <a:buNone/>
            </a:pPr>
            <a:r>
              <a:rPr lang="en-US" sz="3700" b="1" dirty="0"/>
              <a:t>1. </a:t>
            </a:r>
            <a:r>
              <a:rPr lang="en-US" sz="3700" b="1" dirty="0">
                <a:solidFill>
                  <a:schemeClr val="hlink"/>
                </a:solidFill>
              </a:rPr>
              <a:t>System Construction</a:t>
            </a:r>
            <a:r>
              <a:rPr lang="en-US" sz="3700" dirty="0"/>
              <a:t>: The system is built and tested to make sure it performs as designed.</a:t>
            </a:r>
            <a:endParaRPr dirty="0"/>
          </a:p>
          <a:p>
            <a:pPr marL="342900" lvl="0" indent="-342900" algn="l" rtl="0">
              <a:lnSpc>
                <a:spcPct val="80000"/>
              </a:lnSpc>
              <a:spcBef>
                <a:spcPts val="0"/>
              </a:spcBef>
              <a:spcAft>
                <a:spcPts val="0"/>
              </a:spcAft>
              <a:buSzPts val="5550"/>
              <a:buFont typeface="Noto Sans Symbols"/>
              <a:buNone/>
            </a:pPr>
            <a:r>
              <a:rPr lang="en-US" sz="3700" b="1" dirty="0"/>
              <a:t>2. </a:t>
            </a:r>
            <a:r>
              <a:rPr lang="en-US" sz="3700" b="1" dirty="0">
                <a:solidFill>
                  <a:schemeClr val="hlink"/>
                </a:solidFill>
              </a:rPr>
              <a:t>Installation</a:t>
            </a:r>
            <a:r>
              <a:rPr lang="en-US" sz="3700" dirty="0"/>
              <a:t>: The old system is turned off and the new one is turned on.</a:t>
            </a:r>
            <a:endParaRPr dirty="0"/>
          </a:p>
          <a:p>
            <a:pPr marL="342900" lvl="0" indent="-342900" algn="l" rtl="0">
              <a:lnSpc>
                <a:spcPct val="80000"/>
              </a:lnSpc>
              <a:spcBef>
                <a:spcPts val="0"/>
              </a:spcBef>
              <a:spcAft>
                <a:spcPts val="0"/>
              </a:spcAft>
              <a:buSzPts val="5550"/>
              <a:buFont typeface="Noto Sans Symbols"/>
              <a:buNone/>
            </a:pPr>
            <a:r>
              <a:rPr lang="en-US" sz="3700" b="1" dirty="0"/>
              <a:t>3. </a:t>
            </a:r>
            <a:r>
              <a:rPr lang="en-US" sz="3700" b="1" dirty="0">
                <a:solidFill>
                  <a:schemeClr val="hlink"/>
                </a:solidFill>
              </a:rPr>
              <a:t>Support Plan</a:t>
            </a:r>
            <a:r>
              <a:rPr lang="en-US" sz="3700" dirty="0"/>
              <a:t>: Includes a post-implementation review as well as a systematic way for identifying changes needed for the system.</a:t>
            </a:r>
            <a:endParaRPr dirty="0"/>
          </a:p>
          <a:p>
            <a:pPr marL="342900" lvl="0" indent="0" algn="l" rtl="0">
              <a:lnSpc>
                <a:spcPct val="80000"/>
              </a:lnSpc>
              <a:spcBef>
                <a:spcPts val="0"/>
              </a:spcBef>
              <a:spcAft>
                <a:spcPts val="0"/>
              </a:spcAft>
              <a:buSzPts val="5550"/>
              <a:buNone/>
            </a:pPr>
            <a:endParaRPr sz="3700" dirty="0"/>
          </a:p>
        </p:txBody>
      </p:sp>
      <p:sp>
        <p:nvSpPr>
          <p:cNvPr id="194" name="Google Shape;19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40</a:t>
            </a:fld>
            <a:endParaRPr sz="1200" b="0" i="0" u="none" strike="noStrike" cap="none">
              <a:solidFill>
                <a:srgbClr val="89898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SUMMARY</a:t>
            </a:r>
            <a:endParaRPr/>
          </a:p>
        </p:txBody>
      </p:sp>
      <p:sp>
        <p:nvSpPr>
          <p:cNvPr id="200" name="Google Shape;200;p21"/>
          <p:cNvSpPr txBox="1">
            <a:spLocks noGrp="1"/>
          </p:cNvSpPr>
          <p:nvPr>
            <p:ph type="body" idx="1"/>
          </p:nvPr>
        </p:nvSpPr>
        <p:spPr>
          <a:xfrm>
            <a:off x="304800" y="2103438"/>
            <a:ext cx="8458200" cy="452596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3900"/>
              <a:buChar char="▪"/>
            </a:pPr>
            <a:r>
              <a:rPr lang="en-US" sz="2600" dirty="0"/>
              <a:t>The </a:t>
            </a:r>
            <a:r>
              <a:rPr lang="en-US" sz="2600" b="1" dirty="0">
                <a:solidFill>
                  <a:srgbClr val="FF0000"/>
                </a:solidFill>
              </a:rPr>
              <a:t>Systems Analyst </a:t>
            </a:r>
            <a:r>
              <a:rPr lang="en-US" sz="2600" dirty="0"/>
              <a:t>is the key person in the development of information systems. </a:t>
            </a:r>
            <a:endParaRPr dirty="0"/>
          </a:p>
          <a:p>
            <a:pPr marL="342900" lvl="0" indent="-342900" algn="l" rtl="0">
              <a:spcBef>
                <a:spcPts val="1200"/>
              </a:spcBef>
              <a:spcAft>
                <a:spcPts val="0"/>
              </a:spcAft>
              <a:buSzPts val="3900"/>
              <a:buChar char="▪"/>
            </a:pPr>
            <a:r>
              <a:rPr lang="en-US" sz="2600" b="1" dirty="0">
                <a:solidFill>
                  <a:srgbClr val="FF0000"/>
                </a:solidFill>
              </a:rPr>
              <a:t>The Systems Development Lifecycle</a:t>
            </a:r>
            <a:r>
              <a:rPr lang="en-US" sz="2600" dirty="0">
                <a:solidFill>
                  <a:srgbClr val="FF0000"/>
                </a:solidFill>
              </a:rPr>
              <a:t> </a:t>
            </a:r>
            <a:r>
              <a:rPr lang="en-US" sz="2600" dirty="0"/>
              <a:t>consists of four </a:t>
            </a:r>
            <a:r>
              <a:rPr lang="en-US" sz="2600" b="1" dirty="0">
                <a:solidFill>
                  <a:srgbClr val="FF0000"/>
                </a:solidFill>
              </a:rPr>
              <a:t>main</a:t>
            </a:r>
            <a:r>
              <a:rPr lang="en-US" sz="2600" b="1" dirty="0"/>
              <a:t> </a:t>
            </a:r>
            <a:r>
              <a:rPr lang="en-US" sz="2600" dirty="0"/>
              <a:t>stages: Planning, Analysis, Design, and Implementation.</a:t>
            </a:r>
            <a:endParaRPr dirty="0"/>
          </a:p>
        </p:txBody>
      </p:sp>
      <p:sp>
        <p:nvSpPr>
          <p:cNvPr id="201" name="Google Shape;201;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898989"/>
              </a:buClr>
              <a:buSzPts val="1200"/>
              <a:buFont typeface="Arial"/>
              <a:buNone/>
            </a:pPr>
            <a:r>
              <a:rPr lang="en-US" sz="1200" b="0" i="0" u="none" strike="noStrike" cap="none">
                <a:solidFill>
                  <a:srgbClr val="898989"/>
                </a:solidFill>
                <a:latin typeface="Calibri"/>
                <a:ea typeface="Calibri"/>
                <a:cs typeface="Calibri"/>
                <a:sym typeface="Calibri"/>
              </a:rPr>
              <a:t>1-</a:t>
            </a:r>
            <a:fld id="{00000000-1234-1234-1234-123412341234}" type="slidenum">
              <a:rPr lang="en-US" sz="1200" b="0" i="0" u="none" strike="noStrike" cap="none">
                <a:solidFill>
                  <a:srgbClr val="898989"/>
                </a:solidFill>
                <a:latin typeface="Calibri"/>
                <a:ea typeface="Calibri"/>
                <a:cs typeface="Calibri"/>
                <a:sym typeface="Calibri"/>
              </a:rPr>
              <a:t>41</a:t>
            </a:fld>
            <a:endParaRPr sz="1200" b="0" i="0" u="none" strike="noStrike" cap="none">
              <a:solidFill>
                <a:srgbClr val="898989"/>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1972</TotalTime>
  <Words>3406</Words>
  <Application>Microsoft Office PowerPoint</Application>
  <PresentationFormat>On-screen Show (4:3)</PresentationFormat>
  <Paragraphs>409</Paragraphs>
  <Slides>42</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42</vt:i4>
      </vt:variant>
    </vt:vector>
  </HeadingPairs>
  <TitlesOfParts>
    <vt:vector size="49" baseType="lpstr">
      <vt:lpstr>Arial</vt:lpstr>
      <vt:lpstr>Calibri</vt:lpstr>
      <vt:lpstr>Google Sans</vt:lpstr>
      <vt:lpstr>Noto Sans Symbols</vt:lpstr>
      <vt:lpstr>Wingdings</vt:lpstr>
      <vt:lpstr>Office Theme</vt:lpstr>
      <vt:lpstr>Office Theme</vt:lpstr>
      <vt:lpstr>Systems Analysis &amp; Design</vt:lpstr>
      <vt:lpstr>Introduction to Systems Analysis &amp; Design</vt:lpstr>
      <vt:lpstr>Introduction</vt:lpstr>
      <vt:lpstr>INTRODUCTION</vt:lpstr>
      <vt:lpstr>THE SYSTEMS ANALYST</vt:lpstr>
      <vt:lpstr>Systems Analyst Skills</vt:lpstr>
      <vt:lpstr>(cont’d)</vt:lpstr>
      <vt:lpstr>Systems Analyst Roles</vt:lpstr>
      <vt:lpstr>(cont’d)</vt:lpstr>
      <vt:lpstr>Career Paths for Systems Analysts</vt:lpstr>
      <vt:lpstr>Mini Case Example: The Failed E-Government Project – “Lankan e-Passport System” </vt:lpstr>
      <vt:lpstr>Cont..</vt:lpstr>
      <vt:lpstr>Discussion </vt:lpstr>
      <vt:lpstr>The Systems Development Life Cycle</vt:lpstr>
      <vt:lpstr>Important…….</vt:lpstr>
      <vt:lpstr>Systems investigation stage</vt:lpstr>
      <vt:lpstr>PowerPoint Presentation</vt:lpstr>
      <vt:lpstr>PowerPoint Presentation</vt:lpstr>
      <vt:lpstr>PowerPoint Presentation</vt:lpstr>
      <vt:lpstr>Systems Analysis stage</vt:lpstr>
      <vt:lpstr>PowerPoint Presentation</vt:lpstr>
      <vt:lpstr>PowerPoint Presentation</vt:lpstr>
      <vt:lpstr>PowerPoint Presentation</vt:lpstr>
      <vt:lpstr>Systems Design Stage</vt:lpstr>
      <vt:lpstr>System Design</vt:lpstr>
      <vt:lpstr>Systems implementation Stage</vt:lpstr>
      <vt:lpstr>PowerPoint Presentation</vt:lpstr>
      <vt:lpstr>PowerPoint Presentation</vt:lpstr>
      <vt:lpstr>PowerPoint Presentation</vt:lpstr>
      <vt:lpstr>Other Implementation Activities</vt:lpstr>
      <vt:lpstr>System conversion strategies</vt:lpstr>
      <vt:lpstr>Systems Maintenance Stage </vt:lpstr>
      <vt:lpstr>PowerPoint Presentation</vt:lpstr>
      <vt:lpstr>Planning</vt:lpstr>
      <vt:lpstr>The planning phase has two steps:</vt:lpstr>
      <vt:lpstr>Analysis</vt:lpstr>
      <vt:lpstr>The analysis phase has three steps:</vt:lpstr>
      <vt:lpstr>Design</vt:lpstr>
      <vt:lpstr>The design phase has four steps:</vt:lpstr>
      <vt:lpstr>Implementation</vt:lpstr>
      <vt:lpstr>The implementation phase has three steps: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&amp; Design</dc:title>
  <dc:creator>Windows User</dc:creator>
  <cp:lastModifiedBy>Ms. K Anuradha</cp:lastModifiedBy>
  <cp:revision>11</cp:revision>
  <dcterms:created xsi:type="dcterms:W3CDTF">2011-06-16T14:45:20Z</dcterms:created>
  <dcterms:modified xsi:type="dcterms:W3CDTF">2025-07-01T05:03:23Z</dcterms:modified>
</cp:coreProperties>
</file>