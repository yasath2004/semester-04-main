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38"/>
  </p:notesMasterIdLst>
  <p:sldIdLst>
    <p:sldId id="346" r:id="rId2"/>
    <p:sldId id="256" r:id="rId3"/>
    <p:sldId id="347" r:id="rId4"/>
    <p:sldId id="264" r:id="rId5"/>
    <p:sldId id="265" r:id="rId6"/>
    <p:sldId id="303" r:id="rId7"/>
    <p:sldId id="304" r:id="rId8"/>
    <p:sldId id="266" r:id="rId9"/>
    <p:sldId id="267" r:id="rId10"/>
    <p:sldId id="343" r:id="rId11"/>
    <p:sldId id="295" r:id="rId12"/>
    <p:sldId id="269" r:id="rId13"/>
    <p:sldId id="270" r:id="rId14"/>
    <p:sldId id="348" r:id="rId15"/>
    <p:sldId id="271" r:id="rId16"/>
    <p:sldId id="272" r:id="rId17"/>
    <p:sldId id="355" r:id="rId18"/>
    <p:sldId id="273" r:id="rId19"/>
    <p:sldId id="274" r:id="rId20"/>
    <p:sldId id="356" r:id="rId21"/>
    <p:sldId id="296" r:id="rId22"/>
    <p:sldId id="357" r:id="rId23"/>
    <p:sldId id="349" r:id="rId24"/>
    <p:sldId id="275" r:id="rId25"/>
    <p:sldId id="276" r:id="rId26"/>
    <p:sldId id="344" r:id="rId27"/>
    <p:sldId id="358" r:id="rId28"/>
    <p:sldId id="277" r:id="rId29"/>
    <p:sldId id="297" r:id="rId30"/>
    <p:sldId id="351" r:id="rId31"/>
    <p:sldId id="350" r:id="rId32"/>
    <p:sldId id="352" r:id="rId33"/>
    <p:sldId id="353" r:id="rId34"/>
    <p:sldId id="354" r:id="rId35"/>
    <p:sldId id="294" r:id="rId36"/>
    <p:sldId id="338" r:id="rId3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4319">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3" autoAdjust="0"/>
    <p:restoredTop sz="91095" autoAdjust="0"/>
  </p:normalViewPr>
  <p:slideViewPr>
    <p:cSldViewPr>
      <p:cViewPr varScale="1">
        <p:scale>
          <a:sx n="65" d="100"/>
          <a:sy n="65" d="100"/>
        </p:scale>
        <p:origin x="1356" y="78"/>
      </p:cViewPr>
      <p:guideLst>
        <p:guide orient="horz" pos="4319"/>
        <p:guide pos="2880"/>
      </p:guideLst>
    </p:cSldViewPr>
  </p:slideViewPr>
  <p:notesTextViewPr>
    <p:cViewPr>
      <p:scale>
        <a:sx n="75" d="100"/>
        <a:sy n="75"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BB6865-4D0A-4301-8B64-21696966295E}"/>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pitchFamily="34" charset="0"/>
                <a:cs typeface="Arial" charset="0"/>
              </a:defRPr>
            </a:lvl1pPr>
          </a:lstStyle>
          <a:p>
            <a:pPr>
              <a:defRPr/>
            </a:pPr>
            <a:endParaRPr lang="en-US"/>
          </a:p>
        </p:txBody>
      </p:sp>
      <p:sp>
        <p:nvSpPr>
          <p:cNvPr id="3" name="Date Placeholder 2">
            <a:extLst>
              <a:ext uri="{FF2B5EF4-FFF2-40B4-BE49-F238E27FC236}">
                <a16:creationId xmlns:a16="http://schemas.microsoft.com/office/drawing/2014/main" id="{137806D4-7C2F-4AC8-8276-FD4B2AF12BE8}"/>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itchFamily="34" charset="0"/>
                <a:cs typeface="Arial" charset="0"/>
              </a:defRPr>
            </a:lvl1pPr>
          </a:lstStyle>
          <a:p>
            <a:pPr>
              <a:defRPr/>
            </a:pPr>
            <a:fld id="{F5F5CCC3-52DA-4798-8BE7-2BDDFE55C4A1}" type="datetimeFigureOut">
              <a:rPr lang="en-US"/>
              <a:pPr>
                <a:defRPr/>
              </a:pPr>
              <a:t>8/6/2024</a:t>
            </a:fld>
            <a:endParaRPr lang="en-US"/>
          </a:p>
        </p:txBody>
      </p:sp>
      <p:sp>
        <p:nvSpPr>
          <p:cNvPr id="4" name="Slide Image Placeholder 3">
            <a:extLst>
              <a:ext uri="{FF2B5EF4-FFF2-40B4-BE49-F238E27FC236}">
                <a16:creationId xmlns:a16="http://schemas.microsoft.com/office/drawing/2014/main" id="{A5B231E2-94A3-468A-A6D4-B543A0E0D35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E000302-CF55-4DCB-9E87-C3F3E951031C}"/>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100CEC6D-538B-4664-9F32-7E7CFB3E5D04}"/>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pitchFamily="34" charset="0"/>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629C2438-3D91-43C6-9D9E-F607D6B004C9}"/>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EF43D597-E0EA-46C8-B6E3-EF1495F2D34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F43D597-E0EA-46C8-B6E3-EF1495F2D343}" type="slidenum">
              <a:rPr lang="en-US" altLang="en-US" smtClean="0"/>
              <a:pPr>
                <a:defRPr/>
              </a:pPr>
              <a:t>0</a:t>
            </a:fld>
            <a:endParaRPr lang="en-US" altLang="en-US"/>
          </a:p>
        </p:txBody>
      </p:sp>
    </p:spTree>
    <p:extLst>
      <p:ext uri="{BB962C8B-B14F-4D97-AF65-F5344CB8AC3E}">
        <p14:creationId xmlns:p14="http://schemas.microsoft.com/office/powerpoint/2010/main" val="3562839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6D0196C7-B98C-40E1-91C5-8491A3DFE29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CFDC1F0B-C074-4FE4-BBBA-F3583B67EDC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Self Introduction of my self –</a:t>
            </a:r>
          </a:p>
          <a:p>
            <a:endParaRPr lang="en-US" altLang="en-US"/>
          </a:p>
          <a:p>
            <a:r>
              <a:rPr lang="en-US" altLang="en-US"/>
              <a:t>Give students some general guidelines – about KDU, their choice</a:t>
            </a:r>
          </a:p>
        </p:txBody>
      </p:sp>
      <p:sp>
        <p:nvSpPr>
          <p:cNvPr id="9220" name="Slide Number Placeholder 3">
            <a:extLst>
              <a:ext uri="{FF2B5EF4-FFF2-40B4-BE49-F238E27FC236}">
                <a16:creationId xmlns:a16="http://schemas.microsoft.com/office/drawing/2014/main" id="{39DEF502-AEFC-4EB8-9CD0-38E74A943FB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EA76EE5-D66A-489A-9770-6310D33E2C51}" type="slidenum">
              <a:rPr lang="en-US" altLang="en-US" smtClean="0">
                <a:latin typeface="Calibri" panose="020F0502020204030204" pitchFamily="34" charset="0"/>
              </a:rPr>
              <a:pPr/>
              <a:t>2</a:t>
            </a:fld>
            <a:endParaRPr lang="en-US" altLang="en-US">
              <a:latin typeface="Calibri" panose="020F0502020204030204" pitchFamily="34" charset="0"/>
            </a:endParaRPr>
          </a:p>
        </p:txBody>
      </p:sp>
    </p:spTree>
    <p:extLst>
      <p:ext uri="{BB962C8B-B14F-4D97-AF65-F5344CB8AC3E}">
        <p14:creationId xmlns:p14="http://schemas.microsoft.com/office/powerpoint/2010/main" val="2277019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A Chief Information Officer (CIO) is a high-level executive within an organization who is responsible for overseeing the management and strategic use of information technology (IT) and information systems. The CIO plays a critical role in aligning IT strategies and initiatives with the overall business objectives of the organization.</a:t>
            </a:r>
            <a:endParaRPr lang="en-US" b="1" i="0" dirty="0">
              <a:solidFill>
                <a:srgbClr val="374151"/>
              </a:solidFill>
              <a:effectLst/>
              <a:latin typeface="Söhne"/>
            </a:endParaRPr>
          </a:p>
          <a:p>
            <a:endParaRPr lang="en-US" b="1" i="0" dirty="0">
              <a:solidFill>
                <a:srgbClr val="374151"/>
              </a:solidFill>
              <a:effectLst/>
              <a:latin typeface="Söhne"/>
            </a:endParaRPr>
          </a:p>
          <a:p>
            <a:endParaRPr lang="en-US" b="1" i="0" dirty="0">
              <a:solidFill>
                <a:srgbClr val="374151"/>
              </a:solidFill>
              <a:effectLst/>
              <a:latin typeface="Söhne"/>
            </a:endParaRPr>
          </a:p>
          <a:p>
            <a:endParaRPr lang="en-US" b="1" i="0" dirty="0">
              <a:solidFill>
                <a:srgbClr val="374151"/>
              </a:solidFill>
              <a:effectLst/>
              <a:latin typeface="Söhne"/>
            </a:endParaRPr>
          </a:p>
          <a:p>
            <a:r>
              <a:rPr lang="en-US" b="1" i="0" dirty="0">
                <a:solidFill>
                  <a:srgbClr val="374151"/>
                </a:solidFill>
                <a:effectLst/>
                <a:latin typeface="Söhne"/>
              </a:rPr>
              <a:t>Project portfolio management </a:t>
            </a:r>
            <a:r>
              <a:rPr lang="en-US" b="0" i="0" dirty="0">
                <a:solidFill>
                  <a:srgbClr val="374151"/>
                </a:solidFill>
                <a:effectLst/>
                <a:latin typeface="Söhne"/>
              </a:rPr>
              <a:t>(PPM) is a strategic approach to managing an organization's projects, programs, and initiatives. It involves the selection, prioritization, monitoring, and optimization of a group of projects and programs to achieve specific strategic objectives and maximize overall value for the organization. PPM is particularly important for organizations that have a large number of projects and limited resources, as it helps ensure that resources are allocated to the right projects in the right way to achieve the organization's goals.</a:t>
            </a:r>
            <a:endParaRPr lang="en-US" dirty="0"/>
          </a:p>
        </p:txBody>
      </p:sp>
      <p:sp>
        <p:nvSpPr>
          <p:cNvPr id="4" name="Slide Number Placeholder 3"/>
          <p:cNvSpPr>
            <a:spLocks noGrp="1"/>
          </p:cNvSpPr>
          <p:nvPr>
            <p:ph type="sldNum" sz="quarter" idx="5"/>
          </p:nvPr>
        </p:nvSpPr>
        <p:spPr/>
        <p:txBody>
          <a:bodyPr/>
          <a:lstStyle/>
          <a:p>
            <a:pPr>
              <a:defRPr/>
            </a:pPr>
            <a:fld id="{EF43D597-E0EA-46C8-B6E3-EF1495F2D343}" type="slidenum">
              <a:rPr lang="en-US" altLang="en-US" smtClean="0"/>
              <a:pPr>
                <a:defRPr/>
              </a:pPr>
              <a:t>4</a:t>
            </a:fld>
            <a:endParaRPr lang="en-US" altLang="en-US"/>
          </a:p>
        </p:txBody>
      </p:sp>
    </p:spTree>
    <p:extLst>
      <p:ext uri="{BB962C8B-B14F-4D97-AF65-F5344CB8AC3E}">
        <p14:creationId xmlns:p14="http://schemas.microsoft.com/office/powerpoint/2010/main" val="1593747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600" b="0" i="0" dirty="0">
                <a:solidFill>
                  <a:srgbClr val="374151"/>
                </a:solidFill>
                <a:effectLst/>
                <a:latin typeface="Söhne"/>
              </a:rPr>
              <a:t>Organizations use cost-benefit analysis to evaluate the potential return on investment (ROI) for each project within the portfolio. This analysis assesses both the expected costs associated with a project (such as labor, materials, and technology) and the expected benefits (such as increased revenue, cost savings, or strategic alignment). Projects that offer a favorable cost-benefit ratio are generally prioritized.</a:t>
            </a:r>
          </a:p>
          <a:p>
            <a:endParaRPr lang="en-US" sz="1600" b="0" i="0" dirty="0">
              <a:solidFill>
                <a:srgbClr val="374151"/>
              </a:solidFill>
              <a:effectLst/>
              <a:latin typeface="Söhne"/>
            </a:endParaRPr>
          </a:p>
          <a:p>
            <a:pPr algn="l">
              <a:buFont typeface="+mj-lt"/>
              <a:buNone/>
            </a:pPr>
            <a:r>
              <a:rPr lang="en-US" sz="1600" b="1" i="0" dirty="0">
                <a:solidFill>
                  <a:srgbClr val="374151"/>
                </a:solidFill>
                <a:effectLst/>
                <a:latin typeface="Söhne"/>
              </a:rPr>
              <a:t>resource Allocation:</a:t>
            </a:r>
            <a:r>
              <a:rPr lang="en-US" sz="1600" b="0" i="0" dirty="0">
                <a:solidFill>
                  <a:srgbClr val="374151"/>
                </a:solidFill>
                <a:effectLst/>
                <a:latin typeface="Söhne"/>
              </a:rPr>
              <a:t> PPM involves allocating resources, including budget, time, and personnel, to projects within the portfolio. The allocation process should consider not only the expected benefits of each project but also the available resources and the organization's capacity to execute multiple projects simultaneously.</a:t>
            </a:r>
          </a:p>
          <a:p>
            <a:pPr algn="l">
              <a:buFont typeface="+mj-lt"/>
              <a:buAutoNum type="arabicPeriod"/>
            </a:pPr>
            <a:r>
              <a:rPr lang="en-US" sz="1600" b="1" i="0" dirty="0">
                <a:solidFill>
                  <a:srgbClr val="374151"/>
                </a:solidFill>
                <a:effectLst/>
                <a:latin typeface="Söhne"/>
              </a:rPr>
              <a:t>Risk Assessment:</a:t>
            </a:r>
            <a:r>
              <a:rPr lang="en-US" sz="1600" b="0" i="0" dirty="0">
                <a:solidFill>
                  <a:srgbClr val="374151"/>
                </a:solidFill>
                <a:effectLst/>
                <a:latin typeface="Söhne"/>
              </a:rPr>
              <a:t> While considering the balance between cost and benefits, organizations also need to assess the risks associated with each project. High-risk projects may require additional resources, mitigation strategies, or contingency plans to manage potential challenges. Organizations often weigh the potential benefits against the level of risk to determine if a project is worth pursuing.</a:t>
            </a:r>
          </a:p>
          <a:p>
            <a:pPr algn="l">
              <a:buFont typeface="+mj-lt"/>
              <a:buAutoNum type="arabicPeriod"/>
            </a:pPr>
            <a:r>
              <a:rPr lang="en-US" sz="1600" b="1" i="0" dirty="0">
                <a:solidFill>
                  <a:srgbClr val="374151"/>
                </a:solidFill>
                <a:effectLst/>
                <a:latin typeface="Söhne"/>
              </a:rPr>
              <a:t>Trade-offs:</a:t>
            </a:r>
            <a:r>
              <a:rPr lang="en-US" sz="1600" b="0" i="0" dirty="0">
                <a:solidFill>
                  <a:srgbClr val="374151"/>
                </a:solidFill>
                <a:effectLst/>
                <a:latin typeface="Söhne"/>
              </a:rPr>
              <a:t> In PPM, trade-offs are common when trying to strike the right balance between cost and benefits. This may involve making decisions such as delaying certain projects, reducing project scope, or reassigning resources to higher-priority initiatives. Trade-offs are necessary to ensure that the organization maximizes its return on investment and aligns with its strategic objectives.</a:t>
            </a:r>
          </a:p>
          <a:p>
            <a:endParaRPr lang="en-US" dirty="0"/>
          </a:p>
        </p:txBody>
      </p:sp>
      <p:sp>
        <p:nvSpPr>
          <p:cNvPr id="4" name="Slide Number Placeholder 3"/>
          <p:cNvSpPr>
            <a:spLocks noGrp="1"/>
          </p:cNvSpPr>
          <p:nvPr>
            <p:ph type="sldNum" sz="quarter" idx="5"/>
          </p:nvPr>
        </p:nvSpPr>
        <p:spPr/>
        <p:txBody>
          <a:bodyPr/>
          <a:lstStyle/>
          <a:p>
            <a:pPr>
              <a:defRPr/>
            </a:pPr>
            <a:fld id="{EF43D597-E0EA-46C8-B6E3-EF1495F2D343}" type="slidenum">
              <a:rPr lang="en-US" altLang="en-US" smtClean="0"/>
              <a:pPr>
                <a:defRPr/>
              </a:pPr>
              <a:t>6</a:t>
            </a:fld>
            <a:endParaRPr lang="en-US" altLang="en-US"/>
          </a:p>
        </p:txBody>
      </p:sp>
    </p:spTree>
    <p:extLst>
      <p:ext uri="{BB962C8B-B14F-4D97-AF65-F5344CB8AC3E}">
        <p14:creationId xmlns:p14="http://schemas.microsoft.com/office/powerpoint/2010/main" val="383253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F43D597-E0EA-46C8-B6E3-EF1495F2D343}" type="slidenum">
              <a:rPr lang="en-US" altLang="en-US" smtClean="0"/>
              <a:pPr>
                <a:defRPr/>
              </a:pPr>
              <a:t>8</a:t>
            </a:fld>
            <a:endParaRPr lang="en-US" altLang="en-US"/>
          </a:p>
        </p:txBody>
      </p:sp>
    </p:spTree>
    <p:extLst>
      <p:ext uri="{BB962C8B-B14F-4D97-AF65-F5344CB8AC3E}">
        <p14:creationId xmlns:p14="http://schemas.microsoft.com/office/powerpoint/2010/main" val="27092001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algn="l"/>
            <a:r>
              <a:rPr lang="en-US" b="0" i="0" dirty="0">
                <a:solidFill>
                  <a:srgbClr val="374151"/>
                </a:solidFill>
                <a:effectLst/>
                <a:latin typeface="Söhne"/>
              </a:rPr>
              <a:t>Chief Information Officers (CIOs) play a critical role in selecting and prioritizing projects within their organization's portfolio. The selection process typically involves considering various factors, including the entire portfolio, available resources, and risk levels. Here's a breakdown of how CIOs make project selection decisions based on these factors:</a:t>
            </a:r>
          </a:p>
          <a:p>
            <a:pPr algn="l">
              <a:buFont typeface="+mj-lt"/>
              <a:buAutoNum type="arabicPeriod"/>
            </a:pPr>
            <a:r>
              <a:rPr lang="en-US" b="1" i="0" dirty="0">
                <a:solidFill>
                  <a:srgbClr val="374151"/>
                </a:solidFill>
                <a:effectLst/>
                <a:latin typeface="Söhne"/>
              </a:rPr>
              <a:t>Alignment with Business Goals:</a:t>
            </a:r>
            <a:r>
              <a:rPr lang="en-US" b="0" i="0" dirty="0">
                <a:solidFill>
                  <a:srgbClr val="374151"/>
                </a:solidFill>
                <a:effectLst/>
                <a:latin typeface="Söhne"/>
              </a:rPr>
              <a:t> CIOs start by aligning project selection with the organization's broader business goals and strategic objectives. Projects should directly contribute to the achievement of these goals. This ensures that technology investments are in sync with the overall direction of the company.</a:t>
            </a:r>
          </a:p>
          <a:p>
            <a:pPr algn="l">
              <a:buFont typeface="+mj-lt"/>
              <a:buAutoNum type="arabicPeriod"/>
            </a:pPr>
            <a:r>
              <a:rPr lang="en-US" b="1" i="0" dirty="0">
                <a:solidFill>
                  <a:srgbClr val="374151"/>
                </a:solidFill>
                <a:effectLst/>
                <a:latin typeface="Söhne"/>
              </a:rPr>
              <a:t>Portfolio Assessment:</a:t>
            </a:r>
            <a:r>
              <a:rPr lang="en-US" b="0" i="0" dirty="0">
                <a:solidFill>
                  <a:srgbClr val="374151"/>
                </a:solidFill>
                <a:effectLst/>
                <a:latin typeface="Söhne"/>
              </a:rPr>
              <a:t> CIOs conduct a comprehensive assessment of the entire project portfolio. This assessment involves reviewing the existing projects, their status, and their contributions to the organization. It helps identify redundancies, dependencies, and opportunities for optimization.</a:t>
            </a:r>
          </a:p>
          <a:p>
            <a:pPr algn="l">
              <a:buFont typeface="+mj-lt"/>
              <a:buAutoNum type="arabicPeriod"/>
            </a:pPr>
            <a:r>
              <a:rPr lang="en-US" b="1" i="0" dirty="0">
                <a:solidFill>
                  <a:srgbClr val="374151"/>
                </a:solidFill>
                <a:effectLst/>
                <a:latin typeface="Söhne"/>
              </a:rPr>
              <a:t>Resource Availability:</a:t>
            </a:r>
            <a:r>
              <a:rPr lang="en-US" b="0" i="0" dirty="0">
                <a:solidFill>
                  <a:srgbClr val="374151"/>
                </a:solidFill>
                <a:effectLst/>
                <a:latin typeface="Söhne"/>
              </a:rPr>
              <a:t> CIOs evaluate the availability of resources, including budget, personnel, and technology infrastructure. They need to ensure that the organization has the capacity to execute the selected projects effectively. Resource constraints can influence the decision to greenlight or delay certain initiatives.</a:t>
            </a:r>
          </a:p>
          <a:p>
            <a:pPr algn="l">
              <a:buFont typeface="+mj-lt"/>
              <a:buAutoNum type="arabicPeriod"/>
            </a:pPr>
            <a:r>
              <a:rPr lang="en-US" b="1" i="0" dirty="0">
                <a:solidFill>
                  <a:srgbClr val="374151"/>
                </a:solidFill>
                <a:effectLst/>
                <a:latin typeface="Söhne"/>
              </a:rPr>
              <a:t>Risk Evaluation:</a:t>
            </a:r>
            <a:r>
              <a:rPr lang="en-US" b="0" i="0" dirty="0">
                <a:solidFill>
                  <a:srgbClr val="374151"/>
                </a:solidFill>
                <a:effectLst/>
                <a:latin typeface="Söhne"/>
              </a:rPr>
              <a:t> CIOs assess the risk levels associated with each project. This evaluation includes considering the technical, operational, financial, and strategic risks that a project may pose. High-risk projects may require additional planning, mitigation strategies, or executive oversight.</a:t>
            </a:r>
          </a:p>
          <a:p>
            <a:pPr algn="l">
              <a:buFont typeface="+mj-lt"/>
              <a:buAutoNum type="arabicPeriod"/>
            </a:pPr>
            <a:r>
              <a:rPr lang="en-US" b="1" i="0" dirty="0">
                <a:solidFill>
                  <a:srgbClr val="374151"/>
                </a:solidFill>
                <a:effectLst/>
                <a:latin typeface="Söhne"/>
              </a:rPr>
              <a:t>Cost-Benefit Analysis:</a:t>
            </a:r>
            <a:r>
              <a:rPr lang="en-US" b="0" i="0" dirty="0">
                <a:solidFill>
                  <a:srgbClr val="374151"/>
                </a:solidFill>
                <a:effectLst/>
                <a:latin typeface="Söhne"/>
              </a:rPr>
              <a:t> CIOs conduct cost-benefit analyses for each potential project. This analysis helps quantify the expected costs and benefits of each initiative. Projects with a favorable cost-benefit ratio are given higher priority.</a:t>
            </a:r>
          </a:p>
          <a:p>
            <a:pPr algn="l">
              <a:buFont typeface="+mj-lt"/>
              <a:buAutoNum type="arabicPeriod"/>
            </a:pPr>
            <a:r>
              <a:rPr lang="en-US" b="1" i="0" dirty="0">
                <a:solidFill>
                  <a:srgbClr val="374151"/>
                </a:solidFill>
                <a:effectLst/>
                <a:latin typeface="Söhne"/>
              </a:rPr>
              <a:t>ROI and Value Proposition:</a:t>
            </a:r>
            <a:r>
              <a:rPr lang="en-US" b="0" i="0" dirty="0">
                <a:solidFill>
                  <a:srgbClr val="374151"/>
                </a:solidFill>
                <a:effectLst/>
                <a:latin typeface="Söhne"/>
              </a:rPr>
              <a:t> CIOs prioritize projects that offer the highest return on investment (ROI) and align with the organization's value proposition. They consider not only financial returns but also intangible benefits, such as improved customer satisfaction or market competitiveness.</a:t>
            </a:r>
          </a:p>
          <a:p>
            <a:pPr algn="l">
              <a:buFont typeface="+mj-lt"/>
              <a:buAutoNum type="arabicPeriod"/>
            </a:pPr>
            <a:r>
              <a:rPr lang="en-US" b="1" i="0" dirty="0">
                <a:solidFill>
                  <a:srgbClr val="374151"/>
                </a:solidFill>
                <a:effectLst/>
                <a:latin typeface="Söhne"/>
              </a:rPr>
              <a:t>Strategic Importance:</a:t>
            </a:r>
            <a:r>
              <a:rPr lang="en-US" b="0" i="0" dirty="0">
                <a:solidFill>
                  <a:srgbClr val="374151"/>
                </a:solidFill>
                <a:effectLst/>
                <a:latin typeface="Söhne"/>
              </a:rPr>
              <a:t> CIOs prioritize projects that are strategically important to the organization. These may include initiatives that enable digital transformation, enhance cybersecurity, or support critical business processes.</a:t>
            </a:r>
          </a:p>
          <a:p>
            <a:pPr algn="l">
              <a:buFont typeface="+mj-lt"/>
              <a:buAutoNum type="arabicPeriod"/>
            </a:pPr>
            <a:r>
              <a:rPr lang="en-US" b="1" i="0" dirty="0">
                <a:solidFill>
                  <a:srgbClr val="374151"/>
                </a:solidFill>
                <a:effectLst/>
                <a:latin typeface="Söhne"/>
              </a:rPr>
              <a:t>Stakeholder Input:</a:t>
            </a:r>
            <a:r>
              <a:rPr lang="en-US" b="0" i="0" dirty="0">
                <a:solidFill>
                  <a:srgbClr val="374151"/>
                </a:solidFill>
                <a:effectLst/>
                <a:latin typeface="Söhne"/>
              </a:rPr>
              <a:t> CIOs gather input from key stakeholders, including business units, department heads, and other executives. Input from these stakeholders helps ensure that project selection decisions are well-informed and align with the needs and priorities of different parts of the organization.</a:t>
            </a:r>
          </a:p>
          <a:p>
            <a:pPr algn="l">
              <a:buFont typeface="+mj-lt"/>
              <a:buAutoNum type="arabicPeriod"/>
            </a:pPr>
            <a:r>
              <a:rPr lang="en-US" b="1" i="0" dirty="0">
                <a:solidFill>
                  <a:srgbClr val="374151"/>
                </a:solidFill>
                <a:effectLst/>
                <a:latin typeface="Söhne"/>
              </a:rPr>
              <a:t>Portfolio Balancing:</a:t>
            </a:r>
            <a:r>
              <a:rPr lang="en-US" b="0" i="0" dirty="0">
                <a:solidFill>
                  <a:srgbClr val="374151"/>
                </a:solidFill>
                <a:effectLst/>
                <a:latin typeface="Söhne"/>
              </a:rPr>
              <a:t> CIOs aim to create a balanced portfolio that includes a mix of short-term and long-term projects, as well as projects that address various business needs. This balance helps mitigate risks and ensures that the organization is not overly focused on one area at the expense of others.</a:t>
            </a:r>
          </a:p>
          <a:p>
            <a:pPr algn="l">
              <a:buFont typeface="+mj-lt"/>
              <a:buAutoNum type="arabicPeriod"/>
            </a:pPr>
            <a:r>
              <a:rPr lang="en-US" b="1" i="0" dirty="0">
                <a:solidFill>
                  <a:srgbClr val="374151"/>
                </a:solidFill>
                <a:effectLst/>
                <a:latin typeface="Söhne"/>
              </a:rPr>
              <a:t>Regular Review and Adjustments:</a:t>
            </a:r>
            <a:r>
              <a:rPr lang="en-US" b="0" i="0" dirty="0">
                <a:solidFill>
                  <a:srgbClr val="374151"/>
                </a:solidFill>
                <a:effectLst/>
                <a:latin typeface="Söhne"/>
              </a:rPr>
              <a:t> Project selection is an ongoing process. CIOs regularly review the portfolio, reassess project priorities, and make adjustments as needed based on changing business conditions, resource availability, and strategic shifts.</a:t>
            </a:r>
          </a:p>
          <a:p>
            <a:endParaRPr lang="en-US" dirty="0"/>
          </a:p>
        </p:txBody>
      </p:sp>
      <p:sp>
        <p:nvSpPr>
          <p:cNvPr id="4" name="Slide Number Placeholder 3"/>
          <p:cNvSpPr>
            <a:spLocks noGrp="1"/>
          </p:cNvSpPr>
          <p:nvPr>
            <p:ph type="sldNum" sz="quarter" idx="5"/>
          </p:nvPr>
        </p:nvSpPr>
        <p:spPr/>
        <p:txBody>
          <a:bodyPr/>
          <a:lstStyle/>
          <a:p>
            <a:pPr>
              <a:defRPr/>
            </a:pPr>
            <a:fld id="{EF43D597-E0EA-46C8-B6E3-EF1495F2D343}" type="slidenum">
              <a:rPr lang="en-US" altLang="en-US" smtClean="0"/>
              <a:pPr>
                <a:defRPr/>
              </a:pPr>
              <a:t>9</a:t>
            </a:fld>
            <a:endParaRPr lang="en-US" altLang="en-US"/>
          </a:p>
        </p:txBody>
      </p:sp>
    </p:spTree>
    <p:extLst>
      <p:ext uri="{BB962C8B-B14F-4D97-AF65-F5344CB8AC3E}">
        <p14:creationId xmlns:p14="http://schemas.microsoft.com/office/powerpoint/2010/main" val="2339215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F43D597-E0EA-46C8-B6E3-EF1495F2D343}" type="slidenum">
              <a:rPr lang="en-US" altLang="en-US" smtClean="0"/>
              <a:pPr>
                <a:defRPr/>
              </a:pPr>
              <a:t>10</a:t>
            </a:fld>
            <a:endParaRPr lang="en-US" altLang="en-US"/>
          </a:p>
        </p:txBody>
      </p:sp>
    </p:spTree>
    <p:extLst>
      <p:ext uri="{BB962C8B-B14F-4D97-AF65-F5344CB8AC3E}">
        <p14:creationId xmlns:p14="http://schemas.microsoft.com/office/powerpoint/2010/main" val="36891850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solidFill>
                  <a:srgbClr val="231F20"/>
                </a:solidFill>
                <a:latin typeface="TimesNewRomanPS"/>
              </a:rPr>
              <a:t>Waterfall development methodologies have the advantages of identifying requirements long before programming begins and limiting changes to the requirements as the project proceeds.</a:t>
            </a:r>
          </a:p>
          <a:p>
            <a:pPr algn="l"/>
            <a:endParaRPr lang="en-US" sz="1800" b="0" i="0" u="none" strike="noStrike" baseline="0" dirty="0">
              <a:solidFill>
                <a:srgbClr val="231F20"/>
              </a:solidFill>
              <a:latin typeface="TimesNewRomanPS"/>
            </a:endParaRPr>
          </a:p>
          <a:p>
            <a:pPr algn="l"/>
            <a:r>
              <a:rPr lang="en-US" sz="1800" b="0" i="0" u="none" strike="noStrike" baseline="0" dirty="0" err="1">
                <a:solidFill>
                  <a:srgbClr val="231F20"/>
                </a:solidFill>
                <a:latin typeface="TimesNewRomanPS"/>
              </a:rPr>
              <a:t>Disad</a:t>
            </a:r>
            <a:endParaRPr lang="en-US" sz="1800" b="0" i="0" u="none" strike="noStrike" baseline="0" dirty="0">
              <a:solidFill>
                <a:srgbClr val="231F20"/>
              </a:solidFill>
              <a:latin typeface="TimesNewRomanPS"/>
            </a:endParaRPr>
          </a:p>
          <a:p>
            <a:pPr algn="l"/>
            <a:r>
              <a:rPr lang="en-US" sz="1800" b="0" i="0" u="none" strike="noStrike" baseline="0" dirty="0">
                <a:solidFill>
                  <a:srgbClr val="231F20"/>
                </a:solidFill>
                <a:latin typeface="TimesNewRomanPS"/>
              </a:rPr>
              <a:t>design must be completely specified before programming begins,</a:t>
            </a:r>
            <a:endParaRPr lang="en-US" dirty="0"/>
          </a:p>
        </p:txBody>
      </p:sp>
      <p:sp>
        <p:nvSpPr>
          <p:cNvPr id="4" name="Slide Number Placeholder 3"/>
          <p:cNvSpPr>
            <a:spLocks noGrp="1"/>
          </p:cNvSpPr>
          <p:nvPr>
            <p:ph type="sldNum" sz="quarter" idx="5"/>
          </p:nvPr>
        </p:nvSpPr>
        <p:spPr/>
        <p:txBody>
          <a:bodyPr/>
          <a:lstStyle/>
          <a:p>
            <a:pPr>
              <a:defRPr/>
            </a:pPr>
            <a:fld id="{EF43D597-E0EA-46C8-B6E3-EF1495F2D343}" type="slidenum">
              <a:rPr lang="en-US" altLang="en-US" smtClean="0"/>
              <a:pPr>
                <a:defRPr/>
              </a:pPr>
              <a:t>12</a:t>
            </a:fld>
            <a:endParaRPr lang="en-US" altLang="en-US"/>
          </a:p>
        </p:txBody>
      </p:sp>
    </p:spTree>
    <p:extLst>
      <p:ext uri="{BB962C8B-B14F-4D97-AF65-F5344CB8AC3E}">
        <p14:creationId xmlns:p14="http://schemas.microsoft.com/office/powerpoint/2010/main" val="12262386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This is a variant of waterfall approach..</a:t>
            </a:r>
          </a:p>
          <a:p>
            <a:endParaRPr lang="en-US" dirty="0"/>
          </a:p>
          <a:p>
            <a:pPr algn="l"/>
            <a:r>
              <a:rPr lang="en-US" sz="1800" b="0" i="0" u="none" strike="noStrike" baseline="0" dirty="0">
                <a:solidFill>
                  <a:srgbClr val="231F20"/>
                </a:solidFill>
                <a:latin typeface="TimesNewRomanPS"/>
              </a:rPr>
              <a:t>instead of doing the design and implementation in sequence, a general design for the whole system is performed. Then the project is divided into a series of subprojects that can be designed and implemented in parallel.</a:t>
            </a:r>
          </a:p>
          <a:p>
            <a:pPr algn="l"/>
            <a:endParaRPr lang="en-US" sz="1800" b="0" i="0" u="none" strike="noStrike" baseline="0" dirty="0">
              <a:solidFill>
                <a:srgbClr val="231F20"/>
              </a:solidFill>
              <a:latin typeface="TimesNewRomanPS"/>
            </a:endParaRPr>
          </a:p>
          <a:p>
            <a:pPr algn="l"/>
            <a:r>
              <a:rPr lang="en-US" sz="1800" b="0" i="0" u="none" strike="noStrike" baseline="0" dirty="0">
                <a:solidFill>
                  <a:srgbClr val="231F20"/>
                </a:solidFill>
                <a:latin typeface="TimesNewRomanPS"/>
              </a:rPr>
              <a:t>Ad</a:t>
            </a:r>
          </a:p>
          <a:p>
            <a:pPr algn="l"/>
            <a:r>
              <a:rPr lang="en-US" sz="1800" b="0" i="0" u="none" strike="noStrike" baseline="0" dirty="0">
                <a:solidFill>
                  <a:srgbClr val="231F20"/>
                </a:solidFill>
                <a:latin typeface="TimesNewRomanPS"/>
              </a:rPr>
              <a:t>reduces the time required to deliver a system,</a:t>
            </a:r>
          </a:p>
          <a:p>
            <a:pPr algn="l"/>
            <a:endParaRPr lang="en-US" sz="1800" b="0" i="0" u="none" strike="noStrike" baseline="0" dirty="0">
              <a:solidFill>
                <a:srgbClr val="231F20"/>
              </a:solidFill>
              <a:latin typeface="TimesNewRomanPS"/>
            </a:endParaRPr>
          </a:p>
          <a:p>
            <a:pPr algn="l"/>
            <a:r>
              <a:rPr lang="en-US" sz="1800" b="0" i="0" u="none" strike="noStrike" baseline="0" dirty="0" err="1">
                <a:solidFill>
                  <a:srgbClr val="231F20"/>
                </a:solidFill>
                <a:latin typeface="TimesNewRomanPS"/>
              </a:rPr>
              <a:t>Disad</a:t>
            </a:r>
            <a:r>
              <a:rPr lang="en-US" sz="1800" b="0" i="0" u="none" strike="noStrike" baseline="0" dirty="0">
                <a:solidFill>
                  <a:srgbClr val="231F20"/>
                </a:solidFill>
                <a:latin typeface="TimesNewRomanPS"/>
              </a:rPr>
              <a:t> </a:t>
            </a:r>
          </a:p>
          <a:p>
            <a:pPr algn="l"/>
            <a:r>
              <a:rPr lang="en-US" sz="1800" b="0" i="0" u="none" strike="noStrike" baseline="0" dirty="0">
                <a:solidFill>
                  <a:srgbClr val="231F20"/>
                </a:solidFill>
                <a:latin typeface="TimesNewRomanPS"/>
              </a:rPr>
              <a:t>If the subprojects are not completely independent, design decisions in one subproject may affect another, and at the project end, integrating the subprojects may be quite challenging.</a:t>
            </a:r>
            <a:endParaRPr lang="en-US" dirty="0"/>
          </a:p>
        </p:txBody>
      </p:sp>
      <p:sp>
        <p:nvSpPr>
          <p:cNvPr id="4" name="Slide Number Placeholder 3"/>
          <p:cNvSpPr>
            <a:spLocks noGrp="1"/>
          </p:cNvSpPr>
          <p:nvPr>
            <p:ph type="sldNum" sz="quarter" idx="5"/>
          </p:nvPr>
        </p:nvSpPr>
        <p:spPr/>
        <p:txBody>
          <a:bodyPr/>
          <a:lstStyle/>
          <a:p>
            <a:pPr>
              <a:defRPr/>
            </a:pPr>
            <a:fld id="{EF43D597-E0EA-46C8-B6E3-EF1495F2D343}" type="slidenum">
              <a:rPr lang="en-US" altLang="en-US" smtClean="0"/>
              <a:pPr>
                <a:defRPr/>
              </a:pPr>
              <a:t>14</a:t>
            </a:fld>
            <a:endParaRPr lang="en-US" altLang="en-US"/>
          </a:p>
        </p:txBody>
      </p:sp>
    </p:spTree>
    <p:extLst>
      <p:ext uri="{BB962C8B-B14F-4D97-AF65-F5344CB8AC3E}">
        <p14:creationId xmlns:p14="http://schemas.microsoft.com/office/powerpoint/2010/main" val="1125537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solidFill>
                  <a:srgbClr val="231F20"/>
                </a:solidFill>
                <a:latin typeface="TimesNewRomanPS"/>
              </a:rPr>
              <a:t>The </a:t>
            </a:r>
            <a:r>
              <a:rPr lang="en-US" sz="1800" b="1" i="1" u="none" strike="noStrike" baseline="0" dirty="0">
                <a:solidFill>
                  <a:srgbClr val="231F20"/>
                </a:solidFill>
                <a:latin typeface="TimesNewRomanPS-BoldItalic"/>
              </a:rPr>
              <a:t>V-model </a:t>
            </a:r>
            <a:r>
              <a:rPr lang="en-US" sz="1800" b="0" i="0" u="none" strike="noStrike" baseline="0" dirty="0">
                <a:solidFill>
                  <a:srgbClr val="231F20"/>
                </a:solidFill>
                <a:latin typeface="TimesNewRomanPS"/>
              </a:rPr>
              <a:t>is another variation of waterfall development that pays more explicit attention to testing.</a:t>
            </a:r>
          </a:p>
          <a:p>
            <a:pPr algn="l"/>
            <a:r>
              <a:rPr lang="en-US" sz="1800" b="0" i="0" u="none" strike="noStrike" baseline="0" dirty="0">
                <a:solidFill>
                  <a:srgbClr val="231F20"/>
                </a:solidFill>
                <a:latin typeface="TimesNewRomanPS"/>
              </a:rPr>
              <a:t>A key concept of this model is that as requirements are specified and components designed, testing for those elements is also defined.</a:t>
            </a:r>
          </a:p>
          <a:p>
            <a:pPr algn="l"/>
            <a:r>
              <a:rPr lang="en-US" sz="1800" b="0" i="0" u="none" strike="noStrike" baseline="0" dirty="0">
                <a:solidFill>
                  <a:srgbClr val="231F20"/>
                </a:solidFill>
                <a:latin typeface="TimesNewRomanPS"/>
              </a:rPr>
              <a:t>In this manner, each level of testing is clearly linked to a part of the analysis or design phase, helping to ensure high quality and relevant testing and maximize test effectiveness.</a:t>
            </a:r>
            <a:endParaRPr lang="en-US" dirty="0"/>
          </a:p>
        </p:txBody>
      </p:sp>
      <p:sp>
        <p:nvSpPr>
          <p:cNvPr id="4" name="Slide Number Placeholder 3"/>
          <p:cNvSpPr>
            <a:spLocks noGrp="1"/>
          </p:cNvSpPr>
          <p:nvPr>
            <p:ph type="sldNum" sz="quarter" idx="5"/>
          </p:nvPr>
        </p:nvSpPr>
        <p:spPr/>
        <p:txBody>
          <a:bodyPr/>
          <a:lstStyle/>
          <a:p>
            <a:pPr>
              <a:defRPr/>
            </a:pPr>
            <a:fld id="{EF43D597-E0EA-46C8-B6E3-EF1495F2D343}" type="slidenum">
              <a:rPr lang="en-US" altLang="en-US" smtClean="0"/>
              <a:pPr>
                <a:defRPr/>
              </a:pPr>
              <a:t>15</a:t>
            </a:fld>
            <a:endParaRPr lang="en-US" altLang="en-US"/>
          </a:p>
        </p:txBody>
      </p:sp>
    </p:spTree>
    <p:extLst>
      <p:ext uri="{BB962C8B-B14F-4D97-AF65-F5344CB8AC3E}">
        <p14:creationId xmlns:p14="http://schemas.microsoft.com/office/powerpoint/2010/main" val="2097625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lgn="l"/>
            <a:r>
              <a:rPr lang="en-US" sz="1800" b="0" i="1" u="none" strike="noStrike" baseline="0" dirty="0">
                <a:solidFill>
                  <a:srgbClr val="231F20"/>
                </a:solidFill>
                <a:latin typeface="TimesNewRomanPS-Italic"/>
              </a:rPr>
              <a:t>Rapid application development </a:t>
            </a:r>
            <a:r>
              <a:rPr lang="en-US" sz="1800" b="0" i="0" u="none" strike="noStrike" baseline="0" dirty="0">
                <a:solidFill>
                  <a:srgbClr val="231F20"/>
                </a:solidFill>
                <a:latin typeface="TimesNewRomanPS"/>
              </a:rPr>
              <a:t>is a collection of methodologies that emerged in response to the weaknesses of waterfall development and its variations.</a:t>
            </a:r>
          </a:p>
          <a:p>
            <a:pPr algn="l"/>
            <a:r>
              <a:rPr lang="en-US" sz="1800" b="0" i="0" u="none" strike="noStrike" baseline="0" dirty="0">
                <a:solidFill>
                  <a:srgbClr val="231F20"/>
                </a:solidFill>
                <a:latin typeface="TimesNewRomanPS"/>
              </a:rPr>
              <a:t>RAD incorporates special techniques and computer tools to speed up the analysis, design, and implementation phases in order to get some portion of the system developed quickly and into the hands of the users for evaluation and feedback. </a:t>
            </a:r>
          </a:p>
          <a:p>
            <a:pPr algn="l"/>
            <a:endParaRPr lang="en-US" sz="1800" b="0" i="0" u="none" strike="noStrike" baseline="0" dirty="0">
              <a:solidFill>
                <a:srgbClr val="231F20"/>
              </a:solidFill>
              <a:latin typeface="TimesNewRomanPS"/>
            </a:endParaRPr>
          </a:p>
          <a:p>
            <a:pPr algn="l"/>
            <a:r>
              <a:rPr lang="en-US" sz="1800" b="0" i="0" u="none" strike="noStrike" baseline="0" dirty="0">
                <a:solidFill>
                  <a:srgbClr val="231F20"/>
                </a:solidFill>
                <a:latin typeface="TimesNewRomanPS"/>
              </a:rPr>
              <a:t>CASE tools  -</a:t>
            </a:r>
            <a:r>
              <a:rPr lang="en-US" sz="1800" b="0" i="1" u="none" strike="noStrike" baseline="0" dirty="0">
                <a:solidFill>
                  <a:srgbClr val="231F20"/>
                </a:solidFill>
                <a:latin typeface="TimesNewRomanPS-Italic"/>
              </a:rPr>
              <a:t>Computer-aided software engineering</a:t>
            </a:r>
            <a:endParaRPr lang="en-US" sz="1800" b="0" i="0" u="none" strike="noStrike" baseline="0" dirty="0">
              <a:solidFill>
                <a:srgbClr val="231F20"/>
              </a:solidFill>
              <a:latin typeface="TimesNewRomanPS"/>
            </a:endParaRPr>
          </a:p>
          <a:p>
            <a:pPr algn="l"/>
            <a:r>
              <a:rPr lang="en-US" sz="1800" b="0" i="0" u="none" strike="noStrike" baseline="0" dirty="0">
                <a:solidFill>
                  <a:srgbClr val="231F20"/>
                </a:solidFill>
                <a:latin typeface="TimesNewRomanPS"/>
              </a:rPr>
              <a:t>JAD</a:t>
            </a:r>
          </a:p>
          <a:p>
            <a:pPr algn="l"/>
            <a:r>
              <a:rPr lang="en-US" sz="1800" b="0" i="0" u="none" strike="noStrike" baseline="0" dirty="0">
                <a:solidFill>
                  <a:srgbClr val="231F20"/>
                </a:solidFill>
                <a:latin typeface="TimesNewRomanPS"/>
              </a:rPr>
              <a:t>Fourth generation/visual programming languages</a:t>
            </a:r>
          </a:p>
          <a:p>
            <a:pPr algn="l"/>
            <a:r>
              <a:rPr lang="en-US" sz="1800" b="0" i="0" u="none" strike="noStrike" baseline="0" dirty="0">
                <a:solidFill>
                  <a:srgbClr val="231F20"/>
                </a:solidFill>
                <a:latin typeface="TimesNewRomanPS"/>
              </a:rPr>
              <a:t>Code generators</a:t>
            </a:r>
          </a:p>
          <a:p>
            <a:pPr algn="l"/>
            <a:endParaRPr lang="en-US" sz="1800" b="0" i="0" u="none" strike="noStrike" baseline="0" dirty="0">
              <a:solidFill>
                <a:srgbClr val="231F20"/>
              </a:solidFill>
              <a:latin typeface="TimesNewRomanPS"/>
            </a:endParaRPr>
          </a:p>
          <a:p>
            <a:pPr algn="l"/>
            <a:endParaRPr lang="en-US" sz="1800" b="0" i="0" u="none" strike="noStrike" baseline="0" dirty="0">
              <a:solidFill>
                <a:srgbClr val="231F20"/>
              </a:solidFill>
              <a:latin typeface="TimesNewRomanPS"/>
            </a:endParaRPr>
          </a:p>
          <a:p>
            <a:pPr algn="l"/>
            <a:r>
              <a:rPr lang="en-US" sz="1800" b="1" i="1" u="none" strike="noStrike" baseline="0" dirty="0">
                <a:solidFill>
                  <a:srgbClr val="231F20"/>
                </a:solidFill>
                <a:latin typeface="TimesNewRomanPS-BoldItalic"/>
              </a:rPr>
              <a:t>Iterative development </a:t>
            </a:r>
            <a:r>
              <a:rPr lang="en-US" sz="1800" b="0" i="0" u="none" strike="noStrike" baseline="0" dirty="0">
                <a:solidFill>
                  <a:srgbClr val="231F20"/>
                </a:solidFill>
                <a:latin typeface="TimesNewRomanPS"/>
              </a:rPr>
              <a:t>breaks the overall project into a series of </a:t>
            </a:r>
            <a:r>
              <a:rPr lang="en-US" sz="1800" b="0" i="1" u="none" strike="noStrike" baseline="0" dirty="0">
                <a:solidFill>
                  <a:srgbClr val="231F20"/>
                </a:solidFill>
                <a:latin typeface="TimesNewRomanPS-Italic"/>
              </a:rPr>
              <a:t>versions </a:t>
            </a:r>
            <a:r>
              <a:rPr lang="en-US" sz="1800" b="0" i="0" u="none" strike="noStrike" baseline="0" dirty="0">
                <a:solidFill>
                  <a:srgbClr val="231F20"/>
                </a:solidFill>
                <a:latin typeface="TimesNewRomanPS"/>
              </a:rPr>
              <a:t>that are developed sequentially. The most important and fundamental requirements are bundled into the first version of the system. This version is developed quickly by a mini-waterfall process, and once implemented, the users can provide valuable feedback to be incorporated into the next version of the system.</a:t>
            </a:r>
          </a:p>
          <a:p>
            <a:pPr algn="l"/>
            <a:endParaRPr lang="en-US" sz="1800" b="0" i="0" u="none" strike="noStrike" baseline="0" dirty="0">
              <a:solidFill>
                <a:srgbClr val="231F20"/>
              </a:solidFill>
              <a:latin typeface="TimesNewRomanPS"/>
            </a:endParaRPr>
          </a:p>
        </p:txBody>
      </p:sp>
      <p:sp>
        <p:nvSpPr>
          <p:cNvPr id="4" name="Slide Number Placeholder 3"/>
          <p:cNvSpPr>
            <a:spLocks noGrp="1"/>
          </p:cNvSpPr>
          <p:nvPr>
            <p:ph type="sldNum" sz="quarter" idx="5"/>
          </p:nvPr>
        </p:nvSpPr>
        <p:spPr/>
        <p:txBody>
          <a:bodyPr/>
          <a:lstStyle/>
          <a:p>
            <a:pPr>
              <a:defRPr/>
            </a:pPr>
            <a:fld id="{EF43D597-E0EA-46C8-B6E3-EF1495F2D343}" type="slidenum">
              <a:rPr lang="en-US" altLang="en-US" smtClean="0"/>
              <a:pPr>
                <a:defRPr/>
              </a:pPr>
              <a:t>17</a:t>
            </a:fld>
            <a:endParaRPr lang="en-US" altLang="en-US"/>
          </a:p>
        </p:txBody>
      </p:sp>
    </p:spTree>
    <p:extLst>
      <p:ext uri="{BB962C8B-B14F-4D97-AF65-F5344CB8AC3E}">
        <p14:creationId xmlns:p14="http://schemas.microsoft.com/office/powerpoint/2010/main" val="2396401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1" i="1" u="none" strike="noStrike" baseline="0" dirty="0">
                <a:solidFill>
                  <a:srgbClr val="231F20"/>
                </a:solidFill>
                <a:latin typeface="TimesNewRomanPS-BoldItalic"/>
              </a:rPr>
              <a:t>System prototyping </a:t>
            </a:r>
            <a:r>
              <a:rPr lang="en-US" sz="1800" b="0" i="0" u="none" strike="noStrike" baseline="0" dirty="0">
                <a:solidFill>
                  <a:srgbClr val="231F20"/>
                </a:solidFill>
                <a:latin typeface="TimesNewRomanPS"/>
              </a:rPr>
              <a:t>performs the analysis, design, and implementation phases concurrently in order to quickly develop a simplified version of the proposed system</a:t>
            </a:r>
          </a:p>
          <a:p>
            <a:pPr algn="l"/>
            <a:r>
              <a:rPr lang="en-US" sz="1800" b="0" i="0" u="none" strike="noStrike" baseline="0" dirty="0">
                <a:solidFill>
                  <a:srgbClr val="231F20"/>
                </a:solidFill>
                <a:latin typeface="TimesNewRomanPS"/>
              </a:rPr>
              <a:t>and give it to the users for evaluation and feedback.</a:t>
            </a:r>
          </a:p>
          <a:p>
            <a:pPr algn="l"/>
            <a:endParaRPr lang="en-US" sz="1800" b="0" i="0" u="none" strike="noStrike" baseline="0" dirty="0">
              <a:solidFill>
                <a:srgbClr val="231F20"/>
              </a:solidFill>
              <a:latin typeface="TimesNewRomanPS"/>
            </a:endParaRPr>
          </a:p>
          <a:p>
            <a:pPr algn="l"/>
            <a:r>
              <a:rPr lang="en-US" sz="1800" b="0" i="0" u="none" strike="noStrike" baseline="0" dirty="0">
                <a:solidFill>
                  <a:srgbClr val="231F20"/>
                </a:solidFill>
                <a:latin typeface="TimesNewRomanPS"/>
              </a:rPr>
              <a:t>What is a prototype - quickly develop a simplified version of the proposed system and give it to the users for evaluation and feedback</a:t>
            </a:r>
          </a:p>
          <a:p>
            <a:pPr algn="l"/>
            <a:endParaRPr lang="en-US" sz="1800" b="0" i="0" u="none" strike="noStrike" baseline="0" dirty="0">
              <a:solidFill>
                <a:srgbClr val="231F20"/>
              </a:solidFill>
              <a:latin typeface="TimesNewRomanPS"/>
            </a:endParaRPr>
          </a:p>
          <a:p>
            <a:pPr algn="l"/>
            <a:r>
              <a:rPr lang="en-US" sz="1800" b="0" i="0" u="none" strike="noStrike" baseline="0" dirty="0">
                <a:solidFill>
                  <a:srgbClr val="231F20"/>
                </a:solidFill>
                <a:latin typeface="TimesNewRomanPS"/>
              </a:rPr>
              <a:t>System prototyping very quickly provides a system for users to evaluate and reassures users that progress is being made..</a:t>
            </a:r>
            <a:endParaRPr lang="en-US" dirty="0"/>
          </a:p>
        </p:txBody>
      </p:sp>
      <p:sp>
        <p:nvSpPr>
          <p:cNvPr id="4" name="Slide Number Placeholder 3"/>
          <p:cNvSpPr>
            <a:spLocks noGrp="1"/>
          </p:cNvSpPr>
          <p:nvPr>
            <p:ph type="sldNum" sz="quarter" idx="5"/>
          </p:nvPr>
        </p:nvSpPr>
        <p:spPr/>
        <p:txBody>
          <a:bodyPr/>
          <a:lstStyle/>
          <a:p>
            <a:pPr>
              <a:defRPr/>
            </a:pPr>
            <a:fld id="{EF43D597-E0EA-46C8-B6E3-EF1495F2D343}" type="slidenum">
              <a:rPr lang="en-US" altLang="en-US" smtClean="0"/>
              <a:pPr>
                <a:defRPr/>
              </a:pPr>
              <a:t>18</a:t>
            </a:fld>
            <a:endParaRPr lang="en-US" altLang="en-US"/>
          </a:p>
        </p:txBody>
      </p:sp>
    </p:spTree>
    <p:extLst>
      <p:ext uri="{BB962C8B-B14F-4D97-AF65-F5344CB8AC3E}">
        <p14:creationId xmlns:p14="http://schemas.microsoft.com/office/powerpoint/2010/main" val="12019237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1" i="1" u="none" strike="noStrike" baseline="0" dirty="0">
                <a:solidFill>
                  <a:srgbClr val="231F20"/>
                </a:solidFill>
                <a:latin typeface="TimesNewRomanPS-BoldItalic"/>
              </a:rPr>
              <a:t>Throwaway prototyping</a:t>
            </a:r>
            <a:r>
              <a:rPr lang="en-US" sz="1800" b="0" i="0" u="none" strike="noStrike" baseline="0" dirty="0">
                <a:solidFill>
                  <a:srgbClr val="231F20"/>
                </a:solidFill>
                <a:latin typeface="TimesNewRomanPS"/>
              </a:rPr>
              <a:t>6 includes the development of prototypes, but uses the prototypes primarily to explore design alternatives rather than as the actual new system</a:t>
            </a:r>
          </a:p>
          <a:p>
            <a:pPr algn="l"/>
            <a:r>
              <a:rPr lang="en-US" sz="1800" b="0" i="0" u="none" strike="noStrike" baseline="0" dirty="0">
                <a:solidFill>
                  <a:srgbClr val="231F20"/>
                </a:solidFill>
                <a:latin typeface="TimesNewRomanPS"/>
              </a:rPr>
              <a:t>(as in system prototyping). </a:t>
            </a:r>
          </a:p>
          <a:p>
            <a:pPr algn="l"/>
            <a:endParaRPr lang="en-US" sz="1800" b="0" i="0" u="none" strike="noStrike" baseline="0" dirty="0">
              <a:solidFill>
                <a:srgbClr val="231F20"/>
              </a:solidFill>
              <a:latin typeface="TimesNewRomanPS"/>
            </a:endParaRPr>
          </a:p>
          <a:p>
            <a:pPr algn="l"/>
            <a:r>
              <a:rPr lang="en-US" sz="1800" b="0" i="0" u="none" strike="noStrike" baseline="0" dirty="0">
                <a:solidFill>
                  <a:srgbClr val="231F20"/>
                </a:solidFill>
                <a:latin typeface="TimesNewRomanPS"/>
              </a:rPr>
              <a:t>For example, suppose that users are not completely clear on how an order entry system should work. The analyst team might build a series of HTML pages</a:t>
            </a:r>
          </a:p>
          <a:p>
            <a:pPr algn="l"/>
            <a:r>
              <a:rPr lang="en-US" sz="1800" b="0" i="0" u="none" strike="noStrike" baseline="0" dirty="0">
                <a:solidFill>
                  <a:srgbClr val="231F20"/>
                </a:solidFill>
                <a:latin typeface="TimesNewRomanPS"/>
              </a:rPr>
              <a:t>to be viewed on a Web browser to help the users visualize such a system.</a:t>
            </a:r>
            <a:endParaRPr lang="en-US" dirty="0"/>
          </a:p>
        </p:txBody>
      </p:sp>
      <p:sp>
        <p:nvSpPr>
          <p:cNvPr id="4" name="Slide Number Placeholder 3"/>
          <p:cNvSpPr>
            <a:spLocks noGrp="1"/>
          </p:cNvSpPr>
          <p:nvPr>
            <p:ph type="sldNum" sz="quarter" idx="5"/>
          </p:nvPr>
        </p:nvSpPr>
        <p:spPr/>
        <p:txBody>
          <a:bodyPr/>
          <a:lstStyle/>
          <a:p>
            <a:pPr>
              <a:defRPr/>
            </a:pPr>
            <a:fld id="{EF43D597-E0EA-46C8-B6E3-EF1495F2D343}" type="slidenum">
              <a:rPr lang="en-US" altLang="en-US" smtClean="0"/>
              <a:pPr>
                <a:defRPr/>
              </a:pPr>
              <a:t>20</a:t>
            </a:fld>
            <a:endParaRPr lang="en-US" altLang="en-US"/>
          </a:p>
        </p:txBody>
      </p:sp>
    </p:spTree>
    <p:extLst>
      <p:ext uri="{BB962C8B-B14F-4D97-AF65-F5344CB8AC3E}">
        <p14:creationId xmlns:p14="http://schemas.microsoft.com/office/powerpoint/2010/main" val="2115422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1" i="0" u="none" strike="noStrike" baseline="0" dirty="0">
                <a:solidFill>
                  <a:srgbClr val="231F20"/>
                </a:solidFill>
                <a:latin typeface="TimesNewRomanPS-Bold"/>
              </a:rPr>
              <a:t>Extreme programming</a:t>
            </a:r>
            <a:r>
              <a:rPr lang="en-US" sz="1800" b="0" i="0" u="none" strike="noStrike" baseline="0" dirty="0">
                <a:solidFill>
                  <a:srgbClr val="231F20"/>
                </a:solidFill>
                <a:latin typeface="TimesNewRomanPS"/>
              </a:rPr>
              <a:t>11 emphasizes customer satisfaction and teamwork.</a:t>
            </a:r>
          </a:p>
          <a:p>
            <a:pPr algn="l"/>
            <a:r>
              <a:rPr lang="en-US" sz="1800" b="0" i="0" u="none" strike="noStrike" baseline="0" dirty="0">
                <a:solidFill>
                  <a:srgbClr val="231F20"/>
                </a:solidFill>
                <a:latin typeface="TimesNewRomanPS"/>
              </a:rPr>
              <a:t>Communication, simplicity, feedback, and courage are core values. Developers communicate</a:t>
            </a:r>
          </a:p>
          <a:p>
            <a:pPr algn="l"/>
            <a:r>
              <a:rPr lang="en-US" sz="1800" b="0" i="0" u="none" strike="noStrike" baseline="0" dirty="0">
                <a:solidFill>
                  <a:srgbClr val="231F20"/>
                </a:solidFill>
                <a:latin typeface="TimesNewRomanPS"/>
              </a:rPr>
              <a:t>with customers and fellow programmers. Designs are kept simple and clean.</a:t>
            </a:r>
          </a:p>
          <a:p>
            <a:pPr algn="l"/>
            <a:r>
              <a:rPr lang="en-US" sz="1800" b="0" i="0" u="none" strike="noStrike" baseline="0" dirty="0">
                <a:solidFill>
                  <a:srgbClr val="231F20"/>
                </a:solidFill>
                <a:latin typeface="TimesNewRomanPS"/>
              </a:rPr>
              <a:t>Early and frequent testing provides feedback, and developers are able to courageously</a:t>
            </a:r>
          </a:p>
          <a:p>
            <a:pPr algn="l"/>
            <a:r>
              <a:rPr lang="en-US" sz="1800" b="0" i="0" u="none" strike="noStrike" baseline="0" dirty="0">
                <a:solidFill>
                  <a:srgbClr val="231F20"/>
                </a:solidFill>
                <a:latin typeface="TimesNewRomanPS"/>
              </a:rPr>
              <a:t>respond to changing requirements and technology. Project teams are kept small.</a:t>
            </a:r>
            <a:endParaRPr lang="en-US" dirty="0"/>
          </a:p>
        </p:txBody>
      </p:sp>
      <p:sp>
        <p:nvSpPr>
          <p:cNvPr id="4" name="Slide Number Placeholder 3"/>
          <p:cNvSpPr>
            <a:spLocks noGrp="1"/>
          </p:cNvSpPr>
          <p:nvPr>
            <p:ph type="sldNum" sz="quarter" idx="5"/>
          </p:nvPr>
        </p:nvSpPr>
        <p:spPr/>
        <p:txBody>
          <a:bodyPr/>
          <a:lstStyle/>
          <a:p>
            <a:pPr>
              <a:defRPr/>
            </a:pPr>
            <a:fld id="{EF43D597-E0EA-46C8-B6E3-EF1495F2D343}" type="slidenum">
              <a:rPr lang="en-US" altLang="en-US" smtClean="0"/>
              <a:pPr>
                <a:defRPr/>
              </a:pPr>
              <a:t>24</a:t>
            </a:fld>
            <a:endParaRPr lang="en-US" altLang="en-US"/>
          </a:p>
        </p:txBody>
      </p:sp>
    </p:spTree>
    <p:extLst>
      <p:ext uri="{BB962C8B-B14F-4D97-AF65-F5344CB8AC3E}">
        <p14:creationId xmlns:p14="http://schemas.microsoft.com/office/powerpoint/2010/main" val="1278609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EF43D597-E0EA-46C8-B6E3-EF1495F2D343}" type="slidenum">
              <a:rPr lang="en-US" altLang="en-US" smtClean="0"/>
              <a:pPr>
                <a:defRPr/>
              </a:pPr>
              <a:t>28</a:t>
            </a:fld>
            <a:endParaRPr lang="en-US" altLang="en-US"/>
          </a:p>
        </p:txBody>
      </p:sp>
    </p:spTree>
    <p:extLst>
      <p:ext uri="{BB962C8B-B14F-4D97-AF65-F5344CB8AC3E}">
        <p14:creationId xmlns:p14="http://schemas.microsoft.com/office/powerpoint/2010/main" val="10067223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514350" eaLnBrk="1" hangingPunct="1">
              <a:lnSpc>
                <a:spcPct val="80000"/>
              </a:lnSpc>
              <a:spcBef>
                <a:spcPct val="0"/>
              </a:spcBef>
              <a:buFont typeface="Wingdings" pitchFamily="2" charset="2"/>
              <a:buNone/>
              <a:defRPr/>
            </a:pPr>
            <a:r>
              <a:rPr lang="en-US" sz="1200" b="1" dirty="0"/>
              <a:t>Numbers” for calculations take from different sources</a:t>
            </a:r>
          </a:p>
          <a:p>
            <a:pPr marL="514350" indent="-514350" eaLnBrk="1" hangingPunct="1">
              <a:lnSpc>
                <a:spcPct val="80000"/>
              </a:lnSpc>
              <a:spcBef>
                <a:spcPct val="0"/>
              </a:spcBef>
              <a:buFont typeface="Wingdings" pitchFamily="2" charset="2"/>
              <a:buNone/>
              <a:defRPr/>
            </a:pPr>
            <a:r>
              <a:rPr lang="en-US" sz="1200" b="1" dirty="0"/>
              <a:t>	- methodology itself, similar projects, personnel exp</a:t>
            </a:r>
            <a:endParaRPr lang="en-US" dirty="0"/>
          </a:p>
        </p:txBody>
      </p:sp>
      <p:sp>
        <p:nvSpPr>
          <p:cNvPr id="4" name="Slide Number Placeholder 3"/>
          <p:cNvSpPr>
            <a:spLocks noGrp="1"/>
          </p:cNvSpPr>
          <p:nvPr>
            <p:ph type="sldNum" sz="quarter" idx="5"/>
          </p:nvPr>
        </p:nvSpPr>
        <p:spPr/>
        <p:txBody>
          <a:bodyPr/>
          <a:lstStyle/>
          <a:p>
            <a:pPr>
              <a:defRPr/>
            </a:pPr>
            <a:fld id="{EF43D597-E0EA-46C8-B6E3-EF1495F2D343}" type="slidenum">
              <a:rPr lang="en-US" altLang="en-US" smtClean="0"/>
              <a:pPr>
                <a:defRPr/>
              </a:pPr>
              <a:t>29</a:t>
            </a:fld>
            <a:endParaRPr lang="en-US" altLang="en-US"/>
          </a:p>
        </p:txBody>
      </p:sp>
    </p:spTree>
    <p:extLst>
      <p:ext uri="{BB962C8B-B14F-4D97-AF65-F5344CB8AC3E}">
        <p14:creationId xmlns:p14="http://schemas.microsoft.com/office/powerpoint/2010/main" val="23387776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F43D597-E0EA-46C8-B6E3-EF1495F2D343}" type="slidenum">
              <a:rPr lang="en-US" altLang="en-US" smtClean="0"/>
              <a:pPr>
                <a:defRPr/>
              </a:pPr>
              <a:t>33</a:t>
            </a:fld>
            <a:endParaRPr lang="en-US" altLang="en-US"/>
          </a:p>
        </p:txBody>
      </p:sp>
    </p:spTree>
    <p:extLst>
      <p:ext uri="{BB962C8B-B14F-4D97-AF65-F5344CB8AC3E}">
        <p14:creationId xmlns:p14="http://schemas.microsoft.com/office/powerpoint/2010/main" val="588814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EF43D597-E0EA-46C8-B6E3-EF1495F2D343}" type="slidenum">
              <a:rPr lang="en-US" altLang="en-US" smtClean="0"/>
              <a:pPr>
                <a:defRPr/>
              </a:pPr>
              <a:t>35</a:t>
            </a:fld>
            <a:endParaRPr lang="en-US" altLang="en-US"/>
          </a:p>
        </p:txBody>
      </p:sp>
    </p:spTree>
    <p:extLst>
      <p:ext uri="{BB962C8B-B14F-4D97-AF65-F5344CB8AC3E}">
        <p14:creationId xmlns:p14="http://schemas.microsoft.com/office/powerpoint/2010/main" val="7470110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38200"/>
            <a:ext cx="7772400" cy="3429000"/>
          </a:xfrm>
        </p:spPr>
        <p:txBody>
          <a:bodyPr/>
          <a:lstStyle>
            <a:lvl1pPr>
              <a:defRPr sz="3200" b="1"/>
            </a:lvl1pPr>
          </a:lstStyle>
          <a:p>
            <a:r>
              <a:rPr lang="en-US"/>
              <a:t>Click to edit Master title style</a:t>
            </a:r>
            <a:endParaRPr lang="en-US" dirty="0"/>
          </a:p>
        </p:txBody>
      </p:sp>
      <p:sp>
        <p:nvSpPr>
          <p:cNvPr id="3" name="Subtitle 2"/>
          <p:cNvSpPr>
            <a:spLocks noGrp="1"/>
          </p:cNvSpPr>
          <p:nvPr>
            <p:ph type="subTitle" idx="1"/>
          </p:nvPr>
        </p:nvSpPr>
        <p:spPr>
          <a:xfrm>
            <a:off x="304800" y="4953000"/>
            <a:ext cx="8534400" cy="685800"/>
          </a:xfrm>
        </p:spPr>
        <p:txBody>
          <a:bodyPr/>
          <a:lstStyle>
            <a:lvl1pPr marL="0" indent="0" algn="ctr">
              <a:buNone/>
              <a:defRPr sz="32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A05DE95-1DFA-42DF-98E9-79A19F55E509}"/>
              </a:ext>
            </a:extLst>
          </p:cNvPr>
          <p:cNvSpPr>
            <a:spLocks noGrp="1"/>
          </p:cNvSpPr>
          <p:nvPr>
            <p:ph type="dt" sz="half" idx="10"/>
          </p:nvPr>
        </p:nvSpPr>
        <p:spPr>
          <a:xfrm>
            <a:off x="457200" y="6356350"/>
            <a:ext cx="152400" cy="365125"/>
          </a:xfrm>
        </p:spPr>
        <p:txBody>
          <a:bodyPr/>
          <a:lstStyle>
            <a:lvl1pPr>
              <a:defRPr/>
            </a:lvl1pPr>
          </a:lstStyle>
          <a:p>
            <a:pPr>
              <a:defRPr/>
            </a:pPr>
            <a:r>
              <a:rPr lang="en-US"/>
              <a:t> </a:t>
            </a:r>
          </a:p>
        </p:txBody>
      </p:sp>
      <p:sp>
        <p:nvSpPr>
          <p:cNvPr id="5" name="Footer Placeholder 4">
            <a:extLst>
              <a:ext uri="{FF2B5EF4-FFF2-40B4-BE49-F238E27FC236}">
                <a16:creationId xmlns:a16="http://schemas.microsoft.com/office/drawing/2014/main" id="{A6FDC01D-9A2E-4199-9FE4-35BA93AAEEDB}"/>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6" name="Slide Number Placeholder 5">
            <a:extLst>
              <a:ext uri="{FF2B5EF4-FFF2-40B4-BE49-F238E27FC236}">
                <a16:creationId xmlns:a16="http://schemas.microsoft.com/office/drawing/2014/main" id="{3B65D35C-F495-4C87-84AF-5A8CF8684F2A}"/>
              </a:ext>
            </a:extLst>
          </p:cNvPr>
          <p:cNvSpPr>
            <a:spLocks noGrp="1"/>
          </p:cNvSpPr>
          <p:nvPr>
            <p:ph type="sldNum" sz="quarter" idx="12"/>
          </p:nvPr>
        </p:nvSpPr>
        <p:spPr/>
        <p:txBody>
          <a:bodyPr/>
          <a:lstStyle>
            <a:lvl1pPr>
              <a:defRPr/>
            </a:lvl1pPr>
          </a:lstStyle>
          <a:p>
            <a:pPr>
              <a:defRPr/>
            </a:pPr>
            <a:r>
              <a:rPr lang="en-US" altLang="en-US"/>
              <a:t>2-</a:t>
            </a:r>
            <a:fld id="{21D40A56-C2BB-42CB-8EFF-5BFF7E952E3E}" type="slidenum">
              <a:rPr lang="en-US" altLang="en-US" smtClean="0"/>
              <a:pPr>
                <a:defRPr/>
              </a:pPr>
              <a:t>‹#›</a:t>
            </a:fld>
            <a:endParaRPr lang="en-US" altLang="en-US"/>
          </a:p>
        </p:txBody>
      </p:sp>
    </p:spTree>
    <p:extLst>
      <p:ext uri="{BB962C8B-B14F-4D97-AF65-F5344CB8AC3E}">
        <p14:creationId xmlns:p14="http://schemas.microsoft.com/office/powerpoint/2010/main" val="2776221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16E05C37-168A-4303-A78E-EBAED69108B7}"/>
              </a:ext>
            </a:extLst>
          </p:cNvPr>
          <p:cNvCxnSpPr/>
          <p:nvPr userDrawn="1"/>
        </p:nvCxnSpPr>
        <p:spPr>
          <a:xfrm>
            <a:off x="457200" y="1447800"/>
            <a:ext cx="8229600" cy="0"/>
          </a:xfrm>
          <a:prstGeom prst="line">
            <a:avLst/>
          </a:prstGeom>
          <a:ln w="762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b="1"/>
            </a:lvl1pPr>
          </a:lstStyle>
          <a:p>
            <a:r>
              <a:rPr lang="en-US" dirty="0"/>
              <a:t>Click to edit Master title style</a:t>
            </a:r>
          </a:p>
        </p:txBody>
      </p:sp>
      <p:sp>
        <p:nvSpPr>
          <p:cNvPr id="3" name="Content Placeholder 2"/>
          <p:cNvSpPr>
            <a:spLocks noGrp="1"/>
          </p:cNvSpPr>
          <p:nvPr>
            <p:ph idx="1"/>
          </p:nvPr>
        </p:nvSpPr>
        <p:spPr/>
        <p:txBody>
          <a:bodyPr/>
          <a:lstStyle>
            <a:lvl1pPr>
              <a:spcBef>
                <a:spcPts val="0"/>
              </a:spcBef>
              <a:buClr>
                <a:srgbClr val="0070C0"/>
              </a:buClr>
              <a:buSzPct val="150000"/>
              <a:buFont typeface="Wingdings" pitchFamily="2" charset="2"/>
              <a:buChar char="§"/>
              <a:defRPr sz="40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E95552D6-AC7D-4E6B-A634-AB7FA059D9E6}"/>
              </a:ext>
            </a:extLst>
          </p:cNvPr>
          <p:cNvSpPr>
            <a:spLocks noGrp="1"/>
          </p:cNvSpPr>
          <p:nvPr>
            <p:ph type="dt" sz="half" idx="10"/>
          </p:nvPr>
        </p:nvSpPr>
        <p:spPr/>
        <p:txBody>
          <a:bodyPr/>
          <a:lstStyle>
            <a:lvl1pPr>
              <a:defRPr/>
            </a:lvl1pPr>
          </a:lstStyle>
          <a:p>
            <a:pPr>
              <a:defRPr/>
            </a:pPr>
            <a:r>
              <a:rPr lang="en-US"/>
              <a:t> </a:t>
            </a:r>
          </a:p>
        </p:txBody>
      </p:sp>
      <p:sp>
        <p:nvSpPr>
          <p:cNvPr id="6" name="Footer Placeholder 4">
            <a:extLst>
              <a:ext uri="{FF2B5EF4-FFF2-40B4-BE49-F238E27FC236}">
                <a16:creationId xmlns:a16="http://schemas.microsoft.com/office/drawing/2014/main" id="{C65138AC-7D98-464D-A670-9F861F3345B2}"/>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7" name="Slide Number Placeholder 5">
            <a:extLst>
              <a:ext uri="{FF2B5EF4-FFF2-40B4-BE49-F238E27FC236}">
                <a16:creationId xmlns:a16="http://schemas.microsoft.com/office/drawing/2014/main" id="{B91D747B-4951-4FB1-8A97-8D0C8E9A341C}"/>
              </a:ext>
            </a:extLst>
          </p:cNvPr>
          <p:cNvSpPr>
            <a:spLocks noGrp="1"/>
          </p:cNvSpPr>
          <p:nvPr>
            <p:ph type="sldNum" sz="quarter" idx="12"/>
          </p:nvPr>
        </p:nvSpPr>
        <p:spPr/>
        <p:txBody>
          <a:bodyPr/>
          <a:lstStyle>
            <a:lvl1pPr>
              <a:defRPr/>
            </a:lvl1pPr>
          </a:lstStyle>
          <a:p>
            <a:pPr>
              <a:defRPr/>
            </a:pPr>
            <a:r>
              <a:rPr lang="en-US" altLang="en-US"/>
              <a:t>2-</a:t>
            </a:r>
            <a:fld id="{66D7992E-9CBB-4BDD-A8D3-FEF6FD4C1375}" type="slidenum">
              <a:rPr lang="en-US" altLang="en-US" smtClean="0"/>
              <a:pPr>
                <a:defRPr/>
              </a:pPr>
              <a:t>‹#›</a:t>
            </a:fld>
            <a:endParaRPr lang="en-US" altLang="en-US"/>
          </a:p>
        </p:txBody>
      </p:sp>
    </p:spTree>
    <p:extLst>
      <p:ext uri="{BB962C8B-B14F-4D97-AF65-F5344CB8AC3E}">
        <p14:creationId xmlns:p14="http://schemas.microsoft.com/office/powerpoint/2010/main" val="584730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D1C012E-CF33-45A9-9214-960F9551C52D}"/>
              </a:ext>
            </a:extLst>
          </p:cNvPr>
          <p:cNvSpPr>
            <a:spLocks noGrp="1"/>
          </p:cNvSpPr>
          <p:nvPr>
            <p:ph type="dt" sz="half" idx="10"/>
          </p:nvPr>
        </p:nvSpPr>
        <p:spPr/>
        <p:txBody>
          <a:bodyPr/>
          <a:lstStyle>
            <a:lvl1pPr>
              <a:defRPr/>
            </a:lvl1pPr>
          </a:lstStyle>
          <a:p>
            <a:pPr>
              <a:defRPr/>
            </a:pPr>
            <a:r>
              <a:rPr lang="en-US"/>
              <a:t> </a:t>
            </a:r>
          </a:p>
        </p:txBody>
      </p:sp>
      <p:sp>
        <p:nvSpPr>
          <p:cNvPr id="6" name="Footer Placeholder 5">
            <a:extLst>
              <a:ext uri="{FF2B5EF4-FFF2-40B4-BE49-F238E27FC236}">
                <a16:creationId xmlns:a16="http://schemas.microsoft.com/office/drawing/2014/main" id="{99B321E6-2E21-45BE-9E67-5013FB339D63}"/>
              </a:ext>
            </a:extLst>
          </p:cNvPr>
          <p:cNvSpPr>
            <a:spLocks noGrp="1"/>
          </p:cNvSpPr>
          <p:nvPr>
            <p:ph type="ftr" sz="quarter" idx="11"/>
          </p:nvPr>
        </p:nvSpPr>
        <p:spPr/>
        <p:txBody>
          <a:bodyPr/>
          <a:lstStyle>
            <a:lvl1pPr>
              <a:defRPr/>
            </a:lvl1pPr>
          </a:lstStyle>
          <a:p>
            <a:pPr>
              <a:defRPr/>
            </a:pPr>
            <a:r>
              <a:rPr lang="en-US"/>
              <a:t>© Copyright 2011 John Wiley &amp; Sons, Inc.</a:t>
            </a:r>
          </a:p>
        </p:txBody>
      </p:sp>
      <p:sp>
        <p:nvSpPr>
          <p:cNvPr id="7" name="Slide Number Placeholder 6">
            <a:extLst>
              <a:ext uri="{FF2B5EF4-FFF2-40B4-BE49-F238E27FC236}">
                <a16:creationId xmlns:a16="http://schemas.microsoft.com/office/drawing/2014/main" id="{C98874DC-4EA4-46C3-8FA7-463647F6AAD7}"/>
              </a:ext>
            </a:extLst>
          </p:cNvPr>
          <p:cNvSpPr>
            <a:spLocks noGrp="1"/>
          </p:cNvSpPr>
          <p:nvPr>
            <p:ph type="sldNum" sz="quarter" idx="12"/>
          </p:nvPr>
        </p:nvSpPr>
        <p:spPr/>
        <p:txBody>
          <a:bodyPr/>
          <a:lstStyle>
            <a:lvl1pPr>
              <a:defRPr smtClean="0"/>
            </a:lvl1pPr>
          </a:lstStyle>
          <a:p>
            <a:pPr>
              <a:defRPr/>
            </a:pPr>
            <a:fld id="{44592715-8E98-4FD6-BEE5-FA778778EF99}" type="slidenum">
              <a:rPr lang="en-US" altLang="en-US"/>
              <a:pPr>
                <a:defRPr/>
              </a:pPr>
              <a:t>‹#›</a:t>
            </a:fld>
            <a:endParaRPr lang="en-US" altLang="en-US"/>
          </a:p>
        </p:txBody>
      </p:sp>
    </p:spTree>
    <p:extLst>
      <p:ext uri="{BB962C8B-B14F-4D97-AF65-F5344CB8AC3E}">
        <p14:creationId xmlns:p14="http://schemas.microsoft.com/office/powerpoint/2010/main" val="32433054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16EB235F-42D1-47E4-A15E-6F0AD82EA95B}"/>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BDA78307-6EE9-42D3-A73C-6B8A29881D9C}"/>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E536EA76-0CF2-499F-8282-966B9AF98C33}"/>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itchFamily="34" charset="0"/>
                <a:cs typeface="Arial" charset="0"/>
              </a:defRPr>
            </a:lvl1pPr>
          </a:lstStyle>
          <a:p>
            <a:pPr>
              <a:defRPr/>
            </a:pPr>
            <a:r>
              <a:rPr lang="en-US"/>
              <a:t> </a:t>
            </a:r>
          </a:p>
        </p:txBody>
      </p:sp>
      <p:sp>
        <p:nvSpPr>
          <p:cNvPr id="5" name="Footer Placeholder 4">
            <a:extLst>
              <a:ext uri="{FF2B5EF4-FFF2-40B4-BE49-F238E27FC236}">
                <a16:creationId xmlns:a16="http://schemas.microsoft.com/office/drawing/2014/main" id="{CFEA1333-73AC-42B3-AB7E-700F7343A17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r>
              <a:rPr lang="en-US"/>
              <a:t>© Copyright 2011 John Wiley &amp; Sons, Inc.</a:t>
            </a:r>
          </a:p>
        </p:txBody>
      </p:sp>
      <p:sp>
        <p:nvSpPr>
          <p:cNvPr id="6" name="Slide Number Placeholder 5">
            <a:extLst>
              <a:ext uri="{FF2B5EF4-FFF2-40B4-BE49-F238E27FC236}">
                <a16:creationId xmlns:a16="http://schemas.microsoft.com/office/drawing/2014/main" id="{285FA107-642B-45D4-A966-DB86F8D1558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r>
              <a:rPr lang="en-US" altLang="en-US"/>
              <a:t>2-</a:t>
            </a:r>
            <a:fld id="{3F922641-2560-4A81-96FA-0DC7179C543F}"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9.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5"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icture containing text, electronics&#10;&#10;Description automatically generated">
            <a:extLst>
              <a:ext uri="{FF2B5EF4-FFF2-40B4-BE49-F238E27FC236}">
                <a16:creationId xmlns:a16="http://schemas.microsoft.com/office/drawing/2014/main" id="{1FD9B7A5-1611-436E-A6F9-DAA25643F8F8}"/>
              </a:ext>
            </a:extLst>
          </p:cNvPr>
          <p:cNvPicPr>
            <a:picLocks noChangeAspect="1"/>
          </p:cNvPicPr>
          <p:nvPr/>
        </p:nvPicPr>
        <p:blipFill rotWithShape="1">
          <a:blip r:embed="rId3">
            <a:alphaModFix amt="50000"/>
          </a:blip>
          <a:srcRect l="16345" r="16988"/>
          <a:stretch/>
        </p:blipFill>
        <p:spPr>
          <a:xfrm>
            <a:off x="20" y="1"/>
            <a:ext cx="9143980" cy="6857999"/>
          </a:xfrm>
          <a:prstGeom prst="rect">
            <a:avLst/>
          </a:prstGeom>
        </p:spPr>
      </p:pic>
      <p:sp>
        <p:nvSpPr>
          <p:cNvPr id="2" name="Title 1">
            <a:extLst>
              <a:ext uri="{FF2B5EF4-FFF2-40B4-BE49-F238E27FC236}">
                <a16:creationId xmlns:a16="http://schemas.microsoft.com/office/drawing/2014/main" id="{DAE48B8D-7A59-42A4-A61B-B66E6063DD0D}"/>
              </a:ext>
            </a:extLst>
          </p:cNvPr>
          <p:cNvSpPr>
            <a:spLocks noGrp="1"/>
          </p:cNvSpPr>
          <p:nvPr>
            <p:ph type="ctrTitle"/>
          </p:nvPr>
        </p:nvSpPr>
        <p:spPr>
          <a:xfrm>
            <a:off x="1143000" y="1122362"/>
            <a:ext cx="6858000" cy="2900518"/>
          </a:xfrm>
        </p:spPr>
        <p:txBody>
          <a:bodyPr>
            <a:normAutofit/>
          </a:bodyPr>
          <a:lstStyle/>
          <a:p>
            <a:r>
              <a:rPr lang="en-US" sz="4800" dirty="0">
                <a:solidFill>
                  <a:srgbClr val="FFFFFF"/>
                </a:solidFill>
              </a:rPr>
              <a:t>Systems Analysis &amp; Design</a:t>
            </a:r>
          </a:p>
        </p:txBody>
      </p:sp>
      <p:sp>
        <p:nvSpPr>
          <p:cNvPr id="4" name="Slide Number Placeholder 3">
            <a:extLst>
              <a:ext uri="{FF2B5EF4-FFF2-40B4-BE49-F238E27FC236}">
                <a16:creationId xmlns:a16="http://schemas.microsoft.com/office/drawing/2014/main" id="{99D05C61-8C8A-4F4B-8CD6-4A444C1FBD35}"/>
              </a:ext>
            </a:extLst>
          </p:cNvPr>
          <p:cNvSpPr>
            <a:spLocks noGrp="1"/>
          </p:cNvSpPr>
          <p:nvPr>
            <p:ph type="sldNum" sz="quarter" idx="12"/>
          </p:nvPr>
        </p:nvSpPr>
        <p:spPr/>
        <p:txBody>
          <a:bodyPr/>
          <a:lstStyle/>
          <a:p>
            <a:pPr>
              <a:defRPr/>
            </a:pPr>
            <a:r>
              <a:rPr lang="en-US" altLang="en-US"/>
              <a:t>2-</a:t>
            </a:r>
            <a:fld id="{21D40A56-C2BB-42CB-8EFF-5BFF7E952E3E}" type="slidenum">
              <a:rPr lang="en-US" altLang="en-US" smtClean="0"/>
              <a:pPr>
                <a:defRPr/>
              </a:pPr>
              <a:t>0</a:t>
            </a:fld>
            <a:endParaRPr lang="en-US" altLang="en-US"/>
          </a:p>
        </p:txBody>
      </p:sp>
      <p:sp>
        <p:nvSpPr>
          <p:cNvPr id="3" name="TextBox 2">
            <a:extLst>
              <a:ext uri="{FF2B5EF4-FFF2-40B4-BE49-F238E27FC236}">
                <a16:creationId xmlns:a16="http://schemas.microsoft.com/office/drawing/2014/main" id="{A740016C-B541-D820-AD82-A1FD19FFF217}"/>
              </a:ext>
            </a:extLst>
          </p:cNvPr>
          <p:cNvSpPr txBox="1"/>
          <p:nvPr/>
        </p:nvSpPr>
        <p:spPr>
          <a:xfrm>
            <a:off x="3882684" y="4987636"/>
            <a:ext cx="5106572" cy="830997"/>
          </a:xfrm>
          <a:prstGeom prst="rect">
            <a:avLst/>
          </a:prstGeom>
          <a:noFill/>
        </p:spPr>
        <p:txBody>
          <a:bodyPr wrap="square" rtlCol="0">
            <a:spAutoFit/>
          </a:bodyPr>
          <a:lstStyle/>
          <a:p>
            <a:r>
              <a:rPr lang="en-US" sz="1600" dirty="0"/>
              <a:t>K Anuradha</a:t>
            </a:r>
          </a:p>
          <a:p>
            <a:r>
              <a:rPr lang="en-US" sz="1600" dirty="0"/>
              <a:t>BSc (Hons) in Information Technology (KDU)</a:t>
            </a:r>
          </a:p>
          <a:p>
            <a:r>
              <a:rPr lang="en-US" sz="1600" dirty="0"/>
              <a:t>Masters in Information Systems Management (UOC)</a:t>
            </a:r>
          </a:p>
        </p:txBody>
      </p:sp>
    </p:spTree>
    <p:extLst>
      <p:ext uri="{BB962C8B-B14F-4D97-AF65-F5344CB8AC3E}">
        <p14:creationId xmlns:p14="http://schemas.microsoft.com/office/powerpoint/2010/main" val="322664401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5852D-A50F-4362-85A4-2848CD848846}"/>
              </a:ext>
            </a:extLst>
          </p:cNvPr>
          <p:cNvSpPr>
            <a:spLocks noGrp="1"/>
          </p:cNvSpPr>
          <p:nvPr>
            <p:ph type="ctrTitle"/>
          </p:nvPr>
        </p:nvSpPr>
        <p:spPr>
          <a:xfrm>
            <a:off x="685800" y="1981200"/>
            <a:ext cx="7772400" cy="2819400"/>
          </a:xfrm>
        </p:spPr>
        <p:txBody>
          <a:bodyPr>
            <a:normAutofit/>
          </a:bodyPr>
          <a:lstStyle/>
          <a:p>
            <a:pPr eaLnBrk="1" hangingPunct="1">
              <a:defRPr/>
            </a:pPr>
            <a:br>
              <a:rPr lang="en-US" sz="3600" dirty="0">
                <a:solidFill>
                  <a:srgbClr val="17375E"/>
                </a:solidFill>
                <a:effectLst>
                  <a:outerShdw blurRad="38100" dist="38100" dir="2700000" algn="tl">
                    <a:srgbClr val="C0C0C0"/>
                  </a:outerShdw>
                </a:effectLst>
              </a:rPr>
            </a:br>
            <a:r>
              <a:rPr lang="en-US" sz="3600" dirty="0">
                <a:solidFill>
                  <a:srgbClr val="17375E"/>
                </a:solidFill>
                <a:effectLst>
                  <a:outerShdw blurRad="38100" dist="38100" dir="2700000" algn="tl">
                    <a:srgbClr val="C0C0C0"/>
                  </a:outerShdw>
                </a:effectLst>
              </a:rPr>
              <a:t>Planning Phase</a:t>
            </a:r>
            <a:endParaRPr lang="en-US" sz="3600" dirty="0">
              <a:solidFill>
                <a:srgbClr val="17375E"/>
              </a:solidFill>
            </a:endParaRPr>
          </a:p>
        </p:txBody>
      </p:sp>
      <p:sp>
        <p:nvSpPr>
          <p:cNvPr id="10243" name="Slide Number Placeholder 3">
            <a:extLst>
              <a:ext uri="{FF2B5EF4-FFF2-40B4-BE49-F238E27FC236}">
                <a16:creationId xmlns:a16="http://schemas.microsoft.com/office/drawing/2014/main" id="{5B6AB18C-6A26-42FD-AB32-96474646A96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8F1E7CEB-C5A6-4728-A9AF-D3019AC9585F}" type="slidenum">
              <a:rPr lang="en-US" altLang="en-US" sz="1200" smtClean="0">
                <a:solidFill>
                  <a:srgbClr val="898989"/>
                </a:solidFill>
              </a:rPr>
              <a:pPr>
                <a:spcBef>
                  <a:spcPct val="0"/>
                </a:spcBef>
                <a:buFontTx/>
                <a:buNone/>
              </a:pPr>
              <a:t>1</a:t>
            </a:fld>
            <a:endParaRPr lang="en-US" altLang="en-US" sz="1200">
              <a:solidFill>
                <a:srgbClr val="898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8B057-B2F6-47CD-9566-1DFD29D32975}"/>
              </a:ext>
            </a:extLst>
          </p:cNvPr>
          <p:cNvSpPr>
            <a:spLocks noGrp="1"/>
          </p:cNvSpPr>
          <p:nvPr>
            <p:ph type="ctrTitle"/>
          </p:nvPr>
        </p:nvSpPr>
        <p:spPr>
          <a:xfrm>
            <a:off x="685800" y="1066800"/>
            <a:ext cx="7772400" cy="3048000"/>
          </a:xfrm>
        </p:spPr>
        <p:txBody>
          <a:bodyPr>
            <a:normAutofit/>
          </a:bodyPr>
          <a:lstStyle/>
          <a:p>
            <a:pPr eaLnBrk="1" hangingPunct="1">
              <a:defRPr/>
            </a:pPr>
            <a:r>
              <a:rPr lang="en-US" sz="4400" dirty="0">
                <a:solidFill>
                  <a:srgbClr val="17375E"/>
                </a:solidFill>
                <a:effectLst>
                  <a:outerShdw blurRad="38100" dist="38100" dir="2700000" algn="tl">
                    <a:srgbClr val="C0C0C0"/>
                  </a:outerShdw>
                </a:effectLst>
              </a:rPr>
              <a:t>Project Selection and Management</a:t>
            </a:r>
            <a:endParaRPr lang="en-US" sz="4400" dirty="0">
              <a:solidFill>
                <a:srgbClr val="17375E"/>
              </a:solidFill>
            </a:endParaRPr>
          </a:p>
        </p:txBody>
      </p:sp>
      <p:sp>
        <p:nvSpPr>
          <p:cNvPr id="3" name="Slide Number Placeholder 2">
            <a:extLst>
              <a:ext uri="{FF2B5EF4-FFF2-40B4-BE49-F238E27FC236}">
                <a16:creationId xmlns:a16="http://schemas.microsoft.com/office/drawing/2014/main" id="{68964332-75DE-44D8-8F77-0371236FA5C6}"/>
              </a:ext>
            </a:extLst>
          </p:cNvPr>
          <p:cNvSpPr>
            <a:spLocks noGrp="1"/>
          </p:cNvSpPr>
          <p:nvPr>
            <p:ph type="sldNum" sz="quarter" idx="12"/>
          </p:nvPr>
        </p:nvSpPr>
        <p:spPr/>
        <p:txBody>
          <a:bodyPr/>
          <a:lstStyle/>
          <a:p>
            <a:pPr>
              <a:defRPr/>
            </a:pPr>
            <a:r>
              <a:rPr lang="en-US" altLang="en-US"/>
              <a:t>2-</a:t>
            </a:r>
            <a:fld id="{21D40A56-C2BB-42CB-8EFF-5BFF7E952E3E}" type="slidenum">
              <a:rPr lang="en-US" altLang="en-US" smtClean="0"/>
              <a:pPr>
                <a:defRPr/>
              </a:pPr>
              <a:t>2</a:t>
            </a:fld>
            <a:endParaRPr lang="en-US" altLang="en-US"/>
          </a:p>
        </p:txBody>
      </p:sp>
    </p:spTree>
    <p:extLst>
      <p:ext uri="{BB962C8B-B14F-4D97-AF65-F5344CB8AC3E}">
        <p14:creationId xmlns:p14="http://schemas.microsoft.com/office/powerpoint/2010/main" val="4032236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41403EFD-6F48-4131-B15B-E53D856EB88C}"/>
              </a:ext>
            </a:extLst>
          </p:cNvPr>
          <p:cNvSpPr>
            <a:spLocks noGrp="1"/>
          </p:cNvSpPr>
          <p:nvPr>
            <p:ph type="title"/>
          </p:nvPr>
        </p:nvSpPr>
        <p:spPr/>
        <p:txBody>
          <a:bodyPr/>
          <a:lstStyle/>
          <a:p>
            <a:pPr eaLnBrk="1" hangingPunct="1"/>
            <a:r>
              <a:rPr lang="en-US" altLang="en-US"/>
              <a:t>Outline</a:t>
            </a:r>
          </a:p>
        </p:txBody>
      </p:sp>
      <p:sp>
        <p:nvSpPr>
          <p:cNvPr id="11267" name="Content Placeholder 2">
            <a:extLst>
              <a:ext uri="{FF2B5EF4-FFF2-40B4-BE49-F238E27FC236}">
                <a16:creationId xmlns:a16="http://schemas.microsoft.com/office/drawing/2014/main" id="{7941C01D-ADC5-4565-AF30-9C00D40604E2}"/>
              </a:ext>
            </a:extLst>
          </p:cNvPr>
          <p:cNvSpPr>
            <a:spLocks noGrp="1"/>
          </p:cNvSpPr>
          <p:nvPr>
            <p:ph idx="1"/>
          </p:nvPr>
        </p:nvSpPr>
        <p:spPr/>
        <p:txBody>
          <a:bodyPr/>
          <a:lstStyle/>
          <a:p>
            <a:pPr eaLnBrk="1" hangingPunct="1">
              <a:spcBef>
                <a:spcPct val="0"/>
              </a:spcBef>
            </a:pPr>
            <a:r>
              <a:rPr lang="en-US" altLang="en-US" sz="5400" dirty="0"/>
              <a:t> </a:t>
            </a:r>
            <a:r>
              <a:rPr lang="en-US" altLang="en-US" sz="3600" dirty="0"/>
              <a:t>Project selection.</a:t>
            </a:r>
          </a:p>
          <a:p>
            <a:pPr eaLnBrk="1" hangingPunct="1">
              <a:spcBef>
                <a:spcPct val="0"/>
              </a:spcBef>
            </a:pPr>
            <a:r>
              <a:rPr lang="en-US" altLang="en-US" sz="3600" dirty="0"/>
              <a:t> Creating the project plan.</a:t>
            </a:r>
          </a:p>
          <a:p>
            <a:pPr eaLnBrk="1" hangingPunct="1">
              <a:spcBef>
                <a:spcPct val="0"/>
              </a:spcBef>
            </a:pPr>
            <a:r>
              <a:rPr lang="en-US" altLang="en-US" sz="3600" dirty="0"/>
              <a:t> Managing and controlling the project.</a:t>
            </a:r>
          </a:p>
        </p:txBody>
      </p:sp>
      <p:sp>
        <p:nvSpPr>
          <p:cNvPr id="11269" name="Slide Number Placeholder 4">
            <a:extLst>
              <a:ext uri="{FF2B5EF4-FFF2-40B4-BE49-F238E27FC236}">
                <a16:creationId xmlns:a16="http://schemas.microsoft.com/office/drawing/2014/main" id="{C9F780C5-4F63-425A-89A6-AC7D3EC9B21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8227DDF9-90D9-4556-84B4-CFE4591F52B7}" type="slidenum">
              <a:rPr lang="en-US" altLang="en-US" sz="1200" smtClean="0">
                <a:solidFill>
                  <a:srgbClr val="898989"/>
                </a:solidFill>
              </a:rPr>
              <a:pPr>
                <a:spcBef>
                  <a:spcPct val="0"/>
                </a:spcBef>
                <a:buFontTx/>
                <a:buNone/>
              </a:pPr>
              <a:t>3</a:t>
            </a:fld>
            <a:endParaRPr lang="en-US" altLang="en-US" sz="1200">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19620A62-B7B9-4EB7-86C6-9D18E153707E}"/>
              </a:ext>
            </a:extLst>
          </p:cNvPr>
          <p:cNvSpPr>
            <a:spLocks noGrp="1"/>
          </p:cNvSpPr>
          <p:nvPr>
            <p:ph type="title"/>
          </p:nvPr>
        </p:nvSpPr>
        <p:spPr/>
        <p:txBody>
          <a:bodyPr/>
          <a:lstStyle/>
          <a:p>
            <a:pPr eaLnBrk="1" hangingPunct="1"/>
            <a:r>
              <a:rPr lang="en-US" altLang="en-US"/>
              <a:t>INTRODUCTION</a:t>
            </a:r>
          </a:p>
        </p:txBody>
      </p:sp>
      <p:sp>
        <p:nvSpPr>
          <p:cNvPr id="3" name="Content Placeholder 2">
            <a:extLst>
              <a:ext uri="{FF2B5EF4-FFF2-40B4-BE49-F238E27FC236}">
                <a16:creationId xmlns:a16="http://schemas.microsoft.com/office/drawing/2014/main" id="{9766EE8A-E4AB-4458-8B8E-30DCE68AD4A0}"/>
              </a:ext>
            </a:extLst>
          </p:cNvPr>
          <p:cNvSpPr>
            <a:spLocks noGrp="1"/>
          </p:cNvSpPr>
          <p:nvPr>
            <p:ph idx="1"/>
          </p:nvPr>
        </p:nvSpPr>
        <p:spPr/>
        <p:txBody>
          <a:bodyPr/>
          <a:lstStyle/>
          <a:p>
            <a:pPr eaLnBrk="1" hangingPunct="1">
              <a:spcBef>
                <a:spcPct val="0"/>
              </a:spcBef>
            </a:pPr>
            <a:r>
              <a:rPr lang="en-US" altLang="en-US" sz="2800" dirty="0"/>
              <a:t>CIOs (chief information officers) are challenged to select projects that will provide highest return on the IT investments.</a:t>
            </a:r>
          </a:p>
          <a:p>
            <a:pPr eaLnBrk="1" hangingPunct="1">
              <a:spcBef>
                <a:spcPct val="0"/>
              </a:spcBef>
            </a:pPr>
            <a:r>
              <a:rPr lang="en-US" altLang="en-US" sz="2800" dirty="0"/>
              <a:t>Project portfolio management has become a critical success factor for IT departments. </a:t>
            </a:r>
          </a:p>
          <a:p>
            <a:pPr eaLnBrk="1" hangingPunct="1">
              <a:spcBef>
                <a:spcPct val="0"/>
              </a:spcBef>
            </a:pPr>
            <a:r>
              <a:rPr lang="en-US" altLang="en-US" sz="2800" dirty="0"/>
              <a:t>A selected system development project must undergo a thorough process of project management.</a:t>
            </a:r>
          </a:p>
          <a:p>
            <a:pPr eaLnBrk="1" hangingPunct="1">
              <a:spcBef>
                <a:spcPct val="0"/>
              </a:spcBef>
            </a:pPr>
            <a:r>
              <a:rPr lang="en-US" altLang="en-US" sz="2800" dirty="0"/>
              <a:t>A critical success factor for project management is to start with a realistic assessment of the work and then manage the project according to the plan.</a:t>
            </a:r>
          </a:p>
          <a:p>
            <a:pPr eaLnBrk="1" hangingPunct="1">
              <a:lnSpc>
                <a:spcPct val="80000"/>
              </a:lnSpc>
              <a:spcBef>
                <a:spcPct val="0"/>
              </a:spcBef>
            </a:pPr>
            <a:endParaRPr lang="en-US" altLang="en-US" sz="2800" dirty="0"/>
          </a:p>
        </p:txBody>
      </p:sp>
      <p:sp>
        <p:nvSpPr>
          <p:cNvPr id="12293" name="Slide Number Placeholder 4">
            <a:extLst>
              <a:ext uri="{FF2B5EF4-FFF2-40B4-BE49-F238E27FC236}">
                <a16:creationId xmlns:a16="http://schemas.microsoft.com/office/drawing/2014/main" id="{B0EC505E-61F8-4B36-90D3-36388ACA690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A9FF7857-1546-4AD8-9432-F4787E270660}" type="slidenum">
              <a:rPr lang="en-US" altLang="en-US" sz="1200" smtClean="0">
                <a:solidFill>
                  <a:srgbClr val="898989"/>
                </a:solidFill>
              </a:rPr>
              <a:pPr>
                <a:spcBef>
                  <a:spcPct val="0"/>
                </a:spcBef>
                <a:buFontTx/>
                <a:buNone/>
              </a:pPr>
              <a:t>4</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7D8B9E-D63D-4B88-89F8-EEC23DBE93EA}"/>
              </a:ext>
            </a:extLst>
          </p:cNvPr>
          <p:cNvSpPr>
            <a:spLocks noGrp="1"/>
          </p:cNvSpPr>
          <p:nvPr>
            <p:ph idx="1"/>
          </p:nvPr>
        </p:nvSpPr>
        <p:spPr/>
        <p:txBody>
          <a:bodyPr/>
          <a:lstStyle/>
          <a:p>
            <a:pPr eaLnBrk="1" hangingPunct="1">
              <a:spcBef>
                <a:spcPct val="0"/>
              </a:spcBef>
            </a:pPr>
            <a:r>
              <a:rPr lang="en-US" altLang="en-US" dirty="0"/>
              <a:t>steps</a:t>
            </a:r>
          </a:p>
          <a:p>
            <a:pPr lvl="1" eaLnBrk="1" hangingPunct="1">
              <a:spcBef>
                <a:spcPct val="0"/>
              </a:spcBef>
            </a:pPr>
            <a:r>
              <a:rPr lang="en-US" altLang="en-US" sz="2400" dirty="0"/>
              <a:t>Select correct development methodology</a:t>
            </a:r>
          </a:p>
          <a:p>
            <a:pPr lvl="1" eaLnBrk="1" hangingPunct="1">
              <a:spcBef>
                <a:spcPct val="0"/>
              </a:spcBef>
            </a:pPr>
            <a:r>
              <a:rPr lang="en-US" altLang="en-US" sz="2400" dirty="0"/>
              <a:t>Estimate the time (based on size)</a:t>
            </a:r>
          </a:p>
          <a:p>
            <a:pPr lvl="1" eaLnBrk="1" hangingPunct="1">
              <a:spcBef>
                <a:spcPct val="0"/>
              </a:spcBef>
            </a:pPr>
            <a:r>
              <a:rPr lang="en-US" altLang="en-US" sz="2400" dirty="0"/>
              <a:t>List out all steps</a:t>
            </a:r>
          </a:p>
          <a:p>
            <a:pPr lvl="1" eaLnBrk="1" hangingPunct="1">
              <a:spcBef>
                <a:spcPct val="0"/>
              </a:spcBef>
            </a:pPr>
            <a:r>
              <a:rPr lang="en-US" altLang="en-US" sz="2400" dirty="0"/>
              <a:t>What staff need ?</a:t>
            </a:r>
          </a:p>
          <a:p>
            <a:pPr lvl="1" eaLnBrk="1" hangingPunct="1">
              <a:spcBef>
                <a:spcPct val="0"/>
              </a:spcBef>
            </a:pPr>
            <a:r>
              <a:rPr lang="en-US" altLang="en-US" sz="2400" dirty="0"/>
              <a:t>Assign works and place mechanism to coordinate the team members </a:t>
            </a:r>
          </a:p>
          <a:p>
            <a:pPr lvl="1" eaLnBrk="1" hangingPunct="1">
              <a:spcBef>
                <a:spcPct val="0"/>
              </a:spcBef>
            </a:pPr>
            <a:r>
              <a:rPr lang="en-US" altLang="en-US" sz="2400" dirty="0"/>
              <a:t>Monitor the project</a:t>
            </a:r>
          </a:p>
          <a:p>
            <a:pPr lvl="1" eaLnBrk="1" hangingPunct="1">
              <a:spcBef>
                <a:spcPct val="0"/>
              </a:spcBef>
            </a:pPr>
            <a:r>
              <a:rPr lang="en-US" altLang="en-US" sz="2400" dirty="0"/>
              <a:t>Refine estimates as work progress</a:t>
            </a:r>
          </a:p>
        </p:txBody>
      </p:sp>
      <p:sp>
        <p:nvSpPr>
          <p:cNvPr id="13316" name="Slide Number Placeholder 4">
            <a:extLst>
              <a:ext uri="{FF2B5EF4-FFF2-40B4-BE49-F238E27FC236}">
                <a16:creationId xmlns:a16="http://schemas.microsoft.com/office/drawing/2014/main" id="{6B16C77B-2624-423A-924D-E510EB55884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19C7DB09-E9E4-4C89-A934-3F0C7F14FFAE}" type="slidenum">
              <a:rPr lang="en-US" altLang="en-US" sz="1200" smtClean="0">
                <a:solidFill>
                  <a:srgbClr val="898989"/>
                </a:solidFill>
              </a:rPr>
              <a:pPr>
                <a:spcBef>
                  <a:spcPct val="0"/>
                </a:spcBef>
                <a:buFontTx/>
                <a:buNone/>
              </a:pPr>
              <a:t>5</a:t>
            </a:fld>
            <a:endParaRPr lang="en-US" altLang="en-US" sz="1200">
              <a:solidFill>
                <a:srgbClr val="898989"/>
              </a:solidFill>
            </a:endParaRPr>
          </a:p>
        </p:txBody>
      </p:sp>
      <p:sp>
        <p:nvSpPr>
          <p:cNvPr id="13317" name="Title 1">
            <a:extLst>
              <a:ext uri="{FF2B5EF4-FFF2-40B4-BE49-F238E27FC236}">
                <a16:creationId xmlns:a16="http://schemas.microsoft.com/office/drawing/2014/main" id="{69DC2F13-E138-4D66-935B-8AB11DA20EEB}"/>
              </a:ext>
            </a:extLst>
          </p:cNvPr>
          <p:cNvSpPr>
            <a:spLocks noGrp="1"/>
          </p:cNvSpPr>
          <p:nvPr>
            <p:ph type="title"/>
          </p:nvPr>
        </p:nvSpPr>
        <p:spPr/>
        <p:txBody>
          <a:bodyPr/>
          <a:lstStyle/>
          <a:p>
            <a:pPr eaLnBrk="1" hangingPunct="1"/>
            <a:endParaRPr lang="en-US" altLang="en-US"/>
          </a:p>
        </p:txBody>
      </p:sp>
      <p:sp>
        <p:nvSpPr>
          <p:cNvPr id="13318" name="Title 1">
            <a:extLst>
              <a:ext uri="{FF2B5EF4-FFF2-40B4-BE49-F238E27FC236}">
                <a16:creationId xmlns:a16="http://schemas.microsoft.com/office/drawing/2014/main" id="{9BA4A4D3-C0E0-43EF-BACB-50297CF92FF1}"/>
              </a:ext>
            </a:extLst>
          </p:cNvPr>
          <p:cNvSpPr txBox="1">
            <a:spLocks/>
          </p:cNvSpPr>
          <p:nvPr/>
        </p:nvSpPr>
        <p:spPr bwMode="auto">
          <a:xfrm>
            <a:off x="609600" y="4270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4400" b="1"/>
              <a:t>(cont’d)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97F212-EB74-42CA-96E1-3D97E95DEB8E}"/>
              </a:ext>
            </a:extLst>
          </p:cNvPr>
          <p:cNvSpPr>
            <a:spLocks noGrp="1"/>
          </p:cNvSpPr>
          <p:nvPr>
            <p:ph idx="1"/>
          </p:nvPr>
        </p:nvSpPr>
        <p:spPr/>
        <p:txBody>
          <a:bodyPr>
            <a:normAutofit/>
          </a:bodyPr>
          <a:lstStyle/>
          <a:p>
            <a:pPr marL="457200" lvl="1" indent="0" eaLnBrk="1" hangingPunct="1">
              <a:spcBef>
                <a:spcPct val="0"/>
              </a:spcBef>
              <a:buFont typeface="Arial" charset="0"/>
              <a:buNone/>
              <a:defRPr/>
            </a:pPr>
            <a:endParaRPr lang="en-US" sz="2400" dirty="0"/>
          </a:p>
          <a:p>
            <a:pPr eaLnBrk="1" hangingPunct="1">
              <a:lnSpc>
                <a:spcPct val="80000"/>
              </a:lnSpc>
              <a:spcBef>
                <a:spcPct val="0"/>
              </a:spcBef>
              <a:defRPr/>
            </a:pPr>
            <a:r>
              <a:rPr lang="en-US" dirty="0"/>
              <a:t>Organizational Perspective</a:t>
            </a:r>
          </a:p>
          <a:p>
            <a:pPr lvl="1" eaLnBrk="1" hangingPunct="1">
              <a:lnSpc>
                <a:spcPct val="80000"/>
              </a:lnSpc>
              <a:spcBef>
                <a:spcPct val="0"/>
              </a:spcBef>
              <a:buFont typeface="Arial" charset="0"/>
              <a:buChar char="–"/>
              <a:defRPr/>
            </a:pPr>
            <a:r>
              <a:rPr lang="en-US" sz="2400" dirty="0"/>
              <a:t>Balance between cost and benefits</a:t>
            </a:r>
          </a:p>
          <a:p>
            <a:pPr lvl="1" eaLnBrk="1" hangingPunct="1">
              <a:lnSpc>
                <a:spcPct val="80000"/>
              </a:lnSpc>
              <a:spcBef>
                <a:spcPct val="0"/>
              </a:spcBef>
              <a:buFont typeface="Arial" charset="0"/>
              <a:buChar char="–"/>
              <a:defRPr/>
            </a:pPr>
            <a:r>
              <a:rPr lang="en-US" sz="2400" dirty="0"/>
              <a:t>Trade-off</a:t>
            </a:r>
          </a:p>
          <a:p>
            <a:pPr lvl="1" eaLnBrk="1" hangingPunct="1">
              <a:lnSpc>
                <a:spcPct val="80000"/>
              </a:lnSpc>
              <a:spcBef>
                <a:spcPct val="0"/>
              </a:spcBef>
              <a:buFont typeface="Arial" charset="0"/>
              <a:buChar char="–"/>
              <a:defRPr/>
            </a:pPr>
            <a:r>
              <a:rPr lang="en-US" sz="2400" dirty="0"/>
              <a:t>% of high risk projects out of all projects ?</a:t>
            </a:r>
          </a:p>
          <a:p>
            <a:pPr eaLnBrk="1" hangingPunct="1">
              <a:lnSpc>
                <a:spcPct val="80000"/>
              </a:lnSpc>
              <a:spcBef>
                <a:spcPct val="0"/>
              </a:spcBef>
              <a:defRPr/>
            </a:pPr>
            <a:endParaRPr lang="en-US" dirty="0"/>
          </a:p>
          <a:p>
            <a:pPr eaLnBrk="1" hangingPunct="1">
              <a:lnSpc>
                <a:spcPct val="80000"/>
              </a:lnSpc>
              <a:spcBef>
                <a:spcPct val="0"/>
              </a:spcBef>
              <a:defRPr/>
            </a:pPr>
            <a:r>
              <a:rPr lang="en-US" dirty="0"/>
              <a:t>Why projects rejected</a:t>
            </a:r>
          </a:p>
          <a:p>
            <a:pPr lvl="1" eaLnBrk="1" hangingPunct="1">
              <a:lnSpc>
                <a:spcPct val="80000"/>
              </a:lnSpc>
              <a:spcBef>
                <a:spcPct val="0"/>
              </a:spcBef>
              <a:buFont typeface="Arial" charset="0"/>
              <a:buChar char="–"/>
              <a:defRPr/>
            </a:pPr>
            <a:r>
              <a:rPr lang="en-US" sz="2400" dirty="0"/>
              <a:t>No money</a:t>
            </a:r>
          </a:p>
          <a:p>
            <a:pPr lvl="1" eaLnBrk="1" hangingPunct="1">
              <a:lnSpc>
                <a:spcPct val="80000"/>
              </a:lnSpc>
              <a:spcBef>
                <a:spcPct val="0"/>
              </a:spcBef>
              <a:buFont typeface="Arial" charset="0"/>
              <a:buChar char="–"/>
              <a:defRPr/>
            </a:pPr>
            <a:r>
              <a:rPr lang="en-US" sz="2400" dirty="0"/>
              <a:t>Planned organizational change</a:t>
            </a:r>
          </a:p>
          <a:p>
            <a:pPr lvl="1" eaLnBrk="1" hangingPunct="1">
              <a:lnSpc>
                <a:spcPct val="80000"/>
              </a:lnSpc>
              <a:spcBef>
                <a:spcPct val="0"/>
              </a:spcBef>
              <a:buFont typeface="Arial" charset="0"/>
              <a:buChar char="–"/>
              <a:defRPr/>
            </a:pPr>
            <a:r>
              <a:rPr lang="en-US" sz="2400" dirty="0"/>
              <a:t>Same project underway</a:t>
            </a:r>
          </a:p>
          <a:p>
            <a:pPr lvl="1" eaLnBrk="1" hangingPunct="1">
              <a:lnSpc>
                <a:spcPct val="80000"/>
              </a:lnSpc>
              <a:spcBef>
                <a:spcPct val="0"/>
              </a:spcBef>
              <a:buFont typeface="Arial" charset="0"/>
              <a:buChar char="–"/>
              <a:defRPr/>
            </a:pPr>
            <a:r>
              <a:rPr lang="en-US" sz="2400" dirty="0"/>
              <a:t>Does not align with  company strategy </a:t>
            </a:r>
          </a:p>
        </p:txBody>
      </p:sp>
      <p:sp>
        <p:nvSpPr>
          <p:cNvPr id="14340" name="Slide Number Placeholder 4">
            <a:extLst>
              <a:ext uri="{FF2B5EF4-FFF2-40B4-BE49-F238E27FC236}">
                <a16:creationId xmlns:a16="http://schemas.microsoft.com/office/drawing/2014/main" id="{E4986CC7-D9AC-4DD0-B425-00AFE66E77A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C7001794-6F80-4F3A-A42E-86D9FCE87698}" type="slidenum">
              <a:rPr lang="en-US" altLang="en-US" sz="1200" smtClean="0">
                <a:solidFill>
                  <a:srgbClr val="898989"/>
                </a:solidFill>
              </a:rPr>
              <a:pPr>
                <a:spcBef>
                  <a:spcPct val="0"/>
                </a:spcBef>
                <a:buFontTx/>
                <a:buNone/>
              </a:pPr>
              <a:t>6</a:t>
            </a:fld>
            <a:endParaRPr lang="en-US" altLang="en-US" sz="1200">
              <a:solidFill>
                <a:srgbClr val="898989"/>
              </a:solidFill>
            </a:endParaRPr>
          </a:p>
        </p:txBody>
      </p:sp>
      <p:sp>
        <p:nvSpPr>
          <p:cNvPr id="14341" name="Title 1">
            <a:extLst>
              <a:ext uri="{FF2B5EF4-FFF2-40B4-BE49-F238E27FC236}">
                <a16:creationId xmlns:a16="http://schemas.microsoft.com/office/drawing/2014/main" id="{9DF23E94-8D75-48F9-9908-2AD4812C7928}"/>
              </a:ext>
            </a:extLst>
          </p:cNvPr>
          <p:cNvSpPr>
            <a:spLocks noGrp="1"/>
          </p:cNvSpPr>
          <p:nvPr>
            <p:ph type="title"/>
          </p:nvPr>
        </p:nvSpPr>
        <p:spPr/>
        <p:txBody>
          <a:bodyPr/>
          <a:lstStyle/>
          <a:p>
            <a:pPr eaLnBrk="1" hangingPunct="1"/>
            <a:endParaRPr lang="en-US" altLang="en-US"/>
          </a:p>
        </p:txBody>
      </p:sp>
      <p:sp>
        <p:nvSpPr>
          <p:cNvPr id="14342" name="Title 1">
            <a:extLst>
              <a:ext uri="{FF2B5EF4-FFF2-40B4-BE49-F238E27FC236}">
                <a16:creationId xmlns:a16="http://schemas.microsoft.com/office/drawing/2014/main" id="{27A2D645-2466-4ADD-A4A7-8ED1607B6AFC}"/>
              </a:ext>
            </a:extLst>
          </p:cNvPr>
          <p:cNvSpPr txBox="1">
            <a:spLocks/>
          </p:cNvSpPr>
          <p:nvPr/>
        </p:nvSpPr>
        <p:spPr bwMode="auto">
          <a:xfrm>
            <a:off x="609600" y="4270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4400" b="1"/>
              <a:t>(cont’d)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A513299-D440-44F8-9CF7-C59F159B4F03}"/>
              </a:ext>
            </a:extLst>
          </p:cNvPr>
          <p:cNvSpPr>
            <a:spLocks noGrp="1"/>
          </p:cNvSpPr>
          <p:nvPr>
            <p:ph type="title"/>
          </p:nvPr>
        </p:nvSpPr>
        <p:spPr/>
        <p:txBody>
          <a:bodyPr/>
          <a:lstStyle/>
          <a:p>
            <a:pPr eaLnBrk="1" hangingPunct="1"/>
            <a:r>
              <a:rPr lang="en-US" altLang="en-US"/>
              <a:t>PROJECT SELECTION</a:t>
            </a:r>
          </a:p>
        </p:txBody>
      </p:sp>
      <p:sp>
        <p:nvSpPr>
          <p:cNvPr id="10243" name="Content Placeholder 2">
            <a:extLst>
              <a:ext uri="{FF2B5EF4-FFF2-40B4-BE49-F238E27FC236}">
                <a16:creationId xmlns:a16="http://schemas.microsoft.com/office/drawing/2014/main" id="{8DE64645-5F82-4F9C-A3DE-7A0BE8E59C37}"/>
              </a:ext>
            </a:extLst>
          </p:cNvPr>
          <p:cNvSpPr>
            <a:spLocks noGrp="1"/>
          </p:cNvSpPr>
          <p:nvPr>
            <p:ph idx="1"/>
          </p:nvPr>
        </p:nvSpPr>
        <p:spPr>
          <a:xfrm>
            <a:off x="457200" y="1600200"/>
            <a:ext cx="8305800" cy="4525963"/>
          </a:xfrm>
        </p:spPr>
        <p:txBody>
          <a:bodyPr/>
          <a:lstStyle/>
          <a:p>
            <a:pPr eaLnBrk="1" hangingPunct="1">
              <a:lnSpc>
                <a:spcPct val="120000"/>
              </a:lnSpc>
              <a:spcBef>
                <a:spcPct val="0"/>
              </a:spcBef>
            </a:pPr>
            <a:r>
              <a:rPr lang="en-US" altLang="en-US" sz="3200" dirty="0"/>
              <a:t>Systems projects today are evaluated in the context of an entire portfolio of projects.</a:t>
            </a:r>
          </a:p>
          <a:p>
            <a:pPr eaLnBrk="1" hangingPunct="1">
              <a:lnSpc>
                <a:spcPct val="120000"/>
              </a:lnSpc>
              <a:spcBef>
                <a:spcPct val="0"/>
              </a:spcBef>
            </a:pPr>
            <a:r>
              <a:rPr lang="en-US" altLang="en-US" sz="3200" dirty="0"/>
              <a:t>Determination of a project’s contribution to an entire portfolio of a project reinforces the need for a feasibility study.</a:t>
            </a:r>
          </a:p>
          <a:p>
            <a:pPr eaLnBrk="1" hangingPunct="1">
              <a:lnSpc>
                <a:spcPct val="120000"/>
              </a:lnSpc>
              <a:spcBef>
                <a:spcPct val="0"/>
              </a:spcBef>
            </a:pPr>
            <a:r>
              <a:rPr lang="en-US" altLang="en-US" sz="3200" dirty="0"/>
              <a:t>Portfolio management takes into consideration the different of projects that exist in an organization.</a:t>
            </a:r>
          </a:p>
        </p:txBody>
      </p:sp>
      <p:sp>
        <p:nvSpPr>
          <p:cNvPr id="15365" name="Slide Number Placeholder 4">
            <a:extLst>
              <a:ext uri="{FF2B5EF4-FFF2-40B4-BE49-F238E27FC236}">
                <a16:creationId xmlns:a16="http://schemas.microsoft.com/office/drawing/2014/main" id="{E0D831BF-8FB1-4949-AEE7-8D96186C1E3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B3561131-DD7E-487B-878E-96B67151A297}" type="slidenum">
              <a:rPr lang="en-US" altLang="en-US" sz="1200" smtClean="0">
                <a:solidFill>
                  <a:srgbClr val="898989"/>
                </a:solidFill>
              </a:rPr>
              <a:pPr>
                <a:spcBef>
                  <a:spcPct val="0"/>
                </a:spcBef>
                <a:buFontTx/>
                <a:buNone/>
              </a:pPr>
              <a:t>7</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C4369CFA-F85F-4A94-ACBB-EC2475EADF3D}"/>
              </a:ext>
            </a:extLst>
          </p:cNvPr>
          <p:cNvSpPr>
            <a:spLocks noGrp="1"/>
          </p:cNvSpPr>
          <p:nvPr>
            <p:ph type="title"/>
          </p:nvPr>
        </p:nvSpPr>
        <p:spPr/>
        <p:txBody>
          <a:bodyPr/>
          <a:lstStyle/>
          <a:p>
            <a:pPr algn="l" eaLnBrk="1" hangingPunct="1"/>
            <a:r>
              <a:rPr lang="en-US" altLang="en-US"/>
              <a:t>(cont’d)</a:t>
            </a:r>
          </a:p>
        </p:txBody>
      </p:sp>
      <p:sp>
        <p:nvSpPr>
          <p:cNvPr id="11267" name="Content Placeholder 2">
            <a:extLst>
              <a:ext uri="{FF2B5EF4-FFF2-40B4-BE49-F238E27FC236}">
                <a16:creationId xmlns:a16="http://schemas.microsoft.com/office/drawing/2014/main" id="{9EA13261-3CE3-4CE9-B914-BF6686326538}"/>
              </a:ext>
            </a:extLst>
          </p:cNvPr>
          <p:cNvSpPr>
            <a:spLocks noGrp="1"/>
          </p:cNvSpPr>
          <p:nvPr>
            <p:ph idx="1"/>
          </p:nvPr>
        </p:nvSpPr>
        <p:spPr>
          <a:xfrm>
            <a:off x="457200" y="1600200"/>
            <a:ext cx="8229600" cy="3944938"/>
          </a:xfrm>
        </p:spPr>
        <p:txBody>
          <a:bodyPr>
            <a:spAutoFit/>
          </a:bodyPr>
          <a:lstStyle/>
          <a:p>
            <a:pPr eaLnBrk="1" hangingPunct="1">
              <a:lnSpc>
                <a:spcPct val="90000"/>
              </a:lnSpc>
              <a:spcBef>
                <a:spcPts val="1200"/>
              </a:spcBef>
            </a:pPr>
            <a:r>
              <a:rPr lang="en-US" altLang="en-US" sz="3200" dirty="0"/>
              <a:t>An approval committee must be selective about where to allocate resources as most organizations have limited funds.</a:t>
            </a:r>
          </a:p>
          <a:p>
            <a:pPr eaLnBrk="1" hangingPunct="1">
              <a:lnSpc>
                <a:spcPct val="90000"/>
              </a:lnSpc>
              <a:spcBef>
                <a:spcPts val="1200"/>
              </a:spcBef>
            </a:pPr>
            <a:r>
              <a:rPr lang="en-US" altLang="en-US" sz="3200" dirty="0"/>
              <a:t>If there are several potentially high-payoff projects, and they all have the same risk, then maybe only one of the projects will be selected.</a:t>
            </a:r>
          </a:p>
          <a:p>
            <a:pPr eaLnBrk="1" hangingPunct="1">
              <a:lnSpc>
                <a:spcPct val="90000"/>
              </a:lnSpc>
              <a:spcBef>
                <a:spcPts val="1200"/>
              </a:spcBef>
            </a:pPr>
            <a:endParaRPr lang="en-US" altLang="en-US" sz="3200" dirty="0"/>
          </a:p>
        </p:txBody>
      </p:sp>
      <p:sp>
        <p:nvSpPr>
          <p:cNvPr id="16389" name="Slide Number Placeholder 4">
            <a:extLst>
              <a:ext uri="{FF2B5EF4-FFF2-40B4-BE49-F238E27FC236}">
                <a16:creationId xmlns:a16="http://schemas.microsoft.com/office/drawing/2014/main" id="{BE68DE6A-9563-49BD-BDAC-5D1B9F42469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0155B322-3452-4B14-9E54-4CA29FC8436D}" type="slidenum">
              <a:rPr lang="en-US" altLang="en-US" sz="1200" smtClean="0">
                <a:solidFill>
                  <a:srgbClr val="898989"/>
                </a:solidFill>
              </a:rPr>
              <a:pPr>
                <a:spcBef>
                  <a:spcPct val="0"/>
                </a:spcBef>
                <a:buFontTx/>
                <a:buNone/>
              </a:pPr>
              <a:t>8</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D3A9EC09-3B4B-45F3-AD7E-1152A9877870}"/>
              </a:ext>
            </a:extLst>
          </p:cNvPr>
          <p:cNvSpPr>
            <a:spLocks noGrp="1"/>
          </p:cNvSpPr>
          <p:nvPr>
            <p:ph type="title"/>
          </p:nvPr>
        </p:nvSpPr>
        <p:spPr/>
        <p:txBody>
          <a:bodyPr/>
          <a:lstStyle/>
          <a:p>
            <a:r>
              <a:rPr lang="en-US" altLang="en-US"/>
              <a:t>QUESTION ?</a:t>
            </a:r>
          </a:p>
        </p:txBody>
      </p:sp>
      <p:sp>
        <p:nvSpPr>
          <p:cNvPr id="3" name="Content Placeholder 2">
            <a:extLst>
              <a:ext uri="{FF2B5EF4-FFF2-40B4-BE49-F238E27FC236}">
                <a16:creationId xmlns:a16="http://schemas.microsoft.com/office/drawing/2014/main" id="{6EF19C07-37B3-4F57-BC29-3860C039C0DE}"/>
              </a:ext>
            </a:extLst>
          </p:cNvPr>
          <p:cNvSpPr>
            <a:spLocks noGrp="1"/>
          </p:cNvSpPr>
          <p:nvPr>
            <p:ph idx="1"/>
          </p:nvPr>
        </p:nvSpPr>
        <p:spPr/>
        <p:txBody>
          <a:bodyPr/>
          <a:lstStyle/>
          <a:p>
            <a:pPr>
              <a:spcBef>
                <a:spcPct val="0"/>
              </a:spcBef>
            </a:pPr>
            <a:r>
              <a:rPr lang="en-US" altLang="en-US" dirty="0"/>
              <a:t>How CIO select project ?</a:t>
            </a:r>
          </a:p>
          <a:p>
            <a:pPr lvl="1"/>
            <a:r>
              <a:rPr lang="en-US" altLang="en-US" dirty="0"/>
              <a:t>Entire portfolio</a:t>
            </a:r>
          </a:p>
          <a:p>
            <a:pPr lvl="1"/>
            <a:r>
              <a:rPr lang="en-US" altLang="en-US" dirty="0"/>
              <a:t>Resource</a:t>
            </a:r>
          </a:p>
          <a:p>
            <a:pPr lvl="1"/>
            <a:r>
              <a:rPr lang="en-US" altLang="en-US" dirty="0"/>
              <a:t>Risk levels </a:t>
            </a:r>
          </a:p>
          <a:p>
            <a:pPr lvl="1"/>
            <a:endParaRPr lang="en-US" altLang="en-US" dirty="0"/>
          </a:p>
        </p:txBody>
      </p:sp>
      <p:sp>
        <p:nvSpPr>
          <p:cNvPr id="17413" name="Slide Number Placeholder 4">
            <a:extLst>
              <a:ext uri="{FF2B5EF4-FFF2-40B4-BE49-F238E27FC236}">
                <a16:creationId xmlns:a16="http://schemas.microsoft.com/office/drawing/2014/main" id="{629A2E8B-49A0-47B3-8DD4-4161C4EC34C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9CF58DAC-0053-4501-A2FB-9998499ACCFF}" type="slidenum">
              <a:rPr lang="en-US" altLang="en-US" sz="1200" smtClean="0">
                <a:solidFill>
                  <a:srgbClr val="898989"/>
                </a:solidFill>
              </a:rPr>
              <a:pPr>
                <a:spcBef>
                  <a:spcPct val="0"/>
                </a:spcBef>
                <a:buFontTx/>
                <a:buNone/>
              </a:pPr>
              <a:t>9</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F01407EC-75B1-485D-BD51-51B2A0ADEDDA}"/>
              </a:ext>
            </a:extLst>
          </p:cNvPr>
          <p:cNvSpPr>
            <a:spLocks noGrp="1"/>
          </p:cNvSpPr>
          <p:nvPr>
            <p:ph type="title"/>
          </p:nvPr>
        </p:nvSpPr>
        <p:spPr/>
        <p:txBody>
          <a:bodyPr/>
          <a:lstStyle/>
          <a:p>
            <a:pPr eaLnBrk="1" hangingPunct="1"/>
            <a:r>
              <a:rPr lang="en-US" altLang="en-US"/>
              <a:t>CREATING THE PROJECT PLAN</a:t>
            </a:r>
          </a:p>
        </p:txBody>
      </p:sp>
      <p:sp>
        <p:nvSpPr>
          <p:cNvPr id="18435" name="Content Placeholder 2">
            <a:extLst>
              <a:ext uri="{FF2B5EF4-FFF2-40B4-BE49-F238E27FC236}">
                <a16:creationId xmlns:a16="http://schemas.microsoft.com/office/drawing/2014/main" id="{8C8B9E17-51BF-4BF4-AE91-E2AC5CF1CD6D}"/>
              </a:ext>
            </a:extLst>
          </p:cNvPr>
          <p:cNvSpPr>
            <a:spLocks noGrp="1"/>
          </p:cNvSpPr>
          <p:nvPr>
            <p:ph idx="1"/>
          </p:nvPr>
        </p:nvSpPr>
        <p:spPr/>
        <p:txBody>
          <a:bodyPr/>
          <a:lstStyle/>
          <a:p>
            <a:pPr eaLnBrk="1" hangingPunct="1">
              <a:spcBef>
                <a:spcPct val="0"/>
              </a:spcBef>
            </a:pPr>
            <a:r>
              <a:rPr lang="en-US" altLang="en-US" dirty="0"/>
              <a:t> Project management phases consist of</a:t>
            </a:r>
          </a:p>
          <a:p>
            <a:pPr eaLnBrk="1" hangingPunct="1">
              <a:spcBef>
                <a:spcPct val="0"/>
              </a:spcBef>
              <a:buFont typeface="Wingdings" pitchFamily="2" charset="2"/>
              <a:buNone/>
            </a:pPr>
            <a:r>
              <a:rPr lang="en-US" altLang="en-US" dirty="0"/>
              <a:t>    - Initiation</a:t>
            </a:r>
          </a:p>
          <a:p>
            <a:pPr eaLnBrk="1" hangingPunct="1">
              <a:spcBef>
                <a:spcPct val="0"/>
              </a:spcBef>
              <a:buFont typeface="Wingdings" pitchFamily="2" charset="2"/>
              <a:buNone/>
            </a:pPr>
            <a:r>
              <a:rPr lang="en-US" altLang="en-US" dirty="0"/>
              <a:t>    - Planning</a:t>
            </a:r>
          </a:p>
          <a:p>
            <a:pPr eaLnBrk="1" hangingPunct="1">
              <a:spcBef>
                <a:spcPct val="0"/>
              </a:spcBef>
              <a:buFont typeface="Wingdings" pitchFamily="2" charset="2"/>
              <a:buNone/>
            </a:pPr>
            <a:r>
              <a:rPr lang="en-US" altLang="en-US" dirty="0"/>
              <a:t>    - Execution</a:t>
            </a:r>
          </a:p>
          <a:p>
            <a:pPr eaLnBrk="1" hangingPunct="1">
              <a:spcBef>
                <a:spcPct val="0"/>
              </a:spcBef>
              <a:buFont typeface="Wingdings" pitchFamily="2" charset="2"/>
              <a:buNone/>
            </a:pPr>
            <a:r>
              <a:rPr lang="en-US" altLang="en-US" dirty="0"/>
              <a:t>    - Control</a:t>
            </a:r>
          </a:p>
          <a:p>
            <a:pPr eaLnBrk="1" hangingPunct="1">
              <a:spcBef>
                <a:spcPct val="0"/>
              </a:spcBef>
              <a:buFont typeface="Wingdings" pitchFamily="2" charset="2"/>
              <a:buNone/>
            </a:pPr>
            <a:r>
              <a:rPr lang="en-US" altLang="en-US" dirty="0"/>
              <a:t>    - Enclosure.</a:t>
            </a:r>
          </a:p>
        </p:txBody>
      </p:sp>
      <p:sp>
        <p:nvSpPr>
          <p:cNvPr id="18437" name="Slide Number Placeholder 4">
            <a:extLst>
              <a:ext uri="{FF2B5EF4-FFF2-40B4-BE49-F238E27FC236}">
                <a16:creationId xmlns:a16="http://schemas.microsoft.com/office/drawing/2014/main" id="{5E07F397-75EA-4EBD-BBD5-588F1AF78D3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0062A3A2-1FDA-40AC-B65D-214816046804}" type="slidenum">
              <a:rPr lang="en-US" altLang="en-US" sz="1200" smtClean="0">
                <a:solidFill>
                  <a:srgbClr val="898989"/>
                </a:solidFill>
              </a:rPr>
              <a:pPr>
                <a:spcBef>
                  <a:spcPct val="0"/>
                </a:spcBef>
                <a:buFontTx/>
                <a:buNone/>
              </a:pPr>
              <a:t>10</a:t>
            </a:fld>
            <a:endParaRPr lang="en-US" altLang="en-US" sz="1200">
              <a:solidFill>
                <a:srgbClr val="89898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11704E22-1466-4E5A-BD65-7CE8D8FEAFAD}"/>
              </a:ext>
            </a:extLst>
          </p:cNvPr>
          <p:cNvSpPr>
            <a:spLocks noGrp="1"/>
          </p:cNvSpPr>
          <p:nvPr>
            <p:ph type="title"/>
          </p:nvPr>
        </p:nvSpPr>
        <p:spPr/>
        <p:txBody>
          <a:bodyPr/>
          <a:lstStyle/>
          <a:p>
            <a:pPr eaLnBrk="1" hangingPunct="1"/>
            <a:r>
              <a:rPr lang="en-US" altLang="en-US"/>
              <a:t>Project Methodology Options</a:t>
            </a:r>
          </a:p>
        </p:txBody>
      </p:sp>
      <p:sp>
        <p:nvSpPr>
          <p:cNvPr id="13315" name="Content Placeholder 2">
            <a:extLst>
              <a:ext uri="{FF2B5EF4-FFF2-40B4-BE49-F238E27FC236}">
                <a16:creationId xmlns:a16="http://schemas.microsoft.com/office/drawing/2014/main" id="{BF5BFCF2-3A02-4CFB-A109-CBE252003838}"/>
              </a:ext>
            </a:extLst>
          </p:cNvPr>
          <p:cNvSpPr>
            <a:spLocks noGrp="1"/>
          </p:cNvSpPr>
          <p:nvPr>
            <p:ph idx="1"/>
          </p:nvPr>
        </p:nvSpPr>
        <p:spPr>
          <a:xfrm>
            <a:off x="457200" y="1600200"/>
            <a:ext cx="8458200" cy="4800600"/>
          </a:xfrm>
        </p:spPr>
        <p:txBody>
          <a:bodyPr/>
          <a:lstStyle/>
          <a:p>
            <a:pPr eaLnBrk="1" hangingPunct="1">
              <a:spcBef>
                <a:spcPct val="0"/>
              </a:spcBef>
            </a:pPr>
            <a:r>
              <a:rPr lang="en-US" altLang="en-US" sz="2200">
                <a:latin typeface="Arial" panose="020B0604020202020204" pitchFamily="34" charset="0"/>
              </a:rPr>
              <a:t> </a:t>
            </a:r>
            <a:r>
              <a:rPr lang="en-US" altLang="en-US" sz="2800">
                <a:latin typeface="Arial" panose="020B0604020202020204" pitchFamily="34" charset="0"/>
              </a:rPr>
              <a:t>A methodology is a formalized approach to implementing the SDLC.</a:t>
            </a:r>
          </a:p>
          <a:p>
            <a:pPr eaLnBrk="1" hangingPunct="1">
              <a:spcBef>
                <a:spcPct val="0"/>
              </a:spcBef>
              <a:buFont typeface="Wingdings" pitchFamily="2" charset="2"/>
              <a:buNone/>
            </a:pPr>
            <a:endParaRPr lang="en-US" altLang="en-US" sz="2200">
              <a:latin typeface="Arial" panose="020B0604020202020204" pitchFamily="34" charset="0"/>
            </a:endParaRPr>
          </a:p>
          <a:p>
            <a:pPr eaLnBrk="1" hangingPunct="1">
              <a:spcBef>
                <a:spcPct val="0"/>
              </a:spcBef>
              <a:buFont typeface="Wingdings" pitchFamily="2" charset="2"/>
              <a:buNone/>
            </a:pPr>
            <a:r>
              <a:rPr lang="en-US" altLang="en-US" sz="2500"/>
              <a:t>    - Waterfall Development</a:t>
            </a:r>
          </a:p>
          <a:p>
            <a:pPr eaLnBrk="1" hangingPunct="1">
              <a:spcBef>
                <a:spcPct val="0"/>
              </a:spcBef>
              <a:buFont typeface="Wingdings" pitchFamily="2" charset="2"/>
              <a:buNone/>
            </a:pPr>
            <a:r>
              <a:rPr lang="en-US" altLang="en-US" sz="2500"/>
              <a:t>    - Parallel Development</a:t>
            </a:r>
          </a:p>
          <a:p>
            <a:pPr eaLnBrk="1" hangingPunct="1">
              <a:spcBef>
                <a:spcPct val="0"/>
              </a:spcBef>
              <a:buFont typeface="Wingdings" pitchFamily="2" charset="2"/>
              <a:buNone/>
            </a:pPr>
            <a:r>
              <a:rPr lang="en-US" altLang="en-US" sz="2500"/>
              <a:t>    - V-model (variation of the Waterfall Development)</a:t>
            </a:r>
          </a:p>
          <a:p>
            <a:pPr eaLnBrk="1" hangingPunct="1">
              <a:spcBef>
                <a:spcPct val="0"/>
              </a:spcBef>
              <a:buFont typeface="Wingdings" pitchFamily="2" charset="2"/>
              <a:buNone/>
            </a:pPr>
            <a:r>
              <a:rPr lang="en-US" altLang="en-US" sz="2500"/>
              <a:t>    - Rapid Application Development (RAD)</a:t>
            </a:r>
          </a:p>
          <a:p>
            <a:pPr eaLnBrk="1" hangingPunct="1">
              <a:spcBef>
                <a:spcPct val="0"/>
              </a:spcBef>
              <a:buFont typeface="Wingdings" pitchFamily="2" charset="2"/>
              <a:buNone/>
            </a:pPr>
            <a:r>
              <a:rPr lang="en-US" altLang="en-US" sz="2500"/>
              <a:t>         - Iterative Development</a:t>
            </a:r>
          </a:p>
          <a:p>
            <a:pPr eaLnBrk="1" hangingPunct="1">
              <a:spcBef>
                <a:spcPct val="0"/>
              </a:spcBef>
              <a:buFont typeface="Wingdings" pitchFamily="2" charset="2"/>
              <a:buNone/>
            </a:pPr>
            <a:r>
              <a:rPr lang="en-US" altLang="en-US" sz="2500"/>
              <a:t>         - System prototyping</a:t>
            </a:r>
          </a:p>
          <a:p>
            <a:pPr eaLnBrk="1" hangingPunct="1">
              <a:spcBef>
                <a:spcPct val="0"/>
              </a:spcBef>
              <a:buFont typeface="Wingdings" pitchFamily="2" charset="2"/>
              <a:buNone/>
            </a:pPr>
            <a:r>
              <a:rPr lang="en-US" altLang="en-US" sz="2500"/>
              <a:t>    - Agile Development</a:t>
            </a:r>
          </a:p>
          <a:p>
            <a:pPr eaLnBrk="1" hangingPunct="1">
              <a:lnSpc>
                <a:spcPct val="80000"/>
              </a:lnSpc>
              <a:spcBef>
                <a:spcPct val="0"/>
              </a:spcBef>
            </a:pPr>
            <a:endParaRPr lang="en-US" altLang="en-US" sz="2200">
              <a:latin typeface="Arial" panose="020B0604020202020204" pitchFamily="34" charset="0"/>
            </a:endParaRPr>
          </a:p>
          <a:p>
            <a:pPr eaLnBrk="1" hangingPunct="1">
              <a:lnSpc>
                <a:spcPct val="80000"/>
              </a:lnSpc>
              <a:spcBef>
                <a:spcPct val="0"/>
              </a:spcBef>
            </a:pPr>
            <a:endParaRPr lang="en-US" altLang="en-US" sz="2200"/>
          </a:p>
        </p:txBody>
      </p:sp>
      <p:sp>
        <p:nvSpPr>
          <p:cNvPr id="19461" name="Slide Number Placeholder 4">
            <a:extLst>
              <a:ext uri="{FF2B5EF4-FFF2-40B4-BE49-F238E27FC236}">
                <a16:creationId xmlns:a16="http://schemas.microsoft.com/office/drawing/2014/main" id="{4FB61D0C-8CDD-44A7-9FCD-B2B8452D101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2908715F-7639-4B59-8EA9-EA1151FD3FBF}" type="slidenum">
              <a:rPr lang="en-US" altLang="en-US" sz="1200" smtClean="0">
                <a:solidFill>
                  <a:srgbClr val="898989"/>
                </a:solidFill>
              </a:rPr>
              <a:pPr>
                <a:spcBef>
                  <a:spcPct val="0"/>
                </a:spcBef>
                <a:buFontTx/>
                <a:buNone/>
              </a:pPr>
              <a:t>11</a:t>
            </a:fld>
            <a:endParaRPr lang="en-US" altLang="en-US" sz="1200">
              <a:solidFill>
                <a:srgbClr val="89898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3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F559B8AA-967F-4A0B-963C-C0A7FE9D8101}"/>
              </a:ext>
            </a:extLst>
          </p:cNvPr>
          <p:cNvSpPr>
            <a:spLocks noGrp="1"/>
          </p:cNvSpPr>
          <p:nvPr>
            <p:ph type="title"/>
          </p:nvPr>
        </p:nvSpPr>
        <p:spPr/>
        <p:txBody>
          <a:bodyPr/>
          <a:lstStyle/>
          <a:p>
            <a:pPr eaLnBrk="1" hangingPunct="1"/>
            <a:r>
              <a:rPr lang="en-US" altLang="en-US" dirty="0"/>
              <a:t>Waterfall Development</a:t>
            </a:r>
          </a:p>
        </p:txBody>
      </p:sp>
      <p:sp>
        <p:nvSpPr>
          <p:cNvPr id="20484" name="Slide Number Placeholder 4">
            <a:extLst>
              <a:ext uri="{FF2B5EF4-FFF2-40B4-BE49-F238E27FC236}">
                <a16:creationId xmlns:a16="http://schemas.microsoft.com/office/drawing/2014/main" id="{5A00F56C-EE2E-4923-A7E6-81E467B6181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50C8A7AB-346B-4684-8636-CC8360961502}" type="slidenum">
              <a:rPr lang="en-US" altLang="en-US" sz="1200" smtClean="0">
                <a:solidFill>
                  <a:srgbClr val="898989"/>
                </a:solidFill>
              </a:rPr>
              <a:pPr>
                <a:spcBef>
                  <a:spcPct val="0"/>
                </a:spcBef>
                <a:buFontTx/>
                <a:buNone/>
              </a:pPr>
              <a:t>12</a:t>
            </a:fld>
            <a:endParaRPr lang="en-US" altLang="en-US" sz="1200">
              <a:solidFill>
                <a:srgbClr val="898989"/>
              </a:solidFill>
            </a:endParaRPr>
          </a:p>
        </p:txBody>
      </p:sp>
      <p:pic>
        <p:nvPicPr>
          <p:cNvPr id="20485" name="Content Placeholder 5" descr="ftp://pmcfadden2:jws&amp;zi$@ftp.wiley.com/pmcfadden2/Dennis.SAD.4e/JPEGS/jpge_300_dpi/Ch02/fig_02_02.jpg">
            <a:extLst>
              <a:ext uri="{FF2B5EF4-FFF2-40B4-BE49-F238E27FC236}">
                <a16:creationId xmlns:a16="http://schemas.microsoft.com/office/drawing/2014/main" id="{A6AA9ECB-BB02-4FB2-9FBE-3569F22AE30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14400" y="1828800"/>
            <a:ext cx="7315200" cy="4191000"/>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08E7C-951D-4587-9386-1A773DE493D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E83431-DD9F-491B-B438-5CFAB5B49312}"/>
              </a:ext>
            </a:extLst>
          </p:cNvPr>
          <p:cNvSpPr>
            <a:spLocks noGrp="1"/>
          </p:cNvSpPr>
          <p:nvPr>
            <p:ph idx="1"/>
          </p:nvPr>
        </p:nvSpPr>
        <p:spPr/>
        <p:txBody>
          <a:bodyPr/>
          <a:lstStyle/>
          <a:p>
            <a:r>
              <a:rPr lang="en-US" dirty="0"/>
              <a:t>List advantages and disadvantages.</a:t>
            </a:r>
          </a:p>
        </p:txBody>
      </p:sp>
      <p:sp>
        <p:nvSpPr>
          <p:cNvPr id="4" name="Slide Number Placeholder 3">
            <a:extLst>
              <a:ext uri="{FF2B5EF4-FFF2-40B4-BE49-F238E27FC236}">
                <a16:creationId xmlns:a16="http://schemas.microsoft.com/office/drawing/2014/main" id="{E9104770-9A95-4A66-AFD3-88833D930923}"/>
              </a:ext>
            </a:extLst>
          </p:cNvPr>
          <p:cNvSpPr>
            <a:spLocks noGrp="1"/>
          </p:cNvSpPr>
          <p:nvPr>
            <p:ph type="sldNum" sz="quarter" idx="12"/>
          </p:nvPr>
        </p:nvSpPr>
        <p:spPr/>
        <p:txBody>
          <a:bodyPr/>
          <a:lstStyle/>
          <a:p>
            <a:pPr>
              <a:defRPr/>
            </a:pPr>
            <a:r>
              <a:rPr lang="en-US" altLang="en-US"/>
              <a:t>2-</a:t>
            </a:r>
            <a:fld id="{66D7992E-9CBB-4BDD-A8D3-FEF6FD4C1375}" type="slidenum">
              <a:rPr lang="en-US" altLang="en-US" smtClean="0"/>
              <a:pPr>
                <a:defRPr/>
              </a:pPr>
              <a:t>13</a:t>
            </a:fld>
            <a:endParaRPr lang="en-US" altLang="en-US"/>
          </a:p>
        </p:txBody>
      </p:sp>
    </p:spTree>
    <p:extLst>
      <p:ext uri="{BB962C8B-B14F-4D97-AF65-F5344CB8AC3E}">
        <p14:creationId xmlns:p14="http://schemas.microsoft.com/office/powerpoint/2010/main" val="49897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5312ED3E-1B1A-43C8-8C4B-23B25CA6BE6F}"/>
              </a:ext>
            </a:extLst>
          </p:cNvPr>
          <p:cNvSpPr>
            <a:spLocks noGrp="1"/>
          </p:cNvSpPr>
          <p:nvPr>
            <p:ph type="title"/>
          </p:nvPr>
        </p:nvSpPr>
        <p:spPr/>
        <p:txBody>
          <a:bodyPr/>
          <a:lstStyle/>
          <a:p>
            <a:pPr eaLnBrk="1" hangingPunct="1"/>
            <a:r>
              <a:rPr lang="en-US" altLang="en-US"/>
              <a:t>Parallel Development</a:t>
            </a:r>
          </a:p>
        </p:txBody>
      </p:sp>
      <p:sp>
        <p:nvSpPr>
          <p:cNvPr id="21508" name="Slide Number Placeholder 4">
            <a:extLst>
              <a:ext uri="{FF2B5EF4-FFF2-40B4-BE49-F238E27FC236}">
                <a16:creationId xmlns:a16="http://schemas.microsoft.com/office/drawing/2014/main" id="{9C6E68C1-670B-40D5-B9C5-FF162E9FA30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A88F2F8F-2120-442E-A99D-A587F73867B8}" type="slidenum">
              <a:rPr lang="en-US" altLang="en-US" sz="1200" smtClean="0">
                <a:solidFill>
                  <a:srgbClr val="898989"/>
                </a:solidFill>
              </a:rPr>
              <a:pPr>
                <a:spcBef>
                  <a:spcPct val="0"/>
                </a:spcBef>
                <a:buFontTx/>
                <a:buNone/>
              </a:pPr>
              <a:t>14</a:t>
            </a:fld>
            <a:endParaRPr lang="en-US" altLang="en-US" sz="1200">
              <a:solidFill>
                <a:srgbClr val="898989"/>
              </a:solidFill>
            </a:endParaRPr>
          </a:p>
        </p:txBody>
      </p:sp>
      <p:pic>
        <p:nvPicPr>
          <p:cNvPr id="21509" name="Content Placeholder 5" descr="ftp://pmcfadden2:jws&amp;zi$@ftp.wiley.com/pmcfadden2/Dennis.SAD.4e/JPEGS/jpge_300_dpi/Ch02/fig_02_03.jpg">
            <a:extLst>
              <a:ext uri="{FF2B5EF4-FFF2-40B4-BE49-F238E27FC236}">
                <a16:creationId xmlns:a16="http://schemas.microsoft.com/office/drawing/2014/main" id="{C0E257EE-A404-4015-8AAD-6536B5846F0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066800" y="1782763"/>
            <a:ext cx="7162800" cy="4313237"/>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5B858D46-C270-464A-A27F-A65742ED24A6}"/>
              </a:ext>
            </a:extLst>
          </p:cNvPr>
          <p:cNvSpPr>
            <a:spLocks noGrp="1"/>
          </p:cNvSpPr>
          <p:nvPr>
            <p:ph type="title"/>
          </p:nvPr>
        </p:nvSpPr>
        <p:spPr/>
        <p:txBody>
          <a:bodyPr/>
          <a:lstStyle/>
          <a:p>
            <a:pPr eaLnBrk="1" hangingPunct="1"/>
            <a:r>
              <a:rPr lang="en-US" altLang="en-US" dirty="0"/>
              <a:t>V-model</a:t>
            </a:r>
          </a:p>
        </p:txBody>
      </p:sp>
      <p:sp>
        <p:nvSpPr>
          <p:cNvPr id="22532" name="Slide Number Placeholder 4">
            <a:extLst>
              <a:ext uri="{FF2B5EF4-FFF2-40B4-BE49-F238E27FC236}">
                <a16:creationId xmlns:a16="http://schemas.microsoft.com/office/drawing/2014/main" id="{E12E7D31-14B5-4A92-9765-25117701F2D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F9B1C55B-A6EF-48FF-8753-D686856125B5}" type="slidenum">
              <a:rPr lang="en-US" altLang="en-US" sz="1200" smtClean="0">
                <a:solidFill>
                  <a:srgbClr val="898989"/>
                </a:solidFill>
              </a:rPr>
              <a:pPr>
                <a:spcBef>
                  <a:spcPct val="0"/>
                </a:spcBef>
                <a:buFontTx/>
                <a:buNone/>
              </a:pPr>
              <a:t>15</a:t>
            </a:fld>
            <a:endParaRPr lang="en-US" altLang="en-US" sz="1200">
              <a:solidFill>
                <a:srgbClr val="898989"/>
              </a:solidFill>
            </a:endParaRPr>
          </a:p>
        </p:txBody>
      </p:sp>
      <p:pic>
        <p:nvPicPr>
          <p:cNvPr id="22533" name="Content Placeholder 5" descr="ftp://pmcfadden2:jws&amp;zi$@ftp.wiley.com/pmcfadden2/Dennis.SAD.4e/JPEGS/jpge_300_dpi/Ch02/fig_02_04.jpg">
            <a:extLst>
              <a:ext uri="{FF2B5EF4-FFF2-40B4-BE49-F238E27FC236}">
                <a16:creationId xmlns:a16="http://schemas.microsoft.com/office/drawing/2014/main" id="{91DABFAA-048F-4DAE-A164-32212C5C656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95450" y="1782763"/>
            <a:ext cx="5753100" cy="4160837"/>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D2B8A-C3DD-0FDF-9B6A-6B87C2E8FAF5}"/>
              </a:ext>
            </a:extLst>
          </p:cNvPr>
          <p:cNvSpPr>
            <a:spLocks noGrp="1"/>
          </p:cNvSpPr>
          <p:nvPr>
            <p:ph type="title"/>
          </p:nvPr>
        </p:nvSpPr>
        <p:spPr/>
        <p:txBody>
          <a:bodyPr/>
          <a:lstStyle/>
          <a:p>
            <a:r>
              <a:rPr lang="en-US" altLang="en-US" dirty="0"/>
              <a:t>V-model</a:t>
            </a:r>
            <a:endParaRPr lang="en-US" dirty="0"/>
          </a:p>
        </p:txBody>
      </p:sp>
      <p:pic>
        <p:nvPicPr>
          <p:cNvPr id="6" name="Content Placeholder 5" descr="A diagram of a software development&#10;&#10;Description automatically generated">
            <a:extLst>
              <a:ext uri="{FF2B5EF4-FFF2-40B4-BE49-F238E27FC236}">
                <a16:creationId xmlns:a16="http://schemas.microsoft.com/office/drawing/2014/main" id="{C12C1BD3-58C4-D0D1-0B3B-E233D1B318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76412" y="1631008"/>
            <a:ext cx="5591175" cy="4448175"/>
          </a:xfrm>
        </p:spPr>
      </p:pic>
      <p:sp>
        <p:nvSpPr>
          <p:cNvPr id="4" name="Slide Number Placeholder 3">
            <a:extLst>
              <a:ext uri="{FF2B5EF4-FFF2-40B4-BE49-F238E27FC236}">
                <a16:creationId xmlns:a16="http://schemas.microsoft.com/office/drawing/2014/main" id="{9028FDA9-E506-C51B-A646-904860AB7BCE}"/>
              </a:ext>
            </a:extLst>
          </p:cNvPr>
          <p:cNvSpPr>
            <a:spLocks noGrp="1"/>
          </p:cNvSpPr>
          <p:nvPr>
            <p:ph type="sldNum" sz="quarter" idx="12"/>
          </p:nvPr>
        </p:nvSpPr>
        <p:spPr/>
        <p:txBody>
          <a:bodyPr/>
          <a:lstStyle/>
          <a:p>
            <a:pPr>
              <a:defRPr/>
            </a:pPr>
            <a:r>
              <a:rPr lang="en-US" altLang="en-US"/>
              <a:t>2-</a:t>
            </a:r>
            <a:fld id="{66D7992E-9CBB-4BDD-A8D3-FEF6FD4C1375}" type="slidenum">
              <a:rPr lang="en-US" altLang="en-US" smtClean="0"/>
              <a:pPr>
                <a:defRPr/>
              </a:pPr>
              <a:t>16</a:t>
            </a:fld>
            <a:endParaRPr lang="en-US" altLang="en-US"/>
          </a:p>
        </p:txBody>
      </p:sp>
    </p:spTree>
    <p:extLst>
      <p:ext uri="{BB962C8B-B14F-4D97-AF65-F5344CB8AC3E}">
        <p14:creationId xmlns:p14="http://schemas.microsoft.com/office/powerpoint/2010/main" val="1718468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85629-6C2A-43FE-92FF-5209B89CB372}"/>
              </a:ext>
            </a:extLst>
          </p:cNvPr>
          <p:cNvSpPr>
            <a:spLocks noGrp="1"/>
          </p:cNvSpPr>
          <p:nvPr>
            <p:ph type="title"/>
          </p:nvPr>
        </p:nvSpPr>
        <p:spPr/>
        <p:txBody>
          <a:bodyPr rtlCol="0">
            <a:normAutofit fontScale="90000"/>
          </a:bodyPr>
          <a:lstStyle/>
          <a:p>
            <a:pPr eaLnBrk="1" fontAlgn="auto" hangingPunct="1">
              <a:spcAft>
                <a:spcPts val="0"/>
              </a:spcAft>
              <a:defRPr/>
            </a:pPr>
            <a:r>
              <a:rPr lang="en-US" dirty="0"/>
              <a:t>Rapid Application Development: Iterative Development</a:t>
            </a:r>
          </a:p>
        </p:txBody>
      </p:sp>
      <p:sp>
        <p:nvSpPr>
          <p:cNvPr id="23556" name="Slide Number Placeholder 4">
            <a:extLst>
              <a:ext uri="{FF2B5EF4-FFF2-40B4-BE49-F238E27FC236}">
                <a16:creationId xmlns:a16="http://schemas.microsoft.com/office/drawing/2014/main" id="{4716AAD1-3488-4E4E-83BD-1FEF03B9374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04FC30EA-D69E-4322-B9FB-A782E516B3B9}" type="slidenum">
              <a:rPr lang="en-US" altLang="en-US" sz="1200" smtClean="0">
                <a:solidFill>
                  <a:srgbClr val="898989"/>
                </a:solidFill>
              </a:rPr>
              <a:pPr>
                <a:spcBef>
                  <a:spcPct val="0"/>
                </a:spcBef>
                <a:buFontTx/>
                <a:buNone/>
              </a:pPr>
              <a:t>17</a:t>
            </a:fld>
            <a:endParaRPr lang="en-US" altLang="en-US" sz="1200">
              <a:solidFill>
                <a:srgbClr val="898989"/>
              </a:solidFill>
            </a:endParaRPr>
          </a:p>
        </p:txBody>
      </p:sp>
      <p:pic>
        <p:nvPicPr>
          <p:cNvPr id="23557" name="Content Placeholder 5" descr="ftp://pmcfadden2:jws&amp;zi$@ftp.wiley.com/pmcfadden2/Dennis.SAD.4e/JPEGS/jpge_300_dpi/Ch02/fig_02_05.jpg">
            <a:extLst>
              <a:ext uri="{FF2B5EF4-FFF2-40B4-BE49-F238E27FC236}">
                <a16:creationId xmlns:a16="http://schemas.microsoft.com/office/drawing/2014/main" id="{E4871245-715D-4886-BF96-B1B8DED77EE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143000" y="1782763"/>
            <a:ext cx="6858000" cy="4465637"/>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A849D-DE8D-4F9E-8DBA-90C76D8D4C6E}"/>
              </a:ext>
            </a:extLst>
          </p:cNvPr>
          <p:cNvSpPr>
            <a:spLocks noGrp="1"/>
          </p:cNvSpPr>
          <p:nvPr>
            <p:ph type="title"/>
          </p:nvPr>
        </p:nvSpPr>
        <p:spPr/>
        <p:txBody>
          <a:bodyPr rtlCol="0">
            <a:normAutofit/>
          </a:bodyPr>
          <a:lstStyle/>
          <a:p>
            <a:pPr eaLnBrk="1" fontAlgn="auto" hangingPunct="1">
              <a:spcAft>
                <a:spcPts val="0"/>
              </a:spcAft>
              <a:defRPr/>
            </a:pPr>
            <a:r>
              <a:rPr lang="en-US" dirty="0"/>
              <a:t>Rapid Application Development:</a:t>
            </a:r>
          </a:p>
        </p:txBody>
      </p:sp>
      <p:sp>
        <p:nvSpPr>
          <p:cNvPr id="24580" name="Slide Number Placeholder 4">
            <a:extLst>
              <a:ext uri="{FF2B5EF4-FFF2-40B4-BE49-F238E27FC236}">
                <a16:creationId xmlns:a16="http://schemas.microsoft.com/office/drawing/2014/main" id="{B1ADB306-2D42-4885-BC3D-1946646C8EE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E3F31FCB-6267-41C9-BE75-53DB91D13EE0}" type="slidenum">
              <a:rPr lang="en-US" altLang="en-US" sz="1200" smtClean="0">
                <a:solidFill>
                  <a:srgbClr val="898989"/>
                </a:solidFill>
              </a:rPr>
              <a:pPr>
                <a:spcBef>
                  <a:spcPct val="0"/>
                </a:spcBef>
                <a:buFontTx/>
                <a:buNone/>
              </a:pPr>
              <a:t>18</a:t>
            </a:fld>
            <a:endParaRPr lang="en-US" altLang="en-US" sz="1200">
              <a:solidFill>
                <a:srgbClr val="898989"/>
              </a:solidFill>
            </a:endParaRPr>
          </a:p>
        </p:txBody>
      </p:sp>
      <p:pic>
        <p:nvPicPr>
          <p:cNvPr id="24581" name="Content Placeholder 5" descr="ftp://pmcfadden2:jws&amp;zi$@ftp.wiley.com/pmcfadden2/Dennis.SAD.4e/JPEGS/jpge_300_dpi/Ch02/fig_02_06.jpg">
            <a:extLst>
              <a:ext uri="{FF2B5EF4-FFF2-40B4-BE49-F238E27FC236}">
                <a16:creationId xmlns:a16="http://schemas.microsoft.com/office/drawing/2014/main" id="{4803185B-77E5-4EEC-AA2A-AE51AAB9A04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52500" y="2590800"/>
            <a:ext cx="7239000" cy="3581400"/>
          </a:xfrm>
        </p:spPr>
      </p:pic>
      <p:sp>
        <p:nvSpPr>
          <p:cNvPr id="6" name="TextBox 5">
            <a:extLst>
              <a:ext uri="{FF2B5EF4-FFF2-40B4-BE49-F238E27FC236}">
                <a16:creationId xmlns:a16="http://schemas.microsoft.com/office/drawing/2014/main" id="{ECE2F444-4174-4581-ABA9-6CA8EE0E081A}"/>
              </a:ext>
            </a:extLst>
          </p:cNvPr>
          <p:cNvSpPr txBox="1"/>
          <p:nvPr/>
        </p:nvSpPr>
        <p:spPr>
          <a:xfrm>
            <a:off x="609600" y="1536184"/>
            <a:ext cx="4876800" cy="523220"/>
          </a:xfrm>
          <a:prstGeom prst="rect">
            <a:avLst/>
          </a:prstGeom>
          <a:noFill/>
        </p:spPr>
        <p:txBody>
          <a:bodyPr wrap="square">
            <a:spAutoFit/>
          </a:bodyPr>
          <a:lstStyle/>
          <a:p>
            <a:pPr eaLnBrk="1" hangingPunct="1">
              <a:spcBef>
                <a:spcPct val="0"/>
              </a:spcBef>
            </a:pPr>
            <a:r>
              <a:rPr lang="en-US" altLang="en-US" sz="2800" dirty="0"/>
              <a:t>System Prototyping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431D529-0EB4-CE11-7F09-E5DDFC425C40}"/>
              </a:ext>
            </a:extLst>
          </p:cNvPr>
          <p:cNvSpPr>
            <a:spLocks noGrp="1"/>
          </p:cNvSpPr>
          <p:nvPr>
            <p:ph type="sldNum" sz="quarter" idx="12"/>
          </p:nvPr>
        </p:nvSpPr>
        <p:spPr/>
        <p:txBody>
          <a:bodyPr/>
          <a:lstStyle/>
          <a:p>
            <a:pPr>
              <a:defRPr/>
            </a:pPr>
            <a:r>
              <a:rPr lang="en-US" altLang="en-US"/>
              <a:t>2-</a:t>
            </a:r>
            <a:fld id="{21D40A56-C2BB-42CB-8EFF-5BFF7E952E3E}" type="slidenum">
              <a:rPr lang="en-US" altLang="en-US" smtClean="0"/>
              <a:pPr>
                <a:defRPr/>
              </a:pPr>
              <a:t>19</a:t>
            </a:fld>
            <a:endParaRPr lang="en-US" altLang="en-US"/>
          </a:p>
        </p:txBody>
      </p:sp>
      <p:pic>
        <p:nvPicPr>
          <p:cNvPr id="6" name="Picture 5" descr="A diagram of a process&#10;&#10;Description automatically generated">
            <a:extLst>
              <a:ext uri="{FF2B5EF4-FFF2-40B4-BE49-F238E27FC236}">
                <a16:creationId xmlns:a16="http://schemas.microsoft.com/office/drawing/2014/main" id="{3DF484E7-E550-FA9F-AF84-8F2CF82A5E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08529"/>
            <a:ext cx="9144000" cy="4840941"/>
          </a:xfrm>
          <a:prstGeom prst="rect">
            <a:avLst/>
          </a:prstGeom>
        </p:spPr>
      </p:pic>
    </p:spTree>
    <p:extLst>
      <p:ext uri="{BB962C8B-B14F-4D97-AF65-F5344CB8AC3E}">
        <p14:creationId xmlns:p14="http://schemas.microsoft.com/office/powerpoint/2010/main" val="2891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F391CA29-E6A7-4261-815A-0896EB505086}"/>
              </a:ext>
            </a:extLst>
          </p:cNvPr>
          <p:cNvSpPr>
            <a:spLocks noGrp="1"/>
          </p:cNvSpPr>
          <p:nvPr>
            <p:ph type="title"/>
          </p:nvPr>
        </p:nvSpPr>
        <p:spPr/>
        <p:txBody>
          <a:bodyPr/>
          <a:lstStyle/>
          <a:p>
            <a:pPr algn="l" eaLnBrk="1" hangingPunct="1"/>
            <a:r>
              <a:rPr lang="en-US" altLang="en-US"/>
              <a:t>(cont’d)</a:t>
            </a:r>
          </a:p>
        </p:txBody>
      </p:sp>
      <p:sp>
        <p:nvSpPr>
          <p:cNvPr id="25604" name="Slide Number Placeholder 4">
            <a:extLst>
              <a:ext uri="{FF2B5EF4-FFF2-40B4-BE49-F238E27FC236}">
                <a16:creationId xmlns:a16="http://schemas.microsoft.com/office/drawing/2014/main" id="{37E84D74-F651-4745-8BF4-B6E649C8B90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53B581B1-9032-421F-BC24-69B63442024B}" type="slidenum">
              <a:rPr lang="en-US" altLang="en-US" sz="1200" smtClean="0">
                <a:solidFill>
                  <a:srgbClr val="898989"/>
                </a:solidFill>
              </a:rPr>
              <a:pPr>
                <a:spcBef>
                  <a:spcPct val="0"/>
                </a:spcBef>
                <a:buFontTx/>
                <a:buNone/>
              </a:pPr>
              <a:t>20</a:t>
            </a:fld>
            <a:endParaRPr lang="en-US" altLang="en-US" sz="1200">
              <a:solidFill>
                <a:srgbClr val="898989"/>
              </a:solidFill>
            </a:endParaRPr>
          </a:p>
        </p:txBody>
      </p:sp>
      <p:sp>
        <p:nvSpPr>
          <p:cNvPr id="25605" name="Content Placeholder 6">
            <a:extLst>
              <a:ext uri="{FF2B5EF4-FFF2-40B4-BE49-F238E27FC236}">
                <a16:creationId xmlns:a16="http://schemas.microsoft.com/office/drawing/2014/main" id="{B03A3AB2-A279-42F1-84C4-052925EA7FF2}"/>
              </a:ext>
            </a:extLst>
          </p:cNvPr>
          <p:cNvSpPr>
            <a:spLocks noGrp="1"/>
          </p:cNvSpPr>
          <p:nvPr>
            <p:ph idx="1"/>
          </p:nvPr>
        </p:nvSpPr>
        <p:spPr/>
        <p:txBody>
          <a:bodyPr/>
          <a:lstStyle/>
          <a:p>
            <a:pPr marL="0" indent="0" eaLnBrk="1" hangingPunct="1">
              <a:spcBef>
                <a:spcPct val="0"/>
              </a:spcBef>
              <a:buNone/>
            </a:pPr>
            <a:r>
              <a:rPr lang="en-US" altLang="en-US" dirty="0"/>
              <a:t>Throwaway prototyping</a:t>
            </a:r>
          </a:p>
          <a:p>
            <a:pPr eaLnBrk="1" hangingPunct="1">
              <a:spcBef>
                <a:spcPct val="0"/>
              </a:spcBef>
            </a:pPr>
            <a:endParaRPr lang="en-US" altLang="en-US" dirty="0"/>
          </a:p>
        </p:txBody>
      </p:sp>
      <p:pic>
        <p:nvPicPr>
          <p:cNvPr id="8" name="Picture 2" descr="fig_02_07">
            <a:extLst>
              <a:ext uri="{FF2B5EF4-FFF2-40B4-BE49-F238E27FC236}">
                <a16:creationId xmlns:a16="http://schemas.microsoft.com/office/drawing/2014/main" id="{FE94AC55-8942-4B3A-8A2F-5175CAC3324A}"/>
              </a:ext>
            </a:extLst>
          </p:cNvPr>
          <p:cNvPicPr preferRelativeResize="0">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990600" y="2590800"/>
            <a:ext cx="70866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C6B0-2609-79C9-CFCD-0F4AB8CCDD14}"/>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C074E058-F153-F895-7EFF-A88CE83EB8F3}"/>
              </a:ext>
            </a:extLst>
          </p:cNvPr>
          <p:cNvSpPr>
            <a:spLocks noGrp="1"/>
          </p:cNvSpPr>
          <p:nvPr>
            <p:ph type="sldNum" sz="quarter" idx="12"/>
          </p:nvPr>
        </p:nvSpPr>
        <p:spPr/>
        <p:txBody>
          <a:bodyPr/>
          <a:lstStyle/>
          <a:p>
            <a:pPr>
              <a:defRPr/>
            </a:pPr>
            <a:r>
              <a:rPr lang="en-US" altLang="en-US"/>
              <a:t>2-</a:t>
            </a:r>
            <a:fld id="{66D7992E-9CBB-4BDD-A8D3-FEF6FD4C1375}" type="slidenum">
              <a:rPr lang="en-US" altLang="en-US" smtClean="0"/>
              <a:pPr>
                <a:defRPr/>
              </a:pPr>
              <a:t>21</a:t>
            </a:fld>
            <a:endParaRPr lang="en-US" altLang="en-US"/>
          </a:p>
        </p:txBody>
      </p:sp>
      <p:sp>
        <p:nvSpPr>
          <p:cNvPr id="7" name="Content Placeholder 6">
            <a:extLst>
              <a:ext uri="{FF2B5EF4-FFF2-40B4-BE49-F238E27FC236}">
                <a16:creationId xmlns:a16="http://schemas.microsoft.com/office/drawing/2014/main" id="{7C7632B2-1BB5-6628-EFE1-D20BEECC34C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65961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5463B-EAEF-4D99-B728-CE79768D2612}"/>
              </a:ext>
            </a:extLst>
          </p:cNvPr>
          <p:cNvSpPr>
            <a:spLocks noGrp="1"/>
          </p:cNvSpPr>
          <p:nvPr>
            <p:ph type="title"/>
          </p:nvPr>
        </p:nvSpPr>
        <p:spPr/>
        <p:txBody>
          <a:bodyPr/>
          <a:lstStyle/>
          <a:p>
            <a:r>
              <a:rPr lang="en-US" dirty="0"/>
              <a:t>Agile</a:t>
            </a:r>
          </a:p>
        </p:txBody>
      </p:sp>
      <p:pic>
        <p:nvPicPr>
          <p:cNvPr id="5" name="Understanding Agile">
            <a:hlinkClick r:id="" action="ppaction://media"/>
            <a:extLst>
              <a:ext uri="{FF2B5EF4-FFF2-40B4-BE49-F238E27FC236}">
                <a16:creationId xmlns:a16="http://schemas.microsoft.com/office/drawing/2014/main" id="{90BFB866-A097-4266-BC65-8F20463DA75F}"/>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549275" y="1600200"/>
            <a:ext cx="8045450" cy="4572000"/>
          </a:xfrm>
        </p:spPr>
      </p:pic>
      <p:sp>
        <p:nvSpPr>
          <p:cNvPr id="4" name="Slide Number Placeholder 3">
            <a:extLst>
              <a:ext uri="{FF2B5EF4-FFF2-40B4-BE49-F238E27FC236}">
                <a16:creationId xmlns:a16="http://schemas.microsoft.com/office/drawing/2014/main" id="{D8DB153D-6B1C-4E7C-9EE1-AC63F89E47B7}"/>
              </a:ext>
            </a:extLst>
          </p:cNvPr>
          <p:cNvSpPr>
            <a:spLocks noGrp="1"/>
          </p:cNvSpPr>
          <p:nvPr>
            <p:ph type="sldNum" sz="quarter" idx="12"/>
          </p:nvPr>
        </p:nvSpPr>
        <p:spPr/>
        <p:txBody>
          <a:bodyPr/>
          <a:lstStyle/>
          <a:p>
            <a:pPr>
              <a:defRPr/>
            </a:pPr>
            <a:r>
              <a:rPr lang="en-US" altLang="en-US"/>
              <a:t>2-</a:t>
            </a:r>
            <a:fld id="{66D7992E-9CBB-4BDD-A8D3-FEF6FD4C1375}" type="slidenum">
              <a:rPr lang="en-US" altLang="en-US" smtClean="0"/>
              <a:pPr>
                <a:defRPr/>
              </a:pPr>
              <a:t>22</a:t>
            </a:fld>
            <a:endParaRPr lang="en-US" altLang="en-US"/>
          </a:p>
        </p:txBody>
      </p:sp>
    </p:spTree>
    <p:extLst>
      <p:ext uri="{BB962C8B-B14F-4D97-AF65-F5344CB8AC3E}">
        <p14:creationId xmlns:p14="http://schemas.microsoft.com/office/powerpoint/2010/main" val="2916615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489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12E3A534-38C2-4F46-BF49-24775197DD25}"/>
              </a:ext>
            </a:extLst>
          </p:cNvPr>
          <p:cNvSpPr>
            <a:spLocks noGrp="1"/>
          </p:cNvSpPr>
          <p:nvPr>
            <p:ph type="title"/>
          </p:nvPr>
        </p:nvSpPr>
        <p:spPr/>
        <p:txBody>
          <a:bodyPr/>
          <a:lstStyle/>
          <a:p>
            <a:pPr eaLnBrk="1" hangingPunct="1"/>
            <a:r>
              <a:rPr lang="en-US" altLang="en-US"/>
              <a:t>Agile Development</a:t>
            </a:r>
          </a:p>
        </p:txBody>
      </p:sp>
      <p:sp>
        <p:nvSpPr>
          <p:cNvPr id="26627" name="Content Placeholder 2">
            <a:extLst>
              <a:ext uri="{FF2B5EF4-FFF2-40B4-BE49-F238E27FC236}">
                <a16:creationId xmlns:a16="http://schemas.microsoft.com/office/drawing/2014/main" id="{B3517B96-ED31-4427-A115-B1FE6ADA0F32}"/>
              </a:ext>
            </a:extLst>
          </p:cNvPr>
          <p:cNvSpPr>
            <a:spLocks noGrp="1"/>
          </p:cNvSpPr>
          <p:nvPr>
            <p:ph idx="1"/>
          </p:nvPr>
        </p:nvSpPr>
        <p:spPr/>
        <p:txBody>
          <a:bodyPr/>
          <a:lstStyle/>
          <a:p>
            <a:pPr eaLnBrk="1" hangingPunct="1">
              <a:spcBef>
                <a:spcPct val="0"/>
              </a:spcBef>
            </a:pPr>
            <a:r>
              <a:rPr lang="en-US" altLang="en-US"/>
              <a:t>A group of programming-centric methodologies that focus on streamlining the SDLC.</a:t>
            </a:r>
          </a:p>
          <a:p>
            <a:pPr eaLnBrk="1" hangingPunct="1">
              <a:spcBef>
                <a:spcPct val="0"/>
              </a:spcBef>
            </a:pPr>
            <a:r>
              <a:rPr lang="en-US" altLang="en-US"/>
              <a:t>Includes face-to-face communication</a:t>
            </a:r>
          </a:p>
          <a:p>
            <a:pPr eaLnBrk="1" hangingPunct="1">
              <a:spcBef>
                <a:spcPct val="0"/>
              </a:spcBef>
            </a:pPr>
            <a:r>
              <a:rPr lang="en-US" altLang="en-US" b="1" i="1">
                <a:solidFill>
                  <a:srgbClr val="3366FF"/>
                </a:solidFill>
              </a:rPr>
              <a:t>Extreme programming</a:t>
            </a:r>
            <a:r>
              <a:rPr lang="en-US" altLang="en-US" b="1"/>
              <a:t> </a:t>
            </a:r>
            <a:r>
              <a:rPr lang="en-US" altLang="en-US"/>
              <a:t>– emphasizes customer satisfaction and teamwork.</a:t>
            </a:r>
            <a:endParaRPr lang="en-US" altLang="en-US" i="1">
              <a:solidFill>
                <a:srgbClr val="3366FF"/>
              </a:solidFill>
            </a:endParaRPr>
          </a:p>
          <a:p>
            <a:pPr eaLnBrk="1" hangingPunct="1">
              <a:spcBef>
                <a:spcPct val="0"/>
              </a:spcBef>
            </a:pPr>
            <a:endParaRPr lang="en-US" altLang="en-US"/>
          </a:p>
        </p:txBody>
      </p:sp>
      <p:sp>
        <p:nvSpPr>
          <p:cNvPr id="26629" name="Slide Number Placeholder 4">
            <a:extLst>
              <a:ext uri="{FF2B5EF4-FFF2-40B4-BE49-F238E27FC236}">
                <a16:creationId xmlns:a16="http://schemas.microsoft.com/office/drawing/2014/main" id="{3BFE0A15-B53F-4800-8297-9DAB91C5532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B6937554-0B79-49B0-B396-1802581F1909}" type="slidenum">
              <a:rPr lang="en-US" altLang="en-US" sz="1200" smtClean="0">
                <a:solidFill>
                  <a:srgbClr val="898989"/>
                </a:solidFill>
              </a:rPr>
              <a:pPr>
                <a:spcBef>
                  <a:spcPct val="0"/>
                </a:spcBef>
                <a:buFontTx/>
                <a:buNone/>
              </a:pPr>
              <a:t>23</a:t>
            </a:fld>
            <a:endParaRPr lang="en-US" altLang="en-US" sz="1200">
              <a:solidFill>
                <a:srgbClr val="898989"/>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FFCFF417-04A7-439B-924B-BB575D838B3B}"/>
              </a:ext>
            </a:extLst>
          </p:cNvPr>
          <p:cNvSpPr>
            <a:spLocks noGrp="1"/>
          </p:cNvSpPr>
          <p:nvPr>
            <p:ph type="title"/>
          </p:nvPr>
        </p:nvSpPr>
        <p:spPr/>
        <p:txBody>
          <a:bodyPr/>
          <a:lstStyle/>
          <a:p>
            <a:pPr eaLnBrk="1" hangingPunct="1"/>
            <a:r>
              <a:rPr lang="en-US" altLang="en-US"/>
              <a:t>Extreme Programming</a:t>
            </a:r>
          </a:p>
        </p:txBody>
      </p:sp>
      <p:sp>
        <p:nvSpPr>
          <p:cNvPr id="27652" name="Slide Number Placeholder 4">
            <a:extLst>
              <a:ext uri="{FF2B5EF4-FFF2-40B4-BE49-F238E27FC236}">
                <a16:creationId xmlns:a16="http://schemas.microsoft.com/office/drawing/2014/main" id="{35A36ED0-9F4E-4FAC-978D-21EDDC80E5D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BC626271-E2CB-4D7F-8E53-4D8F17B52C66}" type="slidenum">
              <a:rPr lang="en-US" altLang="en-US" sz="1200" smtClean="0">
                <a:solidFill>
                  <a:srgbClr val="898989"/>
                </a:solidFill>
              </a:rPr>
              <a:pPr>
                <a:spcBef>
                  <a:spcPct val="0"/>
                </a:spcBef>
                <a:buFontTx/>
                <a:buNone/>
              </a:pPr>
              <a:t>24</a:t>
            </a:fld>
            <a:endParaRPr lang="en-US" altLang="en-US" sz="1200">
              <a:solidFill>
                <a:srgbClr val="898989"/>
              </a:solidFill>
            </a:endParaRPr>
          </a:p>
        </p:txBody>
      </p:sp>
      <p:pic>
        <p:nvPicPr>
          <p:cNvPr id="27653" name="Content Placeholder 5" descr="ftp://pmcfadden2:jws&amp;zi$@ftp.wiley.com/pmcfadden2/Dennis.SAD.4e/JPEGS/jpge_300_dpi/Ch02/fig_02_08.jpg">
            <a:extLst>
              <a:ext uri="{FF2B5EF4-FFF2-40B4-BE49-F238E27FC236}">
                <a16:creationId xmlns:a16="http://schemas.microsoft.com/office/drawing/2014/main" id="{2A505F85-FF28-406B-9DA5-85352673961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295400" y="1905000"/>
            <a:ext cx="6553200" cy="4114800"/>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E58ED38C-697C-4770-8F10-702D5154066B}"/>
              </a:ext>
            </a:extLst>
          </p:cNvPr>
          <p:cNvSpPr>
            <a:spLocks noGrp="1"/>
          </p:cNvSpPr>
          <p:nvPr>
            <p:ph type="title"/>
          </p:nvPr>
        </p:nvSpPr>
        <p:spPr/>
        <p:txBody>
          <a:bodyPr/>
          <a:lstStyle/>
          <a:p>
            <a:r>
              <a:rPr lang="en-US" altLang="en-US" dirty="0"/>
              <a:t>Question</a:t>
            </a:r>
          </a:p>
        </p:txBody>
      </p:sp>
      <p:sp>
        <p:nvSpPr>
          <p:cNvPr id="28675" name="Content Placeholder 2">
            <a:extLst>
              <a:ext uri="{FF2B5EF4-FFF2-40B4-BE49-F238E27FC236}">
                <a16:creationId xmlns:a16="http://schemas.microsoft.com/office/drawing/2014/main" id="{E934A851-98CA-4D2F-9042-7E09F77C49D9}"/>
              </a:ext>
            </a:extLst>
          </p:cNvPr>
          <p:cNvSpPr>
            <a:spLocks noGrp="1"/>
          </p:cNvSpPr>
          <p:nvPr>
            <p:ph idx="1"/>
          </p:nvPr>
        </p:nvSpPr>
        <p:spPr/>
        <p:txBody>
          <a:bodyPr/>
          <a:lstStyle/>
          <a:p>
            <a:pPr>
              <a:spcBef>
                <a:spcPct val="0"/>
              </a:spcBef>
            </a:pPr>
            <a:r>
              <a:rPr lang="en-US" altLang="en-US" dirty="0"/>
              <a:t>What methodology to your project</a:t>
            </a:r>
          </a:p>
        </p:txBody>
      </p:sp>
      <p:sp>
        <p:nvSpPr>
          <p:cNvPr id="28677" name="Slide Number Placeholder 4">
            <a:extLst>
              <a:ext uri="{FF2B5EF4-FFF2-40B4-BE49-F238E27FC236}">
                <a16:creationId xmlns:a16="http://schemas.microsoft.com/office/drawing/2014/main" id="{86281A50-7738-4371-B20C-D37696F0E37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CA77C815-3DAB-4368-B315-2524E22DAA67}" type="slidenum">
              <a:rPr lang="en-US" altLang="en-US" sz="1200" smtClean="0">
                <a:solidFill>
                  <a:srgbClr val="898989"/>
                </a:solidFill>
              </a:rPr>
              <a:pPr>
                <a:spcBef>
                  <a:spcPct val="0"/>
                </a:spcBef>
                <a:buFontTx/>
                <a:buNone/>
              </a:pPr>
              <a:t>25</a:t>
            </a:fld>
            <a:endParaRPr lang="en-US" altLang="en-US" sz="1200">
              <a:solidFill>
                <a:srgbClr val="898989"/>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F131A-3CB4-0E63-592D-C1D8F2291003}"/>
              </a:ext>
            </a:extLst>
          </p:cNvPr>
          <p:cNvSpPr>
            <a:spLocks noGrp="1"/>
          </p:cNvSpPr>
          <p:nvPr>
            <p:ph type="ctrTitle"/>
          </p:nvPr>
        </p:nvSpPr>
        <p:spPr/>
        <p:txBody>
          <a:bodyPr/>
          <a:lstStyle/>
          <a:p>
            <a:pPr algn="l"/>
            <a:r>
              <a:rPr lang="en-US" dirty="0"/>
              <a:t>Research on Agile </a:t>
            </a:r>
            <a:r>
              <a:rPr lang="en-US"/>
              <a:t>Development Methodologies.</a:t>
            </a:r>
            <a:endParaRPr lang="en-US" dirty="0"/>
          </a:p>
        </p:txBody>
      </p:sp>
      <p:sp>
        <p:nvSpPr>
          <p:cNvPr id="4" name="Slide Number Placeholder 3">
            <a:extLst>
              <a:ext uri="{FF2B5EF4-FFF2-40B4-BE49-F238E27FC236}">
                <a16:creationId xmlns:a16="http://schemas.microsoft.com/office/drawing/2014/main" id="{276039C1-CE3E-AB89-9453-647498DFC8BC}"/>
              </a:ext>
            </a:extLst>
          </p:cNvPr>
          <p:cNvSpPr>
            <a:spLocks noGrp="1"/>
          </p:cNvSpPr>
          <p:nvPr>
            <p:ph type="sldNum" sz="quarter" idx="12"/>
          </p:nvPr>
        </p:nvSpPr>
        <p:spPr/>
        <p:txBody>
          <a:bodyPr/>
          <a:lstStyle/>
          <a:p>
            <a:pPr>
              <a:defRPr/>
            </a:pPr>
            <a:r>
              <a:rPr lang="en-US" altLang="en-US"/>
              <a:t>2-</a:t>
            </a:r>
            <a:fld id="{21D40A56-C2BB-42CB-8EFF-5BFF7E952E3E}" type="slidenum">
              <a:rPr lang="en-US" altLang="en-US" smtClean="0"/>
              <a:pPr>
                <a:defRPr/>
              </a:pPr>
              <a:t>26</a:t>
            </a:fld>
            <a:endParaRPr lang="en-US" altLang="en-US"/>
          </a:p>
        </p:txBody>
      </p:sp>
      <p:sp>
        <p:nvSpPr>
          <p:cNvPr id="5" name="Title 1">
            <a:extLst>
              <a:ext uri="{FF2B5EF4-FFF2-40B4-BE49-F238E27FC236}">
                <a16:creationId xmlns:a16="http://schemas.microsoft.com/office/drawing/2014/main" id="{70395184-7EA6-4325-BFFB-97D24423BA6E}"/>
              </a:ext>
            </a:extLst>
          </p:cNvPr>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b="1"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altLang="en-US"/>
              <a:t>Question</a:t>
            </a:r>
            <a:endParaRPr lang="en-US" altLang="en-US" dirty="0"/>
          </a:p>
        </p:txBody>
      </p:sp>
    </p:spTree>
    <p:extLst>
      <p:ext uri="{BB962C8B-B14F-4D97-AF65-F5344CB8AC3E}">
        <p14:creationId xmlns:p14="http://schemas.microsoft.com/office/powerpoint/2010/main" val="850749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0C6AE-FA2D-495D-A9E7-AD2A486A9C0E}"/>
              </a:ext>
            </a:extLst>
          </p:cNvPr>
          <p:cNvSpPr>
            <a:spLocks noGrp="1"/>
          </p:cNvSpPr>
          <p:nvPr>
            <p:ph type="title"/>
          </p:nvPr>
        </p:nvSpPr>
        <p:spPr/>
        <p:txBody>
          <a:bodyPr rtlCol="0">
            <a:normAutofit fontScale="90000"/>
          </a:bodyPr>
          <a:lstStyle/>
          <a:p>
            <a:pPr eaLnBrk="1" fontAlgn="auto" hangingPunct="1">
              <a:spcAft>
                <a:spcPts val="0"/>
              </a:spcAft>
              <a:defRPr/>
            </a:pPr>
            <a:r>
              <a:rPr lang="en-US" dirty="0"/>
              <a:t>Selecting the Appropriate Development Methodology</a:t>
            </a:r>
          </a:p>
        </p:txBody>
      </p:sp>
      <p:sp>
        <p:nvSpPr>
          <p:cNvPr id="29700" name="Slide Number Placeholder 4">
            <a:extLst>
              <a:ext uri="{FF2B5EF4-FFF2-40B4-BE49-F238E27FC236}">
                <a16:creationId xmlns:a16="http://schemas.microsoft.com/office/drawing/2014/main" id="{CE2AAEC7-A4F8-4135-9679-EFD0A6D874A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419821F0-68FA-4FBE-9C8E-EA55215AD016}" type="slidenum">
              <a:rPr lang="en-US" altLang="en-US" sz="1200" smtClean="0">
                <a:solidFill>
                  <a:srgbClr val="898989"/>
                </a:solidFill>
              </a:rPr>
              <a:pPr>
                <a:spcBef>
                  <a:spcPct val="0"/>
                </a:spcBef>
                <a:buFontTx/>
                <a:buNone/>
              </a:pPr>
              <a:t>27</a:t>
            </a:fld>
            <a:endParaRPr lang="en-US" altLang="en-US" sz="1200">
              <a:solidFill>
                <a:srgbClr val="898989"/>
              </a:solidFill>
            </a:endParaRPr>
          </a:p>
        </p:txBody>
      </p:sp>
      <p:pic>
        <p:nvPicPr>
          <p:cNvPr id="29701" name="Content Placeholder 2">
            <a:extLst>
              <a:ext uri="{FF2B5EF4-FFF2-40B4-BE49-F238E27FC236}">
                <a16:creationId xmlns:a16="http://schemas.microsoft.com/office/drawing/2014/main" id="{DDABB883-BFBF-4EEB-BF53-510C59CF2E4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 y="2057400"/>
            <a:ext cx="8824913" cy="3276600"/>
          </a:xfr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025D202B-D997-4B85-8A29-5BC464F27D54}"/>
              </a:ext>
            </a:extLst>
          </p:cNvPr>
          <p:cNvSpPr>
            <a:spLocks noGrp="1"/>
          </p:cNvSpPr>
          <p:nvPr>
            <p:ph type="title"/>
          </p:nvPr>
        </p:nvSpPr>
        <p:spPr/>
        <p:txBody>
          <a:bodyPr/>
          <a:lstStyle/>
          <a:p>
            <a:pPr algn="l" eaLnBrk="1" hangingPunct="1"/>
            <a:r>
              <a:rPr lang="en-US" altLang="en-US"/>
              <a:t>(cont’d)</a:t>
            </a:r>
          </a:p>
        </p:txBody>
      </p:sp>
      <p:sp>
        <p:nvSpPr>
          <p:cNvPr id="30723" name="Content Placeholder 2">
            <a:extLst>
              <a:ext uri="{FF2B5EF4-FFF2-40B4-BE49-F238E27FC236}">
                <a16:creationId xmlns:a16="http://schemas.microsoft.com/office/drawing/2014/main" id="{D10905E6-D456-4107-82C4-95994DBB2C34}"/>
              </a:ext>
            </a:extLst>
          </p:cNvPr>
          <p:cNvSpPr>
            <a:spLocks noGrp="1"/>
          </p:cNvSpPr>
          <p:nvPr>
            <p:ph idx="1"/>
          </p:nvPr>
        </p:nvSpPr>
        <p:spPr>
          <a:xfrm>
            <a:off x="457200" y="1600200"/>
            <a:ext cx="8458200" cy="4648200"/>
          </a:xfrm>
        </p:spPr>
        <p:txBody>
          <a:bodyPr/>
          <a:lstStyle/>
          <a:p>
            <a:pPr eaLnBrk="1" hangingPunct="1">
              <a:spcBef>
                <a:spcPct val="0"/>
              </a:spcBef>
            </a:pPr>
            <a:r>
              <a:rPr lang="en-US" altLang="en-US" sz="3700"/>
              <a:t>Important factors to consider in selecting the development methodology</a:t>
            </a:r>
          </a:p>
          <a:p>
            <a:pPr eaLnBrk="1" hangingPunct="1">
              <a:spcBef>
                <a:spcPct val="0"/>
              </a:spcBef>
              <a:buFont typeface="Wingdings" pitchFamily="2" charset="2"/>
              <a:buNone/>
            </a:pPr>
            <a:r>
              <a:rPr lang="en-US" altLang="en-US" sz="3700"/>
              <a:t>   - Clarity of User Requirements</a:t>
            </a:r>
          </a:p>
          <a:p>
            <a:pPr eaLnBrk="1" hangingPunct="1">
              <a:spcBef>
                <a:spcPct val="0"/>
              </a:spcBef>
              <a:buFont typeface="Wingdings" pitchFamily="2" charset="2"/>
              <a:buNone/>
            </a:pPr>
            <a:r>
              <a:rPr lang="en-US" altLang="en-US" sz="3700"/>
              <a:t>   - Familiarity with Technology</a:t>
            </a:r>
          </a:p>
          <a:p>
            <a:pPr eaLnBrk="1" hangingPunct="1">
              <a:spcBef>
                <a:spcPct val="0"/>
              </a:spcBef>
              <a:buFont typeface="Wingdings" pitchFamily="2" charset="2"/>
              <a:buNone/>
            </a:pPr>
            <a:r>
              <a:rPr lang="en-US" altLang="en-US" sz="3700"/>
              <a:t>   - System Complexity</a:t>
            </a:r>
          </a:p>
          <a:p>
            <a:pPr eaLnBrk="1" hangingPunct="1">
              <a:spcBef>
                <a:spcPct val="0"/>
              </a:spcBef>
              <a:buFont typeface="Wingdings" pitchFamily="2" charset="2"/>
              <a:buNone/>
            </a:pPr>
            <a:r>
              <a:rPr lang="en-US" altLang="en-US" sz="3700"/>
              <a:t>   - System Reliability</a:t>
            </a:r>
          </a:p>
          <a:p>
            <a:pPr eaLnBrk="1" hangingPunct="1">
              <a:spcBef>
                <a:spcPct val="0"/>
              </a:spcBef>
              <a:buFont typeface="Wingdings" pitchFamily="2" charset="2"/>
              <a:buNone/>
            </a:pPr>
            <a:r>
              <a:rPr lang="en-US" altLang="en-US" sz="3700"/>
              <a:t>   - Short Time Schedules</a:t>
            </a:r>
          </a:p>
          <a:p>
            <a:pPr eaLnBrk="1" hangingPunct="1">
              <a:spcBef>
                <a:spcPct val="0"/>
              </a:spcBef>
              <a:buFont typeface="Wingdings" pitchFamily="2" charset="2"/>
              <a:buNone/>
            </a:pPr>
            <a:r>
              <a:rPr lang="en-US" altLang="en-US" sz="3700"/>
              <a:t>   - Schedule Visibility</a:t>
            </a:r>
          </a:p>
          <a:p>
            <a:pPr eaLnBrk="1" hangingPunct="1">
              <a:spcBef>
                <a:spcPct val="0"/>
              </a:spcBef>
              <a:buFont typeface="Wingdings" pitchFamily="2" charset="2"/>
              <a:buNone/>
            </a:pPr>
            <a:endParaRPr lang="en-US" altLang="en-US" sz="3700"/>
          </a:p>
          <a:p>
            <a:pPr eaLnBrk="1" hangingPunct="1">
              <a:spcBef>
                <a:spcPct val="0"/>
              </a:spcBef>
              <a:buFont typeface="Wingdings" pitchFamily="2" charset="2"/>
              <a:buNone/>
            </a:pPr>
            <a:endParaRPr lang="en-US" altLang="en-US" sz="3700"/>
          </a:p>
        </p:txBody>
      </p:sp>
      <p:sp>
        <p:nvSpPr>
          <p:cNvPr id="30725" name="Slide Number Placeholder 4">
            <a:extLst>
              <a:ext uri="{FF2B5EF4-FFF2-40B4-BE49-F238E27FC236}">
                <a16:creationId xmlns:a16="http://schemas.microsoft.com/office/drawing/2014/main" id="{B4F3F630-789A-48F6-A855-0CEB003D94D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D0CCC979-3F52-4DD8-AF03-184EDC0A15B1}" type="slidenum">
              <a:rPr lang="en-US" altLang="en-US" sz="1200" smtClean="0">
                <a:solidFill>
                  <a:srgbClr val="898989"/>
                </a:solidFill>
              </a:rPr>
              <a:pPr>
                <a:spcBef>
                  <a:spcPct val="0"/>
                </a:spcBef>
                <a:buFontTx/>
                <a:buNone/>
              </a:pPr>
              <a:t>28</a:t>
            </a:fld>
            <a:endParaRPr lang="en-US" altLang="en-US" sz="1200">
              <a:solidFill>
                <a:srgbClr val="898989"/>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46923-21DA-4624-8DFB-4C612782C69A}"/>
              </a:ext>
            </a:extLst>
          </p:cNvPr>
          <p:cNvSpPr>
            <a:spLocks noGrp="1"/>
          </p:cNvSpPr>
          <p:nvPr>
            <p:ph type="title"/>
          </p:nvPr>
        </p:nvSpPr>
        <p:spPr/>
        <p:txBody>
          <a:bodyPr/>
          <a:lstStyle/>
          <a:p>
            <a:r>
              <a:rPr lang="en-US" dirty="0"/>
              <a:t>Estimating the Project Time Frame</a:t>
            </a:r>
          </a:p>
        </p:txBody>
      </p:sp>
      <p:sp>
        <p:nvSpPr>
          <p:cNvPr id="3" name="Content Placeholder 2">
            <a:extLst>
              <a:ext uri="{FF2B5EF4-FFF2-40B4-BE49-F238E27FC236}">
                <a16:creationId xmlns:a16="http://schemas.microsoft.com/office/drawing/2014/main" id="{E89A88B0-9518-4397-A309-D0AE9C51F0D6}"/>
              </a:ext>
            </a:extLst>
          </p:cNvPr>
          <p:cNvSpPr>
            <a:spLocks noGrp="1"/>
          </p:cNvSpPr>
          <p:nvPr>
            <p:ph idx="1"/>
          </p:nvPr>
        </p:nvSpPr>
        <p:spPr/>
        <p:txBody>
          <a:bodyPr/>
          <a:lstStyle/>
          <a:p>
            <a:r>
              <a:rPr lang="en-US" dirty="0"/>
              <a:t> </a:t>
            </a:r>
            <a:r>
              <a:rPr lang="en-US" sz="3200" dirty="0"/>
              <a:t>Project Manager’s Primary Task</a:t>
            </a:r>
          </a:p>
          <a:p>
            <a:pPr marL="0" indent="0">
              <a:buNone/>
            </a:pPr>
            <a:endParaRPr lang="en-US" sz="3200" dirty="0"/>
          </a:p>
          <a:p>
            <a:r>
              <a:rPr lang="en-US" sz="3200" dirty="0"/>
              <a:t>Project Estimation</a:t>
            </a:r>
          </a:p>
          <a:p>
            <a:pPr>
              <a:buFontTx/>
              <a:buChar char="-"/>
            </a:pPr>
            <a:r>
              <a:rPr lang="en-US" sz="2800" dirty="0"/>
              <a:t>Estimation is the process of assigning projected values for time and effort</a:t>
            </a:r>
          </a:p>
          <a:p>
            <a:pPr>
              <a:buFontTx/>
              <a:buChar char="-"/>
            </a:pPr>
            <a:r>
              <a:rPr lang="en-US" sz="2800" dirty="0"/>
              <a:t>Project Estimation can be performed manually or with SW.</a:t>
            </a:r>
          </a:p>
          <a:p>
            <a:pPr>
              <a:buFontTx/>
              <a:buChar char="-"/>
            </a:pPr>
            <a:r>
              <a:rPr lang="en-US" sz="2800" dirty="0"/>
              <a:t>Numbers for calculations take from different sources </a:t>
            </a:r>
          </a:p>
          <a:p>
            <a:pPr marL="0" indent="0">
              <a:buNone/>
            </a:pPr>
            <a:r>
              <a:rPr lang="en-US" sz="3200" dirty="0"/>
              <a:t>     </a:t>
            </a:r>
          </a:p>
          <a:p>
            <a:pPr marL="0" indent="0">
              <a:buNone/>
            </a:pPr>
            <a:endParaRPr lang="en-US" sz="3200" dirty="0"/>
          </a:p>
          <a:p>
            <a:pPr marL="0" indent="0">
              <a:buNone/>
            </a:pPr>
            <a:endParaRPr lang="en-US" dirty="0"/>
          </a:p>
        </p:txBody>
      </p:sp>
      <p:sp>
        <p:nvSpPr>
          <p:cNvPr id="4" name="Slide Number Placeholder 3">
            <a:extLst>
              <a:ext uri="{FF2B5EF4-FFF2-40B4-BE49-F238E27FC236}">
                <a16:creationId xmlns:a16="http://schemas.microsoft.com/office/drawing/2014/main" id="{B17B43A4-CB6E-4827-98E1-048821D6772C}"/>
              </a:ext>
            </a:extLst>
          </p:cNvPr>
          <p:cNvSpPr>
            <a:spLocks noGrp="1"/>
          </p:cNvSpPr>
          <p:nvPr>
            <p:ph type="sldNum" sz="quarter" idx="12"/>
          </p:nvPr>
        </p:nvSpPr>
        <p:spPr/>
        <p:txBody>
          <a:bodyPr/>
          <a:lstStyle/>
          <a:p>
            <a:pPr>
              <a:defRPr/>
            </a:pPr>
            <a:r>
              <a:rPr lang="en-US" altLang="en-US"/>
              <a:t>2-</a:t>
            </a:r>
            <a:fld id="{66D7992E-9CBB-4BDD-A8D3-FEF6FD4C1375}" type="slidenum">
              <a:rPr lang="en-US" altLang="en-US" smtClean="0"/>
              <a:pPr>
                <a:defRPr/>
              </a:pPr>
              <a:t>29</a:t>
            </a:fld>
            <a:endParaRPr lang="en-US" altLang="en-US"/>
          </a:p>
        </p:txBody>
      </p:sp>
    </p:spTree>
    <p:extLst>
      <p:ext uri="{BB962C8B-B14F-4D97-AF65-F5344CB8AC3E}">
        <p14:creationId xmlns:p14="http://schemas.microsoft.com/office/powerpoint/2010/main" val="32645719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2C346-0A65-4CBF-B1C9-95579B429491}"/>
              </a:ext>
            </a:extLst>
          </p:cNvPr>
          <p:cNvSpPr>
            <a:spLocks noGrp="1"/>
          </p:cNvSpPr>
          <p:nvPr>
            <p:ph type="title"/>
          </p:nvPr>
        </p:nvSpPr>
        <p:spPr/>
        <p:txBody>
          <a:bodyPr/>
          <a:lstStyle/>
          <a:p>
            <a:r>
              <a:rPr lang="en-US" dirty="0"/>
              <a:t>Estimating Project Time</a:t>
            </a:r>
          </a:p>
        </p:txBody>
      </p:sp>
      <p:pic>
        <p:nvPicPr>
          <p:cNvPr id="6" name="Content Placeholder 5">
            <a:extLst>
              <a:ext uri="{FF2B5EF4-FFF2-40B4-BE49-F238E27FC236}">
                <a16:creationId xmlns:a16="http://schemas.microsoft.com/office/drawing/2014/main" id="{B07D989E-7638-4651-A5C0-A0707018E7CB}"/>
              </a:ext>
            </a:extLst>
          </p:cNvPr>
          <p:cNvPicPr>
            <a:picLocks noGrp="1" noChangeAspect="1"/>
          </p:cNvPicPr>
          <p:nvPr>
            <p:ph idx="1"/>
          </p:nvPr>
        </p:nvPicPr>
        <p:blipFill>
          <a:blip r:embed="rId2"/>
          <a:stretch>
            <a:fillRect/>
          </a:stretch>
        </p:blipFill>
        <p:spPr>
          <a:xfrm>
            <a:off x="504825" y="2110581"/>
            <a:ext cx="8134350" cy="3505200"/>
          </a:xfrm>
        </p:spPr>
      </p:pic>
      <p:sp>
        <p:nvSpPr>
          <p:cNvPr id="4" name="Slide Number Placeholder 3">
            <a:extLst>
              <a:ext uri="{FF2B5EF4-FFF2-40B4-BE49-F238E27FC236}">
                <a16:creationId xmlns:a16="http://schemas.microsoft.com/office/drawing/2014/main" id="{61E53457-E1B6-4F84-AF9E-784400CB4D9C}"/>
              </a:ext>
            </a:extLst>
          </p:cNvPr>
          <p:cNvSpPr>
            <a:spLocks noGrp="1"/>
          </p:cNvSpPr>
          <p:nvPr>
            <p:ph type="sldNum" sz="quarter" idx="12"/>
          </p:nvPr>
        </p:nvSpPr>
        <p:spPr/>
        <p:txBody>
          <a:bodyPr/>
          <a:lstStyle/>
          <a:p>
            <a:pPr>
              <a:defRPr/>
            </a:pPr>
            <a:r>
              <a:rPr lang="en-US" altLang="en-US"/>
              <a:t>2-</a:t>
            </a:r>
            <a:fld id="{66D7992E-9CBB-4BDD-A8D3-FEF6FD4C1375}" type="slidenum">
              <a:rPr lang="en-US" altLang="en-US" smtClean="0"/>
              <a:pPr>
                <a:defRPr/>
              </a:pPr>
              <a:t>30</a:t>
            </a:fld>
            <a:endParaRPr lang="en-US" altLang="en-US"/>
          </a:p>
        </p:txBody>
      </p:sp>
    </p:spTree>
    <p:extLst>
      <p:ext uri="{BB962C8B-B14F-4D97-AF65-F5344CB8AC3E}">
        <p14:creationId xmlns:p14="http://schemas.microsoft.com/office/powerpoint/2010/main" val="396799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B8F27-1EC8-4471-98AD-43AD510F1392}"/>
              </a:ext>
            </a:extLst>
          </p:cNvPr>
          <p:cNvSpPr>
            <a:spLocks noGrp="1"/>
          </p:cNvSpPr>
          <p:nvPr>
            <p:ph type="title"/>
          </p:nvPr>
        </p:nvSpPr>
        <p:spPr/>
        <p:txBody>
          <a:bodyPr/>
          <a:lstStyle/>
          <a:p>
            <a:r>
              <a:rPr lang="en-US" dirty="0"/>
              <a:t>Staffing the project</a:t>
            </a:r>
          </a:p>
        </p:txBody>
      </p:sp>
      <p:sp>
        <p:nvSpPr>
          <p:cNvPr id="3" name="Content Placeholder 2">
            <a:extLst>
              <a:ext uri="{FF2B5EF4-FFF2-40B4-BE49-F238E27FC236}">
                <a16:creationId xmlns:a16="http://schemas.microsoft.com/office/drawing/2014/main" id="{D717CFD8-90D1-476A-8100-041EB3DE712A}"/>
              </a:ext>
            </a:extLst>
          </p:cNvPr>
          <p:cNvSpPr>
            <a:spLocks noGrp="1"/>
          </p:cNvSpPr>
          <p:nvPr>
            <p:ph idx="1"/>
          </p:nvPr>
        </p:nvSpPr>
        <p:spPr/>
        <p:txBody>
          <a:bodyPr/>
          <a:lstStyle/>
          <a:p>
            <a:r>
              <a:rPr lang="en-US" dirty="0"/>
              <a:t>How many?</a:t>
            </a:r>
          </a:p>
          <a:p>
            <a:r>
              <a:rPr lang="en-US" dirty="0"/>
              <a:t>What Skill?</a:t>
            </a:r>
          </a:p>
          <a:p>
            <a:r>
              <a:rPr lang="en-US" dirty="0"/>
              <a:t>Motivation</a:t>
            </a:r>
          </a:p>
          <a:p>
            <a:r>
              <a:rPr lang="en-US" dirty="0"/>
              <a:t>Minimize conflicts</a:t>
            </a:r>
          </a:p>
        </p:txBody>
      </p:sp>
      <p:sp>
        <p:nvSpPr>
          <p:cNvPr id="4" name="Slide Number Placeholder 3">
            <a:extLst>
              <a:ext uri="{FF2B5EF4-FFF2-40B4-BE49-F238E27FC236}">
                <a16:creationId xmlns:a16="http://schemas.microsoft.com/office/drawing/2014/main" id="{C541E388-2106-41CC-AF46-61248BB217F8}"/>
              </a:ext>
            </a:extLst>
          </p:cNvPr>
          <p:cNvSpPr>
            <a:spLocks noGrp="1"/>
          </p:cNvSpPr>
          <p:nvPr>
            <p:ph type="sldNum" sz="quarter" idx="12"/>
          </p:nvPr>
        </p:nvSpPr>
        <p:spPr/>
        <p:txBody>
          <a:bodyPr/>
          <a:lstStyle/>
          <a:p>
            <a:pPr>
              <a:defRPr/>
            </a:pPr>
            <a:r>
              <a:rPr lang="en-US" altLang="en-US"/>
              <a:t>2-</a:t>
            </a:r>
            <a:fld id="{66D7992E-9CBB-4BDD-A8D3-FEF6FD4C1375}" type="slidenum">
              <a:rPr lang="en-US" altLang="en-US" smtClean="0"/>
              <a:pPr>
                <a:defRPr/>
              </a:pPr>
              <a:t>31</a:t>
            </a:fld>
            <a:endParaRPr lang="en-US" altLang="en-US"/>
          </a:p>
        </p:txBody>
      </p:sp>
    </p:spTree>
    <p:extLst>
      <p:ext uri="{BB962C8B-B14F-4D97-AF65-F5344CB8AC3E}">
        <p14:creationId xmlns:p14="http://schemas.microsoft.com/office/powerpoint/2010/main" val="26100672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8333A-C670-414C-8933-5D0EB67A82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D7B2CF-0E2E-4453-8EF4-C641D72990E7}"/>
              </a:ext>
            </a:extLst>
          </p:cNvPr>
          <p:cNvSpPr>
            <a:spLocks noGrp="1"/>
          </p:cNvSpPr>
          <p:nvPr>
            <p:ph idx="1"/>
          </p:nvPr>
        </p:nvSpPr>
        <p:spPr/>
        <p:txBody>
          <a:bodyPr/>
          <a:lstStyle/>
          <a:p>
            <a:pPr>
              <a:spcBef>
                <a:spcPct val="0"/>
              </a:spcBef>
            </a:pPr>
            <a:r>
              <a:rPr lang="en-US" altLang="en-US" sz="2800" dirty="0"/>
              <a:t>People have </a:t>
            </a:r>
            <a:r>
              <a:rPr lang="en-US" altLang="en-US" sz="2800" b="1" i="1" dirty="0"/>
              <a:t>technical skills </a:t>
            </a:r>
            <a:r>
              <a:rPr lang="en-US" altLang="en-US" sz="2800" dirty="0"/>
              <a:t>and </a:t>
            </a:r>
            <a:r>
              <a:rPr lang="en-US" altLang="en-US" sz="2800" b="1" i="1" dirty="0"/>
              <a:t>interpersonal skills</a:t>
            </a:r>
            <a:r>
              <a:rPr lang="en-US" altLang="en-US" sz="2800" i="1" dirty="0"/>
              <a:t>, </a:t>
            </a:r>
            <a:r>
              <a:rPr lang="en-US" altLang="en-US" sz="2800" dirty="0"/>
              <a:t>and both are important on a project. </a:t>
            </a:r>
          </a:p>
          <a:p>
            <a:pPr>
              <a:spcBef>
                <a:spcPct val="0"/>
              </a:spcBef>
            </a:pPr>
            <a:r>
              <a:rPr lang="en-US" altLang="en-US" sz="2800" b="1" dirty="0"/>
              <a:t>Technical skills </a:t>
            </a:r>
            <a:r>
              <a:rPr lang="en-US" altLang="en-US" sz="2800" dirty="0"/>
              <a:t>are useful for working with technical tasks (e.g., programming in Java) and application of technology  (e.g., how a Web server should be configured on the basis of a projected number of hits from customers).</a:t>
            </a:r>
          </a:p>
          <a:p>
            <a:pPr>
              <a:spcBef>
                <a:spcPct val="0"/>
              </a:spcBef>
            </a:pPr>
            <a:r>
              <a:rPr lang="en-US" altLang="en-US" sz="2800" b="1" dirty="0"/>
              <a:t>Interpersonal skills</a:t>
            </a:r>
            <a:r>
              <a:rPr lang="en-US" altLang="en-US" sz="2800" dirty="0"/>
              <a:t>, include interpersonal and communication abilities that are used when dealing with business users, management and members</a:t>
            </a:r>
          </a:p>
          <a:p>
            <a:endParaRPr lang="en-US" dirty="0"/>
          </a:p>
        </p:txBody>
      </p:sp>
      <p:sp>
        <p:nvSpPr>
          <p:cNvPr id="4" name="Slide Number Placeholder 3">
            <a:extLst>
              <a:ext uri="{FF2B5EF4-FFF2-40B4-BE49-F238E27FC236}">
                <a16:creationId xmlns:a16="http://schemas.microsoft.com/office/drawing/2014/main" id="{E4CA6226-4272-4C65-801F-D0A0D8C61C13}"/>
              </a:ext>
            </a:extLst>
          </p:cNvPr>
          <p:cNvSpPr>
            <a:spLocks noGrp="1"/>
          </p:cNvSpPr>
          <p:nvPr>
            <p:ph type="sldNum" sz="quarter" idx="12"/>
          </p:nvPr>
        </p:nvSpPr>
        <p:spPr/>
        <p:txBody>
          <a:bodyPr/>
          <a:lstStyle/>
          <a:p>
            <a:pPr>
              <a:defRPr/>
            </a:pPr>
            <a:r>
              <a:rPr lang="en-US" altLang="en-US"/>
              <a:t>2-</a:t>
            </a:r>
            <a:fld id="{66D7992E-9CBB-4BDD-A8D3-FEF6FD4C1375}" type="slidenum">
              <a:rPr lang="en-US" altLang="en-US" smtClean="0"/>
              <a:pPr>
                <a:defRPr/>
              </a:pPr>
              <a:t>32</a:t>
            </a:fld>
            <a:endParaRPr lang="en-US" altLang="en-US"/>
          </a:p>
        </p:txBody>
      </p:sp>
    </p:spTree>
    <p:extLst>
      <p:ext uri="{BB962C8B-B14F-4D97-AF65-F5344CB8AC3E}">
        <p14:creationId xmlns:p14="http://schemas.microsoft.com/office/powerpoint/2010/main" val="6570593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F5CDF-93A0-443A-A873-448CF63491EA}"/>
              </a:ext>
            </a:extLst>
          </p:cNvPr>
          <p:cNvSpPr>
            <a:spLocks noGrp="1"/>
          </p:cNvSpPr>
          <p:nvPr>
            <p:ph type="title"/>
          </p:nvPr>
        </p:nvSpPr>
        <p:spPr/>
        <p:txBody>
          <a:bodyPr/>
          <a:lstStyle/>
          <a:p>
            <a:r>
              <a:rPr lang="en-US" dirty="0"/>
              <a:t>Handling Conflicts</a:t>
            </a:r>
          </a:p>
        </p:txBody>
      </p:sp>
      <p:sp>
        <p:nvSpPr>
          <p:cNvPr id="3" name="Content Placeholder 2">
            <a:extLst>
              <a:ext uri="{FF2B5EF4-FFF2-40B4-BE49-F238E27FC236}">
                <a16:creationId xmlns:a16="http://schemas.microsoft.com/office/drawing/2014/main" id="{14D1768D-B6C7-4C24-A6E3-339B7DDF30B1}"/>
              </a:ext>
            </a:extLst>
          </p:cNvPr>
          <p:cNvSpPr>
            <a:spLocks noGrp="1"/>
          </p:cNvSpPr>
          <p:nvPr>
            <p:ph idx="1"/>
          </p:nvPr>
        </p:nvSpPr>
        <p:spPr/>
        <p:txBody>
          <a:bodyPr/>
          <a:lstStyle/>
          <a:p>
            <a:pPr eaLnBrk="1" hangingPunct="1">
              <a:lnSpc>
                <a:spcPct val="80000"/>
              </a:lnSpc>
              <a:spcBef>
                <a:spcPct val="0"/>
              </a:spcBef>
            </a:pPr>
            <a:r>
              <a:rPr lang="en-US" altLang="en-US" sz="3200" dirty="0"/>
              <a:t>Clearly define plans for the project.</a:t>
            </a:r>
          </a:p>
          <a:p>
            <a:pPr eaLnBrk="1" hangingPunct="1">
              <a:lnSpc>
                <a:spcPct val="80000"/>
              </a:lnSpc>
              <a:spcBef>
                <a:spcPct val="0"/>
              </a:spcBef>
            </a:pPr>
            <a:endParaRPr lang="en-US" altLang="en-US" sz="3200" dirty="0"/>
          </a:p>
          <a:p>
            <a:pPr eaLnBrk="1" hangingPunct="1">
              <a:lnSpc>
                <a:spcPct val="80000"/>
              </a:lnSpc>
              <a:spcBef>
                <a:spcPct val="0"/>
              </a:spcBef>
            </a:pPr>
            <a:r>
              <a:rPr lang="en-US" altLang="en-US" sz="3200" dirty="0"/>
              <a:t>Recognize project importance to organization.</a:t>
            </a:r>
          </a:p>
          <a:p>
            <a:pPr eaLnBrk="1" hangingPunct="1">
              <a:lnSpc>
                <a:spcPct val="80000"/>
              </a:lnSpc>
              <a:spcBef>
                <a:spcPct val="0"/>
              </a:spcBef>
            </a:pPr>
            <a:endParaRPr lang="en-US" altLang="en-US" sz="3200" dirty="0"/>
          </a:p>
          <a:p>
            <a:pPr eaLnBrk="1" hangingPunct="1">
              <a:lnSpc>
                <a:spcPct val="80000"/>
              </a:lnSpc>
              <a:spcBef>
                <a:spcPct val="0"/>
              </a:spcBef>
            </a:pPr>
            <a:r>
              <a:rPr lang="en-US" altLang="en-US" sz="3200" dirty="0"/>
              <a:t>Project charter listing norms and ground rules.</a:t>
            </a:r>
          </a:p>
          <a:p>
            <a:pPr eaLnBrk="1" hangingPunct="1">
              <a:lnSpc>
                <a:spcPct val="80000"/>
              </a:lnSpc>
              <a:spcBef>
                <a:spcPct val="0"/>
              </a:spcBef>
            </a:pPr>
            <a:endParaRPr lang="en-US" altLang="en-US" sz="3200" dirty="0"/>
          </a:p>
          <a:p>
            <a:pPr eaLnBrk="1" hangingPunct="1">
              <a:lnSpc>
                <a:spcPct val="80000"/>
              </a:lnSpc>
              <a:spcBef>
                <a:spcPct val="0"/>
              </a:spcBef>
            </a:pPr>
            <a:r>
              <a:rPr lang="en-US" altLang="en-US" sz="3200" dirty="0"/>
              <a:t>Develop schedule commitments ahead of time.</a:t>
            </a:r>
          </a:p>
          <a:p>
            <a:pPr eaLnBrk="1" hangingPunct="1">
              <a:lnSpc>
                <a:spcPct val="80000"/>
              </a:lnSpc>
              <a:spcBef>
                <a:spcPct val="0"/>
              </a:spcBef>
            </a:pPr>
            <a:endParaRPr lang="en-US" altLang="en-US" sz="3200" dirty="0"/>
          </a:p>
          <a:p>
            <a:pPr eaLnBrk="1" hangingPunct="1">
              <a:lnSpc>
                <a:spcPct val="80000"/>
              </a:lnSpc>
              <a:spcBef>
                <a:spcPct val="0"/>
              </a:spcBef>
            </a:pPr>
            <a:r>
              <a:rPr lang="en-US" altLang="en-US" sz="3200" dirty="0"/>
              <a:t>Forecast other priorities and their possible impact on the project.</a:t>
            </a:r>
          </a:p>
          <a:p>
            <a:endParaRPr lang="en-US" dirty="0"/>
          </a:p>
        </p:txBody>
      </p:sp>
      <p:sp>
        <p:nvSpPr>
          <p:cNvPr id="4" name="Slide Number Placeholder 3">
            <a:extLst>
              <a:ext uri="{FF2B5EF4-FFF2-40B4-BE49-F238E27FC236}">
                <a16:creationId xmlns:a16="http://schemas.microsoft.com/office/drawing/2014/main" id="{F36FDD92-A395-4FA5-A72E-BC8156EEF815}"/>
              </a:ext>
            </a:extLst>
          </p:cNvPr>
          <p:cNvSpPr>
            <a:spLocks noGrp="1"/>
          </p:cNvSpPr>
          <p:nvPr>
            <p:ph type="sldNum" sz="quarter" idx="12"/>
          </p:nvPr>
        </p:nvSpPr>
        <p:spPr/>
        <p:txBody>
          <a:bodyPr/>
          <a:lstStyle/>
          <a:p>
            <a:pPr>
              <a:defRPr/>
            </a:pPr>
            <a:r>
              <a:rPr lang="en-US" altLang="en-US"/>
              <a:t>2-</a:t>
            </a:r>
            <a:fld id="{66D7992E-9CBB-4BDD-A8D3-FEF6FD4C1375}" type="slidenum">
              <a:rPr lang="en-US" altLang="en-US" smtClean="0"/>
              <a:pPr>
                <a:defRPr/>
              </a:pPr>
              <a:t>33</a:t>
            </a:fld>
            <a:endParaRPr lang="en-US" altLang="en-US"/>
          </a:p>
        </p:txBody>
      </p:sp>
    </p:spTree>
    <p:extLst>
      <p:ext uri="{BB962C8B-B14F-4D97-AF65-F5344CB8AC3E}">
        <p14:creationId xmlns:p14="http://schemas.microsoft.com/office/powerpoint/2010/main" val="28034246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C0D23D04-E17A-4C1E-BE81-F5B03A474615}"/>
              </a:ext>
            </a:extLst>
          </p:cNvPr>
          <p:cNvSpPr>
            <a:spLocks noGrp="1"/>
          </p:cNvSpPr>
          <p:nvPr>
            <p:ph type="title"/>
          </p:nvPr>
        </p:nvSpPr>
        <p:spPr/>
        <p:txBody>
          <a:bodyPr/>
          <a:lstStyle/>
          <a:p>
            <a:pPr eaLnBrk="1" hangingPunct="1"/>
            <a:r>
              <a:rPr lang="en-US" altLang="en-US"/>
              <a:t>SUMMARY</a:t>
            </a:r>
          </a:p>
        </p:txBody>
      </p:sp>
      <p:sp>
        <p:nvSpPr>
          <p:cNvPr id="81923" name="Content Placeholder 2">
            <a:extLst>
              <a:ext uri="{FF2B5EF4-FFF2-40B4-BE49-F238E27FC236}">
                <a16:creationId xmlns:a16="http://schemas.microsoft.com/office/drawing/2014/main" id="{D3D73650-2670-48B1-B73E-D7DBE6CF28B5}"/>
              </a:ext>
            </a:extLst>
          </p:cNvPr>
          <p:cNvSpPr>
            <a:spLocks noGrp="1"/>
          </p:cNvSpPr>
          <p:nvPr>
            <p:ph idx="1"/>
          </p:nvPr>
        </p:nvSpPr>
        <p:spPr>
          <a:xfrm>
            <a:off x="457200" y="1600200"/>
            <a:ext cx="8458200" cy="4525963"/>
          </a:xfrm>
        </p:spPr>
        <p:txBody>
          <a:bodyPr/>
          <a:lstStyle/>
          <a:p>
            <a:pPr eaLnBrk="1" hangingPunct="1">
              <a:spcBef>
                <a:spcPct val="0"/>
              </a:spcBef>
            </a:pPr>
            <a:r>
              <a:rPr lang="en-US" altLang="en-US" sz="3100"/>
              <a:t>The </a:t>
            </a:r>
            <a:r>
              <a:rPr lang="en-US" altLang="en-US" sz="3100" b="1">
                <a:solidFill>
                  <a:srgbClr val="FF0000"/>
                </a:solidFill>
              </a:rPr>
              <a:t>project selection</a:t>
            </a:r>
            <a:r>
              <a:rPr lang="en-US" altLang="en-US" sz="3100">
                <a:solidFill>
                  <a:srgbClr val="FF0000"/>
                </a:solidFill>
              </a:rPr>
              <a:t> </a:t>
            </a:r>
            <a:r>
              <a:rPr lang="en-US" altLang="en-US" sz="3100"/>
              <a:t>process takes into account all of the projects in the organization, using project portfolio management.</a:t>
            </a:r>
          </a:p>
          <a:p>
            <a:pPr eaLnBrk="1" hangingPunct="1">
              <a:spcBef>
                <a:spcPct val="0"/>
              </a:spcBef>
            </a:pPr>
            <a:r>
              <a:rPr lang="en-US" altLang="en-US" sz="3100"/>
              <a:t> </a:t>
            </a:r>
            <a:r>
              <a:rPr lang="en-US" altLang="en-US" sz="3100" b="1">
                <a:solidFill>
                  <a:srgbClr val="FF0000"/>
                </a:solidFill>
              </a:rPr>
              <a:t>The project plan</a:t>
            </a:r>
            <a:r>
              <a:rPr lang="en-US" altLang="en-US" sz="3100">
                <a:solidFill>
                  <a:srgbClr val="FF0000"/>
                </a:solidFill>
              </a:rPr>
              <a:t> </a:t>
            </a:r>
            <a:r>
              <a:rPr lang="en-US" altLang="en-US" sz="3100"/>
              <a:t>defines the tasks, task time estimates, and other information. </a:t>
            </a:r>
          </a:p>
          <a:p>
            <a:pPr eaLnBrk="1" hangingPunct="1">
              <a:spcBef>
                <a:spcPct val="0"/>
              </a:spcBef>
            </a:pPr>
            <a:r>
              <a:rPr lang="en-US" altLang="en-US" sz="3100"/>
              <a:t>A project requires </a:t>
            </a:r>
            <a:r>
              <a:rPr lang="en-US" altLang="en-US" sz="3100" b="1">
                <a:solidFill>
                  <a:srgbClr val="FF0000"/>
                </a:solidFill>
              </a:rPr>
              <a:t>staffing</a:t>
            </a:r>
            <a:r>
              <a:rPr lang="en-US" altLang="en-US" sz="3100"/>
              <a:t> and </a:t>
            </a:r>
            <a:r>
              <a:rPr lang="en-US" altLang="en-US" sz="3100" b="1">
                <a:solidFill>
                  <a:srgbClr val="FF0000"/>
                </a:solidFill>
              </a:rPr>
              <a:t>coordinating project activities</a:t>
            </a:r>
            <a:r>
              <a:rPr lang="en-US" altLang="en-US" sz="3100"/>
              <a:t>.</a:t>
            </a:r>
          </a:p>
          <a:p>
            <a:pPr eaLnBrk="1" hangingPunct="1">
              <a:spcBef>
                <a:spcPct val="0"/>
              </a:spcBef>
            </a:pPr>
            <a:r>
              <a:rPr lang="en-US" altLang="en-US" sz="3100" b="1">
                <a:solidFill>
                  <a:srgbClr val="FF0000"/>
                </a:solidFill>
              </a:rPr>
              <a:t>Managing and controlling the project</a:t>
            </a:r>
            <a:r>
              <a:rPr lang="en-US" altLang="en-US" sz="3100">
                <a:solidFill>
                  <a:srgbClr val="FF0000"/>
                </a:solidFill>
              </a:rPr>
              <a:t> </a:t>
            </a:r>
            <a:r>
              <a:rPr lang="en-US" altLang="en-US" sz="3100"/>
              <a:t>include timeboxing and risk assessment.</a:t>
            </a:r>
            <a:endParaRPr lang="en-US" altLang="en-US" sz="3100" b="1">
              <a:solidFill>
                <a:srgbClr val="000099"/>
              </a:solidFill>
            </a:endParaRPr>
          </a:p>
          <a:p>
            <a:pPr eaLnBrk="1" hangingPunct="1">
              <a:lnSpc>
                <a:spcPct val="80000"/>
              </a:lnSpc>
              <a:spcBef>
                <a:spcPct val="0"/>
              </a:spcBef>
            </a:pPr>
            <a:endParaRPr lang="en-US" altLang="en-US" sz="3100" b="1">
              <a:solidFill>
                <a:srgbClr val="000099"/>
              </a:solidFill>
            </a:endParaRPr>
          </a:p>
        </p:txBody>
      </p:sp>
      <p:sp>
        <p:nvSpPr>
          <p:cNvPr id="81925" name="Slide Number Placeholder 4">
            <a:extLst>
              <a:ext uri="{FF2B5EF4-FFF2-40B4-BE49-F238E27FC236}">
                <a16:creationId xmlns:a16="http://schemas.microsoft.com/office/drawing/2014/main" id="{4C9A4257-2B0D-4B52-8872-9D3D99C49CF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02E786FD-BE62-45D0-9271-EB94E6C9C66B}" type="slidenum">
              <a:rPr lang="en-US" altLang="en-US" sz="1200" smtClean="0">
                <a:solidFill>
                  <a:srgbClr val="898989"/>
                </a:solidFill>
              </a:rPr>
              <a:pPr>
                <a:spcBef>
                  <a:spcPct val="0"/>
                </a:spcBef>
                <a:buFontTx/>
                <a:buNone/>
              </a:pPr>
              <a:t>34</a:t>
            </a:fld>
            <a:endParaRPr lang="en-US" altLang="en-US" sz="1200">
              <a:solidFill>
                <a:srgbClr val="898989"/>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a:extLst>
              <a:ext uri="{FF2B5EF4-FFF2-40B4-BE49-F238E27FC236}">
                <a16:creationId xmlns:a16="http://schemas.microsoft.com/office/drawing/2014/main" id="{849CCB0B-9DFF-4399-82F0-B97E260D658F}"/>
              </a:ext>
            </a:extLst>
          </p:cNvPr>
          <p:cNvSpPr>
            <a:spLocks noGrp="1"/>
          </p:cNvSpPr>
          <p:nvPr>
            <p:ph type="title"/>
          </p:nvPr>
        </p:nvSpPr>
        <p:spPr/>
        <p:txBody>
          <a:bodyPr/>
          <a:lstStyle/>
          <a:p>
            <a:endParaRPr lang="en-US" altLang="en-US"/>
          </a:p>
        </p:txBody>
      </p:sp>
      <p:pic>
        <p:nvPicPr>
          <p:cNvPr id="82947" name="Content Placeholder 5" descr="Screen Clipping">
            <a:extLst>
              <a:ext uri="{FF2B5EF4-FFF2-40B4-BE49-F238E27FC236}">
                <a16:creationId xmlns:a16="http://schemas.microsoft.com/office/drawing/2014/main" id="{1608B5CF-1DBF-47B6-B55E-D0EF624B982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219200" y="-53975"/>
            <a:ext cx="6705600" cy="6892925"/>
          </a:xfrm>
        </p:spPr>
      </p:pic>
      <p:sp>
        <p:nvSpPr>
          <p:cNvPr id="82949" name="Slide Number Placeholder 4">
            <a:extLst>
              <a:ext uri="{FF2B5EF4-FFF2-40B4-BE49-F238E27FC236}">
                <a16:creationId xmlns:a16="http://schemas.microsoft.com/office/drawing/2014/main" id="{88192B2B-05B3-4A7D-B84B-CE9E9F696FF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solidFill>
                  <a:srgbClr val="898989"/>
                </a:solidFill>
              </a:rPr>
              <a:t>2-</a:t>
            </a:r>
            <a:fld id="{E096062D-0139-43A4-8BA4-528AFA39CEDC}" type="slidenum">
              <a:rPr lang="en-US" altLang="en-US" sz="1200" smtClean="0">
                <a:solidFill>
                  <a:srgbClr val="898989"/>
                </a:solidFill>
              </a:rPr>
              <a:pPr>
                <a:spcBef>
                  <a:spcPct val="0"/>
                </a:spcBef>
                <a:buFontTx/>
                <a:buNone/>
              </a:pPr>
              <a:t>35</a:t>
            </a:fld>
            <a:endParaRPr lang="en-US" altLang="en-US" sz="1200">
              <a:solidFill>
                <a:srgbClr val="898989"/>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TYPE_IMAGE" val="Text Box 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3749</TotalTime>
  <Words>2278</Words>
  <Application>Microsoft Office PowerPoint</Application>
  <PresentationFormat>On-screen Show (4:3)</PresentationFormat>
  <Paragraphs>248</Paragraphs>
  <Slides>36</Slides>
  <Notes>18</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Arial</vt:lpstr>
      <vt:lpstr>Calibri</vt:lpstr>
      <vt:lpstr>Söhne</vt:lpstr>
      <vt:lpstr>TimesNewRomanPS</vt:lpstr>
      <vt:lpstr>TimesNewRomanPS-Bold</vt:lpstr>
      <vt:lpstr>TimesNewRomanPS-BoldItalic</vt:lpstr>
      <vt:lpstr>TimesNewRomanPS-Italic</vt:lpstr>
      <vt:lpstr>Wingdings</vt:lpstr>
      <vt:lpstr>Office Theme</vt:lpstr>
      <vt:lpstr>Systems Analysis &amp; Design</vt:lpstr>
      <vt:lpstr> Planning Phase</vt:lpstr>
      <vt:lpstr>Project Selection and Management</vt:lpstr>
      <vt:lpstr>Outline</vt:lpstr>
      <vt:lpstr>INTRODUCTION</vt:lpstr>
      <vt:lpstr>PowerPoint Presentation</vt:lpstr>
      <vt:lpstr>PowerPoint Presentation</vt:lpstr>
      <vt:lpstr>PROJECT SELECTION</vt:lpstr>
      <vt:lpstr>(cont’d)</vt:lpstr>
      <vt:lpstr>QUESTION ?</vt:lpstr>
      <vt:lpstr>CREATING THE PROJECT PLAN</vt:lpstr>
      <vt:lpstr>Project Methodology Options</vt:lpstr>
      <vt:lpstr>Waterfall Development</vt:lpstr>
      <vt:lpstr>PowerPoint Presentation</vt:lpstr>
      <vt:lpstr>Parallel Development</vt:lpstr>
      <vt:lpstr>V-model</vt:lpstr>
      <vt:lpstr>V-model</vt:lpstr>
      <vt:lpstr>Rapid Application Development: Iterative Development</vt:lpstr>
      <vt:lpstr>Rapid Application Development:</vt:lpstr>
      <vt:lpstr>PowerPoint Presentation</vt:lpstr>
      <vt:lpstr>(cont’d)</vt:lpstr>
      <vt:lpstr>PowerPoint Presentation</vt:lpstr>
      <vt:lpstr>Agile</vt:lpstr>
      <vt:lpstr>Agile Development</vt:lpstr>
      <vt:lpstr>Extreme Programming</vt:lpstr>
      <vt:lpstr>Question</vt:lpstr>
      <vt:lpstr>Research on Agile Development Methodologies.</vt:lpstr>
      <vt:lpstr>Selecting the Appropriate Development Methodology</vt:lpstr>
      <vt:lpstr>(cont’d)</vt:lpstr>
      <vt:lpstr>Estimating the Project Time Frame</vt:lpstr>
      <vt:lpstr>Estimating Project Time</vt:lpstr>
      <vt:lpstr>Staffing the project</vt:lpstr>
      <vt:lpstr>PowerPoint Presentation</vt:lpstr>
      <vt:lpstr>Handling Conflicts</vt:lpstr>
      <vt:lpstr>SUMMARY</vt:lpstr>
      <vt:lpstr>PowerPoint Presentation</vt:lpstr>
    </vt:vector>
  </TitlesOfParts>
  <Company>University of Massachusetts Dartmouth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 and Design 5th Edition</dc:title>
  <dc:creator>Windows User</dc:creator>
  <cp:lastModifiedBy>Ms. K Anuradha</cp:lastModifiedBy>
  <cp:revision>152</cp:revision>
  <dcterms:created xsi:type="dcterms:W3CDTF">2011-06-16T14:45:20Z</dcterms:created>
  <dcterms:modified xsi:type="dcterms:W3CDTF">2024-08-06T09:42:48Z</dcterms:modified>
</cp:coreProperties>
</file>