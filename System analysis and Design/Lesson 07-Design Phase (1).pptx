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23"/>
  </p:notesMasterIdLst>
  <p:sldIdLst>
    <p:sldId id="346" r:id="rId2"/>
    <p:sldId id="347" r:id="rId3"/>
    <p:sldId id="264" r:id="rId4"/>
    <p:sldId id="265" r:id="rId5"/>
    <p:sldId id="266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82" r:id="rId16"/>
    <p:sldId id="283" r:id="rId17"/>
    <p:sldId id="284" r:id="rId18"/>
    <p:sldId id="285" r:id="rId19"/>
    <p:sldId id="287" r:id="rId20"/>
    <p:sldId id="288" r:id="rId21"/>
    <p:sldId id="289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3408C-E348-4DF2-9B86-ABCADF8328E7}" type="datetimeFigureOut">
              <a:rPr lang="en-US" smtClean="0"/>
              <a:pPr/>
              <a:t>10/26/2023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AC84DD-0768-48F1-9378-1364AD2B72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161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AC84DD-0768-48F1-9378-1364AD2B72D3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838200"/>
            <a:ext cx="7772400" cy="3429000"/>
          </a:xfrm>
        </p:spPr>
        <p:txBody>
          <a:bodyPr/>
          <a:lstStyle>
            <a:lvl1pPr>
              <a:defRPr sz="3200" b="1"/>
            </a:lvl1pPr>
          </a:lstStyle>
          <a:p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Systems Analysis and Design</a:t>
            </a:r>
            <a:b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sz="3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5th Edition</a:t>
            </a:r>
            <a:br>
              <a:rPr lang="en-US" sz="3600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br>
              <a:rPr lang="en-US" sz="3600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br>
              <a:rPr lang="en-US" sz="3600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sz="3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</a:t>
            </a:r>
            <a:br>
              <a:rPr lang="en-US" sz="3600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4800" y="4953000"/>
            <a:ext cx="8534400" cy="685800"/>
          </a:xfrm>
        </p:spPr>
        <p:txBody>
          <a:bodyPr/>
          <a:lstStyle>
            <a:lvl1pPr marL="0" indent="0" algn="ctr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z="2800" b="1" dirty="0"/>
              <a:t>Alan Dennis, Barbara Haley Wixom, and Roberta Roth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152400" cy="365125"/>
          </a:xfrm>
        </p:spPr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2011 John Wiley &amp; Sons, Inc.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7-</a:t>
            </a:r>
            <a:fld id="{7597BC71-976C-43F9-8091-5829990FA63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spcBef>
                <a:spcPts val="0"/>
              </a:spcBef>
              <a:buClr>
                <a:srgbClr val="0070C0"/>
              </a:buClr>
              <a:buSzPct val="150000"/>
              <a:buFont typeface="Wingdings" pitchFamily="2" charset="2"/>
              <a:buChar char="§"/>
              <a:defRPr sz="4000"/>
            </a:lvl1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2011 John Wiley &amp; Sons, Inc.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7-</a:t>
            </a:r>
            <a:fld id="{7597BC71-976C-43F9-8091-5829990FA63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57200" y="1447800"/>
            <a:ext cx="8229600" cy="0"/>
          </a:xfrm>
          <a:prstGeom prst="line">
            <a:avLst/>
          </a:prstGeom>
          <a:ln w="762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Copyright 2011 John Wiley &amp; Sons, Inc.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7BC71-976C-43F9-8091-5829990FA63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© Copyright 2011 John Wiley &amp; Sons, Inc.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7-</a:t>
            </a:r>
            <a:fld id="{7597BC71-976C-43F9-8091-5829990FA63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text, electronics&#10;&#10;Description automatically generated">
            <a:extLst>
              <a:ext uri="{FF2B5EF4-FFF2-40B4-BE49-F238E27FC236}">
                <a16:creationId xmlns:a16="http://schemas.microsoft.com/office/drawing/2014/main" id="{1FD9B7A5-1611-436E-A6F9-DAA25643F8F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l="16354" r="16997"/>
          <a:stretch/>
        </p:blipFill>
        <p:spPr>
          <a:xfrm>
            <a:off x="20" y="1"/>
            <a:ext cx="9143980" cy="6857999"/>
          </a:xfrm>
          <a:prstGeom prst="rect">
            <a:avLst/>
          </a:prstGeom>
          <a:effectLst>
            <a:glow rad="127000">
              <a:schemeClr val="tx1"/>
            </a:glow>
            <a:reflection blurRad="1181100" stA="29000" endPos="65000" dist="50800" dir="5400000" sy="-100000" algn="bl" rotWithShape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E48B8D-7A59-42A4-A61B-B66E6063DD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3063240"/>
          </a:xfrm>
        </p:spPr>
        <p:txBody>
          <a:bodyPr>
            <a:normAutofit/>
          </a:bodyPr>
          <a:lstStyle/>
          <a:p>
            <a:r>
              <a:rPr lang="en-US" sz="5700">
                <a:solidFill>
                  <a:srgbClr val="FFFFFF"/>
                </a:solidFill>
              </a:rPr>
              <a:t>Systems Analysis &amp;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D05C61-8C8A-4F4B-8CD6-4A444C1FB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altLang="en-US">
                <a:solidFill>
                  <a:srgbClr val="FFFFFF"/>
                </a:solidFill>
              </a:rPr>
              <a:t>2-</a:t>
            </a:r>
            <a:fld id="{21D40A56-C2BB-42CB-8EFF-5BFF7E952E3E}" type="slidenum">
              <a:rPr lang="en-US" altLang="en-US">
                <a:solidFill>
                  <a:srgbClr val="FFFFFF"/>
                </a:solidFill>
              </a:rPr>
              <a:pPr>
                <a:spcAft>
                  <a:spcPts val="600"/>
                </a:spcAft>
                <a:defRPr/>
              </a:pPr>
              <a:t>0</a:t>
            </a:fld>
            <a:endParaRPr lang="en-US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6644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D461D517-BF69-4679-AC23-1230D340A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90800"/>
            <a:ext cx="8229600" cy="1143000"/>
          </a:xfrm>
        </p:spPr>
        <p:txBody>
          <a:bodyPr/>
          <a:lstStyle/>
          <a:p>
            <a:r>
              <a:rPr lang="en-US" altLang="en-US" dirty="0"/>
              <a:t>Design Phase</a:t>
            </a:r>
          </a:p>
        </p:txBody>
      </p:sp>
      <p:sp>
        <p:nvSpPr>
          <p:cNvPr id="6147" name="Slide Number Placeholder 3">
            <a:extLst>
              <a:ext uri="{FF2B5EF4-FFF2-40B4-BE49-F238E27FC236}">
                <a16:creationId xmlns:a16="http://schemas.microsoft.com/office/drawing/2014/main" id="{5188B755-8F89-41EB-95B7-B2A8CF2007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t>4-</a:t>
            </a:r>
            <a:fld id="{57F3AC55-7B2F-49CE-9CAA-C67B76732202}" type="slidenum">
              <a:rPr lang="en-US" altLang="en-US" smtClean="0">
                <a:solidFill>
                  <a:srgbClr val="898989"/>
                </a:solidFill>
                <a:latin typeface="Calibri" panose="020F0502020204030204" pitchFamily="34" charset="0"/>
              </a:rPr>
              <a:pPr/>
              <a:t>1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 Transition from requirements to design.</a:t>
            </a:r>
          </a:p>
          <a:p>
            <a:r>
              <a:rPr lang="en-US" dirty="0"/>
              <a:t> System acquisition strategies.</a:t>
            </a:r>
          </a:p>
          <a:p>
            <a:pPr>
              <a:buNone/>
            </a:pPr>
            <a:r>
              <a:rPr lang="en-US" dirty="0"/>
              <a:t>   - Custom development.</a:t>
            </a:r>
          </a:p>
          <a:p>
            <a:pPr>
              <a:buNone/>
            </a:pPr>
            <a:r>
              <a:rPr lang="en-US" dirty="0"/>
              <a:t>   - Packaged software.</a:t>
            </a:r>
          </a:p>
          <a:p>
            <a:pPr>
              <a:buNone/>
            </a:pPr>
            <a:r>
              <a:rPr lang="en-US" dirty="0"/>
              <a:t>   - Outsourcing.</a:t>
            </a:r>
          </a:p>
          <a:p>
            <a:r>
              <a:rPr lang="en-US" dirty="0"/>
              <a:t>Influences on the acquisition strategies.</a:t>
            </a:r>
          </a:p>
          <a:p>
            <a:r>
              <a:rPr lang="en-US" dirty="0"/>
              <a:t>Selecting an acquisition strategy.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7-</a:t>
            </a:r>
            <a:fld id="{7597BC71-976C-43F9-8091-5829990FA63C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3600" dirty="0"/>
              <a:t>The </a:t>
            </a:r>
            <a:r>
              <a:rPr lang="en-US" sz="3600" b="1" dirty="0">
                <a:solidFill>
                  <a:srgbClr val="FF0000"/>
                </a:solidFill>
              </a:rPr>
              <a:t>design phase </a:t>
            </a:r>
            <a:r>
              <a:rPr lang="en-US" sz="3600" dirty="0"/>
              <a:t>decides </a:t>
            </a:r>
            <a:r>
              <a:rPr lang="en-US" sz="3600" b="1" i="1" dirty="0">
                <a:solidFill>
                  <a:srgbClr val="FF0000"/>
                </a:solidFill>
              </a:rPr>
              <a:t>how</a:t>
            </a:r>
            <a:r>
              <a:rPr lang="en-US" sz="3600" dirty="0">
                <a:solidFill>
                  <a:srgbClr val="3333FF"/>
                </a:solidFill>
              </a:rPr>
              <a:t> </a:t>
            </a:r>
            <a:r>
              <a:rPr lang="en-US" sz="3600" dirty="0"/>
              <a:t>the new system will operate.</a:t>
            </a:r>
          </a:p>
          <a:p>
            <a:pPr>
              <a:lnSpc>
                <a:spcPct val="110000"/>
              </a:lnSpc>
            </a:pPr>
            <a:r>
              <a:rPr lang="en-US" sz="3600" dirty="0"/>
              <a:t>The design phase develops the </a:t>
            </a:r>
            <a:r>
              <a:rPr lang="en-US" sz="3600" b="1" i="1" dirty="0">
                <a:solidFill>
                  <a:srgbClr val="FF0000"/>
                </a:solidFill>
              </a:rPr>
              <a:t>system requirements</a:t>
            </a:r>
            <a:r>
              <a:rPr lang="en-US" sz="3600" i="1" dirty="0"/>
              <a:t> </a:t>
            </a:r>
            <a:r>
              <a:rPr lang="en-US" sz="3600" dirty="0"/>
              <a:t>that describe details for building the system.</a:t>
            </a:r>
          </a:p>
          <a:p>
            <a:r>
              <a:rPr lang="en-US" sz="3600" dirty="0"/>
              <a:t>We also describe three alternative strategies for acquiring the system.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7-</a:t>
            </a:r>
            <a:fld id="{7597BC71-976C-43F9-8091-5829990FA63C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TRANSITION FROM REQUIREMENT TO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The purpose of the </a:t>
            </a:r>
            <a:r>
              <a:rPr lang="en-US" b="1" dirty="0">
                <a:solidFill>
                  <a:srgbClr val="0000FF"/>
                </a:solidFill>
              </a:rPr>
              <a:t>analysis phase </a:t>
            </a:r>
            <a:r>
              <a:rPr lang="en-US" dirty="0"/>
              <a:t>is to figure out what the business needs.  The purpose of the </a:t>
            </a:r>
            <a:r>
              <a:rPr lang="en-US" b="1" i="1" dirty="0">
                <a:solidFill>
                  <a:srgbClr val="0000FF"/>
                </a:solidFill>
              </a:rPr>
              <a:t>design phase</a:t>
            </a:r>
            <a:r>
              <a:rPr lang="en-US" i="1" dirty="0"/>
              <a:t> </a:t>
            </a:r>
            <a:r>
              <a:rPr lang="en-US" dirty="0"/>
              <a:t>is to decide how to build it.</a:t>
            </a:r>
          </a:p>
          <a:p>
            <a:pPr>
              <a:lnSpc>
                <a:spcPct val="120000"/>
              </a:lnSpc>
            </a:pPr>
            <a:r>
              <a:rPr lang="en-US" dirty="0"/>
              <a:t> During the initial part of design, the </a:t>
            </a:r>
            <a:r>
              <a:rPr lang="en-US" b="1" dirty="0">
                <a:solidFill>
                  <a:srgbClr val="0000FF"/>
                </a:solidFill>
              </a:rPr>
              <a:t>business requirements </a:t>
            </a:r>
            <a:r>
              <a:rPr lang="en-US" dirty="0"/>
              <a:t>are converted into </a:t>
            </a:r>
            <a:r>
              <a:rPr lang="en-US" b="1" i="1" dirty="0">
                <a:solidFill>
                  <a:srgbClr val="0000FF"/>
                </a:solidFill>
              </a:rPr>
              <a:t>system requirements </a:t>
            </a:r>
            <a:r>
              <a:rPr lang="en-US" dirty="0"/>
              <a:t>that describe the technical details for building the system.</a:t>
            </a:r>
          </a:p>
          <a:p>
            <a:pPr>
              <a:lnSpc>
                <a:spcPct val="120000"/>
              </a:lnSpc>
            </a:pPr>
            <a:r>
              <a:rPr lang="en-US" dirty="0"/>
              <a:t>System requirements are communicated through a collection of </a:t>
            </a:r>
            <a:r>
              <a:rPr lang="en-US" dirty="0">
                <a:solidFill>
                  <a:srgbClr val="0000FF"/>
                </a:solidFill>
              </a:rPr>
              <a:t>design documents </a:t>
            </a:r>
            <a:r>
              <a:rPr lang="en-US" dirty="0"/>
              <a:t>and </a:t>
            </a:r>
            <a:r>
              <a:rPr lang="en-US" i="1" dirty="0">
                <a:solidFill>
                  <a:srgbClr val="0000FF"/>
                </a:solidFill>
              </a:rPr>
              <a:t>physical</a:t>
            </a:r>
            <a:r>
              <a:rPr lang="en-US" dirty="0"/>
              <a:t> process and data models.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7-</a:t>
            </a:r>
            <a:fld id="{7597BC71-976C-43F9-8091-5829990FA63C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 At the end of the design phase, the final deliverable called </a:t>
            </a:r>
            <a:r>
              <a:rPr lang="en-US" sz="3200" b="1" i="1" dirty="0">
                <a:solidFill>
                  <a:srgbClr val="0000FF"/>
                </a:solidFill>
              </a:rPr>
              <a:t>system specification </a:t>
            </a:r>
            <a:r>
              <a:rPr lang="en-US" sz="3200" dirty="0"/>
              <a:t>is created. </a:t>
            </a:r>
          </a:p>
          <a:p>
            <a:r>
              <a:rPr lang="en-US" sz="3200" dirty="0"/>
              <a:t>System specification outline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7-</a:t>
            </a:r>
            <a:fld id="{7597BC71-976C-43F9-8091-5829990FA63C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6" name="Picture 2" descr="fig_07_02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" y="3733800"/>
            <a:ext cx="4114800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ACQUISITION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There are three primary ways to approach the creation of a new system:</a:t>
            </a:r>
          </a:p>
          <a:p>
            <a:pPr>
              <a:lnSpc>
                <a:spcPct val="110000"/>
              </a:lnSpc>
              <a:buNone/>
            </a:pPr>
            <a:r>
              <a:rPr lang="en-US" dirty="0"/>
              <a:t>1. Develop a custom application in-house.</a:t>
            </a:r>
          </a:p>
          <a:p>
            <a:pPr>
              <a:lnSpc>
                <a:spcPct val="110000"/>
              </a:lnSpc>
              <a:buNone/>
            </a:pPr>
            <a:r>
              <a:rPr lang="en-US" dirty="0"/>
              <a:t>2. Buy a packaged system and (possibly) customize it; and</a:t>
            </a:r>
          </a:p>
          <a:p>
            <a:pPr>
              <a:lnSpc>
                <a:spcPct val="110000"/>
              </a:lnSpc>
              <a:buNone/>
            </a:pPr>
            <a:r>
              <a:rPr lang="en-US" dirty="0"/>
              <a:t>3. Rely on an external vendor, developer, or service provider to build or provide the system.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7-</a:t>
            </a:r>
            <a:fld id="{7597BC71-976C-43F9-8091-5829990FA63C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US" b="1" i="1" dirty="0">
                <a:solidFill>
                  <a:srgbClr val="0000FF"/>
                </a:solidFill>
              </a:rPr>
              <a:t> </a:t>
            </a:r>
            <a:r>
              <a:rPr lang="en-US" sz="3000" b="1" i="1" dirty="0">
                <a:solidFill>
                  <a:srgbClr val="0000FF"/>
                </a:solidFill>
              </a:rPr>
              <a:t>Custom development </a:t>
            </a:r>
            <a:r>
              <a:rPr lang="en-US" sz="3000" dirty="0"/>
              <a:t>– building a new system from scratch.</a:t>
            </a:r>
          </a:p>
          <a:p>
            <a:pPr>
              <a:lnSpc>
                <a:spcPct val="110000"/>
              </a:lnSpc>
            </a:pPr>
            <a:r>
              <a:rPr lang="en-US" sz="3000" dirty="0"/>
              <a:t>Pros of custom development:</a:t>
            </a:r>
          </a:p>
          <a:p>
            <a:pPr>
              <a:lnSpc>
                <a:spcPct val="110000"/>
              </a:lnSpc>
              <a:buNone/>
            </a:pPr>
            <a:r>
              <a:rPr lang="en-US" sz="3000" dirty="0"/>
              <a:t>  - It allows developers to be flexible and creative in the way they solve business problems.</a:t>
            </a:r>
          </a:p>
          <a:p>
            <a:pPr>
              <a:lnSpc>
                <a:spcPct val="110000"/>
              </a:lnSpc>
              <a:buNone/>
            </a:pPr>
            <a:r>
              <a:rPr lang="en-US" sz="3000" dirty="0"/>
              <a:t>  - It allows to take advantage of current technologies that can support strategic efforts.</a:t>
            </a:r>
          </a:p>
          <a:p>
            <a:pPr>
              <a:lnSpc>
                <a:spcPct val="110000"/>
              </a:lnSpc>
              <a:buNone/>
            </a:pPr>
            <a:r>
              <a:rPr lang="en-US" sz="3000" dirty="0"/>
              <a:t>  - It builds technical skills and functional knowledge within the  organization.</a:t>
            </a:r>
          </a:p>
          <a:p>
            <a:pPr>
              <a:lnSpc>
                <a:spcPct val="110000"/>
              </a:lnSpc>
              <a:buNone/>
            </a:pPr>
            <a:endParaRPr lang="en-US" sz="3000" dirty="0"/>
          </a:p>
          <a:p>
            <a:pPr>
              <a:lnSpc>
                <a:spcPct val="110000"/>
              </a:lnSpc>
              <a:buNone/>
            </a:pPr>
            <a:endParaRPr lang="en-US" sz="3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7-</a:t>
            </a:r>
            <a:fld id="{7597BC71-976C-43F9-8091-5829990FA63C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>
              <a:lnSpc>
                <a:spcPct val="120000"/>
              </a:lnSpc>
            </a:pPr>
            <a:r>
              <a:rPr lang="en-US" sz="5800" dirty="0"/>
              <a:t> </a:t>
            </a:r>
            <a:r>
              <a:rPr lang="en-US" sz="8500" dirty="0"/>
              <a:t>Cons of custom development:</a:t>
            </a:r>
          </a:p>
          <a:p>
            <a:pPr>
              <a:lnSpc>
                <a:spcPct val="120000"/>
              </a:lnSpc>
              <a:buNone/>
            </a:pPr>
            <a:r>
              <a:rPr lang="en-US" sz="8500" dirty="0"/>
              <a:t> - It requires a dedicated effort that include long hours and hard work.</a:t>
            </a:r>
          </a:p>
          <a:p>
            <a:pPr>
              <a:lnSpc>
                <a:spcPct val="120000"/>
              </a:lnSpc>
              <a:buNone/>
            </a:pPr>
            <a:r>
              <a:rPr lang="en-US" sz="8500" dirty="0"/>
              <a:t> - It requires a variety of skills, but high skilled IS professionals are difficult to hire and retain.</a:t>
            </a:r>
          </a:p>
          <a:p>
            <a:pPr>
              <a:lnSpc>
                <a:spcPct val="120000"/>
              </a:lnSpc>
              <a:buNone/>
            </a:pPr>
            <a:r>
              <a:rPr lang="en-US" sz="8500" dirty="0"/>
              <a:t> - The risks associated with building a system from the ground up can be quite high.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7-</a:t>
            </a:r>
            <a:fld id="{7597BC71-976C-43F9-8091-5829990FA63C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Packaged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800" dirty="0"/>
              <a:t>Many organizations buy </a:t>
            </a:r>
            <a:r>
              <a:rPr lang="en-US" sz="2800" b="1" i="1" dirty="0">
                <a:solidFill>
                  <a:srgbClr val="0000FF"/>
                </a:solidFill>
              </a:rPr>
              <a:t>packaged software</a:t>
            </a:r>
            <a:r>
              <a:rPr lang="en-US" sz="2800" i="1" dirty="0"/>
              <a:t> </a:t>
            </a:r>
            <a:r>
              <a:rPr lang="en-US" sz="2800" dirty="0"/>
              <a:t>that has been written for common business needs.</a:t>
            </a:r>
          </a:p>
          <a:p>
            <a:pPr>
              <a:lnSpc>
                <a:spcPct val="110000"/>
              </a:lnSpc>
            </a:pPr>
            <a:r>
              <a:rPr lang="en-US" sz="2800" dirty="0"/>
              <a:t>It can be much more efficient to buy programs that have already been created and tested, and a packaged system can be bought and installed quickly compared with a custom system.</a:t>
            </a:r>
          </a:p>
          <a:p>
            <a:pPr>
              <a:lnSpc>
                <a:spcPct val="110000"/>
              </a:lnSpc>
            </a:pPr>
            <a:r>
              <a:rPr lang="en-US" sz="2800" dirty="0"/>
              <a:t>Packaged software can range from small single-function tools to huge all-encompassing system such as </a:t>
            </a:r>
            <a:r>
              <a:rPr lang="en-US" sz="2800" b="1" i="1" dirty="0">
                <a:solidFill>
                  <a:srgbClr val="0000FF"/>
                </a:solidFill>
              </a:rPr>
              <a:t>ERP (enterprise resource planning) </a:t>
            </a:r>
            <a:r>
              <a:rPr lang="en-US" sz="2800" dirty="0"/>
              <a:t>applications.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7-</a:t>
            </a:r>
            <a:fld id="{7597BC71-976C-43F9-8091-5829990FA63C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en-US" sz="3300" dirty="0"/>
              <a:t>One problem of packaged software is that companies utilizing packaged software must accept the functionality that is provided by the system.</a:t>
            </a:r>
          </a:p>
          <a:p>
            <a:pPr>
              <a:lnSpc>
                <a:spcPct val="120000"/>
              </a:lnSpc>
            </a:pPr>
            <a:r>
              <a:rPr lang="en-US" sz="3300" dirty="0"/>
              <a:t>Most packaged applications allow for customization or the manipulation of system parameters to change the way certain features work.</a:t>
            </a:r>
          </a:p>
          <a:p>
            <a:pPr>
              <a:lnSpc>
                <a:spcPct val="120000"/>
              </a:lnSpc>
            </a:pPr>
            <a:r>
              <a:rPr lang="en-US" sz="3300" dirty="0"/>
              <a:t>A custom-built add-on program that interfaces with the packaged application, called a </a:t>
            </a:r>
            <a:r>
              <a:rPr lang="en-US" sz="3300" i="1" dirty="0">
                <a:solidFill>
                  <a:srgbClr val="0000FF"/>
                </a:solidFill>
              </a:rPr>
              <a:t>workaround</a:t>
            </a:r>
            <a:r>
              <a:rPr lang="en-US" sz="3300" dirty="0"/>
              <a:t>, can be created to handle special needs.</a:t>
            </a:r>
          </a:p>
          <a:p>
            <a:endParaRPr lang="en-US" sz="3200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7-</a:t>
            </a:r>
            <a:fld id="{7597BC71-976C-43F9-8091-5829990FA63C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3200" b="1" i="1" dirty="0">
                <a:solidFill>
                  <a:srgbClr val="0000FF"/>
                </a:solidFill>
              </a:rPr>
              <a:t>Systems Integration </a:t>
            </a:r>
            <a:r>
              <a:rPr lang="en-US" sz="3200" dirty="0"/>
              <a:t>refers to the process of building new systems by combining packaged software, existing </a:t>
            </a:r>
            <a:r>
              <a:rPr lang="en-US" sz="3200" dirty="0">
                <a:solidFill>
                  <a:srgbClr val="0000FF"/>
                </a:solidFill>
              </a:rPr>
              <a:t>legacy systems</a:t>
            </a:r>
            <a:r>
              <a:rPr lang="en-US" sz="3200" dirty="0"/>
              <a:t>, and new software written to integrate them.</a:t>
            </a:r>
          </a:p>
          <a:p>
            <a:pPr>
              <a:lnSpc>
                <a:spcPct val="120000"/>
              </a:lnSpc>
            </a:pPr>
            <a:r>
              <a:rPr lang="en-US" sz="3200" dirty="0"/>
              <a:t>The key challenge in systems integration is finding ways to integrate the data produced by the different packages and legacy systems.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7-</a:t>
            </a:r>
            <a:fld id="{7597BC71-976C-43F9-8091-5829990FA63C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Outsourcing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Autofit/>
          </a:bodyPr>
          <a:lstStyle/>
          <a:p>
            <a:r>
              <a:rPr lang="en-US" sz="3200" b="1" i="1" dirty="0">
                <a:solidFill>
                  <a:srgbClr val="0000FF"/>
                </a:solidFill>
              </a:rPr>
              <a:t>Outsourcing</a:t>
            </a:r>
            <a:r>
              <a:rPr lang="en-US" sz="3200" dirty="0"/>
              <a:t> means hiring an external vendor, developer, or service provider to create or supply the system.</a:t>
            </a:r>
          </a:p>
          <a:p>
            <a:r>
              <a:rPr lang="en-US" sz="3200" dirty="0"/>
              <a:t>Outsourcing firms called </a:t>
            </a:r>
            <a:r>
              <a:rPr lang="en-US" sz="3200" b="1" i="1" dirty="0">
                <a:solidFill>
                  <a:srgbClr val="0000FF"/>
                </a:solidFill>
              </a:rPr>
              <a:t>application service providers (ASPs) </a:t>
            </a:r>
            <a:r>
              <a:rPr lang="en-US" sz="3200" dirty="0"/>
              <a:t>supply software applications and/or services over the Internet.</a:t>
            </a:r>
          </a:p>
          <a:p>
            <a:r>
              <a:rPr lang="en-US" sz="3200" dirty="0"/>
              <a:t>Outsourcing has many advantages such as a low cost of entry and a short setup time.</a:t>
            </a:r>
          </a:p>
          <a:p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7-</a:t>
            </a:r>
            <a:fld id="{7597BC71-976C-43F9-8091-5829990FA63C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sz="3900" dirty="0"/>
              <a:t>Risks of outsourcing:</a:t>
            </a:r>
          </a:p>
          <a:p>
            <a:pPr lvl="1">
              <a:lnSpc>
                <a:spcPct val="110000"/>
              </a:lnSpc>
            </a:pPr>
            <a:r>
              <a:rPr lang="en-US" sz="3200" dirty="0"/>
              <a:t>Compromising confidential information</a:t>
            </a:r>
          </a:p>
          <a:p>
            <a:pPr lvl="1">
              <a:lnSpc>
                <a:spcPct val="110000"/>
              </a:lnSpc>
            </a:pPr>
            <a:r>
              <a:rPr lang="en-US" sz="3200" dirty="0"/>
              <a:t>Losing control over future development</a:t>
            </a:r>
          </a:p>
          <a:p>
            <a:pPr lvl="1">
              <a:lnSpc>
                <a:spcPct val="110000"/>
              </a:lnSpc>
            </a:pPr>
            <a:r>
              <a:rPr lang="en-US" sz="3200" dirty="0"/>
              <a:t>Losing important skills of in-house professionals.</a:t>
            </a:r>
          </a:p>
          <a:p>
            <a:pPr>
              <a:lnSpc>
                <a:spcPct val="110000"/>
              </a:lnSpc>
            </a:pPr>
            <a:r>
              <a:rPr lang="en-US" sz="3900" dirty="0"/>
              <a:t>You should never outsource what you do not understand.</a:t>
            </a:r>
          </a:p>
          <a:p>
            <a:pPr>
              <a:lnSpc>
                <a:spcPct val="110000"/>
              </a:lnSpc>
            </a:pPr>
            <a:r>
              <a:rPr lang="en-US" sz="3900" dirty="0"/>
              <a:t> Carefully choose an outsourcing firm with a proven track record.</a:t>
            </a:r>
          </a:p>
          <a:p>
            <a:pPr lvl="1"/>
            <a:endParaRPr lang="en-US" sz="320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7-</a:t>
            </a:r>
            <a:fld id="{7597BC71-976C-43F9-8091-5829990FA63C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Need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Autofit/>
          </a:bodyPr>
          <a:lstStyle/>
          <a:p>
            <a:r>
              <a:rPr lang="en-US" sz="3600" dirty="0"/>
              <a:t> If the business need for the system is common and the technical solutions already exist, packaged software is a solution.</a:t>
            </a:r>
          </a:p>
          <a:p>
            <a:r>
              <a:rPr lang="en-US" sz="3600" dirty="0"/>
              <a:t>A custom solution should be explored when the business need is unique.</a:t>
            </a:r>
          </a:p>
          <a:p>
            <a:r>
              <a:rPr lang="en-US" sz="3600" dirty="0"/>
              <a:t>Outsourcing is used in situations where the business need is not a critical element of company strategy.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7-</a:t>
            </a:r>
            <a:fld id="{7597BC71-976C-43F9-8091-5829990FA63C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In-House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If in-house experience exists for all the functional and technical needs of the system, it will be easier to build a custom application.</a:t>
            </a:r>
          </a:p>
          <a:p>
            <a:pPr>
              <a:lnSpc>
                <a:spcPct val="90000"/>
              </a:lnSpc>
            </a:pPr>
            <a:r>
              <a:rPr lang="en-US" dirty="0"/>
              <a:t>A packaged system may be a better alternative for companies that do not have the technical skills to build the desired system.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7-</a:t>
            </a:r>
            <a:fld id="{7597BC71-976C-43F9-8091-5829990FA63C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US" sz="3900" dirty="0"/>
              <a:t>The skills that are applied during projects are either technical (e.g., SQL) or functional (e.g., e-commerce).</a:t>
            </a:r>
          </a:p>
          <a:p>
            <a:pPr>
              <a:lnSpc>
                <a:spcPct val="110000"/>
              </a:lnSpc>
            </a:pPr>
            <a:r>
              <a:rPr lang="en-US" sz="3900" dirty="0"/>
              <a:t>Different design alternatives are more viable, depending on how important the skills are to the company’s strategy.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7-</a:t>
            </a:r>
            <a:fld id="{7597BC71-976C-43F9-8091-5829990FA63C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Custom applications require excellent project management and a proven methodology.</a:t>
            </a:r>
          </a:p>
          <a:p>
            <a:r>
              <a:rPr lang="en-US" dirty="0"/>
              <a:t>There are so many things that can push a project off track, such as funding obstacles, staffing, and overly demanding business users.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7-</a:t>
            </a:r>
            <a:fld id="{7597BC71-976C-43F9-8091-5829990FA63C}" type="slidenum">
              <a:rPr lang="en-US" smtClean="0"/>
              <a:pPr/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Frame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en-US" sz="4200" dirty="0"/>
              <a:t>When time is a factor, the project team should probably start looking for a system that is already built and tested.</a:t>
            </a:r>
          </a:p>
          <a:p>
            <a:pPr>
              <a:lnSpc>
                <a:spcPct val="110000"/>
              </a:lnSpc>
            </a:pPr>
            <a:r>
              <a:rPr lang="en-US" sz="4200" dirty="0"/>
              <a:t>If a custom alternative is chosen, and the time frame is very short, consider using techniques like </a:t>
            </a:r>
            <a:r>
              <a:rPr lang="en-US" sz="4200" dirty="0" err="1"/>
              <a:t>timeboxing</a:t>
            </a:r>
            <a:r>
              <a:rPr lang="en-US" sz="4200" dirty="0"/>
              <a:t> to manage the problem.</a:t>
            </a:r>
          </a:p>
          <a:p>
            <a:pPr>
              <a:lnSpc>
                <a:spcPct val="110000"/>
              </a:lnSpc>
            </a:pPr>
            <a:r>
              <a:rPr lang="en-US" sz="4200" dirty="0"/>
              <a:t>An outsourcing solution could take as long a custom development initiative.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7-</a:t>
            </a:r>
            <a:fld id="{7597BC71-976C-43F9-8091-5829990FA63C}" type="slidenum">
              <a:rPr lang="en-US" smtClean="0"/>
              <a:pPr/>
              <a:t>18</a:t>
            </a:fld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SELECTING AN ACQUISITION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Autofit/>
          </a:bodyPr>
          <a:lstStyle/>
          <a:p>
            <a:r>
              <a:rPr lang="en-US" sz="3200" dirty="0"/>
              <a:t>To implement the strategies, additional information is needed.</a:t>
            </a:r>
          </a:p>
          <a:p>
            <a:pPr>
              <a:buNone/>
            </a:pPr>
            <a:r>
              <a:rPr lang="en-US" sz="2400" dirty="0"/>
              <a:t>    - What tools and technologies are needed for a custom development project?</a:t>
            </a:r>
          </a:p>
          <a:p>
            <a:pPr>
              <a:buNone/>
            </a:pPr>
            <a:r>
              <a:rPr lang="en-US" sz="2400" dirty="0"/>
              <a:t>    - What vendors make products that address the project needs?</a:t>
            </a:r>
          </a:p>
          <a:p>
            <a:pPr>
              <a:buNone/>
            </a:pPr>
            <a:r>
              <a:rPr lang="en-US" sz="2400" dirty="0"/>
              <a:t>    - What service providers would be able to build this application if outsourced?</a:t>
            </a:r>
            <a:endParaRPr lang="en-US" sz="3200" dirty="0"/>
          </a:p>
          <a:p>
            <a:r>
              <a:rPr lang="en-US" sz="3200" dirty="0"/>
              <a:t>One helpful tool is the </a:t>
            </a:r>
            <a:r>
              <a:rPr lang="en-US" sz="3200" b="1" i="1" dirty="0">
                <a:solidFill>
                  <a:srgbClr val="0000FF"/>
                </a:solidFill>
              </a:rPr>
              <a:t>request for proposal (RFP),</a:t>
            </a:r>
            <a:r>
              <a:rPr lang="en-US" sz="3200" b="1" i="1" dirty="0">
                <a:solidFill>
                  <a:srgbClr val="6699FF"/>
                </a:solidFill>
              </a:rPr>
              <a:t> </a:t>
            </a:r>
            <a:r>
              <a:rPr lang="en-US" sz="3200" dirty="0"/>
              <a:t>a document that solicits a formal proposal from a potential vendor, developer, or service provider.</a:t>
            </a:r>
          </a:p>
          <a:p>
            <a:endParaRPr lang="en-US" sz="3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7-</a:t>
            </a:r>
            <a:fld id="{7597BC71-976C-43F9-8091-5829990FA63C}" type="slidenum">
              <a:rPr lang="en-US" smtClean="0"/>
              <a:pPr/>
              <a:t>19</a:t>
            </a:fld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40000" lnSpcReduction="20000"/>
          </a:bodyPr>
          <a:lstStyle/>
          <a:p>
            <a:pPr>
              <a:lnSpc>
                <a:spcPct val="120000"/>
              </a:lnSpc>
            </a:pPr>
            <a:r>
              <a:rPr lang="en-US" sz="8000" dirty="0"/>
              <a:t>RFPs describe in detail the system or service that is needed, and vendor respond by describing in detail how they could supply those needs.</a:t>
            </a:r>
          </a:p>
          <a:p>
            <a:pPr>
              <a:lnSpc>
                <a:spcPct val="120000"/>
              </a:lnSpc>
            </a:pPr>
            <a:r>
              <a:rPr lang="en-US" sz="8000" dirty="0"/>
              <a:t>For smaller projects with smaller budgets, a </a:t>
            </a:r>
            <a:r>
              <a:rPr lang="en-US" sz="8000" b="1" i="1" dirty="0">
                <a:solidFill>
                  <a:srgbClr val="0000FF"/>
                </a:solidFill>
              </a:rPr>
              <a:t>request for information (RFI) </a:t>
            </a:r>
            <a:r>
              <a:rPr lang="en-US" sz="8000" dirty="0"/>
              <a:t>may be sufficient, as it is shorter and less detailed.</a:t>
            </a:r>
          </a:p>
          <a:p>
            <a:pPr>
              <a:lnSpc>
                <a:spcPct val="120000"/>
              </a:lnSpc>
            </a:pPr>
            <a:r>
              <a:rPr lang="en-US" sz="8000" dirty="0"/>
              <a:t>When a list of equipment is so complete that the vendor needs only provide a price, a </a:t>
            </a:r>
            <a:r>
              <a:rPr lang="en-US" sz="8000" b="1" i="1" dirty="0">
                <a:solidFill>
                  <a:srgbClr val="0000FF"/>
                </a:solidFill>
              </a:rPr>
              <a:t>request for quote (RFQ) </a:t>
            </a:r>
            <a:r>
              <a:rPr lang="en-US" sz="8000" dirty="0"/>
              <a:t>may be used. 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7-</a:t>
            </a:r>
            <a:fld id="{7597BC71-976C-43F9-8091-5829990FA63C}" type="slidenum">
              <a:rPr lang="en-US" smtClean="0"/>
              <a:pPr/>
              <a:t>20</a:t>
            </a:fld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984</TotalTime>
  <Words>1105</Words>
  <Application>Microsoft Office PowerPoint</Application>
  <PresentationFormat>On-screen Show (4:3)</PresentationFormat>
  <Paragraphs>109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Wingdings</vt:lpstr>
      <vt:lpstr>Office Theme</vt:lpstr>
      <vt:lpstr>Systems Analysis &amp; Design</vt:lpstr>
      <vt:lpstr>Design Phase</vt:lpstr>
      <vt:lpstr>Outline</vt:lpstr>
      <vt:lpstr>INTRODUCTION</vt:lpstr>
      <vt:lpstr>TRANSITION FROM REQUIREMENT TO DESIGN</vt:lpstr>
      <vt:lpstr>(cont’d)</vt:lpstr>
      <vt:lpstr>SYSTEM ACQUISITION STRATEGIES</vt:lpstr>
      <vt:lpstr>Custom Development</vt:lpstr>
      <vt:lpstr>(cont’d)</vt:lpstr>
      <vt:lpstr>Packaged Software</vt:lpstr>
      <vt:lpstr>(cont’d)</vt:lpstr>
      <vt:lpstr>(cont’d)</vt:lpstr>
      <vt:lpstr>Outsourcing</vt:lpstr>
      <vt:lpstr>(cont’d)</vt:lpstr>
      <vt:lpstr>Business Need</vt:lpstr>
      <vt:lpstr>In-House Experience</vt:lpstr>
      <vt:lpstr>Project Skills</vt:lpstr>
      <vt:lpstr>Project Management</vt:lpstr>
      <vt:lpstr>Time Frame</vt:lpstr>
      <vt:lpstr>SELECTING AN ACQUISITION STRATEGY</vt:lpstr>
      <vt:lpstr>(cont’d)</vt:lpstr>
    </vt:vector>
  </TitlesOfParts>
  <Company>University of Massachusetts Dartmouth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Systems Analysis and Design 5th Edition</dc:title>
  <dc:creator>Windows User</dc:creator>
  <cp:lastModifiedBy>Ms. K Anuradha</cp:lastModifiedBy>
  <cp:revision>39</cp:revision>
  <dcterms:created xsi:type="dcterms:W3CDTF">2011-06-16T14:45:20Z</dcterms:created>
  <dcterms:modified xsi:type="dcterms:W3CDTF">2023-10-26T11:41:18Z</dcterms:modified>
</cp:coreProperties>
</file>