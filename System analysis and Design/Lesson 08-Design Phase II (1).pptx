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40"/>
  </p:notesMasterIdLst>
  <p:sldIdLst>
    <p:sldId id="346" r:id="rId2"/>
    <p:sldId id="347" r:id="rId3"/>
    <p:sldId id="265" r:id="rId4"/>
    <p:sldId id="267" r:id="rId5"/>
    <p:sldId id="268" r:id="rId6"/>
    <p:sldId id="269" r:id="rId7"/>
    <p:sldId id="270" r:id="rId8"/>
    <p:sldId id="271" r:id="rId9"/>
    <p:sldId id="272" r:id="rId10"/>
    <p:sldId id="278" r:id="rId11"/>
    <p:sldId id="279" r:id="rId12"/>
    <p:sldId id="348" r:id="rId13"/>
    <p:sldId id="280" r:id="rId14"/>
    <p:sldId id="281" r:id="rId15"/>
    <p:sldId id="282" r:id="rId16"/>
    <p:sldId id="284" r:id="rId17"/>
    <p:sldId id="285" r:id="rId18"/>
    <p:sldId id="286" r:id="rId19"/>
    <p:sldId id="287" r:id="rId20"/>
    <p:sldId id="288" r:id="rId21"/>
    <p:sldId id="289" r:id="rId22"/>
    <p:sldId id="291" r:id="rId23"/>
    <p:sldId id="293" r:id="rId24"/>
    <p:sldId id="294" r:id="rId25"/>
    <p:sldId id="266" r:id="rId26"/>
    <p:sldId id="256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13" r:id="rId35"/>
    <p:sldId id="356" r:id="rId36"/>
    <p:sldId id="315" r:id="rId37"/>
    <p:sldId id="320" r:id="rId38"/>
    <p:sldId id="321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053" autoAdjust="0"/>
  </p:normalViewPr>
  <p:slideViewPr>
    <p:cSldViewPr>
      <p:cViewPr varScale="1">
        <p:scale>
          <a:sx n="55" d="100"/>
          <a:sy n="55" d="100"/>
        </p:scale>
        <p:origin x="18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4CAABF-1537-4DC9-899E-912AA05A08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6BC1D1-5C97-47D1-B896-02809D021D7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7D9475C0-4FBB-4920-A0AE-B45FEDAD79CD}" type="datetimeFigureOut">
              <a:rPr lang="en-US"/>
              <a:pPr>
                <a:defRPr/>
              </a:pPr>
              <a:t>10/26/2023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3E495F3-7169-498B-891F-DB0E9D18E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0EF1727-51A1-476F-BEA3-FCE94377C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34D35-9EE7-4DCE-97F5-E2A36EEDC8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9689D-72F3-4E36-AFAB-AB96E5197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F6D57A1D-1EFB-414A-B463-FB74FCB00EB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https://teachcomputerscience.com/client-server-architecture/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57A1D-1EFB-414A-B463-FB74FCB00EBF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098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https://techterms.com/definition/client-server_model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D57A1D-1EFB-414A-B463-FB74FCB00EBF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5628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101D85B6-F901-4C31-9956-CEB3B40622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BDC9AB4F-9CC6-4477-BC81-B6BC7A844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F8742917-5BC1-4377-A0FF-71AD87E43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6FB525-BF57-461E-93B5-5763BF9B686A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BCBBE-1024-43C9-A4F8-E1758BBEB71C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32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A </a:t>
            </a:r>
            <a:r>
              <a:rPr lang="en-US" altLang="en-US" sz="1200" b="1" i="1" dirty="0">
                <a:solidFill>
                  <a:srgbClr val="0033CC"/>
                </a:solidFill>
              </a:rPr>
              <a:t>data file</a:t>
            </a:r>
            <a:r>
              <a:rPr lang="en-US" altLang="en-US" sz="1200" dirty="0"/>
              <a:t> contains an electronic list of information that is formatted for a particular transaction.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Typically, files are organized sequentially.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Records can be associated with other records by </a:t>
            </a:r>
            <a:r>
              <a:rPr lang="en-US" altLang="en-US" sz="1200" dirty="0">
                <a:solidFill>
                  <a:srgbClr val="0033CC"/>
                </a:solidFill>
              </a:rPr>
              <a:t>pointers</a:t>
            </a:r>
            <a:r>
              <a:rPr lang="en-US" altLang="en-US" sz="1200" b="1" i="1" dirty="0">
                <a:solidFill>
                  <a:srgbClr val="0033CC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BCBBE-1024-43C9-A4F8-E1758BBEB71C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286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The name of </a:t>
            </a:r>
            <a:r>
              <a:rPr lang="en-US" altLang="en-US" sz="1200" b="1" i="1" dirty="0">
                <a:solidFill>
                  <a:srgbClr val="0033CC"/>
                </a:solidFill>
              </a:rPr>
              <a:t>legacy database</a:t>
            </a:r>
            <a:r>
              <a:rPr lang="en-US" altLang="en-US" sz="1200" dirty="0"/>
              <a:t> is given to those databases which are based on older technology that is seldom used to develop new applications.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Two major types of legacy databases: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1200" b="1" i="1" dirty="0">
                <a:solidFill>
                  <a:srgbClr val="0033CC"/>
                </a:solidFill>
              </a:rPr>
              <a:t>- Hierarchical databases </a:t>
            </a:r>
            <a:r>
              <a:rPr lang="en-US" altLang="en-US" sz="1200" dirty="0"/>
              <a:t>use hierarchies, or inverted trees, to represent relationships.</a:t>
            </a:r>
          </a:p>
          <a:p>
            <a:pPr marL="171450" indent="-171450" eaLnBrk="1" hangingPunct="1">
              <a:spcBef>
                <a:spcPct val="0"/>
              </a:spcBef>
              <a:buFontTx/>
              <a:buChar char="-"/>
            </a:pPr>
            <a:r>
              <a:rPr lang="en-US" altLang="en-US" sz="1200" b="1" i="1" dirty="0">
                <a:solidFill>
                  <a:srgbClr val="0033CC"/>
                </a:solidFill>
              </a:rPr>
              <a:t>Network databases </a:t>
            </a:r>
            <a:r>
              <a:rPr lang="en-US" altLang="en-US" sz="1200" dirty="0"/>
              <a:t>are collections of records that are related to each other through </a:t>
            </a:r>
            <a:r>
              <a:rPr lang="en-US" altLang="en-US" sz="1200" b="1" i="1" dirty="0">
                <a:solidFill>
                  <a:srgbClr val="0033CC"/>
                </a:solidFill>
              </a:rPr>
              <a:t>pointers</a:t>
            </a:r>
            <a:r>
              <a:rPr lang="en-US" altLang="en-US" sz="1200" dirty="0"/>
              <a:t>.</a:t>
            </a:r>
          </a:p>
          <a:p>
            <a:pPr mar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/>
              <a:t>--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b="1" i="1" dirty="0">
                <a:solidFill>
                  <a:srgbClr val="0033CC"/>
                </a:solidFill>
              </a:rPr>
              <a:t>The relational database </a:t>
            </a:r>
            <a:r>
              <a:rPr lang="en-US" altLang="en-US" sz="1200" dirty="0"/>
              <a:t>is the most popular kind of database for application development today.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A relational database is based on collections of </a:t>
            </a:r>
            <a:r>
              <a:rPr lang="en-US" altLang="en-US" sz="1200" b="1" i="1" dirty="0">
                <a:solidFill>
                  <a:srgbClr val="0033CC"/>
                </a:solidFill>
              </a:rPr>
              <a:t>tables</a:t>
            </a:r>
            <a:r>
              <a:rPr lang="en-US" altLang="en-US" sz="1200" dirty="0"/>
              <a:t>, each of which has a </a:t>
            </a:r>
            <a:r>
              <a:rPr lang="en-US" altLang="en-US" sz="1200" b="1" i="1" dirty="0">
                <a:solidFill>
                  <a:srgbClr val="0033CC"/>
                </a:solidFill>
              </a:rPr>
              <a:t>primary key</a:t>
            </a:r>
            <a:r>
              <a:rPr lang="en-US" altLang="en-US" sz="1200" dirty="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The tables are related to each other by the placement of the primary key from one table into the related table as a </a:t>
            </a:r>
            <a:r>
              <a:rPr lang="en-US" altLang="en-US" sz="1200" b="1" i="1" dirty="0">
                <a:solidFill>
                  <a:srgbClr val="0033CC"/>
                </a:solidFill>
              </a:rPr>
              <a:t>foreign key.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b="1" i="1" dirty="0">
              <a:solidFill>
                <a:srgbClr val="0033CC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The </a:t>
            </a:r>
            <a:r>
              <a:rPr lang="en-US" altLang="en-US" sz="1200" b="1" i="1" dirty="0">
                <a:solidFill>
                  <a:srgbClr val="0033CC"/>
                </a:solidFill>
              </a:rPr>
              <a:t>object database</a:t>
            </a:r>
            <a:r>
              <a:rPr lang="en-US" altLang="en-US" sz="1200" dirty="0"/>
              <a:t>, or object-oriented database, is based on the premise of object orientation that all things should be treated as </a:t>
            </a:r>
            <a:r>
              <a:rPr lang="en-US" altLang="en-US" sz="1200" b="1" i="1" dirty="0">
                <a:solidFill>
                  <a:srgbClr val="0033CC"/>
                </a:solidFill>
              </a:rPr>
              <a:t>objects</a:t>
            </a:r>
            <a:r>
              <a:rPr lang="en-US" altLang="en-US" sz="1200" dirty="0"/>
              <a:t> that have both data (attributes) and processes (behaviors).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Changes to one object have no effect on other objects because the attributes and behaviors self-contained, or encapsulated, within each one.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This </a:t>
            </a:r>
            <a:r>
              <a:rPr lang="en-US" altLang="en-US" sz="1200" b="1" i="1" dirty="0">
                <a:solidFill>
                  <a:srgbClr val="0033CC"/>
                </a:solidFill>
              </a:rPr>
              <a:t>encapsulation</a:t>
            </a:r>
            <a:r>
              <a:rPr lang="en-US" altLang="en-US" sz="1200" b="1" dirty="0"/>
              <a:t> </a:t>
            </a:r>
            <a:r>
              <a:rPr lang="en-US" altLang="en-US" sz="1200" dirty="0"/>
              <a:t>allows objects to be reused.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dirty="0"/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-----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dirty="0"/>
              <a:t>A </a:t>
            </a:r>
            <a:r>
              <a:rPr lang="en-US" altLang="en-US" sz="1200" b="1" i="1" dirty="0">
                <a:solidFill>
                  <a:srgbClr val="0033CC"/>
                </a:solidFill>
              </a:rPr>
              <a:t>multidimensional database </a:t>
            </a:r>
            <a:r>
              <a:rPr lang="en-US" altLang="en-US" sz="1200" dirty="0"/>
              <a:t>is a type of relational database that is used extensively in data warehousing.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b="1" i="1" dirty="0">
                <a:solidFill>
                  <a:srgbClr val="0033CC"/>
                </a:solidFill>
              </a:rPr>
              <a:t>Data warehousing </a:t>
            </a:r>
            <a:r>
              <a:rPr lang="en-US" altLang="en-US" sz="1200" dirty="0"/>
              <a:t>is the practice of taking and storing data in a data warehouse (i.e., a large database) that supports </a:t>
            </a:r>
            <a:r>
              <a:rPr lang="en-US" altLang="en-US" sz="1200" b="1" i="1" dirty="0">
                <a:solidFill>
                  <a:srgbClr val="0033CC"/>
                </a:solidFill>
              </a:rPr>
              <a:t>decision support systems (DSS)</a:t>
            </a:r>
            <a:r>
              <a:rPr lang="en-US" altLang="en-US" sz="1200" dirty="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1200" b="1" i="1" dirty="0">
                <a:solidFill>
                  <a:srgbClr val="0033CC"/>
                </a:solidFill>
              </a:rPr>
              <a:t>Data marts </a:t>
            </a:r>
            <a:r>
              <a:rPr lang="en-US" altLang="en-US" sz="1200" dirty="0"/>
              <a:t>are smaller databases based on data warehouse data, and support DSS for specific departments or functional areas of the organization</a:t>
            </a:r>
          </a:p>
          <a:p>
            <a:pPr eaLnBrk="1" hangingPunct="1">
              <a:spcBef>
                <a:spcPct val="0"/>
              </a:spcBef>
            </a:pPr>
            <a:endParaRPr lang="en-US" alt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BCBBE-1024-43C9-A4F8-E1758BBEB71C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200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3429000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4953000"/>
            <a:ext cx="8534400" cy="6858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914CE-1B60-42B4-A4DA-EF361880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52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4737-5589-4CCB-86C2-9C0067E0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380F0-DC19-4E30-B441-6D1C2033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8-</a:t>
            </a:r>
            <a:fld id="{2DF19BA7-D106-4338-92FE-8DD408F0EF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708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63191F-87BB-4873-9E8A-CB4BB4F5FC60}"/>
              </a:ext>
            </a:extLst>
          </p:cNvPr>
          <p:cNvCxnSpPr/>
          <p:nvPr userDrawn="1"/>
        </p:nvCxnSpPr>
        <p:spPr>
          <a:xfrm>
            <a:off x="457200" y="1447800"/>
            <a:ext cx="8229600" cy="0"/>
          </a:xfrm>
          <a:prstGeom prst="line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buClr>
                <a:srgbClr val="0070C0"/>
              </a:buClr>
              <a:buSzPct val="150000"/>
              <a:buFont typeface="Wingdings" pitchFamily="2" charset="2"/>
              <a:buChar char="§"/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41B4F0A-B076-4CFE-91CF-AE692397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FBAF45-B2BB-483A-8CCE-E9184F5B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5FCEABB-3D3D-40B1-855C-18D07554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8-</a:t>
            </a:r>
            <a:fld id="{597542E8-B95A-446A-8B1E-386D978DFF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6287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AC04-AB79-4BC2-ADF7-02C5312A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424B8-00A2-48A1-837A-4548478A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FB1A2-E902-4089-85CC-479317E4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071F30-AA6E-4F73-8248-8BF1938E4E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646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08FBE5-B3BF-4136-9199-B842CFFB8B2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D7ECE2F-A17E-468B-B2DC-5EA6FE7BE4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BB2BF-6729-4E79-A3BB-60371D8BC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B7CC-4D34-4C75-B9B4-787A4B11B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F9B0F-A4D0-4397-BBAF-D191445D3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altLang="en-US"/>
              <a:t>8-</a:t>
            </a:r>
            <a:fld id="{DF0730E9-3E6D-4F3C-B8B3-D1528D96CD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1FD9B7A5-1611-436E-A6F9-DAA25643F8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16354" r="16997"/>
          <a:stretch/>
        </p:blipFill>
        <p:spPr>
          <a:xfrm>
            <a:off x="20" y="1"/>
            <a:ext cx="9143980" cy="6857999"/>
          </a:xfrm>
          <a:prstGeom prst="rect">
            <a:avLst/>
          </a:prstGeom>
          <a:effectLst>
            <a:glow rad="127000">
              <a:schemeClr val="tx1"/>
            </a:glow>
            <a:reflection blurRad="1181100" stA="29000" endPos="65000" dist="508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48B8D-7A59-42A4-A61B-B66E6063D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rgbClr val="FFFFFF"/>
                </a:solidFill>
              </a:rPr>
              <a:t>Systems Analysis &amp; Design</a:t>
            </a:r>
          </a:p>
        </p:txBody>
      </p:sp>
    </p:spTree>
    <p:extLst>
      <p:ext uri="{BB962C8B-B14F-4D97-AF65-F5344CB8AC3E}">
        <p14:creationId xmlns:p14="http://schemas.microsoft.com/office/powerpoint/2010/main" val="322664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461D517-BF69-4679-AC23-1230D340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/>
          <a:lstStyle/>
          <a:p>
            <a:r>
              <a:rPr lang="en-US" altLang="en-US" dirty="0"/>
              <a:t>Architectural Design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5DD361D-17A7-47AB-A2AB-70775187D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1A89AA1F-D5A1-401C-B049-AF4218803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600" dirty="0">
                <a:solidFill>
                  <a:srgbClr val="FF0000"/>
                </a:solidFill>
              </a:rPr>
              <a:t>Architecture design</a:t>
            </a:r>
          </a:p>
          <a:p>
            <a:pPr lvl="1" eaLnBrk="1" hangingPunct="1"/>
            <a:r>
              <a:rPr lang="en-US" altLang="en-US" sz="2600" dirty="0"/>
              <a:t>Plans for how the system will be distributed across multiple computers and what hardware, operating system software, and application software will be used for each computer.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600" dirty="0"/>
              <a:t>Key factors in architecture design</a:t>
            </a:r>
          </a:p>
          <a:p>
            <a:pPr lvl="1" eaLnBrk="1" hangingPunct="1"/>
            <a:r>
              <a:rPr lang="en-US" altLang="en-US" sz="2600" dirty="0"/>
              <a:t>Nonfunctional requirements developed early in the analysis phase play a key role in architecture design.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600" dirty="0">
                <a:solidFill>
                  <a:srgbClr val="FF0000"/>
                </a:solidFill>
              </a:rPr>
              <a:t>Hardware and software specification</a:t>
            </a:r>
          </a:p>
          <a:p>
            <a:pPr lvl="1" eaLnBrk="1" hangingPunct="1"/>
            <a:r>
              <a:rPr lang="en-US" altLang="en-US" sz="2600" dirty="0"/>
              <a:t>Defines what hardware and software are needed for the new system.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B225-8F94-43DE-9648-17E639F2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ELEMENTS OF AN ARCHITECTURE DESIGN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C6BB5BEA-E55A-48E1-953F-78755EED1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 The objective of </a:t>
            </a:r>
            <a:r>
              <a:rPr lang="en-US" altLang="en-US" b="1" dirty="0">
                <a:solidFill>
                  <a:srgbClr val="0000FF"/>
                </a:solidFill>
              </a:rPr>
              <a:t>architecture design </a:t>
            </a:r>
            <a:r>
              <a:rPr lang="en-US" altLang="en-US" dirty="0"/>
              <a:t>is to determine how the software components of the information system will be assigned to the hardware devices of the system.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34D57E22-BE69-4A37-BDB7-C6F6DE04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Architectural Components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6A686C59-BB91-461E-988C-AEFE8FB5F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/>
              <a:t>The major </a:t>
            </a:r>
            <a:r>
              <a:rPr lang="en-US" altLang="en-US" sz="2800" b="1" i="1" dirty="0">
                <a:solidFill>
                  <a:srgbClr val="0000FF"/>
                </a:solidFill>
              </a:rPr>
              <a:t>architectural components</a:t>
            </a:r>
            <a:r>
              <a:rPr lang="en-US" altLang="en-US" sz="2800" dirty="0"/>
              <a:t> of any system are the software and the hardware.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dirty="0"/>
              <a:t>All software systems can be divided into four basic </a:t>
            </a:r>
            <a:r>
              <a:rPr lang="en-US" altLang="en-US" sz="2800" b="1" i="1" dirty="0">
                <a:solidFill>
                  <a:srgbClr val="0000FF"/>
                </a:solidFill>
              </a:rPr>
              <a:t>functions</a:t>
            </a:r>
            <a:r>
              <a:rPr lang="en-US" altLang="en-US" sz="2800" dirty="0"/>
              <a:t>: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/>
              <a:t>    - </a:t>
            </a:r>
            <a:r>
              <a:rPr lang="en-US" altLang="en-US" sz="2800" i="1" dirty="0">
                <a:solidFill>
                  <a:srgbClr val="0000FF"/>
                </a:solidFill>
              </a:rPr>
              <a:t>Data storage</a:t>
            </a:r>
            <a:r>
              <a:rPr lang="en-US" altLang="en-US" sz="2800" dirty="0"/>
              <a:t>.</a:t>
            </a:r>
          </a:p>
          <a:p>
            <a:pPr marL="342900" lvl="1" indent="-342900" eaLnBrk="1" hangingPunct="1">
              <a:spcBef>
                <a:spcPct val="0"/>
              </a:spcBef>
              <a:buClr>
                <a:srgbClr val="0070C0"/>
              </a:buClr>
              <a:buSzPct val="150000"/>
              <a:buFont typeface="Arial" panose="020B0604020202020204" pitchFamily="34" charset="0"/>
              <a:buNone/>
            </a:pPr>
            <a:r>
              <a:rPr lang="en-US" altLang="en-US" dirty="0"/>
              <a:t>    - </a:t>
            </a:r>
            <a:r>
              <a:rPr lang="en-US" altLang="en-US" i="1" dirty="0">
                <a:solidFill>
                  <a:srgbClr val="0000FF"/>
                </a:solidFill>
              </a:rPr>
              <a:t>Data access logic</a:t>
            </a:r>
            <a:r>
              <a:rPr lang="en-US" altLang="en-US" dirty="0"/>
              <a:t>: the processing required to access stored data.</a:t>
            </a:r>
          </a:p>
          <a:p>
            <a:pPr marL="342900" lvl="1" indent="-342900" eaLnBrk="1" hangingPunct="1">
              <a:spcBef>
                <a:spcPct val="0"/>
              </a:spcBef>
              <a:buClr>
                <a:srgbClr val="0070C0"/>
              </a:buClr>
              <a:buSzPct val="150000"/>
              <a:buFont typeface="Arial" panose="020B0604020202020204" pitchFamily="34" charset="0"/>
              <a:buNone/>
            </a:pPr>
            <a:r>
              <a:rPr lang="en-US" altLang="en-US" dirty="0"/>
              <a:t>    - </a:t>
            </a:r>
            <a:r>
              <a:rPr lang="en-US" altLang="en-US" i="1" dirty="0">
                <a:solidFill>
                  <a:srgbClr val="0000FF"/>
                </a:solidFill>
              </a:rPr>
              <a:t>Application logic</a:t>
            </a:r>
            <a:r>
              <a:rPr lang="en-US" altLang="en-US" dirty="0"/>
              <a:t>: the logic documented in the use cases, and functional requirements.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/>
              <a:t>    - </a:t>
            </a:r>
            <a:r>
              <a:rPr lang="en-US" altLang="en-US" sz="2800" i="1" dirty="0">
                <a:solidFill>
                  <a:srgbClr val="0000FF"/>
                </a:solidFill>
              </a:rPr>
              <a:t>Presentation logic</a:t>
            </a:r>
            <a:r>
              <a:rPr lang="en-US" altLang="en-US" sz="2800" dirty="0"/>
              <a:t>: the display of information to the user and the acceptance of the user’s commands.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A2FF719-3A9E-46EB-BDAB-428552C0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C3A4C-7A6E-4718-BE4A-C436EE8EA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110000"/>
              </a:lnSpc>
              <a:spcAft>
                <a:spcPts val="0"/>
              </a:spcAft>
              <a:defRPr/>
            </a:pPr>
            <a:r>
              <a:rPr lang="en-US" dirty="0"/>
              <a:t>The three primary hardware components:</a:t>
            </a:r>
          </a:p>
          <a:p>
            <a:pPr eaLnBrk="1" fontAlgn="auto" hangingPunct="1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/>
              <a:t>  - </a:t>
            </a:r>
            <a:r>
              <a:rPr lang="en-US" b="1" i="1" dirty="0">
                <a:solidFill>
                  <a:srgbClr val="0000FF"/>
                </a:solidFill>
              </a:rPr>
              <a:t>Client computers</a:t>
            </a:r>
            <a:r>
              <a:rPr lang="en-US" dirty="0"/>
              <a:t>: Input-output devices employed by users (e.g., PCs, laptops, handheld devices, smart phones)</a:t>
            </a:r>
          </a:p>
          <a:p>
            <a:pPr eaLnBrk="1" fontAlgn="auto" hangingPunct="1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/>
              <a:t>  - </a:t>
            </a:r>
            <a:r>
              <a:rPr lang="en-US" b="1" i="1" dirty="0">
                <a:solidFill>
                  <a:srgbClr val="0000FF"/>
                </a:solidFill>
              </a:rPr>
              <a:t>Servers</a:t>
            </a:r>
            <a:r>
              <a:rPr lang="en-US" dirty="0"/>
              <a:t>: Larger multi-user computers used to store software and data.</a:t>
            </a:r>
          </a:p>
          <a:p>
            <a:pPr eaLnBrk="1" fontAlgn="auto" hangingPunct="1">
              <a:lnSpc>
                <a:spcPct val="11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dirty="0"/>
              <a:t>  - The </a:t>
            </a:r>
            <a:r>
              <a:rPr lang="en-US" b="1" i="1" dirty="0">
                <a:solidFill>
                  <a:srgbClr val="0000FF"/>
                </a:solidFill>
              </a:rPr>
              <a:t>network</a:t>
            </a:r>
            <a:r>
              <a:rPr lang="en-US" dirty="0"/>
              <a:t>: Connects the computers.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DAC13351-B956-454D-8551-011CBCB8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Client-Server Architectures</a:t>
            </a:r>
          </a:p>
        </p:txBody>
      </p:sp>
      <p:sp>
        <p:nvSpPr>
          <p:cNvPr id="12293" name="Content Placeholder 6">
            <a:extLst>
              <a:ext uri="{FF2B5EF4-FFF2-40B4-BE49-F238E27FC236}">
                <a16:creationId xmlns:a16="http://schemas.microsoft.com/office/drawing/2014/main" id="{14AD88F6-3D97-4BF0-88AE-212E8309B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200" b="1" i="1" dirty="0">
                <a:solidFill>
                  <a:srgbClr val="0000FF"/>
                </a:solidFill>
              </a:rPr>
              <a:t>Client-server architectures</a:t>
            </a:r>
            <a:r>
              <a:rPr lang="en-US" altLang="en-US" sz="3200" dirty="0"/>
              <a:t> balance the processing between client devices and one or more server devices.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dirty="0"/>
              <a:t>The client is responsible for the presentation logic, whereas the server is responsible for the data access logic and data storage.</a:t>
            </a:r>
          </a:p>
          <a:p>
            <a:pPr marL="0" indent="0" eaLnBrk="1" hangingPunct="1">
              <a:lnSpc>
                <a:spcPct val="80000"/>
              </a:lnSpc>
              <a:spcBef>
                <a:spcPct val="0"/>
              </a:spcBef>
              <a:buNone/>
            </a:pPr>
            <a:endParaRPr lang="en-US" altLang="en-US" sz="3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0A22D31-5D40-40E3-AF99-AF684031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(cont’d)</a:t>
            </a:r>
          </a:p>
        </p:txBody>
      </p:sp>
      <p:pic>
        <p:nvPicPr>
          <p:cNvPr id="13317" name="Picture 2">
            <a:extLst>
              <a:ext uri="{FF2B5EF4-FFF2-40B4-BE49-F238E27FC236}">
                <a16:creationId xmlns:a16="http://schemas.microsoft.com/office/drawing/2014/main" id="{F7B3AF35-41B9-4667-81B3-207C15E852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9763" y="1676400"/>
            <a:ext cx="8085137" cy="4495800"/>
          </a:xfr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E1D7FA0-08B8-40C7-9871-476500FBC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(cont’d)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D3E7C26F-3DC4-465F-B682-FA685AF3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Client-server architectures have four important benefits.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- </a:t>
            </a:r>
            <a:r>
              <a:rPr lang="en-US" altLang="en-US" sz="2400" b="1" i="1" dirty="0">
                <a:solidFill>
                  <a:srgbClr val="0000FF"/>
                </a:solidFill>
              </a:rPr>
              <a:t>Scalable</a:t>
            </a:r>
            <a:r>
              <a:rPr lang="en-US" altLang="en-US" sz="2400" dirty="0"/>
              <a:t> : easy to increase or decrease the storage and processing capabilities of the servers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- Can support different types of clients and servers through </a:t>
            </a:r>
            <a:r>
              <a:rPr lang="en-US" altLang="en-US" sz="2400" b="1" i="1" dirty="0">
                <a:solidFill>
                  <a:srgbClr val="0000FF"/>
                </a:solidFill>
              </a:rPr>
              <a:t>middleware </a:t>
            </a:r>
            <a:r>
              <a:rPr lang="en-US" altLang="en-US" sz="2400" dirty="0"/>
              <a:t>(type of system software designed to translate between different vendors’ software.)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- The presentation logic, the application logic, and the data processing logic can be independent.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- If a server fails, only the applications requiring that sever are affected.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 The major limitation of client-server architectures is their complexity.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FBC2-D2AA-4DBA-973C-31F0179B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Advances in Architecture Configurations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19EC70E-8975-4498-8C48-6FD7AAA6B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Advances in hardware, software, and networking have given rise to a number of new architecture options.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/>
              <a:t>    - </a:t>
            </a:r>
            <a:r>
              <a:rPr lang="en-US" altLang="en-US" b="1" i="1">
                <a:solidFill>
                  <a:srgbClr val="0000FF"/>
                </a:solidFill>
              </a:rPr>
              <a:t>Virtualization</a:t>
            </a:r>
            <a:r>
              <a:rPr lang="en-US" altLang="en-US"/>
              <a:t>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/>
              <a:t>    - </a:t>
            </a:r>
            <a:r>
              <a:rPr lang="en-US" altLang="en-US" b="1" i="1">
                <a:solidFill>
                  <a:srgbClr val="0000FF"/>
                </a:solidFill>
              </a:rPr>
              <a:t>Cloud computing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F0383998-7A3E-494B-B20B-8201DE53B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Virtualization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30FA9242-B470-41ED-A8BC-73E72AE09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200"/>
              <a:t> </a:t>
            </a:r>
            <a:r>
              <a:rPr lang="en-US" altLang="en-US" sz="3200" b="1" i="1">
                <a:solidFill>
                  <a:srgbClr val="0000FF"/>
                </a:solidFill>
              </a:rPr>
              <a:t>Virtualization</a:t>
            </a:r>
            <a:r>
              <a:rPr lang="en-US" altLang="en-US" sz="3200"/>
              <a:t> refers to a creation of a virtual device or resource, such as a server or storage device.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/>
              <a:t> </a:t>
            </a:r>
            <a:r>
              <a:rPr lang="en-US" altLang="en-US" sz="3200" b="1" i="1">
                <a:solidFill>
                  <a:srgbClr val="0000FF"/>
                </a:solidFill>
              </a:rPr>
              <a:t>Server virtualization </a:t>
            </a:r>
            <a:r>
              <a:rPr lang="en-US" altLang="en-US" sz="3200"/>
              <a:t>involves partitioning a physical server into smaller virtual servers.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/>
              <a:t> </a:t>
            </a:r>
            <a:r>
              <a:rPr lang="en-US" altLang="en-US" sz="3200" b="1" i="1">
                <a:solidFill>
                  <a:srgbClr val="0000FF"/>
                </a:solidFill>
              </a:rPr>
              <a:t>Storage virtualization </a:t>
            </a:r>
            <a:r>
              <a:rPr lang="en-US" altLang="en-US" sz="3200"/>
              <a:t>involves combining multiple network storage devices into what appears to be single storage unit.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879C90-B387-48BE-A38A-D5CEAFEA3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554" y="1166018"/>
            <a:ext cx="7258892" cy="4525963"/>
          </a:xfrm>
        </p:spPr>
      </p:pic>
    </p:spTree>
    <p:extLst>
      <p:ext uri="{BB962C8B-B14F-4D97-AF65-F5344CB8AC3E}">
        <p14:creationId xmlns:p14="http://schemas.microsoft.com/office/powerpoint/2010/main" val="236208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600A994E-C2FA-4172-A34A-94C42018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6B3FC-55F8-47AC-863E-96855E17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sz="4100" b="1" i="1" dirty="0">
                <a:solidFill>
                  <a:srgbClr val="0000FF"/>
                </a:solidFill>
              </a:rPr>
              <a:t>Cloud computing </a:t>
            </a:r>
            <a:r>
              <a:rPr lang="en-US" sz="4100" dirty="0"/>
              <a:t>– everything from computing power to computing infrastructure, applications, business processes to personal collaboration can be delivered as a service wherever and whenever needed. 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4100" dirty="0"/>
              <a:t>The “</a:t>
            </a:r>
            <a:r>
              <a:rPr lang="en-US" sz="4100" b="1" i="1" dirty="0">
                <a:solidFill>
                  <a:srgbClr val="0000FF"/>
                </a:solidFill>
              </a:rPr>
              <a:t>cloud</a:t>
            </a:r>
            <a:r>
              <a:rPr lang="en-US" sz="4100" dirty="0"/>
              <a:t>” can be defined as the set of hardware, networks, storages, devices, and interfaces that combine to deliver aspects of computing as a service.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EA1A363F-B156-4AA1-8515-E67D7E82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(cont’d)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FC9B6E3-889C-4AB9-B939-7A4C33D32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 Cloud computing can be implemented in three ways: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/>
              <a:t>  - private cloud,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/>
              <a:t>  - public cloud, and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/>
              <a:t>  - hybrid cloud.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 At this time, cloud computing is in its early stage of development.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1D82443A-C161-451B-B280-A94FA4E3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(cont’d)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2339B16-46C7-4ECC-96CC-4549B9B11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200"/>
              <a:t> Advantages of cloud computing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200"/>
              <a:t>1. The resources allocated can be increased or deceased based on demand.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200"/>
              <a:t>2. Cloud customers can obtain cloud resources in a straightforward fashion.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200"/>
              <a:t>3. Cloud services typically have standardized </a:t>
            </a:r>
            <a:r>
              <a:rPr lang="en-US" altLang="en-US" sz="3200" b="1" i="1">
                <a:solidFill>
                  <a:srgbClr val="0000FF"/>
                </a:solidFill>
              </a:rPr>
              <a:t>APIs (application program interfaces)</a:t>
            </a:r>
            <a:r>
              <a:rPr lang="en-US" altLang="en-US" sz="3200"/>
              <a:t>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200"/>
              <a:t>4. The cloud computing model enables customers to be billed for resources as they are used.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C568-133A-467A-9B0C-39D12A2F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CREATING AN ARCHITECTURE DESIGN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23039759-C610-4537-8DF2-033CA9DB9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3400"/>
              <a:t> Creating an architecture design begins with the nonfunctional requirements.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3400"/>
              <a:t>Refine the nonfunctional requirements into more detailed requirements for the selection of architecture.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3400"/>
              <a:t>The nonfunctional requirements and the architecture design are used to develop the hardware and software specification.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altLang="en-US" sz="3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41F1C7F7-D81E-4E72-8C31-D8565E56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Operational Requirements</a:t>
            </a:r>
          </a:p>
        </p:txBody>
      </p:sp>
      <p:pic>
        <p:nvPicPr>
          <p:cNvPr id="27653" name="Content Placeholder 2">
            <a:extLst>
              <a:ext uri="{FF2B5EF4-FFF2-40B4-BE49-F238E27FC236}">
                <a16:creationId xmlns:a16="http://schemas.microsoft.com/office/drawing/2014/main" id="{70FCAFE2-8401-42F0-A461-1099F609EF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600200"/>
            <a:ext cx="7342188" cy="4732338"/>
          </a:xfr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A8D09546-7CF6-4E75-A430-A39B4E2E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Performance Requirements</a:t>
            </a:r>
          </a:p>
        </p:txBody>
      </p:sp>
      <p:pic>
        <p:nvPicPr>
          <p:cNvPr id="28677" name="Picture 59" descr="Chapter_09_illus9">
            <a:extLst>
              <a:ext uri="{FF2B5EF4-FFF2-40B4-BE49-F238E27FC236}">
                <a16:creationId xmlns:a16="http://schemas.microsoft.com/office/drawing/2014/main" id="{EC67CCFB-19FE-4EF4-9AF5-7F7E030995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5" t="31061" r="10785" b="40909"/>
          <a:stretch>
            <a:fillRect/>
          </a:stretch>
        </p:blipFill>
        <p:spPr>
          <a:xfrm>
            <a:off x="533400" y="1828800"/>
            <a:ext cx="8229600" cy="4419600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13238FB1-2A3E-48D0-815C-4CEC8404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Security Requirements</a:t>
            </a:r>
          </a:p>
        </p:txBody>
      </p:sp>
      <p:pic>
        <p:nvPicPr>
          <p:cNvPr id="29701" name="Content Placeholder 2">
            <a:extLst>
              <a:ext uri="{FF2B5EF4-FFF2-40B4-BE49-F238E27FC236}">
                <a16:creationId xmlns:a16="http://schemas.microsoft.com/office/drawing/2014/main" id="{97D5D18C-161E-4EB7-B13C-4D14A339B7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6238" y="1752600"/>
            <a:ext cx="8180387" cy="4114800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74DD-C7B9-4D87-B4C6-A3BEE6E9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Cultural and Political Requirements</a:t>
            </a:r>
          </a:p>
        </p:txBody>
      </p:sp>
      <p:pic>
        <p:nvPicPr>
          <p:cNvPr id="30725" name="Picture 2" descr="fig_08_10">
            <a:extLst>
              <a:ext uri="{FF2B5EF4-FFF2-40B4-BE49-F238E27FC236}">
                <a16:creationId xmlns:a16="http://schemas.microsoft.com/office/drawing/2014/main" id="{FFEFCC1A-7C8C-418C-B8A5-7373B3D3B4C9}"/>
              </a:ext>
            </a:extLst>
          </p:cNvPr>
          <p:cNvPicPr preferRelativeResize="0"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676400"/>
            <a:ext cx="8001000" cy="441960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32313FF6-FD66-4C0B-AF79-B7F86BC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Designing the Architecture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F2EA94B4-2632-41F8-83BD-F789F03BD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200" dirty="0"/>
              <a:t>In many cases, the technical environment requirements as driven by the business requirements define the application architecture.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dirty="0"/>
              <a:t>If the technical environment requirements do not require the choice of a specific architecture, then other nonfunctional requirements become important for designing the architecture.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D745-B21D-451A-BE35-2F5EB88D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HARDWARE AND SOFTWARE SPECIFICATION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1361522C-EAA7-41D8-88C0-5FB3AC635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700"/>
              <a:t>The design phase is also the time to begin selecting and acquiring the hardware and software that will be needed for the future system.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700"/>
              <a:t>The </a:t>
            </a:r>
            <a:r>
              <a:rPr lang="en-US" altLang="en-US" sz="3700" b="1" i="1">
                <a:solidFill>
                  <a:srgbClr val="0000FF"/>
                </a:solidFill>
              </a:rPr>
              <a:t>hardware and software specification </a:t>
            </a:r>
            <a:r>
              <a:rPr lang="en-US" altLang="en-US" sz="3700"/>
              <a:t>is a document that describes what hardware and software are needed to support the application.</a:t>
            </a:r>
          </a:p>
          <a:p>
            <a:pPr eaLnBrk="1" hangingPunct="1">
              <a:spcBef>
                <a:spcPct val="0"/>
              </a:spcBef>
            </a:pPr>
            <a:endParaRPr lang="en-US" altLang="en-US" sz="3700"/>
          </a:p>
          <a:p>
            <a:pPr eaLnBrk="1" hangingPunct="1">
              <a:spcBef>
                <a:spcPct val="0"/>
              </a:spcBef>
            </a:pPr>
            <a:endParaRPr lang="en-US" altLang="en-US" sz="3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80DA7869-608A-4245-8CEA-708786C6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(cont’d)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BF54148-5D2B-4201-A438-B24B9BCBA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 </a:t>
            </a:r>
            <a:r>
              <a:rPr lang="en-US" altLang="en-US" sz="3200"/>
              <a:t>Sample hardware and software specification</a:t>
            </a:r>
          </a:p>
        </p:txBody>
      </p:sp>
      <p:pic>
        <p:nvPicPr>
          <p:cNvPr id="34822" name="Picture 2">
            <a:extLst>
              <a:ext uri="{FF2B5EF4-FFF2-40B4-BE49-F238E27FC236}">
                <a16:creationId xmlns:a16="http://schemas.microsoft.com/office/drawing/2014/main" id="{01890D87-F7D9-4DBB-8068-7A02EEE65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78581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05A08C05-1AD6-42F1-85DE-55D84DD6E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(cont’d)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1BA46115-DBCE-4BFA-A518-ABD26D10A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200"/>
              <a:t>Factors in hardware and software selection</a:t>
            </a:r>
          </a:p>
        </p:txBody>
      </p:sp>
      <p:pic>
        <p:nvPicPr>
          <p:cNvPr id="6" name="Picture 4" descr="Chapter_09_illus9">
            <a:extLst>
              <a:ext uri="{FF2B5EF4-FFF2-40B4-BE49-F238E27FC236}">
                <a16:creationId xmlns:a16="http://schemas.microsoft.com/office/drawing/2014/main" id="{DF5E7F98-3D16-405C-8E6B-9AF591E49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8" t="33333" r="20589" b="43939"/>
          <a:stretch>
            <a:fillRect/>
          </a:stretch>
        </p:blipFill>
        <p:spPr bwMode="auto">
          <a:xfrm>
            <a:off x="533400" y="2133600"/>
            <a:ext cx="8001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62A76FAA-E353-4035-B7DB-A1C76454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B823BA9F-EEF4-4A2D-B674-DC88EA6E8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Application architecture.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100"/>
              <a:t>  - </a:t>
            </a:r>
            <a:r>
              <a:rPr lang="en-US" altLang="en-US" sz="3100">
                <a:solidFill>
                  <a:srgbClr val="FF0000"/>
                </a:solidFill>
              </a:rPr>
              <a:t>Client-server architecture.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100"/>
              <a:t>  - Advances in architecture configurations: </a:t>
            </a:r>
            <a:r>
              <a:rPr lang="en-US" altLang="en-US" sz="3100">
                <a:solidFill>
                  <a:srgbClr val="FF0000"/>
                </a:solidFill>
              </a:rPr>
              <a:t>virtualization and cloud computing</a:t>
            </a:r>
            <a:r>
              <a:rPr lang="en-US" altLang="en-US" sz="310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Architecture Design.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100"/>
              <a:t>   - Nonfunctional requirements.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Hardware and software specification.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100"/>
              <a:t>   - A document that describes what hardware and software are needed to support the application.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3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A0A9-E162-4EBF-B8EE-7C7761C33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2819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User Interface Design</a:t>
            </a:r>
            <a:endParaRPr lang="en-US" sz="4000" dirty="0">
              <a:solidFill>
                <a:srgbClr val="17375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E1F1ECD-14C0-4B39-AEB9-EF5043D5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989DF27F-3E99-4ABA-B65F-CBE6B298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600" b="1" dirty="0">
                <a:solidFill>
                  <a:srgbClr val="FF0000"/>
                </a:solidFill>
              </a:rPr>
              <a:t>Interface design </a:t>
            </a:r>
            <a:r>
              <a:rPr lang="en-US" altLang="en-US" sz="3600" dirty="0"/>
              <a:t>is the process of defining how the system will interact with external entities.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600" dirty="0"/>
              <a:t>We focus on the design of </a:t>
            </a:r>
            <a:r>
              <a:rPr lang="en-US" altLang="en-US" sz="3600" b="1" i="1" dirty="0">
                <a:solidFill>
                  <a:srgbClr val="FF0000"/>
                </a:solidFill>
              </a:rPr>
              <a:t>user interfaces</a:t>
            </a:r>
            <a:r>
              <a:rPr lang="en-US" altLang="en-US" sz="3600" dirty="0">
                <a:solidFill>
                  <a:srgbClr val="FF0000"/>
                </a:solidFill>
              </a:rPr>
              <a:t> </a:t>
            </a:r>
            <a:r>
              <a:rPr lang="en-US" altLang="en-US" sz="3600" dirty="0"/>
              <a:t>– how the system will interact with the </a:t>
            </a:r>
            <a:r>
              <a:rPr lang="en-US" altLang="en-US" sz="3600" dirty="0">
                <a:solidFill>
                  <a:srgbClr val="0000FF"/>
                </a:solidFill>
              </a:rPr>
              <a:t>users</a:t>
            </a:r>
            <a:r>
              <a:rPr lang="en-US" altLang="en-US" sz="3600" dirty="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600" dirty="0"/>
              <a:t>The design of </a:t>
            </a:r>
            <a:r>
              <a:rPr lang="en-US" altLang="en-US" sz="3600" dirty="0">
                <a:solidFill>
                  <a:srgbClr val="3333FF"/>
                </a:solidFill>
              </a:rPr>
              <a:t>system interfaces</a:t>
            </a:r>
            <a:r>
              <a:rPr lang="en-US" altLang="en-US" sz="3600" dirty="0"/>
              <a:t> defines how the systems exchange information with </a:t>
            </a:r>
            <a:r>
              <a:rPr lang="en-US" altLang="en-US" sz="3600" dirty="0">
                <a:solidFill>
                  <a:srgbClr val="0000FF"/>
                </a:solidFill>
              </a:rPr>
              <a:t>other systems</a:t>
            </a:r>
            <a:r>
              <a:rPr lang="en-US" altLang="en-US" sz="3600" dirty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en-US" sz="2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E09B23A-A1F4-46D4-B20B-D22150F9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/>
              <a:t>(cont’d)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220713F9-8E36-4ADF-A63E-1D59C4015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800" dirty="0"/>
              <a:t>The user interface includes three fundamental parts: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/>
              <a:t> </a:t>
            </a:r>
            <a:r>
              <a:rPr lang="en-US" altLang="en-US" sz="2800" b="1" i="1" dirty="0"/>
              <a:t>- </a:t>
            </a:r>
            <a:r>
              <a:rPr lang="en-US" altLang="en-US" sz="2800" dirty="0"/>
              <a:t>The </a:t>
            </a:r>
            <a:r>
              <a:rPr lang="en-US" altLang="en-US" sz="2800" b="1" i="1" dirty="0">
                <a:solidFill>
                  <a:srgbClr val="FF0000"/>
                </a:solidFill>
              </a:rPr>
              <a:t>Navigation mechanism </a:t>
            </a:r>
            <a:r>
              <a:rPr lang="en-US" altLang="en-US" sz="2800" dirty="0"/>
              <a:t>- the way in which the user tells the system what to do.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/>
              <a:t> - The </a:t>
            </a:r>
            <a:r>
              <a:rPr lang="en-US" altLang="en-US" sz="2800" b="1" i="1" dirty="0">
                <a:solidFill>
                  <a:srgbClr val="FF0000"/>
                </a:solidFill>
              </a:rPr>
              <a:t>input mechanism</a:t>
            </a:r>
            <a:r>
              <a:rPr lang="en-US" altLang="en-US" sz="2800" i="1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– the way in which the system captures  information.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 dirty="0"/>
              <a:t> - The </a:t>
            </a:r>
            <a:r>
              <a:rPr lang="en-US" altLang="en-US" sz="2800" b="1" dirty="0">
                <a:solidFill>
                  <a:srgbClr val="FF0000"/>
                </a:solidFill>
              </a:rPr>
              <a:t>output mechanism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- the way in which the system provides information to the user or to other systems.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solidFill>
                  <a:srgbClr val="FF0000"/>
                </a:solidFill>
              </a:rPr>
              <a:t>Graphical user interfaces (GUI)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use windows, menus, icons, etc., and are the most common type of user interfaces.</a:t>
            </a:r>
            <a:endParaRPr lang="en-US" altLang="en-US" sz="3400" dirty="0"/>
          </a:p>
          <a:p>
            <a:pPr eaLnBrk="1" hangingPunct="1">
              <a:spcBef>
                <a:spcPct val="0"/>
              </a:spcBef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97A4-0EB5-4FFB-A4A6-5C36B23AE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>
                <a:effectLst>
                  <a:outerShdw blurRad="38100" dist="38100" dir="2700000" algn="tl">
                    <a:srgbClr val="C0C0C0"/>
                  </a:outerShdw>
                </a:effectLst>
              </a:rPr>
              <a:t>PRINCIPLES FOR USER INTERFACE DESIGN</a:t>
            </a:r>
            <a:endParaRPr lang="en-US" sz="4000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B94BD477-4F45-4B49-A295-ACE918701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User interface design is an art.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The goal is to make the interface pleasing to the eye and simple to use, while minimizing the user’s effort.</a:t>
            </a:r>
          </a:p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01AF175-A552-4446-9107-E332379A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Content Awareness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428CC70C-E3E2-4E7A-A48A-67D75132E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000" b="1" i="1">
                <a:solidFill>
                  <a:srgbClr val="0000FF"/>
                </a:solidFill>
              </a:rPr>
              <a:t>Content awareness </a:t>
            </a:r>
            <a:r>
              <a:rPr lang="en-US" altLang="en-US" sz="3000"/>
              <a:t>refers to the ability of an interface to make the user aware of the information it contains.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000"/>
              <a:t>All interfaces should have titles.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000"/>
              <a:t>Menus should show where the user are and where the user came from to get there.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000"/>
              <a:t>All area should be clear and well defined.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000"/>
              <a:t>Content awareness also applies to the </a:t>
            </a:r>
            <a:r>
              <a:rPr lang="en-US" altLang="en-US" sz="3000" i="1">
                <a:solidFill>
                  <a:srgbClr val="0000FF"/>
                </a:solidFill>
              </a:rPr>
              <a:t>fields</a:t>
            </a:r>
            <a:r>
              <a:rPr lang="en-US" altLang="en-US" sz="3000"/>
              <a:t> and </a:t>
            </a:r>
            <a:r>
              <a:rPr lang="en-US" altLang="en-US" sz="3000" i="1">
                <a:solidFill>
                  <a:srgbClr val="0000FF"/>
                </a:solidFill>
              </a:rPr>
              <a:t>field labels</a:t>
            </a:r>
            <a:r>
              <a:rPr lang="en-US" altLang="en-US" sz="3000"/>
              <a:t> within each area, and the information that a form or report contains.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F0AC615-E32B-4BC8-8CED-4A48B5DD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Aesthetics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B6CA41EF-E630-4AFA-9C36-C88C7AD80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200" b="1" i="1">
                <a:solidFill>
                  <a:srgbClr val="0000FF"/>
                </a:solidFill>
              </a:rPr>
              <a:t>Aesthetics </a:t>
            </a:r>
            <a:r>
              <a:rPr lang="en-US" altLang="en-US" sz="3200"/>
              <a:t>refers to designing interfaces that pleasing to the eye.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/>
              <a:t>Interfaces need to be functional and inviting to use.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/>
              <a:t>In general, all forms and reports need a certain amount of white space.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/>
              <a:t>The design of text is also important.</a:t>
            </a:r>
          </a:p>
          <a:p>
            <a:pPr lvl="1" eaLnBrk="1" hangingPunct="1"/>
            <a:r>
              <a:rPr lang="en-US" altLang="en-US"/>
              <a:t>Fonts and font sizes</a:t>
            </a:r>
          </a:p>
          <a:p>
            <a:pPr lvl="1" eaLnBrk="1" hangingPunct="1"/>
            <a:r>
              <a:rPr lang="en-US" altLang="en-US"/>
              <a:t>Colors and patterns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1A372FAE-33C8-4AD3-A4BF-FEC64EB86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USER INTERFACE DESIGN PROCESS</a:t>
            </a:r>
          </a:p>
        </p:txBody>
      </p:sp>
      <p:sp>
        <p:nvSpPr>
          <p:cNvPr id="23557" name="Content Placeholder 6">
            <a:extLst>
              <a:ext uri="{FF2B5EF4-FFF2-40B4-BE49-F238E27FC236}">
                <a16:creationId xmlns:a16="http://schemas.microsoft.com/office/drawing/2014/main" id="{6FE1C2CA-8DDA-4187-9C5B-2C7CB08AF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 </a:t>
            </a:r>
            <a:r>
              <a:rPr lang="en-US" altLang="en-US" sz="3200" b="1" dirty="0">
                <a:solidFill>
                  <a:srgbClr val="0000FF"/>
                </a:solidFill>
              </a:rPr>
              <a:t>User interface design </a:t>
            </a:r>
            <a:r>
              <a:rPr lang="en-US" altLang="en-US" sz="3200" dirty="0"/>
              <a:t>is a five-step process that is iterative.</a:t>
            </a:r>
          </a:p>
        </p:txBody>
      </p:sp>
      <p:pic>
        <p:nvPicPr>
          <p:cNvPr id="8" name="Picture 4" descr="Chapter_10_illus10">
            <a:extLst>
              <a:ext uri="{FF2B5EF4-FFF2-40B4-BE49-F238E27FC236}">
                <a16:creationId xmlns:a16="http://schemas.microsoft.com/office/drawing/2014/main" id="{0194F0DA-5276-4077-9F23-4F6FCB2EE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8" t="32576" r="20589" b="32576"/>
          <a:stretch>
            <a:fillRect/>
          </a:stretch>
        </p:blipFill>
        <p:spPr bwMode="auto">
          <a:xfrm>
            <a:off x="1600200" y="2864749"/>
            <a:ext cx="5791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A0A9-E162-4EBF-B8EE-7C7761C33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2819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Program Design</a:t>
            </a:r>
            <a:endParaRPr lang="en-US" sz="4000" dirty="0">
              <a:solidFill>
                <a:srgbClr val="17375E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C36596D-7352-48AD-A9A0-723C9E4624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97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0FA8-AFBB-42AC-8408-607FAC96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738B-E19D-4E43-BE5A-A866C613F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b="1" dirty="0">
                <a:solidFill>
                  <a:srgbClr val="FF0000"/>
                </a:solidFill>
              </a:rPr>
              <a:t>Program design </a:t>
            </a:r>
            <a:r>
              <a:rPr lang="en-US" altLang="en-US" sz="2400" dirty="0"/>
              <a:t>– Analysts determine what programs will be written and create instructions for the programmers.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Various implementation decisions are made about the new system (e.g., what programming language(s) will be used.)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The DFDs created during analysis are modified to show these implementation decisions, resulting in a set of </a:t>
            </a:r>
            <a:r>
              <a:rPr lang="en-US" altLang="en-US" sz="2400" b="1" i="1" dirty="0">
                <a:solidFill>
                  <a:srgbClr val="FF0000"/>
                </a:solidFill>
              </a:rPr>
              <a:t>physical data flow diagrams</a:t>
            </a:r>
            <a:r>
              <a:rPr lang="en-US" altLang="en-US" sz="2400" dirty="0"/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The analysts determine how the processes are organized, using a </a:t>
            </a:r>
            <a:r>
              <a:rPr lang="en-US" altLang="en-US" sz="2400" b="1" i="1" dirty="0">
                <a:solidFill>
                  <a:srgbClr val="FF0000"/>
                </a:solidFill>
              </a:rPr>
              <a:t>structure chart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to depict the decisions.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Detailed instructions called </a:t>
            </a:r>
            <a:r>
              <a:rPr lang="en-US" altLang="en-US" sz="2400" b="1" i="1" dirty="0">
                <a:solidFill>
                  <a:srgbClr val="FF0000"/>
                </a:solidFill>
              </a:rPr>
              <a:t>program specifications </a:t>
            </a:r>
            <a:r>
              <a:rPr lang="en-US" altLang="en-US" sz="2400" dirty="0"/>
              <a:t>are developed.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163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A0A9-E162-4EBF-B8EE-7C7761C33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2819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Data Storage Design</a:t>
            </a:r>
            <a:endParaRPr lang="en-US" sz="4000" dirty="0">
              <a:solidFill>
                <a:srgbClr val="17375E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C36596D-7352-48AD-A9A0-723C9E4624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77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09C6-46E6-4682-B1E3-C58251F9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2E3EB-E2C5-4312-B404-2BB9C02CB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The </a:t>
            </a:r>
            <a:r>
              <a:rPr lang="en-US" altLang="en-US" sz="2400" b="1" dirty="0">
                <a:solidFill>
                  <a:srgbClr val="FF0000"/>
                </a:solidFill>
              </a:rPr>
              <a:t>data storage function</a:t>
            </a:r>
            <a:r>
              <a:rPr lang="en-US" altLang="en-US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/>
              <a:t>is concerned with how data is stored and handled by programs that run the system.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dirty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 Data storage design is to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- select the data storage format;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- convert the logical data model created during analysis into a </a:t>
            </a:r>
            <a:r>
              <a:rPr lang="en-US" altLang="en-US" sz="2400" b="1" i="1" dirty="0">
                <a:solidFill>
                  <a:srgbClr val="FF0000"/>
                </a:solidFill>
              </a:rPr>
              <a:t>physical data model</a:t>
            </a:r>
            <a:r>
              <a:rPr lang="en-US" altLang="en-US" sz="2400" dirty="0"/>
              <a:t> to reflect the implementation decision;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- ensure that DFDs and ERDs balance; and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- design the selected data storage format to optimize its processing efficiency.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8617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D746FF9B-B55A-4BE4-92F9-D1C138CD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 STORAGE FORMATS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DFF9C11-8BB2-4BD7-BCD3-13AE2C01E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3200" dirty="0"/>
              <a:t>There are two types of data storage formats: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200" b="1" dirty="0">
                <a:solidFill>
                  <a:srgbClr val="6666FF"/>
                </a:solidFill>
              </a:rPr>
              <a:t>  - </a:t>
            </a:r>
            <a:r>
              <a:rPr lang="en-US" altLang="en-US" sz="3200" b="1" i="1" dirty="0">
                <a:solidFill>
                  <a:srgbClr val="0033CC"/>
                </a:solidFill>
              </a:rPr>
              <a:t>Files:</a:t>
            </a:r>
            <a:r>
              <a:rPr lang="en-US" altLang="en-US" sz="3200" dirty="0"/>
              <a:t> electronic lists of data that have been optimized to perform a particular transaction.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3200" b="1" dirty="0">
                <a:solidFill>
                  <a:srgbClr val="6666FF"/>
                </a:solidFill>
              </a:rPr>
              <a:t>  </a:t>
            </a:r>
            <a:r>
              <a:rPr lang="en-US" altLang="en-US" sz="3200" b="1" i="1" dirty="0">
                <a:solidFill>
                  <a:srgbClr val="0033CC"/>
                </a:solidFill>
              </a:rPr>
              <a:t>- Database</a:t>
            </a:r>
            <a:r>
              <a:rPr lang="en-US" altLang="en-US" sz="3200" dirty="0">
                <a:solidFill>
                  <a:srgbClr val="CC0000"/>
                </a:solidFill>
              </a:rPr>
              <a:t>:</a:t>
            </a:r>
            <a:r>
              <a:rPr lang="en-US" altLang="en-US" sz="3200" dirty="0"/>
              <a:t> a collection of groupings of information that are related to each other in some way.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3200" dirty="0"/>
              <a:t>A </a:t>
            </a:r>
            <a:r>
              <a:rPr lang="en-US" altLang="en-US" sz="3200" b="1" i="1" dirty="0">
                <a:solidFill>
                  <a:srgbClr val="0033CC"/>
                </a:solidFill>
              </a:rPr>
              <a:t>Database Management System (DBMS) </a:t>
            </a:r>
            <a:r>
              <a:rPr lang="en-US" altLang="en-US" sz="3200" dirty="0"/>
              <a:t>is software that creates and manipulates the databases.</a:t>
            </a:r>
          </a:p>
          <a:p>
            <a:pPr eaLnBrk="1" hangingPunct="1">
              <a:spcBef>
                <a:spcPct val="0"/>
              </a:spcBef>
            </a:pPr>
            <a:endParaRPr lang="en-US" altLang="en-US" sz="3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ED22F51-9436-41EA-95C0-2ADFD9EF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Databases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6C5EFACF-E224-41EF-B2D7-3AFCB9E4A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dirty="0"/>
              <a:t>There are many types of databases: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b="1" dirty="0">
                <a:solidFill>
                  <a:srgbClr val="6666FF"/>
                </a:solidFill>
              </a:rPr>
              <a:t> </a:t>
            </a:r>
            <a:r>
              <a:rPr lang="en-US" altLang="en-US" dirty="0"/>
              <a:t>- Legacy database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dirty="0"/>
              <a:t> - Relational database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dirty="0"/>
              <a:t> - Object database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dirty="0"/>
              <a:t> - Multidimensional database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1786</Words>
  <Application>Microsoft Office PowerPoint</Application>
  <PresentationFormat>On-screen Show (4:3)</PresentationFormat>
  <Paragraphs>167</Paragraphs>
  <Slides>38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Wingdings</vt:lpstr>
      <vt:lpstr>Office Theme</vt:lpstr>
      <vt:lpstr>Systems Analysis &amp; Design</vt:lpstr>
      <vt:lpstr>Architectural Design </vt:lpstr>
      <vt:lpstr>INTRODUCTION</vt:lpstr>
      <vt:lpstr>ELEMENTS OF AN ARCHITECTURE DESIGN</vt:lpstr>
      <vt:lpstr>Architectural Components</vt:lpstr>
      <vt:lpstr>(cont’d)</vt:lpstr>
      <vt:lpstr>Client-Server Architectures</vt:lpstr>
      <vt:lpstr>(cont’d)</vt:lpstr>
      <vt:lpstr>(cont’d)</vt:lpstr>
      <vt:lpstr>Advances in Architecture Configurations</vt:lpstr>
      <vt:lpstr>Virtualization</vt:lpstr>
      <vt:lpstr>PowerPoint Presentation</vt:lpstr>
      <vt:lpstr>Cloud Computing</vt:lpstr>
      <vt:lpstr>(cont’d)</vt:lpstr>
      <vt:lpstr>(cont’d)</vt:lpstr>
      <vt:lpstr>CREATING AN ARCHITECTURE DESIGN</vt:lpstr>
      <vt:lpstr>Operational Requirements</vt:lpstr>
      <vt:lpstr>Performance Requirements</vt:lpstr>
      <vt:lpstr>Security Requirements</vt:lpstr>
      <vt:lpstr>Cultural and Political Requirements</vt:lpstr>
      <vt:lpstr>Designing the Architecture</vt:lpstr>
      <vt:lpstr>HARDWARE AND SOFTWARE SPECIFICATION</vt:lpstr>
      <vt:lpstr>(cont’d)</vt:lpstr>
      <vt:lpstr>(cont’d)</vt:lpstr>
      <vt:lpstr>SUMMARY</vt:lpstr>
      <vt:lpstr>User Interface Design</vt:lpstr>
      <vt:lpstr>INTRODUCTION</vt:lpstr>
      <vt:lpstr>(cont’d)</vt:lpstr>
      <vt:lpstr>PRINCIPLES FOR USER INTERFACE DESIGN</vt:lpstr>
      <vt:lpstr>Content Awareness</vt:lpstr>
      <vt:lpstr>Aesthetics</vt:lpstr>
      <vt:lpstr>USER INTERFACE DESIGN PROCESS</vt:lpstr>
      <vt:lpstr>Program Design</vt:lpstr>
      <vt:lpstr>Program Design</vt:lpstr>
      <vt:lpstr>Data Storage Design</vt:lpstr>
      <vt:lpstr>Data Storage Design</vt:lpstr>
      <vt:lpstr>DATA STORAGE FORMATS</vt:lpstr>
      <vt:lpstr>Databases</vt:lpstr>
    </vt:vector>
  </TitlesOfParts>
  <Company>University of Massachusetts Dartmouth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 5th Edition</dc:title>
  <dc:creator>Windows User</dc:creator>
  <cp:lastModifiedBy>Ms. K Anuradha</cp:lastModifiedBy>
  <cp:revision>41</cp:revision>
  <dcterms:created xsi:type="dcterms:W3CDTF">2011-06-16T14:45:20Z</dcterms:created>
  <dcterms:modified xsi:type="dcterms:W3CDTF">2023-10-26T12:08:55Z</dcterms:modified>
</cp:coreProperties>
</file>