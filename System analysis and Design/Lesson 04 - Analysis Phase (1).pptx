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44"/>
  </p:notesMasterIdLst>
  <p:sldIdLst>
    <p:sldId id="346" r:id="rId2"/>
    <p:sldId id="256" r:id="rId3"/>
    <p:sldId id="264" r:id="rId4"/>
    <p:sldId id="265" r:id="rId5"/>
    <p:sldId id="266" r:id="rId6"/>
    <p:sldId id="267" r:id="rId7"/>
    <p:sldId id="268" r:id="rId8"/>
    <p:sldId id="269" r:id="rId9"/>
    <p:sldId id="270" r:id="rId10"/>
    <p:sldId id="271" r:id="rId11"/>
    <p:sldId id="349" r:id="rId12"/>
    <p:sldId id="350" r:id="rId13"/>
    <p:sldId id="304" r:id="rId14"/>
    <p:sldId id="272" r:id="rId15"/>
    <p:sldId id="273" r:id="rId16"/>
    <p:sldId id="347" r:id="rId17"/>
    <p:sldId id="274" r:id="rId18"/>
    <p:sldId id="275" r:id="rId19"/>
    <p:sldId id="276" r:id="rId20"/>
    <p:sldId id="277" r:id="rId21"/>
    <p:sldId id="278" r:id="rId22"/>
    <p:sldId id="279" r:id="rId23"/>
    <p:sldId id="280" r:id="rId24"/>
    <p:sldId id="281" r:id="rId25"/>
    <p:sldId id="282" r:id="rId26"/>
    <p:sldId id="305" r:id="rId27"/>
    <p:sldId id="288" r:id="rId28"/>
    <p:sldId id="289" r:id="rId29"/>
    <p:sldId id="290" r:id="rId30"/>
    <p:sldId id="291" r:id="rId31"/>
    <p:sldId id="311" r:id="rId32"/>
    <p:sldId id="292" r:id="rId33"/>
    <p:sldId id="293" r:id="rId34"/>
    <p:sldId id="294" r:id="rId35"/>
    <p:sldId id="295" r:id="rId36"/>
    <p:sldId id="296" r:id="rId37"/>
    <p:sldId id="297" r:id="rId38"/>
    <p:sldId id="298" r:id="rId39"/>
    <p:sldId id="299" r:id="rId40"/>
    <p:sldId id="300" r:id="rId41"/>
    <p:sldId id="302" r:id="rId42"/>
    <p:sldId id="303"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autoAdjust="0"/>
    <p:restoredTop sz="93447" autoAdjust="0"/>
  </p:normalViewPr>
  <p:slideViewPr>
    <p:cSldViewPr>
      <p:cViewPr varScale="1">
        <p:scale>
          <a:sx n="63" d="100"/>
          <a:sy n="63" d="100"/>
        </p:scale>
        <p:origin x="1324"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63408C-E348-4DF2-9B86-ABCADF8328E7}" type="datetimeFigureOut">
              <a:rPr lang="en-US" smtClean="0"/>
              <a:pPr/>
              <a:t>7/15/2026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AC84DD-0768-48F1-9378-1364AD2B72D3}" type="slidenum">
              <a:rPr lang="en-US" smtClean="0"/>
              <a:pPr/>
              <a:t>‹#›</a:t>
            </a:fld>
            <a:endParaRPr lang="en-US"/>
          </a:p>
        </p:txBody>
      </p:sp>
    </p:spTree>
    <p:extLst>
      <p:ext uri="{BB962C8B-B14F-4D97-AF65-F5344CB8AC3E}">
        <p14:creationId xmlns:p14="http://schemas.microsoft.com/office/powerpoint/2010/main" val="2960456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AC84DD-0768-48F1-9378-1364AD2B72D3}" type="slidenum">
              <a:rPr lang="en-US" smtClean="0"/>
              <a:pPr/>
              <a:t>1</a:t>
            </a:fld>
            <a:endParaRPr lang="en-US"/>
          </a:p>
        </p:txBody>
      </p:sp>
    </p:spTree>
    <p:extLst>
      <p:ext uri="{BB962C8B-B14F-4D97-AF65-F5344CB8AC3E}">
        <p14:creationId xmlns:p14="http://schemas.microsoft.com/office/powerpoint/2010/main" val="3771596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1 – if you do not have a current system there is no step like this.</a:t>
            </a:r>
          </a:p>
        </p:txBody>
      </p:sp>
      <p:sp>
        <p:nvSpPr>
          <p:cNvPr id="4" name="Slide Number Placeholder 3"/>
          <p:cNvSpPr>
            <a:spLocks noGrp="1"/>
          </p:cNvSpPr>
          <p:nvPr>
            <p:ph type="sldNum" sz="quarter" idx="5"/>
          </p:nvPr>
        </p:nvSpPr>
        <p:spPr/>
        <p:txBody>
          <a:bodyPr/>
          <a:lstStyle/>
          <a:p>
            <a:fld id="{6BAC84DD-0768-48F1-9378-1364AD2B72D3}" type="slidenum">
              <a:rPr lang="en-US" smtClean="0"/>
              <a:pPr/>
              <a:t>4</a:t>
            </a:fld>
            <a:endParaRPr lang="en-US"/>
          </a:p>
        </p:txBody>
      </p:sp>
    </p:spTree>
    <p:extLst>
      <p:ext uri="{BB962C8B-B14F-4D97-AF65-F5344CB8AC3E}">
        <p14:creationId xmlns:p14="http://schemas.microsoft.com/office/powerpoint/2010/main" val="3710104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AC84DD-0768-48F1-9378-1364AD2B72D3}" type="slidenum">
              <a:rPr lang="en-US" smtClean="0"/>
              <a:pPr/>
              <a:t>7</a:t>
            </a:fld>
            <a:endParaRPr lang="en-US"/>
          </a:p>
        </p:txBody>
      </p:sp>
    </p:spTree>
    <p:extLst>
      <p:ext uri="{BB962C8B-B14F-4D97-AF65-F5344CB8AC3E}">
        <p14:creationId xmlns:p14="http://schemas.microsoft.com/office/powerpoint/2010/main" val="2568581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solidFill>
                  <a:srgbClr val="231F20"/>
                </a:solidFill>
                <a:latin typeface="Times-Roman"/>
              </a:rPr>
              <a:t>-feasibility study) -assessing if the system is useful to the business</a:t>
            </a:r>
          </a:p>
          <a:p>
            <a:r>
              <a:rPr lang="en-US" sz="2400" dirty="0"/>
              <a:t>-Requirements elicitation and analysis -</a:t>
            </a:r>
            <a:r>
              <a:rPr lang="en-US" sz="1200" b="0" i="0" u="none" strike="noStrike" baseline="0" dirty="0">
                <a:solidFill>
                  <a:srgbClr val="231F20"/>
                </a:solidFill>
                <a:latin typeface="Times-Roman"/>
              </a:rPr>
              <a:t>discovering requirements</a:t>
            </a:r>
            <a:endParaRPr lang="en-US" sz="2400" dirty="0"/>
          </a:p>
          <a:p>
            <a:pPr algn="l"/>
            <a:r>
              <a:rPr lang="en-US" sz="2400" dirty="0"/>
              <a:t>-Requirements Specification-</a:t>
            </a:r>
            <a:r>
              <a:rPr lang="en-US" sz="1200" b="0" i="0" u="none" strike="noStrike" baseline="0" dirty="0">
                <a:solidFill>
                  <a:srgbClr val="231F20"/>
                </a:solidFill>
                <a:latin typeface="Times-Roman"/>
              </a:rPr>
              <a:t>converting these requirements into some standard form</a:t>
            </a:r>
            <a:endParaRPr lang="en-US" sz="2400" dirty="0"/>
          </a:p>
          <a:p>
            <a:pPr algn="l"/>
            <a:r>
              <a:rPr lang="en-US" sz="2400" dirty="0"/>
              <a:t>-Requirements validation - </a:t>
            </a:r>
            <a:r>
              <a:rPr lang="en-US" sz="1200" b="0" i="0" u="none" strike="noStrike" baseline="0" dirty="0">
                <a:solidFill>
                  <a:srgbClr val="231F20"/>
                </a:solidFill>
                <a:latin typeface="Times-Roman"/>
              </a:rPr>
              <a:t>checking that the requirements actually define the system that the customer wants</a:t>
            </a:r>
            <a:endParaRPr lang="en-US" sz="2400" dirty="0"/>
          </a:p>
          <a:p>
            <a:endParaRPr lang="en-US" dirty="0"/>
          </a:p>
        </p:txBody>
      </p:sp>
      <p:sp>
        <p:nvSpPr>
          <p:cNvPr id="4" name="Slide Number Placeholder 3"/>
          <p:cNvSpPr>
            <a:spLocks noGrp="1"/>
          </p:cNvSpPr>
          <p:nvPr>
            <p:ph type="sldNum" sz="quarter" idx="5"/>
          </p:nvPr>
        </p:nvSpPr>
        <p:spPr/>
        <p:txBody>
          <a:bodyPr/>
          <a:lstStyle/>
          <a:p>
            <a:fld id="{6BAC84DD-0768-48F1-9378-1364AD2B72D3}" type="slidenum">
              <a:rPr lang="en-US" smtClean="0"/>
              <a:pPr/>
              <a:t>10</a:t>
            </a:fld>
            <a:endParaRPr lang="en-US"/>
          </a:p>
        </p:txBody>
      </p:sp>
    </p:spTree>
    <p:extLst>
      <p:ext uri="{BB962C8B-B14F-4D97-AF65-F5344CB8AC3E}">
        <p14:creationId xmlns:p14="http://schemas.microsoft.com/office/powerpoint/2010/main" val="3741695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202124"/>
                </a:solidFill>
                <a:effectLst/>
                <a:latin typeface="arial" panose="020B0604020202020204" pitchFamily="34" charset="0"/>
              </a:rPr>
              <a:t>to get or produce something, especially information or a reaction</a:t>
            </a:r>
            <a:r>
              <a:rPr lang="en-US" b="0" i="0" dirty="0">
                <a:solidFill>
                  <a:srgbClr val="202124"/>
                </a:solidFill>
                <a:effectLst/>
                <a:latin typeface="arial" panose="020B0604020202020204" pitchFamily="34" charset="0"/>
              </a:rPr>
              <a:t>:</a:t>
            </a:r>
            <a:endParaRPr lang="en-US" dirty="0"/>
          </a:p>
        </p:txBody>
      </p:sp>
      <p:sp>
        <p:nvSpPr>
          <p:cNvPr id="4" name="Slide Number Placeholder 3"/>
          <p:cNvSpPr>
            <a:spLocks noGrp="1"/>
          </p:cNvSpPr>
          <p:nvPr>
            <p:ph type="sldNum" sz="quarter" idx="5"/>
          </p:nvPr>
        </p:nvSpPr>
        <p:spPr/>
        <p:txBody>
          <a:bodyPr/>
          <a:lstStyle/>
          <a:p>
            <a:fld id="{6BAC84DD-0768-48F1-9378-1364AD2B72D3}" type="slidenum">
              <a:rPr lang="en-US" smtClean="0"/>
              <a:pPr/>
              <a:t>16</a:t>
            </a:fld>
            <a:endParaRPr lang="en-US"/>
          </a:p>
        </p:txBody>
      </p:sp>
    </p:spTree>
    <p:extLst>
      <p:ext uri="{BB962C8B-B14F-4D97-AF65-F5344CB8AC3E}">
        <p14:creationId xmlns:p14="http://schemas.microsoft.com/office/powerpoint/2010/main" val="3253437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AC84DD-0768-48F1-9378-1364AD2B72D3}" type="slidenum">
              <a:rPr lang="en-US" smtClean="0"/>
              <a:pPr/>
              <a:t>18</a:t>
            </a:fld>
            <a:endParaRPr lang="en-US"/>
          </a:p>
        </p:txBody>
      </p:sp>
    </p:spTree>
    <p:extLst>
      <p:ext uri="{BB962C8B-B14F-4D97-AF65-F5344CB8AC3E}">
        <p14:creationId xmlns:p14="http://schemas.microsoft.com/office/powerpoint/2010/main" val="3952221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to search about JAD.</a:t>
            </a:r>
          </a:p>
        </p:txBody>
      </p:sp>
      <p:sp>
        <p:nvSpPr>
          <p:cNvPr id="4" name="Slide Number Placeholder 3"/>
          <p:cNvSpPr>
            <a:spLocks noGrp="1"/>
          </p:cNvSpPr>
          <p:nvPr>
            <p:ph type="sldNum" sz="quarter" idx="5"/>
          </p:nvPr>
        </p:nvSpPr>
        <p:spPr/>
        <p:txBody>
          <a:bodyPr/>
          <a:lstStyle/>
          <a:p>
            <a:fld id="{6BAC84DD-0768-48F1-9378-1364AD2B72D3}" type="slidenum">
              <a:rPr lang="en-US" smtClean="0"/>
              <a:pPr/>
              <a:t>30</a:t>
            </a:fld>
            <a:endParaRPr lang="en-US"/>
          </a:p>
        </p:txBody>
      </p:sp>
    </p:spTree>
    <p:extLst>
      <p:ext uri="{BB962C8B-B14F-4D97-AF65-F5344CB8AC3E}">
        <p14:creationId xmlns:p14="http://schemas.microsoft.com/office/powerpoint/2010/main" val="638568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is that breadth is the extent or measure of how </a:t>
            </a:r>
            <a:r>
              <a:rPr lang="en-US" b="1" i="0" dirty="0">
                <a:solidFill>
                  <a:srgbClr val="202124"/>
                </a:solidFill>
                <a:effectLst/>
                <a:latin typeface="arial" panose="020B0604020202020204" pitchFamily="34" charset="0"/>
              </a:rPr>
              <a:t>broad or wide something</a:t>
            </a:r>
            <a:r>
              <a:rPr lang="en-US" b="0" i="0" dirty="0">
                <a:solidFill>
                  <a:srgbClr val="202124"/>
                </a:solidFill>
                <a:effectLst/>
                <a:latin typeface="arial" panose="020B0604020202020204" pitchFamily="34" charset="0"/>
              </a:rPr>
              <a:t> is while depth is the vertical distance below a surface; the degree to which something is deep.</a:t>
            </a:r>
            <a:endParaRPr lang="en-US" dirty="0"/>
          </a:p>
        </p:txBody>
      </p:sp>
      <p:sp>
        <p:nvSpPr>
          <p:cNvPr id="4" name="Slide Number Placeholder 3"/>
          <p:cNvSpPr>
            <a:spLocks noGrp="1"/>
          </p:cNvSpPr>
          <p:nvPr>
            <p:ph type="sldNum" sz="quarter" idx="5"/>
          </p:nvPr>
        </p:nvSpPr>
        <p:spPr/>
        <p:txBody>
          <a:bodyPr/>
          <a:lstStyle/>
          <a:p>
            <a:fld id="{6BAC84DD-0768-48F1-9378-1364AD2B72D3}" type="slidenum">
              <a:rPr lang="en-US" smtClean="0"/>
              <a:pPr/>
              <a:t>31</a:t>
            </a:fld>
            <a:endParaRPr lang="en-US"/>
          </a:p>
        </p:txBody>
      </p:sp>
    </p:spTree>
    <p:extLst>
      <p:ext uri="{BB962C8B-B14F-4D97-AF65-F5344CB8AC3E}">
        <p14:creationId xmlns:p14="http://schemas.microsoft.com/office/powerpoint/2010/main" val="4027866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lgn="l"/>
            <a:r>
              <a:rPr lang="en-US" sz="1800" b="0" i="1" u="none" strike="noStrike" baseline="0" dirty="0">
                <a:solidFill>
                  <a:srgbClr val="231F20"/>
                </a:solidFill>
                <a:latin typeface="TimesNewRomanPS-Italic"/>
              </a:rPr>
              <a:t>Benchmarking </a:t>
            </a:r>
            <a:r>
              <a:rPr lang="en-US" sz="1800" b="0" i="0" u="none" strike="noStrike" baseline="0" dirty="0">
                <a:solidFill>
                  <a:srgbClr val="231F20"/>
                </a:solidFill>
                <a:latin typeface="TimesNewRomanPS"/>
              </a:rPr>
              <a:t>refers to studying how other organizations perform a business</a:t>
            </a:r>
          </a:p>
          <a:p>
            <a:pPr algn="l"/>
            <a:r>
              <a:rPr lang="en-US" sz="1800" b="0" i="0" u="none" strike="noStrike" baseline="0" dirty="0">
                <a:solidFill>
                  <a:srgbClr val="231F20"/>
                </a:solidFill>
                <a:latin typeface="TimesNewRomanPS"/>
              </a:rPr>
              <a:t>process in order to learn how your organization can do something better. Benchmarking</a:t>
            </a:r>
          </a:p>
          <a:p>
            <a:pPr algn="l"/>
            <a:r>
              <a:rPr lang="en-US" sz="1800" b="0" i="0" u="none" strike="noStrike" baseline="0" dirty="0">
                <a:solidFill>
                  <a:srgbClr val="231F20"/>
                </a:solidFill>
                <a:latin typeface="TimesNewRomanPS"/>
              </a:rPr>
              <a:t>helps the organization by introducing ideas that employees may never have</a:t>
            </a:r>
          </a:p>
          <a:p>
            <a:pPr algn="l"/>
            <a:r>
              <a:rPr lang="en-US" sz="1800" b="0" i="0" u="none" strike="noStrike" baseline="0" dirty="0">
                <a:solidFill>
                  <a:srgbClr val="231F20"/>
                </a:solidFill>
                <a:latin typeface="TimesNewRomanPS"/>
              </a:rPr>
              <a:t>considered, but that have the potential to add value.</a:t>
            </a:r>
          </a:p>
          <a:p>
            <a:pPr algn="l"/>
            <a:endParaRPr lang="en-US" sz="1800" b="0" i="0" u="none" strike="noStrike" baseline="0" dirty="0">
              <a:solidFill>
                <a:srgbClr val="231F20"/>
              </a:solidFill>
              <a:latin typeface="TimesNewRomanPS"/>
            </a:endParaRPr>
          </a:p>
          <a:p>
            <a:pPr algn="l"/>
            <a:r>
              <a:rPr lang="en-US" sz="1800" b="0" i="0" u="none" strike="noStrike" baseline="0" dirty="0">
                <a:solidFill>
                  <a:srgbClr val="231F20"/>
                </a:solidFill>
                <a:latin typeface="TimesNewRomanPS"/>
              </a:rPr>
              <a:t>For example, suppose that the team is developing a Web site for a car dealer. The project sponsor, key managers, and key team members would likely visit the Web sites of competitors, those of others in the car industry (e.g., manufacturers,</a:t>
            </a:r>
          </a:p>
          <a:p>
            <a:pPr algn="l"/>
            <a:r>
              <a:rPr lang="en-US" sz="1800" b="0" i="0" u="none" strike="noStrike" baseline="0" dirty="0">
                <a:solidFill>
                  <a:srgbClr val="231F20"/>
                </a:solidFill>
                <a:latin typeface="TimesNewRomanPS"/>
              </a:rPr>
              <a:t>accessories suppliers), and those of other industries that have won awards for their Web sites</a:t>
            </a:r>
            <a:endParaRPr lang="en-US" dirty="0"/>
          </a:p>
        </p:txBody>
      </p:sp>
      <p:sp>
        <p:nvSpPr>
          <p:cNvPr id="4" name="Slide Number Placeholder 3"/>
          <p:cNvSpPr>
            <a:spLocks noGrp="1"/>
          </p:cNvSpPr>
          <p:nvPr>
            <p:ph type="sldNum" sz="quarter" idx="5"/>
          </p:nvPr>
        </p:nvSpPr>
        <p:spPr/>
        <p:txBody>
          <a:bodyPr/>
          <a:lstStyle/>
          <a:p>
            <a:fld id="{6BAC84DD-0768-48F1-9378-1364AD2B72D3}" type="slidenum">
              <a:rPr lang="en-US" smtClean="0"/>
              <a:pPr/>
              <a:t>37</a:t>
            </a:fld>
            <a:endParaRPr lang="en-US"/>
          </a:p>
        </p:txBody>
      </p:sp>
    </p:spTree>
    <p:extLst>
      <p:ext uri="{BB962C8B-B14F-4D97-AF65-F5344CB8AC3E}">
        <p14:creationId xmlns:p14="http://schemas.microsoft.com/office/powerpoint/2010/main" val="3167497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AC84DD-0768-48F1-9378-1364AD2B72D3}" type="slidenum">
              <a:rPr lang="en-US" smtClean="0"/>
              <a:pPr/>
              <a:t>40</a:t>
            </a:fld>
            <a:endParaRPr lang="en-US"/>
          </a:p>
        </p:txBody>
      </p:sp>
    </p:spTree>
    <p:extLst>
      <p:ext uri="{BB962C8B-B14F-4D97-AF65-F5344CB8AC3E}">
        <p14:creationId xmlns:p14="http://schemas.microsoft.com/office/powerpoint/2010/main" val="2401498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AC84DD-0768-48F1-9378-1364AD2B72D3}" type="slidenum">
              <a:rPr lang="en-US" smtClean="0"/>
              <a:pPr/>
              <a:t>41</a:t>
            </a:fld>
            <a:endParaRPr lang="en-US"/>
          </a:p>
        </p:txBody>
      </p:sp>
    </p:spTree>
    <p:extLst>
      <p:ext uri="{BB962C8B-B14F-4D97-AF65-F5344CB8AC3E}">
        <p14:creationId xmlns:p14="http://schemas.microsoft.com/office/powerpoint/2010/main" val="3954587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838200"/>
            <a:ext cx="7772400" cy="3429000"/>
          </a:xfrm>
        </p:spPr>
        <p:txBody>
          <a:bodyPr/>
          <a:lstStyle>
            <a:lvl1pPr>
              <a:defRPr sz="3200" b="1"/>
            </a:lvl1pPr>
          </a:lstStyle>
          <a:p>
            <a:r>
              <a:rPr lang="en-US" sz="4800" b="1" dirty="0">
                <a:effectLst>
                  <a:outerShdw blurRad="38100" dist="38100" dir="2700000" algn="tl">
                    <a:srgbClr val="000000">
                      <a:alpha val="43137"/>
                    </a:srgbClr>
                  </a:outerShdw>
                </a:effectLst>
              </a:rPr>
              <a:t>Systems Analysis and Design</a:t>
            </a:r>
            <a:br>
              <a:rPr lang="en-US" dirty="0">
                <a:effectLst>
                  <a:outerShdw blurRad="38100" dist="38100" dir="2700000" algn="tl">
                    <a:srgbClr val="C0C0C0"/>
                  </a:outerShdw>
                </a:effectLst>
              </a:rPr>
            </a:br>
            <a:r>
              <a:rPr lang="en-US" sz="3600" dirty="0">
                <a:effectLst>
                  <a:outerShdw blurRad="38100" dist="38100" dir="2700000" algn="tl">
                    <a:srgbClr val="C0C0C0"/>
                  </a:outerShdw>
                </a:effectLst>
              </a:rPr>
              <a:t>5th Edition</a:t>
            </a:r>
            <a:br>
              <a:rPr lang="en-US" sz="3600" dirty="0">
                <a:effectLst>
                  <a:outerShdw blurRad="38100" dist="38100" dir="2700000" algn="tl">
                    <a:srgbClr val="C0C0C0"/>
                  </a:outerShdw>
                </a:effectLst>
              </a:rPr>
            </a:br>
            <a:br>
              <a:rPr lang="en-US" sz="3600" dirty="0">
                <a:effectLst>
                  <a:outerShdw blurRad="38100" dist="38100" dir="2700000" algn="tl">
                    <a:srgbClr val="C0C0C0"/>
                  </a:outerShdw>
                </a:effectLst>
              </a:rPr>
            </a:br>
            <a:br>
              <a:rPr lang="en-US" sz="3600" dirty="0">
                <a:effectLst>
                  <a:outerShdw blurRad="38100" dist="38100" dir="2700000" algn="tl">
                    <a:srgbClr val="C0C0C0"/>
                  </a:outerShdw>
                </a:effectLst>
              </a:rPr>
            </a:br>
            <a:r>
              <a:rPr lang="en-US" sz="3600" dirty="0">
                <a:effectLst>
                  <a:outerShdw blurRad="38100" dist="38100" dir="2700000" algn="tl">
                    <a:srgbClr val="C0C0C0"/>
                  </a:outerShdw>
                </a:effectLst>
              </a:rPr>
              <a:t>Chapter</a:t>
            </a:r>
            <a:br>
              <a:rPr lang="en-US" sz="3600" dirty="0">
                <a:effectLst>
                  <a:outerShdw blurRad="38100" dist="38100" dir="2700000" algn="tl">
                    <a:srgbClr val="C0C0C0"/>
                  </a:outerShdw>
                </a:effectLst>
              </a:rPr>
            </a:br>
            <a:endParaRPr lang="en-US" dirty="0"/>
          </a:p>
        </p:txBody>
      </p:sp>
      <p:sp>
        <p:nvSpPr>
          <p:cNvPr id="3" name="Subtitle 2"/>
          <p:cNvSpPr>
            <a:spLocks noGrp="1"/>
          </p:cNvSpPr>
          <p:nvPr>
            <p:ph type="subTitle" idx="1" hasCustomPrompt="1"/>
          </p:nvPr>
        </p:nvSpPr>
        <p:spPr>
          <a:xfrm>
            <a:off x="304800" y="4953000"/>
            <a:ext cx="8534400" cy="685800"/>
          </a:xfrm>
        </p:spPr>
        <p:txBody>
          <a:bodyPr/>
          <a:lstStyle>
            <a:lvl1pPr marL="0" indent="0" algn="ctr">
              <a:buNone/>
              <a:defRPr sz="32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z="2800" b="1" dirty="0"/>
              <a:t>Alan Dennis, Barbara Haley Wixom, and Roberta Roth</a:t>
            </a:r>
            <a:endParaRPr lang="en-US" dirty="0"/>
          </a:p>
        </p:txBody>
      </p:sp>
      <p:sp>
        <p:nvSpPr>
          <p:cNvPr id="4" name="Date Placeholder 3"/>
          <p:cNvSpPr>
            <a:spLocks noGrp="1"/>
          </p:cNvSpPr>
          <p:nvPr>
            <p:ph type="dt" sz="half" idx="10"/>
          </p:nvPr>
        </p:nvSpPr>
        <p:spPr>
          <a:xfrm>
            <a:off x="457200" y="6356350"/>
            <a:ext cx="152400" cy="365125"/>
          </a:xfrm>
        </p:spPr>
        <p:txBody>
          <a:bodyPr/>
          <a:lstStyle/>
          <a:p>
            <a:r>
              <a:rPr lang="en-US"/>
              <a:t> </a:t>
            </a:r>
            <a:endParaRPr lang="en-US" dirty="0"/>
          </a:p>
        </p:txBody>
      </p:sp>
      <p:sp>
        <p:nvSpPr>
          <p:cNvPr id="5" name="Footer Placeholder 4"/>
          <p:cNvSpPr>
            <a:spLocks noGrp="1"/>
          </p:cNvSpPr>
          <p:nvPr>
            <p:ph type="ftr" sz="quarter" idx="11"/>
          </p:nvPr>
        </p:nvSpPr>
        <p:spPr/>
        <p:txBody>
          <a:bodyPr/>
          <a:lstStyle/>
          <a:p>
            <a:r>
              <a:rPr lang="en-US"/>
              <a:t>© Copyright 2011 John Wiley &amp; Sons, Inc.</a:t>
            </a:r>
          </a:p>
        </p:txBody>
      </p:sp>
      <p:sp>
        <p:nvSpPr>
          <p:cNvPr id="6" name="Slide Number Placeholder 5"/>
          <p:cNvSpPr>
            <a:spLocks noGrp="1"/>
          </p:cNvSpPr>
          <p:nvPr>
            <p:ph type="sldNum" sz="quarter" idx="12"/>
          </p:nvPr>
        </p:nvSpPr>
        <p:spPr/>
        <p:txBody>
          <a:bodyPr/>
          <a:lstStyle/>
          <a:p>
            <a:r>
              <a:rPr lang="en-US" dirty="0"/>
              <a:t>1-</a:t>
            </a:r>
            <a:fld id="{7597BC71-976C-43F9-8091-5829990FA63C}"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hasCustomPrompt="1"/>
          </p:nvPr>
        </p:nvSpPr>
        <p:spPr/>
        <p:txBody>
          <a:bodyPr/>
          <a:lstStyle>
            <a:lvl1pPr>
              <a:spcBef>
                <a:spcPts val="0"/>
              </a:spcBef>
              <a:buClr>
                <a:srgbClr val="0070C0"/>
              </a:buClr>
              <a:buSzPct val="150000"/>
              <a:buFont typeface="Wingdings" pitchFamily="2" charset="2"/>
              <a:buChar char="§"/>
              <a:defRPr sz="4000"/>
            </a:lvl1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t> </a:t>
            </a:r>
          </a:p>
        </p:txBody>
      </p:sp>
      <p:sp>
        <p:nvSpPr>
          <p:cNvPr id="5" name="Footer Placeholder 4"/>
          <p:cNvSpPr>
            <a:spLocks noGrp="1"/>
          </p:cNvSpPr>
          <p:nvPr>
            <p:ph type="ftr" sz="quarter" idx="11"/>
          </p:nvPr>
        </p:nvSpPr>
        <p:spPr/>
        <p:txBody>
          <a:bodyPr/>
          <a:lstStyle/>
          <a:p>
            <a:r>
              <a:rPr lang="en-US"/>
              <a:t>© Copyright 2011 John Wiley &amp; Sons, Inc.</a:t>
            </a:r>
          </a:p>
        </p:txBody>
      </p:sp>
      <p:sp>
        <p:nvSpPr>
          <p:cNvPr id="6" name="Slide Number Placeholder 5"/>
          <p:cNvSpPr>
            <a:spLocks noGrp="1"/>
          </p:cNvSpPr>
          <p:nvPr>
            <p:ph type="sldNum" sz="quarter" idx="12"/>
          </p:nvPr>
        </p:nvSpPr>
        <p:spPr/>
        <p:txBody>
          <a:bodyPr/>
          <a:lstStyle/>
          <a:p>
            <a:r>
              <a:rPr lang="en-US" dirty="0"/>
              <a:t>3-</a:t>
            </a:r>
            <a:fld id="{7597BC71-976C-43F9-8091-5829990FA63C}" type="slidenum">
              <a:rPr lang="en-US" smtClean="0"/>
              <a:pPr/>
              <a:t>‹#›</a:t>
            </a:fld>
            <a:endParaRPr lang="en-US" dirty="0"/>
          </a:p>
        </p:txBody>
      </p:sp>
      <p:cxnSp>
        <p:nvCxnSpPr>
          <p:cNvPr id="8" name="Straight Connector 7"/>
          <p:cNvCxnSpPr/>
          <p:nvPr userDrawn="1"/>
        </p:nvCxnSpPr>
        <p:spPr>
          <a:xfrm>
            <a:off x="457200" y="1447800"/>
            <a:ext cx="8229600" cy="0"/>
          </a:xfrm>
          <a:prstGeom prst="line">
            <a:avLst/>
          </a:prstGeom>
          <a:ln w="762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 </a:t>
            </a:r>
          </a:p>
        </p:txBody>
      </p:sp>
      <p:sp>
        <p:nvSpPr>
          <p:cNvPr id="6" name="Footer Placeholder 5"/>
          <p:cNvSpPr>
            <a:spLocks noGrp="1"/>
          </p:cNvSpPr>
          <p:nvPr>
            <p:ph type="ftr" sz="quarter" idx="11"/>
          </p:nvPr>
        </p:nvSpPr>
        <p:spPr/>
        <p:txBody>
          <a:bodyPr/>
          <a:lstStyle/>
          <a:p>
            <a:r>
              <a:rPr lang="en-US"/>
              <a:t>© Copyright 2011 John Wiley &amp; Sons, Inc.</a:t>
            </a:r>
          </a:p>
        </p:txBody>
      </p:sp>
      <p:sp>
        <p:nvSpPr>
          <p:cNvPr id="7" name="Slide Number Placeholder 6"/>
          <p:cNvSpPr>
            <a:spLocks noGrp="1"/>
          </p:cNvSpPr>
          <p:nvPr>
            <p:ph type="sldNum" sz="quarter" idx="12"/>
          </p:nvPr>
        </p:nvSpPr>
        <p:spPr/>
        <p:txBody>
          <a:bodyPr/>
          <a:lstStyle/>
          <a:p>
            <a:fld id="{7597BC71-976C-43F9-8091-5829990FA63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Copyright 2011 John Wiley &amp; Sons, Inc.</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3-</a:t>
            </a:r>
            <a:fld id="{7597BC71-976C-43F9-8091-5829990FA63C}"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7.jpeg"/></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text, electronics&#10;&#10;Description automatically generated">
            <a:extLst>
              <a:ext uri="{FF2B5EF4-FFF2-40B4-BE49-F238E27FC236}">
                <a16:creationId xmlns:a16="http://schemas.microsoft.com/office/drawing/2014/main" id="{1FD9B7A5-1611-436E-A6F9-DAA25643F8F8}"/>
              </a:ext>
            </a:extLst>
          </p:cNvPr>
          <p:cNvPicPr>
            <a:picLocks noChangeAspect="1"/>
          </p:cNvPicPr>
          <p:nvPr/>
        </p:nvPicPr>
        <p:blipFill rotWithShape="1">
          <a:blip r:embed="rId2">
            <a:alphaModFix amt="50000"/>
          </a:blip>
          <a:srcRect l="16354" r="16997"/>
          <a:stretch/>
        </p:blipFill>
        <p:spPr>
          <a:xfrm>
            <a:off x="20" y="1"/>
            <a:ext cx="9143980" cy="6857999"/>
          </a:xfrm>
          <a:prstGeom prst="rect">
            <a:avLst/>
          </a:prstGeom>
        </p:spPr>
      </p:pic>
      <p:sp>
        <p:nvSpPr>
          <p:cNvPr id="2" name="Title 1">
            <a:extLst>
              <a:ext uri="{FF2B5EF4-FFF2-40B4-BE49-F238E27FC236}">
                <a16:creationId xmlns:a16="http://schemas.microsoft.com/office/drawing/2014/main" id="{DAE48B8D-7A59-42A4-A61B-B66E6063DD0D}"/>
              </a:ext>
            </a:extLst>
          </p:cNvPr>
          <p:cNvSpPr>
            <a:spLocks noGrp="1"/>
          </p:cNvSpPr>
          <p:nvPr>
            <p:ph type="ctrTitle"/>
          </p:nvPr>
        </p:nvSpPr>
        <p:spPr>
          <a:xfrm>
            <a:off x="1143000" y="1122363"/>
            <a:ext cx="6858000" cy="3063240"/>
          </a:xfrm>
        </p:spPr>
        <p:txBody>
          <a:bodyPr>
            <a:normAutofit/>
          </a:bodyPr>
          <a:lstStyle/>
          <a:p>
            <a:r>
              <a:rPr lang="en-US" sz="5700">
                <a:solidFill>
                  <a:srgbClr val="FFFFFF"/>
                </a:solidFill>
              </a:rPr>
              <a:t>Systems Analysis &amp; Design</a:t>
            </a:r>
          </a:p>
        </p:txBody>
      </p:sp>
      <p:sp>
        <p:nvSpPr>
          <p:cNvPr id="13"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rgbClr val="FFFFFF">
              <a:alpha val="75000"/>
            </a:srgbClr>
          </a:solidFill>
          <a:ln w="44450" cap="rnd">
            <a:solidFill>
              <a:srgbClr val="FFFFFF">
                <a:alpha val="75000"/>
              </a:srgbClr>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99D05C61-8C8A-4F4B-8CD6-4A444C1FBD35}"/>
              </a:ext>
            </a:extLst>
          </p:cNvPr>
          <p:cNvSpPr>
            <a:spLocks noGrp="1"/>
          </p:cNvSpPr>
          <p:nvPr>
            <p:ph type="sldNum" sz="quarter" idx="12"/>
          </p:nvPr>
        </p:nvSpPr>
        <p:spPr>
          <a:xfrm>
            <a:off x="6457950" y="6356350"/>
            <a:ext cx="2057400" cy="365125"/>
          </a:xfrm>
        </p:spPr>
        <p:txBody>
          <a:bodyPr>
            <a:normAutofit/>
          </a:bodyPr>
          <a:lstStyle/>
          <a:p>
            <a:pPr>
              <a:spcAft>
                <a:spcPts val="600"/>
              </a:spcAft>
              <a:defRPr/>
            </a:pPr>
            <a:r>
              <a:rPr lang="en-US" altLang="en-US">
                <a:solidFill>
                  <a:srgbClr val="FFFFFF"/>
                </a:solidFill>
              </a:rPr>
              <a:t>2-</a:t>
            </a:r>
            <a:fld id="{21D40A56-C2BB-42CB-8EFF-5BFF7E952E3E}" type="slidenum">
              <a:rPr lang="en-US" altLang="en-US">
                <a:solidFill>
                  <a:srgbClr val="FFFFFF"/>
                </a:solidFill>
              </a:rPr>
              <a:pPr>
                <a:spcAft>
                  <a:spcPts val="600"/>
                </a:spcAft>
                <a:defRPr/>
              </a:pPr>
              <a:t>0</a:t>
            </a:fld>
            <a:endParaRPr lang="en-US" altLang="en-US">
              <a:solidFill>
                <a:srgbClr val="FFFFFF"/>
              </a:solidFill>
            </a:endParaRPr>
          </a:p>
        </p:txBody>
      </p:sp>
    </p:spTree>
    <p:extLst>
      <p:ext uri="{BB962C8B-B14F-4D97-AF65-F5344CB8AC3E}">
        <p14:creationId xmlns:p14="http://schemas.microsoft.com/office/powerpoint/2010/main" val="322664401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981200"/>
            <a:ext cx="8001000" cy="2819399"/>
          </a:xfrm>
        </p:spPr>
        <p:txBody>
          <a:bodyPr>
            <a:normAutofit/>
          </a:bodyPr>
          <a:lstStyle/>
          <a:p>
            <a:r>
              <a:rPr lang="en-US" sz="4000" dirty="0">
                <a:solidFill>
                  <a:schemeClr val="tx2">
                    <a:lumMod val="75000"/>
                  </a:schemeClr>
                </a:solidFill>
                <a:effectLst>
                  <a:outerShdw blurRad="38100" dist="38100" dir="2700000" algn="tl">
                    <a:srgbClr val="C0C0C0"/>
                  </a:outerShdw>
                </a:effectLst>
              </a:rPr>
              <a:t>Analysis Phase</a:t>
            </a:r>
            <a:endParaRPr lang="en-US" sz="4000" b="1" dirty="0">
              <a:solidFill>
                <a:schemeClr val="tx2">
                  <a:lumMod val="75000"/>
                </a:schemeClr>
              </a:solidFill>
            </a:endParaRPr>
          </a:p>
        </p:txBody>
      </p:sp>
      <p:sp>
        <p:nvSpPr>
          <p:cNvPr id="4" name="Slide Number Placeholder 3"/>
          <p:cNvSpPr>
            <a:spLocks noGrp="1"/>
          </p:cNvSpPr>
          <p:nvPr>
            <p:ph type="sldNum" sz="quarter" idx="12"/>
          </p:nvPr>
        </p:nvSpPr>
        <p:spPr/>
        <p:txBody>
          <a:bodyPr/>
          <a:lstStyle/>
          <a:p>
            <a:r>
              <a:rPr lang="en-US" dirty="0"/>
              <a:t>3-</a:t>
            </a:r>
            <a:fld id="{7597BC71-976C-43F9-8091-5829990FA63C}" type="slidenum">
              <a:rPr lang="en-US" smtClean="0"/>
              <a:pPr/>
              <a:t>1</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sz="4400" dirty="0"/>
              <a:t> The analysis phase.</a:t>
            </a:r>
          </a:p>
          <a:p>
            <a:r>
              <a:rPr lang="en-US" sz="4400" dirty="0"/>
              <a:t> Requirement determination.</a:t>
            </a:r>
          </a:p>
          <a:p>
            <a:r>
              <a:rPr lang="en-US" sz="4400" dirty="0"/>
              <a:t> Requirement elicitation techniques.</a:t>
            </a:r>
          </a:p>
          <a:p>
            <a:r>
              <a:rPr lang="en-US" sz="4400" dirty="0"/>
              <a:t> Requirement analysis strategies.</a:t>
            </a:r>
          </a:p>
          <a:p>
            <a:pPr>
              <a:buNone/>
            </a:pPr>
            <a:endParaRPr lang="en-US" dirty="0"/>
          </a:p>
        </p:txBody>
      </p:sp>
      <p:sp>
        <p:nvSpPr>
          <p:cNvPr id="5" name="Slide Number Placeholder 4"/>
          <p:cNvSpPr>
            <a:spLocks noGrp="1"/>
          </p:cNvSpPr>
          <p:nvPr>
            <p:ph type="sldNum" sz="quarter" idx="12"/>
          </p:nvPr>
        </p:nvSpPr>
        <p:spPr/>
        <p:txBody>
          <a:bodyPr/>
          <a:lstStyle/>
          <a:p>
            <a:r>
              <a:rPr lang="en-US" dirty="0"/>
              <a:t>3-</a:t>
            </a:r>
            <a:fld id="{7597BC71-976C-43F9-8091-5829990FA63C}" type="slidenum">
              <a:rPr lang="en-US" smtClean="0"/>
              <a:pPr/>
              <a:t>2</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ANALYSIS PHASE</a:t>
            </a:r>
          </a:p>
        </p:txBody>
      </p:sp>
      <p:sp>
        <p:nvSpPr>
          <p:cNvPr id="3" name="Content Placeholder 2"/>
          <p:cNvSpPr>
            <a:spLocks noGrp="1"/>
          </p:cNvSpPr>
          <p:nvPr>
            <p:ph idx="1"/>
          </p:nvPr>
        </p:nvSpPr>
        <p:spPr>
          <a:xfrm>
            <a:off x="457200" y="1600200"/>
            <a:ext cx="8229600" cy="4724400"/>
          </a:xfrm>
        </p:spPr>
        <p:txBody>
          <a:bodyPr>
            <a:normAutofit/>
          </a:bodyPr>
          <a:lstStyle/>
          <a:p>
            <a:r>
              <a:rPr lang="en-US" dirty="0"/>
              <a:t> </a:t>
            </a:r>
            <a:r>
              <a:rPr lang="en-US" sz="4200" b="1" dirty="0" err="1">
                <a:solidFill>
                  <a:srgbClr val="FF0000"/>
                </a:solidFill>
              </a:rPr>
              <a:t>Analys</a:t>
            </a:r>
            <a:r>
              <a:rPr lang="en-US" sz="4200" b="1" dirty="0">
                <a:solidFill>
                  <a:srgbClr val="FF0000"/>
                </a:solidFill>
              </a:rPr>
              <a:t> is</a:t>
            </a:r>
            <a:r>
              <a:rPr lang="en-US" sz="4200" dirty="0"/>
              <a:t> refers to breaking a whole into its parts with the intent of understanding the parts’ nature, functions, and interrelationships.</a:t>
            </a:r>
          </a:p>
          <a:p>
            <a:r>
              <a:rPr lang="en-US" sz="4200" dirty="0"/>
              <a:t> The planning phase deliverables are the key inputs into the analysis phase.</a:t>
            </a:r>
            <a:endParaRPr lang="en-US" sz="3600"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3</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(cont’d)</a:t>
            </a:r>
          </a:p>
        </p:txBody>
      </p:sp>
      <p:sp>
        <p:nvSpPr>
          <p:cNvPr id="3" name="Content Placeholder 2"/>
          <p:cNvSpPr>
            <a:spLocks noGrp="1"/>
          </p:cNvSpPr>
          <p:nvPr>
            <p:ph idx="1"/>
          </p:nvPr>
        </p:nvSpPr>
        <p:spPr/>
        <p:txBody>
          <a:bodyPr>
            <a:normAutofit lnSpcReduction="10000"/>
          </a:bodyPr>
          <a:lstStyle/>
          <a:p>
            <a:r>
              <a:rPr lang="en-US" sz="4800" dirty="0"/>
              <a:t>The basic process of </a:t>
            </a:r>
            <a:r>
              <a:rPr lang="en-US" sz="4800" b="1" i="1" dirty="0">
                <a:solidFill>
                  <a:srgbClr val="000099"/>
                </a:solidFill>
              </a:rPr>
              <a:t>analysis</a:t>
            </a:r>
            <a:r>
              <a:rPr lang="en-US" sz="4800" dirty="0"/>
              <a:t> involves three steps:</a:t>
            </a:r>
          </a:p>
          <a:p>
            <a:pPr marL="854075" indent="-396875">
              <a:buFontTx/>
              <a:buChar char="-"/>
            </a:pPr>
            <a:r>
              <a:rPr lang="en-US" dirty="0"/>
              <a:t>Understand the existing situation (the as-is system)</a:t>
            </a:r>
          </a:p>
          <a:p>
            <a:pPr marL="908050" indent="-450850">
              <a:buFontTx/>
              <a:buChar char="-"/>
            </a:pPr>
            <a:r>
              <a:rPr lang="en-US" dirty="0"/>
              <a:t>Identify improvements</a:t>
            </a:r>
          </a:p>
          <a:p>
            <a:pPr marL="854075" indent="-396875">
              <a:buFontTx/>
              <a:buChar char="-"/>
            </a:pPr>
            <a:r>
              <a:rPr lang="en-US" dirty="0"/>
              <a:t>Define the requirement for the new system (the to-be </a:t>
            </a:r>
            <a:r>
              <a:rPr lang="en-US"/>
              <a:t>system).</a:t>
            </a:r>
            <a:endParaRPr lang="en-US" dirty="0"/>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4</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(cont’d)</a:t>
            </a:r>
          </a:p>
        </p:txBody>
      </p:sp>
      <p:sp>
        <p:nvSpPr>
          <p:cNvPr id="3" name="Content Placeholder 2"/>
          <p:cNvSpPr>
            <a:spLocks noGrp="1"/>
          </p:cNvSpPr>
          <p:nvPr>
            <p:ph idx="1"/>
          </p:nvPr>
        </p:nvSpPr>
        <p:spPr/>
        <p:txBody>
          <a:bodyPr>
            <a:normAutofit fontScale="47500" lnSpcReduction="20000"/>
          </a:bodyPr>
          <a:lstStyle/>
          <a:p>
            <a:pPr>
              <a:lnSpc>
                <a:spcPct val="120000"/>
              </a:lnSpc>
            </a:pPr>
            <a:r>
              <a:rPr lang="en-US" sz="6500" dirty="0"/>
              <a:t> </a:t>
            </a:r>
            <a:r>
              <a:rPr lang="en-US" sz="6700" dirty="0"/>
              <a:t>The final deliverables of the analysis phase is the </a:t>
            </a:r>
            <a:r>
              <a:rPr lang="en-US" sz="6700" b="1" i="1" dirty="0">
                <a:solidFill>
                  <a:srgbClr val="000099"/>
                </a:solidFill>
              </a:rPr>
              <a:t>system proposal</a:t>
            </a:r>
            <a:r>
              <a:rPr lang="en-US" sz="6700" dirty="0"/>
              <a:t>.</a:t>
            </a:r>
          </a:p>
          <a:p>
            <a:pPr>
              <a:lnSpc>
                <a:spcPct val="120000"/>
              </a:lnSpc>
            </a:pPr>
            <a:r>
              <a:rPr lang="en-US" sz="6700" dirty="0"/>
              <a:t>The system proposal is presented to the approval committee in the form of a system </a:t>
            </a:r>
            <a:r>
              <a:rPr lang="en-US" sz="6700" b="1" i="1" dirty="0">
                <a:solidFill>
                  <a:srgbClr val="000099"/>
                </a:solidFill>
              </a:rPr>
              <a:t>walk-through</a:t>
            </a:r>
            <a:r>
              <a:rPr lang="en-US" sz="6700" dirty="0"/>
              <a:t> to explain the system in moderate detail.</a:t>
            </a:r>
          </a:p>
          <a:p>
            <a:pPr>
              <a:lnSpc>
                <a:spcPct val="120000"/>
              </a:lnSpc>
            </a:pPr>
            <a:r>
              <a:rPr lang="en-US" sz="6700" dirty="0"/>
              <a:t>The deliverables from the analysis phase are the first step in the design of the new system.</a:t>
            </a:r>
          </a:p>
          <a:p>
            <a:endParaRPr lang="en-US" dirty="0"/>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5</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DETERMINATION</a:t>
            </a:r>
          </a:p>
        </p:txBody>
      </p:sp>
      <p:sp>
        <p:nvSpPr>
          <p:cNvPr id="3" name="Content Placeholder 2"/>
          <p:cNvSpPr>
            <a:spLocks noGrp="1"/>
          </p:cNvSpPr>
          <p:nvPr>
            <p:ph idx="1"/>
          </p:nvPr>
        </p:nvSpPr>
        <p:spPr/>
        <p:txBody>
          <a:bodyPr/>
          <a:lstStyle/>
          <a:p>
            <a:r>
              <a:rPr lang="en-US" dirty="0"/>
              <a:t>Requirements determination is performed to transform the system request’s </a:t>
            </a:r>
            <a:r>
              <a:rPr lang="en-US" dirty="0">
                <a:effectLst>
                  <a:outerShdw blurRad="38100" dist="38100" dir="2700000" algn="tl">
                    <a:srgbClr val="000000">
                      <a:alpha val="43137"/>
                    </a:srgbClr>
                  </a:outerShdw>
                </a:effectLst>
              </a:rPr>
              <a:t>high-level statement </a:t>
            </a:r>
            <a:r>
              <a:rPr lang="en-US" dirty="0"/>
              <a:t>of business requirements </a:t>
            </a:r>
            <a:r>
              <a:rPr lang="en-US" b="1" dirty="0"/>
              <a:t>into a more detailed</a:t>
            </a:r>
            <a:r>
              <a:rPr lang="en-US" dirty="0"/>
              <a:t>, precise list of what the new system must do to provide the needed value to the business</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6</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a:t>
            </a:r>
            <a:r>
              <a:rPr lang="en-US" dirty="0">
                <a:solidFill>
                  <a:srgbClr val="000099"/>
                </a:solidFill>
              </a:rPr>
              <a:t>Requirement</a:t>
            </a:r>
            <a:r>
              <a:rPr lang="en-US" dirty="0"/>
              <a:t>?</a:t>
            </a:r>
          </a:p>
        </p:txBody>
      </p:sp>
      <p:sp>
        <p:nvSpPr>
          <p:cNvPr id="3" name="Content Placeholder 2"/>
          <p:cNvSpPr>
            <a:spLocks noGrp="1"/>
          </p:cNvSpPr>
          <p:nvPr>
            <p:ph idx="1"/>
          </p:nvPr>
        </p:nvSpPr>
        <p:spPr>
          <a:xfrm>
            <a:off x="457200" y="1600200"/>
            <a:ext cx="8382000" cy="4800600"/>
          </a:xfrm>
        </p:spPr>
        <p:txBody>
          <a:bodyPr>
            <a:normAutofit fontScale="40000" lnSpcReduction="20000"/>
          </a:bodyPr>
          <a:lstStyle/>
          <a:p>
            <a:r>
              <a:rPr lang="en-US" sz="8000" dirty="0"/>
              <a:t>A </a:t>
            </a:r>
            <a:r>
              <a:rPr lang="en-US" sz="8000" dirty="0">
                <a:solidFill>
                  <a:srgbClr val="FF0000"/>
                </a:solidFill>
              </a:rPr>
              <a:t>requirement</a:t>
            </a:r>
            <a:r>
              <a:rPr lang="en-US" sz="8000" dirty="0"/>
              <a:t> is a statement of what the system must do or what characteristics it needs to have.</a:t>
            </a:r>
          </a:p>
          <a:p>
            <a:r>
              <a:rPr lang="en-US" sz="8000" dirty="0"/>
              <a:t>Requirements describe</a:t>
            </a:r>
          </a:p>
          <a:p>
            <a:pPr indent="571500">
              <a:buFontTx/>
              <a:buChar char="-"/>
            </a:pPr>
            <a:r>
              <a:rPr lang="en-US" sz="7000" dirty="0"/>
              <a:t>what the business needs </a:t>
            </a:r>
          </a:p>
          <a:p>
            <a:pPr indent="571500">
              <a:buNone/>
            </a:pPr>
            <a:r>
              <a:rPr lang="en-US" sz="7000" dirty="0"/>
              <a:t>(</a:t>
            </a:r>
            <a:r>
              <a:rPr lang="en-US" sz="7000" b="1" i="1" dirty="0">
                <a:solidFill>
                  <a:srgbClr val="000099"/>
                </a:solidFill>
              </a:rPr>
              <a:t>business requirements</a:t>
            </a:r>
            <a:r>
              <a:rPr lang="en-US" sz="7000" dirty="0"/>
              <a:t>)</a:t>
            </a:r>
          </a:p>
          <a:p>
            <a:pPr indent="571500">
              <a:buFontTx/>
              <a:buChar char="-"/>
            </a:pPr>
            <a:r>
              <a:rPr lang="en-US" sz="7000" dirty="0"/>
              <a:t>what the users need to do (</a:t>
            </a:r>
            <a:r>
              <a:rPr lang="en-US" sz="7000" b="1" i="1" dirty="0">
                <a:solidFill>
                  <a:srgbClr val="000099"/>
                </a:solidFill>
              </a:rPr>
              <a:t>user requirements</a:t>
            </a:r>
            <a:r>
              <a:rPr lang="en-US" sz="7000" dirty="0"/>
              <a:t>)</a:t>
            </a:r>
          </a:p>
          <a:p>
            <a:pPr indent="571500">
              <a:buFontTx/>
              <a:buChar char="-"/>
            </a:pPr>
            <a:r>
              <a:rPr lang="en-US" sz="7000" dirty="0"/>
              <a:t>what the software should do </a:t>
            </a:r>
          </a:p>
          <a:p>
            <a:pPr indent="571500">
              <a:buNone/>
            </a:pPr>
            <a:r>
              <a:rPr lang="en-US" sz="7000" dirty="0"/>
              <a:t>(</a:t>
            </a:r>
            <a:r>
              <a:rPr lang="en-US" sz="7000" b="1" i="1" dirty="0">
                <a:solidFill>
                  <a:srgbClr val="000099"/>
                </a:solidFill>
              </a:rPr>
              <a:t>functional requirements</a:t>
            </a:r>
            <a:r>
              <a:rPr lang="en-US" sz="7000" dirty="0"/>
              <a:t>)</a:t>
            </a:r>
          </a:p>
          <a:p>
            <a:pPr indent="571500">
              <a:buFontTx/>
              <a:buChar char="-"/>
            </a:pPr>
            <a:r>
              <a:rPr lang="en-US" sz="7000" dirty="0"/>
              <a:t>characteristics the system should have </a:t>
            </a:r>
          </a:p>
          <a:p>
            <a:pPr indent="571500">
              <a:buNone/>
            </a:pPr>
            <a:r>
              <a:rPr lang="en-US" sz="7000" dirty="0"/>
              <a:t>(</a:t>
            </a:r>
            <a:r>
              <a:rPr lang="en-US" sz="7000" b="1" i="1" dirty="0">
                <a:solidFill>
                  <a:srgbClr val="000099"/>
                </a:solidFill>
              </a:rPr>
              <a:t>non-functional requirements</a:t>
            </a:r>
            <a:r>
              <a:rPr lang="en-US" sz="7000" dirty="0"/>
              <a:t>), and</a:t>
            </a:r>
          </a:p>
          <a:p>
            <a:pPr indent="571500">
              <a:buFontTx/>
              <a:buChar char="-"/>
            </a:pPr>
            <a:r>
              <a:rPr lang="en-US" sz="7000" dirty="0"/>
              <a:t>how the system should be built </a:t>
            </a:r>
          </a:p>
          <a:p>
            <a:pPr indent="571500">
              <a:buNone/>
            </a:pPr>
            <a:r>
              <a:rPr lang="en-US" sz="7000" dirty="0"/>
              <a:t>(</a:t>
            </a:r>
            <a:r>
              <a:rPr lang="en-US" sz="7000" b="1" i="1" dirty="0">
                <a:solidFill>
                  <a:srgbClr val="000099"/>
                </a:solidFill>
              </a:rPr>
              <a:t>system requirements</a:t>
            </a:r>
            <a:r>
              <a:rPr lang="en-US" sz="7000" dirty="0"/>
              <a:t>)</a:t>
            </a:r>
          </a:p>
          <a:p>
            <a:pPr indent="571500">
              <a:buFontTx/>
              <a:buChar char="-"/>
            </a:pPr>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7</a:t>
            </a:fld>
            <a:endParaRPr lang="en-US" dirty="0"/>
          </a:p>
        </p:txBody>
      </p:sp>
      <p:cxnSp>
        <p:nvCxnSpPr>
          <p:cNvPr id="7" name="Straight Connector 6"/>
          <p:cNvCxnSpPr/>
          <p:nvPr/>
        </p:nvCxnSpPr>
        <p:spPr>
          <a:xfrm flipV="1">
            <a:off x="609600" y="3325091"/>
            <a:ext cx="18473" cy="2770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(cont’d)</a:t>
            </a:r>
          </a:p>
        </p:txBody>
      </p:sp>
      <p:sp>
        <p:nvSpPr>
          <p:cNvPr id="3" name="Content Placeholder 2"/>
          <p:cNvSpPr>
            <a:spLocks noGrp="1"/>
          </p:cNvSpPr>
          <p:nvPr>
            <p:ph idx="1"/>
          </p:nvPr>
        </p:nvSpPr>
        <p:spPr/>
        <p:txBody>
          <a:bodyPr/>
          <a:lstStyle/>
          <a:p>
            <a:r>
              <a:rPr lang="en-US" dirty="0"/>
              <a:t> Functional requirements</a:t>
            </a:r>
          </a:p>
          <a:p>
            <a:pPr lvl="1"/>
            <a:r>
              <a:rPr lang="en-US" dirty="0"/>
              <a:t>what the software should do </a:t>
            </a:r>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8</a:t>
            </a:fld>
            <a:endParaRPr lang="en-US" dirty="0"/>
          </a:p>
        </p:txBody>
      </p:sp>
      <p:pic>
        <p:nvPicPr>
          <p:cNvPr id="7" name="Picture 2" descr="fig_03_01"/>
          <p:cNvPicPr preferRelativeResize="0">
            <a:picLocks noChangeAspect="1" noChangeArrowheads="1"/>
          </p:cNvPicPr>
          <p:nvPr>
            <p:custDataLst>
              <p:tags r:id="rId1"/>
            </p:custDataLst>
          </p:nvPr>
        </p:nvPicPr>
        <p:blipFill>
          <a:blip r:embed="rId3" cstate="print"/>
          <a:srcRect/>
          <a:stretch>
            <a:fillRect/>
          </a:stretch>
        </p:blipFill>
        <p:spPr bwMode="auto">
          <a:xfrm>
            <a:off x="228600" y="3025775"/>
            <a:ext cx="8686800" cy="276542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(cont’d)</a:t>
            </a:r>
          </a:p>
        </p:txBody>
      </p:sp>
      <p:sp>
        <p:nvSpPr>
          <p:cNvPr id="3" name="Content Placeholder 2"/>
          <p:cNvSpPr>
            <a:spLocks noGrp="1"/>
          </p:cNvSpPr>
          <p:nvPr>
            <p:ph idx="1"/>
          </p:nvPr>
        </p:nvSpPr>
        <p:spPr>
          <a:xfrm>
            <a:off x="457200" y="685800"/>
            <a:ext cx="8229600" cy="5440363"/>
          </a:xfrm>
        </p:spPr>
        <p:txBody>
          <a:bodyPr/>
          <a:lstStyle/>
          <a:p>
            <a:r>
              <a:rPr lang="en-US" dirty="0"/>
              <a:t> Nonfunctional requirements</a:t>
            </a:r>
          </a:p>
          <a:p>
            <a:pPr lvl="1"/>
            <a:r>
              <a:rPr lang="en-US" dirty="0"/>
              <a:t>characteristics the system should have </a:t>
            </a:r>
          </a:p>
          <a:p>
            <a:pPr lvl="1"/>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9</a:t>
            </a:fld>
            <a:endParaRPr lang="en-US" dirty="0"/>
          </a:p>
        </p:txBody>
      </p:sp>
      <p:pic>
        <p:nvPicPr>
          <p:cNvPr id="6" name="Picture 2" descr="fig_03_02"/>
          <p:cNvPicPr preferRelativeResize="0">
            <a:picLocks noChangeAspect="1" noChangeArrowheads="1"/>
          </p:cNvPicPr>
          <p:nvPr>
            <p:custDataLst>
              <p:tags r:id="rId1"/>
            </p:custDataLst>
          </p:nvPr>
        </p:nvPicPr>
        <p:blipFill>
          <a:blip r:embed="rId3" cstate="print"/>
          <a:srcRect/>
          <a:stretch>
            <a:fillRect/>
          </a:stretch>
        </p:blipFill>
        <p:spPr bwMode="auto">
          <a:xfrm>
            <a:off x="647700" y="1917956"/>
            <a:ext cx="7848600" cy="4438393"/>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0D11E-236B-4576-8BEC-E8C4B6271C8E}"/>
              </a:ext>
            </a:extLst>
          </p:cNvPr>
          <p:cNvSpPr>
            <a:spLocks noGrp="1"/>
          </p:cNvSpPr>
          <p:nvPr>
            <p:ph type="title"/>
          </p:nvPr>
        </p:nvSpPr>
        <p:spPr/>
        <p:txBody>
          <a:bodyPr>
            <a:normAutofit fontScale="90000"/>
          </a:bodyPr>
          <a:lstStyle/>
          <a:p>
            <a:r>
              <a:rPr lang="en-US" dirty="0"/>
              <a:t>Requirement Engineering Processes</a:t>
            </a:r>
          </a:p>
        </p:txBody>
      </p:sp>
      <p:sp>
        <p:nvSpPr>
          <p:cNvPr id="3" name="Content Placeholder 2">
            <a:extLst>
              <a:ext uri="{FF2B5EF4-FFF2-40B4-BE49-F238E27FC236}">
                <a16:creationId xmlns:a16="http://schemas.microsoft.com/office/drawing/2014/main" id="{8EBB5CD4-9635-41F5-86CA-83E03906BB32}"/>
              </a:ext>
            </a:extLst>
          </p:cNvPr>
          <p:cNvSpPr>
            <a:spLocks noGrp="1"/>
          </p:cNvSpPr>
          <p:nvPr>
            <p:ph idx="1"/>
          </p:nvPr>
        </p:nvSpPr>
        <p:spPr>
          <a:xfrm>
            <a:off x="457200" y="1600200"/>
            <a:ext cx="8534400" cy="4525963"/>
          </a:xfrm>
        </p:spPr>
        <p:txBody>
          <a:bodyPr/>
          <a:lstStyle/>
          <a:p>
            <a:r>
              <a:rPr lang="en-US" dirty="0"/>
              <a:t>Feasibility studies</a:t>
            </a:r>
          </a:p>
          <a:p>
            <a:r>
              <a:rPr lang="en-US" dirty="0"/>
              <a:t>Requirements elicitation and analysis</a:t>
            </a:r>
          </a:p>
          <a:p>
            <a:r>
              <a:rPr lang="en-US" dirty="0"/>
              <a:t>Requirements Specification</a:t>
            </a:r>
          </a:p>
          <a:p>
            <a:r>
              <a:rPr lang="en-US" dirty="0"/>
              <a:t>Requirements validation</a:t>
            </a:r>
          </a:p>
          <a:p>
            <a:endParaRPr lang="en-US" dirty="0"/>
          </a:p>
        </p:txBody>
      </p:sp>
      <p:sp>
        <p:nvSpPr>
          <p:cNvPr id="4" name="Slide Number Placeholder 3">
            <a:extLst>
              <a:ext uri="{FF2B5EF4-FFF2-40B4-BE49-F238E27FC236}">
                <a16:creationId xmlns:a16="http://schemas.microsoft.com/office/drawing/2014/main" id="{83F100C3-EA90-4CEC-B2E4-B281A22ED1E0}"/>
              </a:ext>
            </a:extLst>
          </p:cNvPr>
          <p:cNvSpPr>
            <a:spLocks noGrp="1"/>
          </p:cNvSpPr>
          <p:nvPr>
            <p:ph type="sldNum" sz="quarter" idx="12"/>
          </p:nvPr>
        </p:nvSpPr>
        <p:spPr/>
        <p:txBody>
          <a:bodyPr/>
          <a:lstStyle/>
          <a:p>
            <a:r>
              <a:rPr lang="en-US"/>
              <a:t>3-</a:t>
            </a:r>
            <a:fld id="{7597BC71-976C-43F9-8091-5829990FA63C}" type="slidenum">
              <a:rPr lang="en-US" smtClean="0"/>
              <a:pPr/>
              <a:t>10</a:t>
            </a:fld>
            <a:endParaRPr lang="en-US" dirty="0"/>
          </a:p>
        </p:txBody>
      </p:sp>
    </p:spTree>
    <p:extLst>
      <p:ext uri="{BB962C8B-B14F-4D97-AF65-F5344CB8AC3E}">
        <p14:creationId xmlns:p14="http://schemas.microsoft.com/office/powerpoint/2010/main" val="600493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1E7E1B-FE1A-4A08-9137-AF21D6B1A8F4}"/>
              </a:ext>
            </a:extLst>
          </p:cNvPr>
          <p:cNvSpPr>
            <a:spLocks noGrp="1"/>
          </p:cNvSpPr>
          <p:nvPr>
            <p:ph type="sldNum" sz="quarter" idx="12"/>
          </p:nvPr>
        </p:nvSpPr>
        <p:spPr/>
        <p:txBody>
          <a:bodyPr/>
          <a:lstStyle/>
          <a:p>
            <a:r>
              <a:rPr lang="en-US"/>
              <a:t>3-</a:t>
            </a:r>
            <a:fld id="{7597BC71-976C-43F9-8091-5829990FA63C}" type="slidenum">
              <a:rPr lang="en-US" smtClean="0"/>
              <a:pPr/>
              <a:t>11</a:t>
            </a:fld>
            <a:endParaRPr lang="en-US" dirty="0"/>
          </a:p>
        </p:txBody>
      </p:sp>
      <p:pic>
        <p:nvPicPr>
          <p:cNvPr id="5" name="Content Placeholder 4">
            <a:extLst>
              <a:ext uri="{FF2B5EF4-FFF2-40B4-BE49-F238E27FC236}">
                <a16:creationId xmlns:a16="http://schemas.microsoft.com/office/drawing/2014/main" id="{B63F4903-1438-4FEA-94B9-154CDD20C817}"/>
              </a:ext>
            </a:extLst>
          </p:cNvPr>
          <p:cNvPicPr>
            <a:picLocks noGrp="1" noChangeAspect="1"/>
          </p:cNvPicPr>
          <p:nvPr>
            <p:ph idx="1"/>
          </p:nvPr>
        </p:nvPicPr>
        <p:blipFill>
          <a:blip r:embed="rId2"/>
          <a:stretch>
            <a:fillRect/>
          </a:stretch>
        </p:blipFill>
        <p:spPr>
          <a:xfrm>
            <a:off x="667645" y="857289"/>
            <a:ext cx="8019155" cy="4525963"/>
          </a:xfrm>
        </p:spPr>
      </p:pic>
    </p:spTree>
    <p:extLst>
      <p:ext uri="{BB962C8B-B14F-4D97-AF65-F5344CB8AC3E}">
        <p14:creationId xmlns:p14="http://schemas.microsoft.com/office/powerpoint/2010/main" val="118749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(cont’d)</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12</a:t>
            </a:fld>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757332307"/>
              </p:ext>
            </p:extLst>
          </p:nvPr>
        </p:nvGraphicFramePr>
        <p:xfrm>
          <a:off x="457200" y="1600200"/>
          <a:ext cx="8229600" cy="45110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000" i="0" dirty="0"/>
                        <a:t>Requirement</a:t>
                      </a:r>
                    </a:p>
                  </a:txBody>
                  <a:tcPr/>
                </a:tc>
                <a:tc>
                  <a:txBody>
                    <a:bodyPr/>
                    <a:lstStyle/>
                    <a:p>
                      <a:r>
                        <a:rPr lang="en-US" sz="2000" i="0" dirty="0"/>
                        <a:t>Example</a:t>
                      </a:r>
                    </a:p>
                  </a:txBody>
                  <a:tcPr/>
                </a:tc>
                <a:extLst>
                  <a:ext uri="{0D108BD9-81ED-4DB2-BD59-A6C34878D82A}">
                    <a16:rowId xmlns:a16="http://schemas.microsoft.com/office/drawing/2014/main" val="10000"/>
                  </a:ext>
                </a:extLst>
              </a:tr>
              <a:tr h="370840">
                <a:tc>
                  <a:txBody>
                    <a:bodyPr/>
                    <a:lstStyle/>
                    <a:p>
                      <a:r>
                        <a:rPr lang="en-US" sz="2000" b="1" i="0" dirty="0">
                          <a:solidFill>
                            <a:srgbClr val="000099"/>
                          </a:solidFill>
                        </a:rPr>
                        <a:t>Business requirement</a:t>
                      </a:r>
                      <a:endParaRPr lang="en-US" sz="2000" i="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i="0" u="none" strike="noStrike" kern="1200" baseline="0" dirty="0">
                          <a:solidFill>
                            <a:schemeClr val="dk1"/>
                          </a:solidFill>
                          <a:latin typeface="+mn-lt"/>
                          <a:ea typeface="+mn-ea"/>
                          <a:cs typeface="+mn-cs"/>
                        </a:rPr>
                        <a:t>Increase market share</a:t>
                      </a:r>
                    </a:p>
                  </a:txBody>
                  <a:tcPr/>
                </a:tc>
                <a:extLst>
                  <a:ext uri="{0D108BD9-81ED-4DB2-BD59-A6C34878D82A}">
                    <a16:rowId xmlns:a16="http://schemas.microsoft.com/office/drawing/2014/main" val="10001"/>
                  </a:ext>
                </a:extLst>
              </a:tr>
              <a:tr h="370840">
                <a:tc>
                  <a:txBody>
                    <a:bodyPr/>
                    <a:lstStyle/>
                    <a:p>
                      <a:r>
                        <a:rPr lang="en-US" sz="2000" b="1" i="0" dirty="0">
                          <a:solidFill>
                            <a:srgbClr val="000099"/>
                          </a:solidFill>
                        </a:rPr>
                        <a:t>User requirement</a:t>
                      </a:r>
                      <a:endParaRPr lang="en-US" sz="2000" i="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i="0" u="none" strike="noStrike" kern="1200" baseline="0" dirty="0">
                          <a:solidFill>
                            <a:schemeClr val="dk1"/>
                          </a:solidFill>
                          <a:latin typeface="+mn-lt"/>
                          <a:ea typeface="+mn-ea"/>
                          <a:cs typeface="+mn-cs"/>
                        </a:rPr>
                        <a:t>Schedule a client appointment</a:t>
                      </a:r>
                    </a:p>
                  </a:txBody>
                  <a:tcPr/>
                </a:tc>
                <a:extLst>
                  <a:ext uri="{0D108BD9-81ED-4DB2-BD59-A6C34878D82A}">
                    <a16:rowId xmlns:a16="http://schemas.microsoft.com/office/drawing/2014/main" val="10002"/>
                  </a:ext>
                </a:extLst>
              </a:tr>
              <a:tr h="370840">
                <a:tc>
                  <a:txBody>
                    <a:bodyPr/>
                    <a:lstStyle/>
                    <a:p>
                      <a:r>
                        <a:rPr lang="en-US" sz="2000" b="1" i="0" dirty="0">
                          <a:solidFill>
                            <a:srgbClr val="000099"/>
                          </a:solidFill>
                        </a:rPr>
                        <a:t>Functional requirement</a:t>
                      </a:r>
                      <a:endParaRPr lang="en-US" sz="2000" i="0" dirty="0"/>
                    </a:p>
                  </a:txBody>
                  <a:tcPr/>
                </a:tc>
                <a:tc>
                  <a:txBody>
                    <a:bodyPr/>
                    <a:lstStyle/>
                    <a:p>
                      <a:r>
                        <a:rPr lang="en-US" sz="2000" b="0" i="0" u="none" strike="noStrike" kern="1200" baseline="0" dirty="0">
                          <a:solidFill>
                            <a:schemeClr val="dk1"/>
                          </a:solidFill>
                          <a:latin typeface="+mn-lt"/>
                          <a:ea typeface="+mn-ea"/>
                          <a:cs typeface="+mn-cs"/>
                        </a:rPr>
                        <a:t>Determine client availability</a:t>
                      </a:r>
                    </a:p>
                    <a:p>
                      <a:r>
                        <a:rPr lang="en-US" sz="2000" b="0" i="0" u="none" strike="noStrike" kern="1200" baseline="0" dirty="0">
                          <a:solidFill>
                            <a:schemeClr val="dk1"/>
                          </a:solidFill>
                          <a:latin typeface="+mn-lt"/>
                          <a:ea typeface="+mn-ea"/>
                          <a:cs typeface="+mn-cs"/>
                        </a:rPr>
                        <a:t>Find available openings matching client availability</a:t>
                      </a:r>
                    </a:p>
                    <a:p>
                      <a:r>
                        <a:rPr lang="en-US" sz="2000" b="0" i="0" u="none" strike="noStrike" kern="1200" baseline="0" dirty="0">
                          <a:solidFill>
                            <a:schemeClr val="dk1"/>
                          </a:solidFill>
                          <a:latin typeface="+mn-lt"/>
                          <a:ea typeface="+mn-ea"/>
                          <a:cs typeface="+mn-cs"/>
                        </a:rPr>
                        <a:t>Select desired appointment</a:t>
                      </a:r>
                    </a:p>
                    <a:p>
                      <a:r>
                        <a:rPr lang="en-US" sz="2000" b="0" i="0" u="none" strike="noStrike" kern="1200" baseline="0" dirty="0">
                          <a:solidFill>
                            <a:schemeClr val="dk1"/>
                          </a:solidFill>
                          <a:latin typeface="+mn-lt"/>
                          <a:ea typeface="+mn-ea"/>
                          <a:cs typeface="+mn-cs"/>
                        </a:rPr>
                        <a:t>Record appointment</a:t>
                      </a:r>
                    </a:p>
                    <a:p>
                      <a:r>
                        <a:rPr lang="en-US" sz="2000" b="0" i="0" u="none" strike="noStrike" kern="1200" baseline="0" dirty="0">
                          <a:solidFill>
                            <a:schemeClr val="dk1"/>
                          </a:solidFill>
                          <a:latin typeface="+mn-lt"/>
                          <a:ea typeface="+mn-ea"/>
                          <a:cs typeface="+mn-cs"/>
                        </a:rPr>
                        <a:t>Confirm appointment</a:t>
                      </a:r>
                      <a:endParaRPr lang="en-US" sz="2000" i="0" dirty="0"/>
                    </a:p>
                  </a:txBody>
                  <a:tcPr/>
                </a:tc>
                <a:extLst>
                  <a:ext uri="{0D108BD9-81ED-4DB2-BD59-A6C34878D82A}">
                    <a16:rowId xmlns:a16="http://schemas.microsoft.com/office/drawing/2014/main" val="10003"/>
                  </a:ext>
                </a:extLst>
              </a:tr>
              <a:tr h="370840">
                <a:tc>
                  <a:txBody>
                    <a:bodyPr/>
                    <a:lstStyle/>
                    <a:p>
                      <a:r>
                        <a:rPr lang="en-US" sz="2000" b="1" i="0" dirty="0">
                          <a:solidFill>
                            <a:srgbClr val="000099"/>
                          </a:solidFill>
                        </a:rPr>
                        <a:t>Non-functional requirement</a:t>
                      </a:r>
                      <a:endParaRPr lang="en-US" sz="2000" i="0" dirty="0"/>
                    </a:p>
                  </a:txBody>
                  <a:tcPr/>
                </a:tc>
                <a:tc>
                  <a:txBody>
                    <a:bodyPr/>
                    <a:lstStyle/>
                    <a:p>
                      <a:r>
                        <a:rPr lang="en-US" sz="2000" i="0" dirty="0"/>
                        <a:t>Operational – integrate with existing </a:t>
                      </a:r>
                      <a:r>
                        <a:rPr lang="en-US" sz="2000" i="0" dirty="0" err="1"/>
                        <a:t>db</a:t>
                      </a:r>
                      <a:endParaRPr lang="en-US" sz="2000" i="0" dirty="0"/>
                    </a:p>
                    <a:p>
                      <a:r>
                        <a:rPr lang="en-US" sz="2000" i="0" dirty="0"/>
                        <a:t>Performance – availability</a:t>
                      </a:r>
                      <a:r>
                        <a:rPr lang="en-US" sz="2000" i="0" baseline="0" dirty="0"/>
                        <a:t> of the system 24/7/365</a:t>
                      </a:r>
                    </a:p>
                    <a:p>
                      <a:r>
                        <a:rPr lang="en-US" sz="2000" i="0" dirty="0"/>
                        <a:t>Security – who can create the appointment</a:t>
                      </a:r>
                    </a:p>
                    <a:p>
                      <a:r>
                        <a:rPr lang="en-US" sz="2000" i="0" dirty="0"/>
                        <a:t>Culture</a:t>
                      </a:r>
                      <a:r>
                        <a:rPr lang="en-US" sz="2000" i="0" baseline="0" dirty="0"/>
                        <a:t> -  meetings only from Monday – Thursday</a:t>
                      </a:r>
                      <a:endParaRPr lang="en-US" sz="2000" i="0" dirty="0"/>
                    </a:p>
                  </a:txBody>
                  <a:tcPr/>
                </a:tc>
                <a:extLst>
                  <a:ext uri="{0D108BD9-81ED-4DB2-BD59-A6C34878D82A}">
                    <a16:rowId xmlns:a16="http://schemas.microsoft.com/office/drawing/2014/main" val="10004"/>
                  </a:ext>
                </a:extLst>
              </a:tr>
              <a:tr h="370840">
                <a:tc>
                  <a:txBody>
                    <a:bodyPr/>
                    <a:lstStyle/>
                    <a:p>
                      <a:r>
                        <a:rPr lang="en-US" sz="2000" b="1" i="0" kern="1200" dirty="0">
                          <a:solidFill>
                            <a:srgbClr val="000099"/>
                          </a:solidFill>
                          <a:latin typeface="+mn-lt"/>
                          <a:ea typeface="+mn-ea"/>
                          <a:cs typeface="+mn-cs"/>
                        </a:rPr>
                        <a:t>System Requirement</a:t>
                      </a:r>
                    </a:p>
                  </a:txBody>
                  <a:tcPr/>
                </a:tc>
                <a:tc>
                  <a:txBody>
                    <a:bodyPr/>
                    <a:lstStyle/>
                    <a:p>
                      <a:r>
                        <a:rPr lang="en-US" sz="2000" i="0" dirty="0"/>
                        <a:t>All the requirements in the design phase </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09420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Process of Determining Requirements</a:t>
            </a:r>
          </a:p>
        </p:txBody>
      </p:sp>
      <p:sp>
        <p:nvSpPr>
          <p:cNvPr id="3" name="Content Placeholder 2"/>
          <p:cNvSpPr>
            <a:spLocks noGrp="1"/>
          </p:cNvSpPr>
          <p:nvPr>
            <p:ph idx="1"/>
          </p:nvPr>
        </p:nvSpPr>
        <p:spPr/>
        <p:txBody>
          <a:bodyPr>
            <a:normAutofit fontScale="70000" lnSpcReduction="20000"/>
          </a:bodyPr>
          <a:lstStyle/>
          <a:p>
            <a:pPr>
              <a:lnSpc>
                <a:spcPct val="120000"/>
              </a:lnSpc>
            </a:pPr>
            <a:r>
              <a:rPr lang="en-US" dirty="0"/>
              <a:t> Both business and IT perspectives are needed to determine requirements during the analysis phase.</a:t>
            </a:r>
          </a:p>
          <a:p>
            <a:pPr>
              <a:lnSpc>
                <a:spcPct val="120000"/>
              </a:lnSpc>
            </a:pPr>
            <a:r>
              <a:rPr lang="en-US" dirty="0"/>
              <a:t> The most effective approach is to have both business people and analysts working together to determine requirements.</a:t>
            </a:r>
          </a:p>
          <a:p>
            <a:pPr>
              <a:lnSpc>
                <a:spcPct val="120000"/>
              </a:lnSpc>
            </a:pPr>
            <a:r>
              <a:rPr lang="en-US" dirty="0"/>
              <a:t>The analyst must also consider how best to elicit the requirements from the stakeholders.</a:t>
            </a:r>
          </a:p>
          <a:p>
            <a:pPr>
              <a:lnSpc>
                <a:spcPct val="120000"/>
              </a:lnSpc>
            </a:pPr>
            <a:r>
              <a:rPr lang="en-US" dirty="0"/>
              <a:t>The process of determining requirements continues throughout the analysis phase, and the requirements definition evolves over time.</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13</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a:t>The Requirements Definition Statement</a:t>
            </a:r>
            <a:endParaRPr lang="en-US" sz="3600"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14</a:t>
            </a:fld>
            <a:endParaRPr lang="en-US" dirty="0"/>
          </a:p>
        </p:txBody>
      </p:sp>
      <p:pic>
        <p:nvPicPr>
          <p:cNvPr id="8" name="Picture 7">
            <a:extLst>
              <a:ext uri="{FF2B5EF4-FFF2-40B4-BE49-F238E27FC236}">
                <a16:creationId xmlns:a16="http://schemas.microsoft.com/office/drawing/2014/main" id="{AED11139-FC59-487D-9732-4275691982FE}"/>
              </a:ext>
            </a:extLst>
          </p:cNvPr>
          <p:cNvPicPr>
            <a:picLocks noChangeAspect="1"/>
          </p:cNvPicPr>
          <p:nvPr/>
        </p:nvPicPr>
        <p:blipFill>
          <a:blip r:embed="rId2"/>
          <a:stretch>
            <a:fillRect/>
          </a:stretch>
        </p:blipFill>
        <p:spPr>
          <a:xfrm>
            <a:off x="457200" y="964836"/>
            <a:ext cx="8441063" cy="50549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0F632-BB42-400A-BE6F-7B0F22A0F30A}"/>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F293E59F-4C6C-4944-B7C0-69629D106265}"/>
              </a:ext>
            </a:extLst>
          </p:cNvPr>
          <p:cNvPicPr>
            <a:picLocks noGrp="1" noChangeAspect="1"/>
          </p:cNvPicPr>
          <p:nvPr>
            <p:ph idx="1"/>
          </p:nvPr>
        </p:nvPicPr>
        <p:blipFill>
          <a:blip r:embed="rId2"/>
          <a:stretch>
            <a:fillRect/>
          </a:stretch>
        </p:blipFill>
        <p:spPr>
          <a:xfrm>
            <a:off x="390501" y="1417638"/>
            <a:ext cx="8444429" cy="4938712"/>
          </a:xfrm>
        </p:spPr>
      </p:pic>
      <p:sp>
        <p:nvSpPr>
          <p:cNvPr id="4" name="Slide Number Placeholder 3">
            <a:extLst>
              <a:ext uri="{FF2B5EF4-FFF2-40B4-BE49-F238E27FC236}">
                <a16:creationId xmlns:a16="http://schemas.microsoft.com/office/drawing/2014/main" id="{C3A1A2DA-1FAE-488B-933A-0C677B9BE0E4}"/>
              </a:ext>
            </a:extLst>
          </p:cNvPr>
          <p:cNvSpPr>
            <a:spLocks noGrp="1"/>
          </p:cNvSpPr>
          <p:nvPr>
            <p:ph type="sldNum" sz="quarter" idx="12"/>
          </p:nvPr>
        </p:nvSpPr>
        <p:spPr/>
        <p:txBody>
          <a:bodyPr/>
          <a:lstStyle/>
          <a:p>
            <a:r>
              <a:rPr lang="en-US"/>
              <a:t>3-</a:t>
            </a:r>
            <a:fld id="{7597BC71-976C-43F9-8091-5829990FA63C}" type="slidenum">
              <a:rPr lang="en-US" smtClean="0"/>
              <a:pPr/>
              <a:t>15</a:t>
            </a:fld>
            <a:endParaRPr lang="en-US" dirty="0"/>
          </a:p>
        </p:txBody>
      </p:sp>
    </p:spTree>
    <p:extLst>
      <p:ext uri="{BB962C8B-B14F-4D97-AF65-F5344CB8AC3E}">
        <p14:creationId xmlns:p14="http://schemas.microsoft.com/office/powerpoint/2010/main" val="3389413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ELICITATION AND ANALYSIS</a:t>
            </a:r>
          </a:p>
        </p:txBody>
      </p:sp>
      <p:sp>
        <p:nvSpPr>
          <p:cNvPr id="3" name="Content Placeholder 2"/>
          <p:cNvSpPr>
            <a:spLocks noGrp="1"/>
          </p:cNvSpPr>
          <p:nvPr>
            <p:ph idx="1"/>
          </p:nvPr>
        </p:nvSpPr>
        <p:spPr/>
        <p:txBody>
          <a:bodyPr>
            <a:normAutofit fontScale="25000" lnSpcReduction="20000"/>
          </a:bodyPr>
          <a:lstStyle/>
          <a:p>
            <a:pPr>
              <a:buNone/>
            </a:pPr>
            <a:endParaRPr lang="en-US" b="1" dirty="0"/>
          </a:p>
          <a:p>
            <a:pPr>
              <a:lnSpc>
                <a:spcPct val="120000"/>
              </a:lnSpc>
            </a:pPr>
            <a:r>
              <a:rPr lang="en-US" sz="12800" dirty="0"/>
              <a:t>The analyst should recognize that important side effects of the process of determining requirements include building political support for the project and establishing trust between the project team and the users.</a:t>
            </a:r>
          </a:p>
          <a:p>
            <a:pPr>
              <a:lnSpc>
                <a:spcPct val="120000"/>
              </a:lnSpc>
            </a:pPr>
            <a:r>
              <a:rPr lang="en-US" sz="12800" dirty="0"/>
              <a:t> The analyst should carefully determine who is included in the process of determining requirements.</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16</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Interviews</a:t>
            </a:r>
          </a:p>
        </p:txBody>
      </p:sp>
      <p:sp>
        <p:nvSpPr>
          <p:cNvPr id="3" name="Content Placeholder 2"/>
          <p:cNvSpPr>
            <a:spLocks noGrp="1"/>
          </p:cNvSpPr>
          <p:nvPr>
            <p:ph idx="1"/>
          </p:nvPr>
        </p:nvSpPr>
        <p:spPr/>
        <p:txBody>
          <a:bodyPr/>
          <a:lstStyle/>
          <a:p>
            <a:r>
              <a:rPr lang="en-US" dirty="0"/>
              <a:t>The most commonly used requirements elicitation technique</a:t>
            </a:r>
          </a:p>
          <a:p>
            <a:r>
              <a:rPr lang="en-US" dirty="0"/>
              <a:t>Basic steps:</a:t>
            </a:r>
          </a:p>
          <a:p>
            <a:pPr lvl="1"/>
            <a:r>
              <a:rPr lang="en-US" dirty="0"/>
              <a:t>Selecting Interviewees</a:t>
            </a:r>
          </a:p>
          <a:p>
            <a:pPr lvl="1"/>
            <a:r>
              <a:rPr lang="en-US" dirty="0"/>
              <a:t>Designing Interview Questions</a:t>
            </a:r>
          </a:p>
          <a:p>
            <a:pPr lvl="1"/>
            <a:r>
              <a:rPr lang="en-US" dirty="0"/>
              <a:t>Preparing for the Interview</a:t>
            </a:r>
          </a:p>
          <a:p>
            <a:pPr lvl="1"/>
            <a:r>
              <a:rPr lang="en-US" dirty="0"/>
              <a:t>Conducting the Interview</a:t>
            </a:r>
          </a:p>
          <a:p>
            <a:pPr lvl="1"/>
            <a:r>
              <a:rPr lang="en-US" dirty="0"/>
              <a:t>Post-Interview Follow-up</a:t>
            </a:r>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17</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Selecting interviewees</a:t>
            </a:r>
          </a:p>
        </p:txBody>
      </p:sp>
      <p:sp>
        <p:nvSpPr>
          <p:cNvPr id="3" name="Content Placeholder 2"/>
          <p:cNvSpPr>
            <a:spLocks noGrp="1"/>
          </p:cNvSpPr>
          <p:nvPr>
            <p:ph idx="1"/>
          </p:nvPr>
        </p:nvSpPr>
        <p:spPr>
          <a:xfrm>
            <a:off x="457200" y="1600200"/>
            <a:ext cx="8458200" cy="4800600"/>
          </a:xfrm>
        </p:spPr>
        <p:txBody>
          <a:bodyPr>
            <a:normAutofit fontScale="70000" lnSpcReduction="20000"/>
          </a:bodyPr>
          <a:lstStyle/>
          <a:p>
            <a:r>
              <a:rPr lang="en-US" dirty="0"/>
              <a:t> </a:t>
            </a:r>
            <a:r>
              <a:rPr lang="en-US" b="1" i="1" dirty="0">
                <a:solidFill>
                  <a:srgbClr val="000099"/>
                </a:solidFill>
              </a:rPr>
              <a:t>Interview schedule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Including people at different levels of the organization</a:t>
            </a:r>
          </a:p>
          <a:p>
            <a:pPr lvl="1"/>
            <a:r>
              <a:rPr lang="en-US" dirty="0"/>
              <a:t>Managers</a:t>
            </a:r>
          </a:p>
          <a:p>
            <a:pPr lvl="1"/>
            <a:r>
              <a:rPr lang="en-US" dirty="0"/>
              <a:t>Users</a:t>
            </a:r>
          </a:p>
          <a:p>
            <a:pPr lvl="1"/>
            <a:r>
              <a:rPr lang="en-US" dirty="0"/>
              <a:t>Other key stakeholders</a:t>
            </a:r>
          </a:p>
          <a:p>
            <a:pPr>
              <a:buNone/>
            </a:pPr>
            <a:endParaRPr lang="en-US" dirty="0"/>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18</a:t>
            </a:fld>
            <a:endParaRPr lang="en-US" dirty="0"/>
          </a:p>
        </p:txBody>
      </p:sp>
      <p:pic>
        <p:nvPicPr>
          <p:cNvPr id="6" name="Picture 2" descr="fig_03_06"/>
          <p:cNvPicPr preferRelativeResize="0">
            <a:picLocks noChangeAspect="1" noChangeArrowheads="1"/>
          </p:cNvPicPr>
          <p:nvPr>
            <p:custDataLst>
              <p:tags r:id="rId1"/>
            </p:custDataLst>
          </p:nvPr>
        </p:nvPicPr>
        <p:blipFill>
          <a:blip r:embed="rId4" cstate="print"/>
          <a:srcRect/>
          <a:stretch>
            <a:fillRect/>
          </a:stretch>
        </p:blipFill>
        <p:spPr bwMode="auto">
          <a:xfrm>
            <a:off x="1752600" y="2133600"/>
            <a:ext cx="6248400" cy="2667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interview questions</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19</a:t>
            </a:fld>
            <a:endParaRPr lang="en-US" dirty="0"/>
          </a:p>
        </p:txBody>
      </p:sp>
      <p:pic>
        <p:nvPicPr>
          <p:cNvPr id="6" name="Picture 34" descr="Chapter_04_illus4"/>
          <p:cNvPicPr>
            <a:picLocks noGrp="1" noChangeAspect="1" noChangeArrowheads="1"/>
          </p:cNvPicPr>
          <p:nvPr>
            <p:ph idx="1"/>
          </p:nvPr>
        </p:nvPicPr>
        <p:blipFill>
          <a:blip r:embed="rId2" cstate="print">
            <a:lum bright="-6000"/>
          </a:blip>
          <a:srcRect l="21568" t="35606" r="22086" b="42424"/>
          <a:stretch>
            <a:fillRect/>
          </a:stretch>
        </p:blipFill>
        <p:spPr bwMode="auto">
          <a:xfrm>
            <a:off x="685800" y="1828800"/>
            <a:ext cx="7696199" cy="39624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(cont’d)</a:t>
            </a:r>
          </a:p>
        </p:txBody>
      </p:sp>
      <p:sp>
        <p:nvSpPr>
          <p:cNvPr id="3" name="Content Placeholder 2"/>
          <p:cNvSpPr>
            <a:spLocks noGrp="1"/>
          </p:cNvSpPr>
          <p:nvPr>
            <p:ph idx="1"/>
          </p:nvPr>
        </p:nvSpPr>
        <p:spPr/>
        <p:txBody>
          <a:bodyPr>
            <a:normAutofit/>
          </a:bodyPr>
          <a:lstStyle/>
          <a:p>
            <a:r>
              <a:rPr lang="en-US" dirty="0"/>
              <a:t>Unstructured interview</a:t>
            </a:r>
          </a:p>
          <a:p>
            <a:pPr lvl="1"/>
            <a:r>
              <a:rPr lang="en-US" sz="4000" dirty="0"/>
              <a:t>for a broad and roughly defined set of information</a:t>
            </a:r>
          </a:p>
          <a:p>
            <a:pPr lvl="1"/>
            <a:endParaRPr lang="en-US" sz="4000" dirty="0"/>
          </a:p>
          <a:p>
            <a:r>
              <a:rPr lang="en-US" dirty="0"/>
              <a:t>Structured interview</a:t>
            </a:r>
          </a:p>
          <a:p>
            <a:pPr lvl="1"/>
            <a:r>
              <a:rPr lang="en-US" sz="4000" dirty="0"/>
              <a:t> for very specific information</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20</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(cont’d)</a:t>
            </a:r>
          </a:p>
        </p:txBody>
      </p:sp>
      <p:sp>
        <p:nvSpPr>
          <p:cNvPr id="3" name="Content Placeholder 2"/>
          <p:cNvSpPr>
            <a:spLocks noGrp="1"/>
          </p:cNvSpPr>
          <p:nvPr>
            <p:ph idx="1"/>
          </p:nvPr>
        </p:nvSpPr>
        <p:spPr/>
        <p:txBody>
          <a:bodyPr/>
          <a:lstStyle/>
          <a:p>
            <a:r>
              <a:rPr lang="en-US" dirty="0"/>
              <a:t>Top-down vs. bottom-up interview</a:t>
            </a:r>
          </a:p>
          <a:p>
            <a:endParaRPr lang="en-US" dirty="0"/>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21</a:t>
            </a:fld>
            <a:endParaRPr lang="en-US" dirty="0"/>
          </a:p>
        </p:txBody>
      </p:sp>
      <p:pic>
        <p:nvPicPr>
          <p:cNvPr id="6" name="Picture 17" descr="Chapter_04_illus4"/>
          <p:cNvPicPr>
            <a:picLocks noChangeAspect="1" noChangeArrowheads="1"/>
          </p:cNvPicPr>
          <p:nvPr/>
        </p:nvPicPr>
        <p:blipFill>
          <a:blip r:embed="rId2" cstate="print">
            <a:lum bright="-6000"/>
          </a:blip>
          <a:srcRect l="21568" t="37552" r="21239" b="37878"/>
          <a:stretch>
            <a:fillRect/>
          </a:stretch>
        </p:blipFill>
        <p:spPr bwMode="auto">
          <a:xfrm>
            <a:off x="1371600" y="2590800"/>
            <a:ext cx="6705600" cy="35909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Preparing for the interview</a:t>
            </a:r>
          </a:p>
        </p:txBody>
      </p:sp>
      <p:sp>
        <p:nvSpPr>
          <p:cNvPr id="3" name="Content Placeholder 2"/>
          <p:cNvSpPr>
            <a:spLocks noGrp="1"/>
          </p:cNvSpPr>
          <p:nvPr>
            <p:ph idx="1"/>
          </p:nvPr>
        </p:nvSpPr>
        <p:spPr/>
        <p:txBody>
          <a:bodyPr/>
          <a:lstStyle/>
          <a:p>
            <a:r>
              <a:rPr lang="en-US" dirty="0"/>
              <a:t>Prepare a general interview plan</a:t>
            </a:r>
          </a:p>
          <a:p>
            <a:r>
              <a:rPr lang="en-US" dirty="0"/>
              <a:t>Confirm areas of knowledge</a:t>
            </a:r>
          </a:p>
          <a:p>
            <a:r>
              <a:rPr lang="en-US" dirty="0"/>
              <a:t>Set priorities in case of time shortage</a:t>
            </a:r>
          </a:p>
          <a:p>
            <a:r>
              <a:rPr lang="en-US" dirty="0"/>
              <a:t>Prepare the interviewee</a:t>
            </a:r>
          </a:p>
          <a:p>
            <a:pPr lvl="1">
              <a:lnSpc>
                <a:spcPct val="90000"/>
              </a:lnSpc>
            </a:pPr>
            <a:r>
              <a:rPr lang="en-US" dirty="0"/>
              <a:t>Schedule</a:t>
            </a:r>
          </a:p>
          <a:p>
            <a:pPr lvl="1">
              <a:lnSpc>
                <a:spcPct val="90000"/>
              </a:lnSpc>
            </a:pPr>
            <a:r>
              <a:rPr lang="en-US" dirty="0"/>
              <a:t>Inform of reason for interview</a:t>
            </a:r>
          </a:p>
          <a:p>
            <a:pPr lvl="1">
              <a:lnSpc>
                <a:spcPct val="90000"/>
              </a:lnSpc>
            </a:pPr>
            <a:r>
              <a:rPr lang="en-US" dirty="0"/>
              <a:t>Inform of areas of discussion</a:t>
            </a:r>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22</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Conducting the interview</a:t>
            </a:r>
          </a:p>
        </p:txBody>
      </p:sp>
      <p:sp>
        <p:nvSpPr>
          <p:cNvPr id="3" name="Content Placeholder 2"/>
          <p:cNvSpPr>
            <a:spLocks noGrp="1"/>
          </p:cNvSpPr>
          <p:nvPr>
            <p:ph idx="1"/>
          </p:nvPr>
        </p:nvSpPr>
        <p:spPr/>
        <p:txBody>
          <a:bodyPr>
            <a:normAutofit fontScale="85000" lnSpcReduction="10000"/>
          </a:bodyPr>
          <a:lstStyle/>
          <a:p>
            <a:pPr>
              <a:lnSpc>
                <a:spcPct val="120000"/>
              </a:lnSpc>
            </a:pPr>
            <a:r>
              <a:rPr lang="en-US" dirty="0"/>
              <a:t>Appear to be professional and unbiased.</a:t>
            </a:r>
          </a:p>
          <a:p>
            <a:pPr>
              <a:lnSpc>
                <a:spcPct val="120000"/>
              </a:lnSpc>
            </a:pPr>
            <a:r>
              <a:rPr lang="en-US" dirty="0"/>
              <a:t>Record all information.</a:t>
            </a:r>
          </a:p>
          <a:p>
            <a:pPr>
              <a:lnSpc>
                <a:spcPct val="120000"/>
              </a:lnSpc>
            </a:pPr>
            <a:r>
              <a:rPr lang="en-US" dirty="0"/>
              <a:t>Be sure you understand the issues that are discussed.</a:t>
            </a:r>
          </a:p>
          <a:p>
            <a:pPr>
              <a:lnSpc>
                <a:spcPct val="120000"/>
              </a:lnSpc>
            </a:pPr>
            <a:r>
              <a:rPr lang="en-US" dirty="0"/>
              <a:t>Separate facts from opinions.</a:t>
            </a:r>
          </a:p>
          <a:p>
            <a:pPr>
              <a:lnSpc>
                <a:spcPct val="120000"/>
              </a:lnSpc>
            </a:pPr>
            <a:r>
              <a:rPr lang="en-US" dirty="0"/>
              <a:t>Give interviewee time to ask questions, and brief explain what will happen next.</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23</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Post-interview follow-up</a:t>
            </a:r>
          </a:p>
        </p:txBody>
      </p:sp>
      <p:sp>
        <p:nvSpPr>
          <p:cNvPr id="3" name="Content Placeholder 2"/>
          <p:cNvSpPr>
            <a:spLocks noGrp="1"/>
          </p:cNvSpPr>
          <p:nvPr>
            <p:ph idx="1"/>
          </p:nvPr>
        </p:nvSpPr>
        <p:spPr/>
        <p:txBody>
          <a:bodyPr/>
          <a:lstStyle/>
          <a:p>
            <a:r>
              <a:rPr lang="en-US" dirty="0"/>
              <a:t>After the interview, the analysts needs to prepare an </a:t>
            </a:r>
            <a:r>
              <a:rPr lang="en-US" i="1" dirty="0">
                <a:solidFill>
                  <a:srgbClr val="000099"/>
                </a:solidFill>
              </a:rPr>
              <a:t>interview report.</a:t>
            </a:r>
          </a:p>
          <a:p>
            <a:r>
              <a:rPr lang="en-US" dirty="0"/>
              <a:t>The report includes </a:t>
            </a:r>
            <a:r>
              <a:rPr lang="en-US" i="1" dirty="0">
                <a:solidFill>
                  <a:srgbClr val="000099"/>
                </a:solidFill>
              </a:rPr>
              <a:t>interview notes.</a:t>
            </a:r>
          </a:p>
          <a:p>
            <a:r>
              <a:rPr lang="en-US" dirty="0"/>
              <a:t> The report is sent to interviewee with a request to read it and inform the analyst of clarification and updates.</a:t>
            </a:r>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24</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Post-interview follow-up…</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25</a:t>
            </a:fld>
            <a:endParaRPr lang="en-US" dirty="0"/>
          </a:p>
        </p:txBody>
      </p:sp>
      <p:sp>
        <p:nvSpPr>
          <p:cNvPr id="6" name="Content Placeholder 5"/>
          <p:cNvSpPr>
            <a:spLocks noGrp="1"/>
          </p:cNvSpPr>
          <p:nvPr>
            <p:ph idx="1"/>
          </p:nvPr>
        </p:nvSpPr>
        <p:spPr/>
        <p:txBody>
          <a:bodyPr/>
          <a:lstStyle/>
          <a:p>
            <a:endParaRPr lang="en-US"/>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967" t="3511" r="7434" b="3397"/>
          <a:stretch/>
        </p:blipFill>
        <p:spPr bwMode="auto">
          <a:xfrm>
            <a:off x="266700" y="-18144"/>
            <a:ext cx="8610600" cy="692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1950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Questionnaires</a:t>
            </a:r>
          </a:p>
        </p:txBody>
      </p:sp>
      <p:sp>
        <p:nvSpPr>
          <p:cNvPr id="3" name="Content Placeholder 2"/>
          <p:cNvSpPr>
            <a:spLocks noGrp="1"/>
          </p:cNvSpPr>
          <p:nvPr>
            <p:ph idx="1"/>
          </p:nvPr>
        </p:nvSpPr>
        <p:spPr/>
        <p:txBody>
          <a:bodyPr>
            <a:noAutofit/>
          </a:bodyPr>
          <a:lstStyle/>
          <a:p>
            <a:pPr>
              <a:lnSpc>
                <a:spcPct val="120000"/>
              </a:lnSpc>
            </a:pPr>
            <a:r>
              <a:rPr lang="en-US" sz="2800" dirty="0"/>
              <a:t>A </a:t>
            </a:r>
            <a:r>
              <a:rPr lang="en-US" sz="2800" b="1" dirty="0">
                <a:solidFill>
                  <a:srgbClr val="000099"/>
                </a:solidFill>
              </a:rPr>
              <a:t>questionnaire</a:t>
            </a:r>
            <a:r>
              <a:rPr lang="en-US" sz="2800" dirty="0"/>
              <a:t> is a set of written questions for obtaining information from individuals.</a:t>
            </a:r>
          </a:p>
          <a:p>
            <a:pPr>
              <a:lnSpc>
                <a:spcPct val="120000"/>
              </a:lnSpc>
            </a:pPr>
            <a:r>
              <a:rPr lang="en-US" sz="2800" b="1" dirty="0"/>
              <a:t>Selecting participants - </a:t>
            </a:r>
            <a:r>
              <a:rPr lang="en-US" sz="2800" dirty="0"/>
              <a:t>using a sample of people who are representative of the entire group.</a:t>
            </a:r>
          </a:p>
          <a:p>
            <a:pPr>
              <a:lnSpc>
                <a:spcPct val="120000"/>
              </a:lnSpc>
            </a:pPr>
            <a:r>
              <a:rPr lang="en-US" sz="2800" b="1" dirty="0"/>
              <a:t>Designing the questionnaire </a:t>
            </a:r>
            <a:r>
              <a:rPr lang="en-US" sz="2800" dirty="0"/>
              <a:t>– following good practice guidelines.</a:t>
            </a:r>
          </a:p>
          <a:p>
            <a:pPr>
              <a:lnSpc>
                <a:spcPct val="120000"/>
              </a:lnSpc>
            </a:pPr>
            <a:r>
              <a:rPr lang="en-US" sz="2800" b="1" dirty="0"/>
              <a:t>Administering the questionnaire </a:t>
            </a:r>
            <a:r>
              <a:rPr lang="en-US" sz="2800" dirty="0"/>
              <a:t>– improving the response rates.</a:t>
            </a:r>
          </a:p>
          <a:p>
            <a:pPr>
              <a:lnSpc>
                <a:spcPct val="120000"/>
              </a:lnSpc>
            </a:pPr>
            <a:r>
              <a:rPr lang="en-US" sz="2800" b="1" dirty="0"/>
              <a:t>Questionnaire follow-up – </a:t>
            </a:r>
            <a:r>
              <a:rPr lang="en-US" sz="2800" dirty="0"/>
              <a:t>developing a report.</a:t>
            </a:r>
          </a:p>
          <a:p>
            <a:endParaRPr lang="en-US" sz="3200"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26</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(cont’d)</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27</a:t>
            </a:fld>
            <a:endParaRPr lang="en-US" dirty="0"/>
          </a:p>
        </p:txBody>
      </p:sp>
      <p:sp>
        <p:nvSpPr>
          <p:cNvPr id="7" name="Content Placeholder 6"/>
          <p:cNvSpPr>
            <a:spLocks noGrp="1"/>
          </p:cNvSpPr>
          <p:nvPr>
            <p:ph idx="1"/>
          </p:nvPr>
        </p:nvSpPr>
        <p:spPr/>
        <p:txBody>
          <a:bodyPr/>
          <a:lstStyle/>
          <a:p>
            <a:pPr algn="ctr">
              <a:buNone/>
            </a:pPr>
            <a:r>
              <a:rPr lang="en-US" sz="3200" dirty="0"/>
              <a:t>Good questionnaire design</a:t>
            </a:r>
          </a:p>
          <a:p>
            <a:endParaRPr lang="en-US" dirty="0"/>
          </a:p>
        </p:txBody>
      </p:sp>
      <p:pic>
        <p:nvPicPr>
          <p:cNvPr id="8" name="Picture 4" descr="Chapter_04_illus4"/>
          <p:cNvPicPr>
            <a:picLocks noChangeAspect="1" noChangeArrowheads="1"/>
          </p:cNvPicPr>
          <p:nvPr/>
        </p:nvPicPr>
        <p:blipFill>
          <a:blip r:embed="rId2" cstate="print"/>
          <a:srcRect l="28432" t="37120" r="28432" b="47728"/>
          <a:stretch>
            <a:fillRect/>
          </a:stretch>
        </p:blipFill>
        <p:spPr bwMode="auto">
          <a:xfrm>
            <a:off x="1219200" y="2362200"/>
            <a:ext cx="6934200" cy="38100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 Analysis</a:t>
            </a:r>
          </a:p>
        </p:txBody>
      </p:sp>
      <p:sp>
        <p:nvSpPr>
          <p:cNvPr id="3" name="Content Placeholder 2"/>
          <p:cNvSpPr>
            <a:spLocks noGrp="1"/>
          </p:cNvSpPr>
          <p:nvPr>
            <p:ph idx="1"/>
          </p:nvPr>
        </p:nvSpPr>
        <p:spPr/>
        <p:txBody>
          <a:bodyPr>
            <a:normAutofit fontScale="70000" lnSpcReduction="20000"/>
          </a:bodyPr>
          <a:lstStyle/>
          <a:p>
            <a:pPr>
              <a:lnSpc>
                <a:spcPct val="120000"/>
              </a:lnSpc>
            </a:pPr>
            <a:r>
              <a:rPr lang="en-US" b="1" dirty="0">
                <a:solidFill>
                  <a:srgbClr val="000099"/>
                </a:solidFill>
              </a:rPr>
              <a:t>Document analysis </a:t>
            </a:r>
            <a:r>
              <a:rPr lang="en-US" dirty="0"/>
              <a:t>is used to understand the as-is system.</a:t>
            </a:r>
          </a:p>
          <a:p>
            <a:pPr>
              <a:lnSpc>
                <a:spcPct val="120000"/>
              </a:lnSpc>
            </a:pPr>
            <a:r>
              <a:rPr lang="en-US" dirty="0"/>
              <a:t>Forms, reports, policy manuals, organization charts describe the </a:t>
            </a:r>
            <a:r>
              <a:rPr lang="en-US" i="1" dirty="0">
                <a:solidFill>
                  <a:srgbClr val="000099"/>
                </a:solidFill>
              </a:rPr>
              <a:t>formal system </a:t>
            </a:r>
            <a:r>
              <a:rPr lang="en-US" dirty="0"/>
              <a:t>that the organization uses.</a:t>
            </a:r>
            <a:endParaRPr lang="en-US" b="1" dirty="0">
              <a:solidFill>
                <a:srgbClr val="0099FF"/>
              </a:solidFill>
            </a:endParaRPr>
          </a:p>
          <a:p>
            <a:pPr>
              <a:lnSpc>
                <a:spcPct val="120000"/>
              </a:lnSpc>
            </a:pPr>
            <a:r>
              <a:rPr lang="en-US" dirty="0"/>
              <a:t>The “real” or </a:t>
            </a:r>
            <a:r>
              <a:rPr lang="en-US" i="1" dirty="0">
                <a:solidFill>
                  <a:srgbClr val="000099"/>
                </a:solidFill>
              </a:rPr>
              <a:t>informal system </a:t>
            </a:r>
            <a:r>
              <a:rPr lang="en-US" dirty="0"/>
              <a:t>differs from the formal one, and reveals what needs to be changed.</a:t>
            </a:r>
          </a:p>
          <a:p>
            <a:pPr>
              <a:lnSpc>
                <a:spcPct val="120000"/>
              </a:lnSpc>
            </a:pPr>
            <a:r>
              <a:rPr lang="en-US" dirty="0"/>
              <a:t>The indication that system needs to be changed is when users create new forms or make changes to the existing forms/reports.</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28</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Observation</a:t>
            </a:r>
          </a:p>
        </p:txBody>
      </p:sp>
      <p:sp>
        <p:nvSpPr>
          <p:cNvPr id="3" name="Content Placeholder 2"/>
          <p:cNvSpPr>
            <a:spLocks noGrp="1"/>
          </p:cNvSpPr>
          <p:nvPr>
            <p:ph idx="1"/>
          </p:nvPr>
        </p:nvSpPr>
        <p:spPr/>
        <p:txBody>
          <a:bodyPr>
            <a:normAutofit fontScale="85000" lnSpcReduction="20000"/>
          </a:bodyPr>
          <a:lstStyle/>
          <a:p>
            <a:pPr>
              <a:lnSpc>
                <a:spcPct val="120000"/>
              </a:lnSpc>
            </a:pPr>
            <a:r>
              <a:rPr lang="en-US" b="1" dirty="0">
                <a:solidFill>
                  <a:srgbClr val="000099"/>
                </a:solidFill>
              </a:rPr>
              <a:t>Observation</a:t>
            </a:r>
            <a:r>
              <a:rPr lang="en-US" dirty="0"/>
              <a:t> – the act of watching processes being performed.</a:t>
            </a:r>
          </a:p>
          <a:p>
            <a:pPr>
              <a:lnSpc>
                <a:spcPct val="120000"/>
              </a:lnSpc>
            </a:pPr>
            <a:r>
              <a:rPr lang="en-US" dirty="0"/>
              <a:t>It is a powerful tool to gain insight into the as-is system, and to check the validity of information gathered from other sources.</a:t>
            </a:r>
          </a:p>
          <a:p>
            <a:pPr>
              <a:lnSpc>
                <a:spcPct val="120000"/>
              </a:lnSpc>
            </a:pPr>
            <a:r>
              <a:rPr lang="en-US" dirty="0"/>
              <a:t>Nonetheless,  people tend to be extremely careful in their behaviors when they are being watched.</a:t>
            </a:r>
          </a:p>
          <a:p>
            <a:pPr>
              <a:buNone/>
            </a:pPr>
            <a:endParaRPr lang="en-US" dirty="0"/>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29</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Joint Application Development (JAD)</a:t>
            </a:r>
          </a:p>
        </p:txBody>
      </p:sp>
      <p:sp>
        <p:nvSpPr>
          <p:cNvPr id="3" name="Content Placeholder 2"/>
          <p:cNvSpPr>
            <a:spLocks noGrp="1"/>
          </p:cNvSpPr>
          <p:nvPr>
            <p:ph idx="1"/>
          </p:nvPr>
        </p:nvSpPr>
        <p:spPr>
          <a:xfrm>
            <a:off x="457200" y="1600200"/>
            <a:ext cx="8534400" cy="4525963"/>
          </a:xfrm>
        </p:spPr>
        <p:txBody>
          <a:bodyPr>
            <a:normAutofit fontScale="77500" lnSpcReduction="20000"/>
          </a:bodyPr>
          <a:lstStyle/>
          <a:p>
            <a:pPr>
              <a:lnSpc>
                <a:spcPct val="120000"/>
              </a:lnSpc>
            </a:pPr>
            <a:r>
              <a:rPr lang="en-US" dirty="0"/>
              <a:t>JAD is an information gathering  technique that allows the project team, users, and management to work together to identify requirements for the system.</a:t>
            </a:r>
          </a:p>
          <a:p>
            <a:pPr>
              <a:lnSpc>
                <a:spcPct val="120000"/>
              </a:lnSpc>
            </a:pPr>
            <a:r>
              <a:rPr lang="en-US" dirty="0"/>
              <a:t>Developed by IBM in late </a:t>
            </a:r>
            <a:r>
              <a:rPr lang="en-US" dirty="0" err="1"/>
              <a:t>1970s</a:t>
            </a:r>
            <a:endParaRPr lang="en-US" dirty="0"/>
          </a:p>
          <a:p>
            <a:pPr>
              <a:lnSpc>
                <a:spcPct val="120000"/>
              </a:lnSpc>
            </a:pPr>
            <a:r>
              <a:rPr lang="en-US" dirty="0"/>
              <a:t>It can reduce scope creep by 50%,</a:t>
            </a:r>
          </a:p>
          <a:p>
            <a:pPr>
              <a:lnSpc>
                <a:spcPct val="120000"/>
              </a:lnSpc>
            </a:pPr>
            <a:r>
              <a:rPr lang="en-US" dirty="0"/>
              <a:t>JAD is a structure process in which 10 to 20 users meet under the direction of a </a:t>
            </a:r>
            <a:r>
              <a:rPr lang="en-US" b="1" i="1" dirty="0">
                <a:solidFill>
                  <a:srgbClr val="000099"/>
                </a:solidFill>
              </a:rPr>
              <a:t>facilitator </a:t>
            </a:r>
            <a:r>
              <a:rPr lang="en-US" dirty="0"/>
              <a:t>skilled in JAD techniques.</a:t>
            </a:r>
          </a:p>
          <a:p>
            <a:pPr>
              <a:lnSpc>
                <a:spcPct val="120000"/>
              </a:lnSpc>
            </a:pPr>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30</a:t>
            </a:fld>
            <a:endParaRPr lang="en-US" dirty="0"/>
          </a:p>
        </p:txBody>
      </p:sp>
    </p:spTree>
    <p:extLst>
      <p:ext uri="{BB962C8B-B14F-4D97-AF65-F5344CB8AC3E}">
        <p14:creationId xmlns:p14="http://schemas.microsoft.com/office/powerpoint/2010/main" val="8978587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Selecting the Appropriate Techniques</a:t>
            </a:r>
          </a:p>
        </p:txBody>
      </p:sp>
      <p:sp>
        <p:nvSpPr>
          <p:cNvPr id="3" name="Content Placeholder 2"/>
          <p:cNvSpPr>
            <a:spLocks noGrp="1"/>
          </p:cNvSpPr>
          <p:nvPr>
            <p:ph idx="1"/>
          </p:nvPr>
        </p:nvSpPr>
        <p:spPr/>
        <p:txBody>
          <a:bodyPr>
            <a:normAutofit fontScale="62500" lnSpcReduction="20000"/>
          </a:bodyPr>
          <a:lstStyle/>
          <a:p>
            <a:r>
              <a:rPr lang="en-US" dirty="0"/>
              <a:t>Type of information</a:t>
            </a:r>
          </a:p>
          <a:p>
            <a:pPr lvl="1"/>
            <a:r>
              <a:rPr lang="en-US" dirty="0"/>
              <a:t>As-is system(mostly doc analysis/observation)</a:t>
            </a:r>
          </a:p>
          <a:p>
            <a:pPr lvl="1"/>
            <a:r>
              <a:rPr lang="en-US" dirty="0"/>
              <a:t>new improvements</a:t>
            </a:r>
          </a:p>
          <a:p>
            <a:pPr lvl="1"/>
            <a:r>
              <a:rPr lang="en-US" dirty="0"/>
              <a:t>to-be system</a:t>
            </a:r>
          </a:p>
          <a:p>
            <a:r>
              <a:rPr lang="en-US" dirty="0"/>
              <a:t>Depth of information</a:t>
            </a:r>
          </a:p>
          <a:p>
            <a:pPr lvl="1"/>
            <a:r>
              <a:rPr lang="en-US" dirty="0"/>
              <a:t>How rich and detailed the info </a:t>
            </a:r>
          </a:p>
          <a:p>
            <a:r>
              <a:rPr lang="en-US" dirty="0"/>
              <a:t>Breadth of information</a:t>
            </a:r>
          </a:p>
          <a:p>
            <a:pPr lvl="1"/>
            <a:r>
              <a:rPr lang="en-US" dirty="0"/>
              <a:t>Range of info</a:t>
            </a:r>
          </a:p>
          <a:p>
            <a:r>
              <a:rPr lang="en-US" dirty="0"/>
              <a:t>Integration of information</a:t>
            </a:r>
          </a:p>
          <a:p>
            <a:pPr lvl="1"/>
            <a:r>
              <a:rPr lang="en-US" dirty="0"/>
              <a:t>Conflicting facts and opinions</a:t>
            </a:r>
          </a:p>
          <a:p>
            <a:r>
              <a:rPr lang="en-US" dirty="0"/>
              <a:t>User involvement</a:t>
            </a:r>
          </a:p>
          <a:p>
            <a:pPr lvl="1"/>
            <a:r>
              <a:rPr lang="en-US" dirty="0"/>
              <a:t>They are cost</a:t>
            </a:r>
          </a:p>
          <a:p>
            <a:r>
              <a:rPr lang="en-US" dirty="0"/>
              <a:t>Cost</a:t>
            </a:r>
          </a:p>
          <a:p>
            <a:pPr lvl="1"/>
            <a:r>
              <a:rPr lang="en-US" dirty="0"/>
              <a:t>Users time, consultancy wages</a:t>
            </a:r>
          </a:p>
          <a:p>
            <a:r>
              <a:rPr lang="en-US" dirty="0"/>
              <a:t>Combining techniques</a:t>
            </a:r>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31</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(cont’d)</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32</a:t>
            </a:fld>
            <a:endParaRPr lang="en-US" dirty="0"/>
          </a:p>
        </p:txBody>
      </p:sp>
      <p:sp>
        <p:nvSpPr>
          <p:cNvPr id="7" name="Content Placeholder 6"/>
          <p:cNvSpPr>
            <a:spLocks noGrp="1"/>
          </p:cNvSpPr>
          <p:nvPr>
            <p:ph idx="1"/>
          </p:nvPr>
        </p:nvSpPr>
        <p:spPr/>
        <p:txBody>
          <a:bodyPr>
            <a:normAutofit/>
          </a:bodyPr>
          <a:lstStyle/>
          <a:p>
            <a:pPr algn="ctr">
              <a:buNone/>
            </a:pPr>
            <a:r>
              <a:rPr lang="en-US" sz="2800" dirty="0"/>
              <a:t>Comparison of Requirements Elicitation Techniques</a:t>
            </a:r>
          </a:p>
          <a:p>
            <a:pPr algn="ctr">
              <a:buNone/>
            </a:pPr>
            <a:endParaRPr lang="en-US" sz="2800" dirty="0"/>
          </a:p>
        </p:txBody>
      </p:sp>
      <p:pic>
        <p:nvPicPr>
          <p:cNvPr id="8" name="Picture 7" descr="Chapter_04_illus4"/>
          <p:cNvPicPr>
            <a:picLocks noChangeAspect="1" noChangeArrowheads="1"/>
          </p:cNvPicPr>
          <p:nvPr/>
        </p:nvPicPr>
        <p:blipFill>
          <a:blip r:embed="rId2" cstate="print"/>
          <a:srcRect l="10785" t="39394" r="10785" b="43939"/>
          <a:stretch>
            <a:fillRect/>
          </a:stretch>
        </p:blipFill>
        <p:spPr bwMode="auto">
          <a:xfrm>
            <a:off x="457200" y="2514600"/>
            <a:ext cx="8229600" cy="35814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ANALYSIS STRATEGIES</a:t>
            </a:r>
          </a:p>
        </p:txBody>
      </p:sp>
      <p:sp>
        <p:nvSpPr>
          <p:cNvPr id="3" name="Content Placeholder 2"/>
          <p:cNvSpPr>
            <a:spLocks noGrp="1"/>
          </p:cNvSpPr>
          <p:nvPr>
            <p:ph idx="1"/>
          </p:nvPr>
        </p:nvSpPr>
        <p:spPr/>
        <p:txBody>
          <a:bodyPr>
            <a:normAutofit fontScale="85000" lnSpcReduction="20000"/>
          </a:bodyPr>
          <a:lstStyle/>
          <a:p>
            <a:pPr algn="ctr">
              <a:lnSpc>
                <a:spcPct val="80000"/>
              </a:lnSpc>
              <a:buNone/>
            </a:pPr>
            <a:endParaRPr lang="en-US" sz="4400" b="1" dirty="0"/>
          </a:p>
          <a:p>
            <a:pPr algn="ctr">
              <a:lnSpc>
                <a:spcPct val="80000"/>
              </a:lnSpc>
              <a:buNone/>
            </a:pPr>
            <a:r>
              <a:rPr lang="en-US" sz="4800" b="1" dirty="0"/>
              <a:t>Problem Analysis</a:t>
            </a:r>
          </a:p>
          <a:p>
            <a:pPr>
              <a:lnSpc>
                <a:spcPct val="80000"/>
              </a:lnSpc>
              <a:buNone/>
            </a:pPr>
            <a:endParaRPr lang="en-US" b="1" dirty="0"/>
          </a:p>
          <a:p>
            <a:pPr marL="342900" lvl="1" indent="-342900">
              <a:lnSpc>
                <a:spcPct val="120000"/>
              </a:lnSpc>
              <a:spcBef>
                <a:spcPts val="0"/>
              </a:spcBef>
              <a:buClr>
                <a:srgbClr val="0070C0"/>
              </a:buClr>
              <a:buSzPct val="150000"/>
              <a:buFont typeface="Wingdings" pitchFamily="2" charset="2"/>
              <a:buChar char="§"/>
            </a:pPr>
            <a:r>
              <a:rPr lang="en-US" sz="3600" dirty="0"/>
              <a:t>Asking users to identify problems and solutions</a:t>
            </a:r>
          </a:p>
          <a:p>
            <a:pPr marL="342900" lvl="1" indent="-342900">
              <a:lnSpc>
                <a:spcPct val="120000"/>
              </a:lnSpc>
              <a:spcBef>
                <a:spcPts val="0"/>
              </a:spcBef>
              <a:buClr>
                <a:srgbClr val="0070C0"/>
              </a:buClr>
              <a:buSzPct val="150000"/>
              <a:buFont typeface="Wingdings" pitchFamily="2" charset="2"/>
              <a:buChar char="§"/>
            </a:pPr>
            <a:r>
              <a:rPr lang="en-US" sz="3600" dirty="0"/>
              <a:t>Improvements from problem analysis tend to be small and incremental</a:t>
            </a:r>
          </a:p>
          <a:p>
            <a:pPr marL="342900" lvl="1" indent="-342900">
              <a:lnSpc>
                <a:spcPct val="120000"/>
              </a:lnSpc>
              <a:spcBef>
                <a:spcPts val="0"/>
              </a:spcBef>
              <a:buClr>
                <a:srgbClr val="0070C0"/>
              </a:buClr>
              <a:buSzPct val="150000"/>
              <a:buFont typeface="Wingdings" pitchFamily="2" charset="2"/>
              <a:buChar char="§"/>
            </a:pPr>
            <a:r>
              <a:rPr lang="en-US" sz="3600" dirty="0"/>
              <a:t>This type of improvements often is very effective at improving a system’s efficiency or ease of use; however, it provides minor improvements in business value.</a:t>
            </a:r>
          </a:p>
          <a:p>
            <a:pPr>
              <a:lnSpc>
                <a:spcPct val="120000"/>
              </a:lnSpc>
            </a:pPr>
            <a:endParaRPr lang="en-US" b="1" dirty="0"/>
          </a:p>
          <a:p>
            <a:pPr>
              <a:lnSpc>
                <a:spcPct val="120000"/>
              </a:lnSpc>
            </a:pPr>
            <a:endParaRPr lang="en-US" b="1"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33</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04-04W-"/>
          <p:cNvPicPr>
            <a:picLocks noChangeAspect="1" noChangeArrowheads="1"/>
          </p:cNvPicPr>
          <p:nvPr/>
        </p:nvPicPr>
        <p:blipFill>
          <a:blip r:embed="rId2" cstate="print"/>
          <a:srcRect/>
          <a:stretch>
            <a:fillRect/>
          </a:stretch>
        </p:blipFill>
        <p:spPr bwMode="auto">
          <a:xfrm>
            <a:off x="1264907" y="2192055"/>
            <a:ext cx="6888493" cy="4529420"/>
          </a:xfrm>
          <a:prstGeom prst="rect">
            <a:avLst/>
          </a:prstGeom>
          <a:noFill/>
        </p:spPr>
      </p:pic>
      <p:sp>
        <p:nvSpPr>
          <p:cNvPr id="2" name="Title 1"/>
          <p:cNvSpPr>
            <a:spLocks noGrp="1"/>
          </p:cNvSpPr>
          <p:nvPr>
            <p:ph type="title"/>
          </p:nvPr>
        </p:nvSpPr>
        <p:spPr/>
        <p:txBody>
          <a:bodyPr>
            <a:normAutofit/>
          </a:bodyPr>
          <a:lstStyle/>
          <a:p>
            <a:r>
              <a:rPr lang="en-US" dirty="0"/>
              <a:t>Root Cause Analysis</a:t>
            </a:r>
          </a:p>
        </p:txBody>
      </p:sp>
      <p:sp>
        <p:nvSpPr>
          <p:cNvPr id="3" name="Content Placeholder 2"/>
          <p:cNvSpPr>
            <a:spLocks noGrp="1"/>
          </p:cNvSpPr>
          <p:nvPr>
            <p:ph idx="1"/>
          </p:nvPr>
        </p:nvSpPr>
        <p:spPr/>
        <p:txBody>
          <a:bodyPr/>
          <a:lstStyle/>
          <a:p>
            <a:r>
              <a:rPr lang="en-US" sz="2800" b="1" dirty="0">
                <a:solidFill>
                  <a:srgbClr val="000099"/>
                </a:solidFill>
              </a:rPr>
              <a:t>Root cause analysis </a:t>
            </a:r>
            <a:r>
              <a:rPr lang="en-US" sz="2800" dirty="0"/>
              <a:t>focuses on problems first rather than solutions.</a:t>
            </a:r>
          </a:p>
          <a:p>
            <a:endParaRPr lang="en-US" dirty="0"/>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34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Duration Analysis</a:t>
            </a:r>
          </a:p>
        </p:txBody>
      </p:sp>
      <p:sp>
        <p:nvSpPr>
          <p:cNvPr id="3" name="Content Placeholder 2"/>
          <p:cNvSpPr>
            <a:spLocks noGrp="1"/>
          </p:cNvSpPr>
          <p:nvPr>
            <p:ph idx="1"/>
          </p:nvPr>
        </p:nvSpPr>
        <p:spPr/>
        <p:txBody>
          <a:bodyPr>
            <a:normAutofit fontScale="92500"/>
          </a:bodyPr>
          <a:lstStyle/>
          <a:p>
            <a:r>
              <a:rPr lang="en-US" sz="2800" b="1" dirty="0">
                <a:solidFill>
                  <a:srgbClr val="000099"/>
                </a:solidFill>
              </a:rPr>
              <a:t>Duration analysis </a:t>
            </a:r>
            <a:r>
              <a:rPr lang="en-US" sz="2800" dirty="0"/>
              <a:t>requires a detailed examination of amount of time it takes to perform each process in the as-is system.</a:t>
            </a:r>
          </a:p>
          <a:p>
            <a:r>
              <a:rPr lang="en-US" sz="2800" dirty="0"/>
              <a:t>Compare the total time to complete basic steps and the total time for the overall process – a significant difference indicates that the process is badly fragmented.</a:t>
            </a:r>
          </a:p>
          <a:p>
            <a:r>
              <a:rPr lang="en-US" sz="2800" dirty="0"/>
              <a:t>Potential solutions:</a:t>
            </a:r>
          </a:p>
          <a:p>
            <a:pPr lvl="1"/>
            <a:r>
              <a:rPr lang="en-US" sz="2400" dirty="0"/>
              <a:t>Process integration</a:t>
            </a:r>
          </a:p>
          <a:p>
            <a:pPr lvl="2"/>
            <a:r>
              <a:rPr lang="en-US" sz="2000" dirty="0"/>
              <a:t>Change fundamental process / use few people</a:t>
            </a:r>
          </a:p>
          <a:p>
            <a:pPr lvl="1"/>
            <a:r>
              <a:rPr lang="en-US" sz="2400" dirty="0"/>
              <a:t>Parallelization</a:t>
            </a:r>
          </a:p>
          <a:p>
            <a:pPr lvl="2"/>
            <a:r>
              <a:rPr lang="en-US" sz="2000" dirty="0"/>
              <a:t>Process simultaneously / check credit whilst title check in mortgage  </a:t>
            </a:r>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35</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Activity-Based Costing</a:t>
            </a:r>
          </a:p>
        </p:txBody>
      </p:sp>
      <p:sp>
        <p:nvSpPr>
          <p:cNvPr id="3" name="Content Placeholder 2"/>
          <p:cNvSpPr>
            <a:spLocks noGrp="1"/>
          </p:cNvSpPr>
          <p:nvPr>
            <p:ph idx="1"/>
          </p:nvPr>
        </p:nvSpPr>
        <p:spPr/>
        <p:txBody>
          <a:bodyPr>
            <a:normAutofit fontScale="85000" lnSpcReduction="20000"/>
          </a:bodyPr>
          <a:lstStyle/>
          <a:p>
            <a:pPr>
              <a:lnSpc>
                <a:spcPct val="120000"/>
              </a:lnSpc>
            </a:pPr>
            <a:r>
              <a:rPr lang="en-US" dirty="0"/>
              <a:t> </a:t>
            </a:r>
            <a:r>
              <a:rPr lang="en-US" sz="4200" b="1" dirty="0">
                <a:solidFill>
                  <a:srgbClr val="000099"/>
                </a:solidFill>
              </a:rPr>
              <a:t>Activity-based costing </a:t>
            </a:r>
            <a:r>
              <a:rPr lang="en-US" sz="4200" dirty="0"/>
              <a:t>examines the cost of each major process or step in a business process.</a:t>
            </a:r>
          </a:p>
          <a:p>
            <a:pPr>
              <a:lnSpc>
                <a:spcPct val="120000"/>
              </a:lnSpc>
            </a:pPr>
            <a:r>
              <a:rPr lang="en-US" sz="4200" dirty="0"/>
              <a:t>Both direct and indirect costs are considered.</a:t>
            </a:r>
          </a:p>
          <a:p>
            <a:pPr>
              <a:lnSpc>
                <a:spcPct val="120000"/>
              </a:lnSpc>
            </a:pPr>
            <a:r>
              <a:rPr lang="en-US" sz="4200" dirty="0"/>
              <a:t>The analysts identify most costly steps and focus improvement efforts on them.</a:t>
            </a:r>
            <a:br>
              <a:rPr lang="en-US" sz="4200" dirty="0"/>
            </a:br>
            <a:endParaRPr lang="en-US" sz="4200" dirty="0"/>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36</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Informal Benchmarking</a:t>
            </a:r>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r>
              <a:rPr lang="en-US" dirty="0"/>
              <a:t> </a:t>
            </a:r>
            <a:r>
              <a:rPr lang="en-US" b="1" dirty="0">
                <a:solidFill>
                  <a:srgbClr val="000099"/>
                </a:solidFill>
              </a:rPr>
              <a:t>Benchmarking</a:t>
            </a:r>
            <a:r>
              <a:rPr lang="en-US" dirty="0"/>
              <a:t> refers to studying how other organizations perform a business process.</a:t>
            </a:r>
          </a:p>
          <a:p>
            <a:r>
              <a:rPr lang="en-US" dirty="0"/>
              <a:t>Informal benchmarking is common for “customer-facing” processes</a:t>
            </a:r>
            <a:r>
              <a:rPr lang="en-US" baseline="30000" dirty="0">
                <a:solidFill>
                  <a:srgbClr val="FF0000"/>
                </a:solidFill>
              </a:rPr>
              <a:t>*</a:t>
            </a:r>
            <a:r>
              <a:rPr lang="en-US" dirty="0"/>
              <a:t>.</a:t>
            </a:r>
          </a:p>
          <a:p>
            <a:r>
              <a:rPr lang="en-US" dirty="0"/>
              <a:t> The analysts visit other organizations as customers to watch how the business process is performed.</a:t>
            </a:r>
          </a:p>
          <a:p>
            <a:endParaRPr lang="en-US" sz="3500" dirty="0"/>
          </a:p>
          <a:p>
            <a:pPr marL="0" indent="0">
              <a:buNone/>
            </a:pPr>
            <a:r>
              <a:rPr lang="en-US" sz="3500" dirty="0">
                <a:solidFill>
                  <a:srgbClr val="FF0000"/>
                </a:solidFill>
              </a:rPr>
              <a:t>*</a:t>
            </a:r>
            <a:r>
              <a:rPr lang="en-US" sz="3500" dirty="0"/>
              <a:t> Processes that interact with the customer</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37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 calcmode="lin" valueType="num">
                                      <p:cBhvr additive="base">
                                        <p:cTn id="1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Outcome Analysis</a:t>
            </a:r>
          </a:p>
        </p:txBody>
      </p:sp>
      <p:sp>
        <p:nvSpPr>
          <p:cNvPr id="3" name="Content Placeholder 2"/>
          <p:cNvSpPr>
            <a:spLocks noGrp="1"/>
          </p:cNvSpPr>
          <p:nvPr>
            <p:ph idx="1"/>
          </p:nvPr>
        </p:nvSpPr>
        <p:spPr/>
        <p:txBody>
          <a:bodyPr>
            <a:normAutofit fontScale="92500"/>
          </a:bodyPr>
          <a:lstStyle/>
          <a:p>
            <a:r>
              <a:rPr lang="en-US" b="1" dirty="0">
                <a:solidFill>
                  <a:srgbClr val="000099"/>
                </a:solidFill>
              </a:rPr>
              <a:t>Outcome analysis </a:t>
            </a:r>
            <a:r>
              <a:rPr lang="en-US" dirty="0"/>
              <a:t>focuses on understanding fundamental outcomes that provide value to customers.</a:t>
            </a:r>
          </a:p>
          <a:p>
            <a:r>
              <a:rPr lang="en-US" dirty="0"/>
              <a:t>Think what the organization </a:t>
            </a:r>
            <a:r>
              <a:rPr lang="en-US" i="1" dirty="0"/>
              <a:t>could</a:t>
            </a:r>
            <a:r>
              <a:rPr lang="en-US" dirty="0"/>
              <a:t> enable the customer to do</a:t>
            </a:r>
          </a:p>
          <a:p>
            <a:pPr lvl="1"/>
            <a:r>
              <a:rPr lang="en-US" dirty="0"/>
              <a:t>In an insurance company, they pay for repair but provide body repair shop / a temporary vehicle to them </a:t>
            </a:r>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38</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Technology Analysis</a:t>
            </a:r>
          </a:p>
        </p:txBody>
      </p:sp>
      <p:sp>
        <p:nvSpPr>
          <p:cNvPr id="3" name="Content Placeholder 2"/>
          <p:cNvSpPr>
            <a:spLocks noGrp="1"/>
          </p:cNvSpPr>
          <p:nvPr>
            <p:ph idx="1"/>
          </p:nvPr>
        </p:nvSpPr>
        <p:spPr/>
        <p:txBody>
          <a:bodyPr>
            <a:normAutofit fontScale="92500"/>
          </a:bodyPr>
          <a:lstStyle/>
          <a:p>
            <a:r>
              <a:rPr lang="en-US" dirty="0"/>
              <a:t> </a:t>
            </a:r>
            <a:r>
              <a:rPr lang="en-US" b="1" dirty="0">
                <a:solidFill>
                  <a:srgbClr val="000099"/>
                </a:solidFill>
              </a:rPr>
              <a:t>Technology analysis</a:t>
            </a:r>
            <a:r>
              <a:rPr lang="en-US" dirty="0"/>
              <a:t> involves two steps:</a:t>
            </a:r>
            <a:endParaRPr lang="en-US" b="1" dirty="0">
              <a:solidFill>
                <a:srgbClr val="000099"/>
              </a:solidFill>
            </a:endParaRPr>
          </a:p>
          <a:p>
            <a:pPr>
              <a:buNone/>
            </a:pPr>
            <a:r>
              <a:rPr lang="en-US" dirty="0"/>
              <a:t>1. The analysts and managers</a:t>
            </a:r>
            <a:r>
              <a:rPr lang="en-US" b="1" dirty="0">
                <a:solidFill>
                  <a:srgbClr val="000099"/>
                </a:solidFill>
              </a:rPr>
              <a:t> </a:t>
            </a:r>
            <a:r>
              <a:rPr lang="en-US" dirty="0"/>
              <a:t>list important and interesting technologies.</a:t>
            </a:r>
          </a:p>
          <a:p>
            <a:pPr>
              <a:buNone/>
            </a:pPr>
            <a:r>
              <a:rPr lang="en-US" dirty="0"/>
              <a:t>2. Then, the group identifies how each and every technology might be applied to the business and how the business would benefit.</a:t>
            </a:r>
          </a:p>
          <a:p>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39</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Comparing Analysis Strategies</a:t>
            </a:r>
          </a:p>
        </p:txBody>
      </p:sp>
      <p:sp>
        <p:nvSpPr>
          <p:cNvPr id="3" name="Content Placeholder 2"/>
          <p:cNvSpPr>
            <a:spLocks noGrp="1"/>
          </p:cNvSpPr>
          <p:nvPr>
            <p:ph idx="1"/>
          </p:nvPr>
        </p:nvSpPr>
        <p:spPr/>
        <p:txBody>
          <a:bodyPr/>
          <a:lstStyle/>
          <a:p>
            <a:r>
              <a:rPr lang="en-US" dirty="0"/>
              <a:t> Each of the requirement analysis strategies has its own purpose.</a:t>
            </a:r>
          </a:p>
          <a:p>
            <a:r>
              <a:rPr lang="en-US" dirty="0"/>
              <a:t> No one strategy is inherently better that the others.</a:t>
            </a:r>
          </a:p>
          <a:p>
            <a:r>
              <a:rPr lang="en-US" dirty="0"/>
              <a:t>The requirement analysis strategy should be chosen to fit the nature of the project.</a:t>
            </a:r>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40</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fontScale="47500" lnSpcReduction="20000"/>
          </a:bodyPr>
          <a:lstStyle/>
          <a:p>
            <a:pPr>
              <a:lnSpc>
                <a:spcPct val="120000"/>
              </a:lnSpc>
            </a:pPr>
            <a:r>
              <a:rPr lang="en-US" sz="5500" dirty="0">
                <a:solidFill>
                  <a:srgbClr val="FF0000"/>
                </a:solidFill>
              </a:rPr>
              <a:t>Analysis </a:t>
            </a:r>
            <a:r>
              <a:rPr lang="en-US" sz="5500" dirty="0"/>
              <a:t>focuses on capturing the business requirements for the system</a:t>
            </a:r>
          </a:p>
          <a:p>
            <a:pPr>
              <a:lnSpc>
                <a:spcPct val="120000"/>
              </a:lnSpc>
            </a:pPr>
            <a:r>
              <a:rPr lang="en-US" sz="5500" dirty="0">
                <a:solidFill>
                  <a:srgbClr val="FF0000"/>
                </a:solidFill>
              </a:rPr>
              <a:t>Requirement Determination </a:t>
            </a:r>
            <a:r>
              <a:rPr lang="en-US" sz="5500" dirty="0"/>
              <a:t>is the part of analysis in which the project team turns the  business requirements stated in the system request into a precise list of requirements.</a:t>
            </a:r>
          </a:p>
          <a:p>
            <a:pPr>
              <a:lnSpc>
                <a:spcPct val="120000"/>
              </a:lnSpc>
            </a:pPr>
            <a:r>
              <a:rPr lang="en-US" sz="5500" dirty="0"/>
              <a:t>Five</a:t>
            </a:r>
            <a:r>
              <a:rPr lang="en-US" sz="5500" dirty="0">
                <a:solidFill>
                  <a:srgbClr val="000099"/>
                </a:solidFill>
              </a:rPr>
              <a:t> </a:t>
            </a:r>
            <a:r>
              <a:rPr lang="en-US" sz="5500" dirty="0">
                <a:solidFill>
                  <a:srgbClr val="FF0000"/>
                </a:solidFill>
              </a:rPr>
              <a:t>Requirements Elicitation Techniques </a:t>
            </a:r>
            <a:r>
              <a:rPr lang="en-US" sz="5500" dirty="0"/>
              <a:t>can be used to elicit business requirements.</a:t>
            </a:r>
          </a:p>
          <a:p>
            <a:pPr>
              <a:lnSpc>
                <a:spcPct val="120000"/>
              </a:lnSpc>
            </a:pPr>
            <a:r>
              <a:rPr lang="en-US" sz="5500" dirty="0">
                <a:solidFill>
                  <a:srgbClr val="FF0000"/>
                </a:solidFill>
              </a:rPr>
              <a:t>Requirements Analysis Strategies </a:t>
            </a:r>
            <a:r>
              <a:rPr lang="en-US" sz="5500" dirty="0"/>
              <a:t>are useful for analysts to help the business users think critically about the new system requirements.</a:t>
            </a:r>
          </a:p>
          <a:p>
            <a:pPr>
              <a:lnSpc>
                <a:spcPct val="120000"/>
              </a:lnSpc>
            </a:pPr>
            <a:endParaRPr lang="en-US" dirty="0"/>
          </a:p>
        </p:txBody>
      </p:sp>
      <p:sp>
        <p:nvSpPr>
          <p:cNvPr id="5" name="Slide Number Placeholder 4"/>
          <p:cNvSpPr>
            <a:spLocks noGrp="1"/>
          </p:cNvSpPr>
          <p:nvPr>
            <p:ph type="sldNum" sz="quarter" idx="12"/>
          </p:nvPr>
        </p:nvSpPr>
        <p:spPr/>
        <p:txBody>
          <a:bodyPr/>
          <a:lstStyle/>
          <a:p>
            <a:r>
              <a:rPr lang="en-US"/>
              <a:t>3-</a:t>
            </a:r>
            <a:fld id="{7597BC71-976C-43F9-8091-5829990FA63C}" type="slidenum">
              <a:rPr lang="en-US" smtClean="0"/>
              <a:pPr/>
              <a:t>41</a:t>
            </a:fld>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ags/tag2.xml><?xml version="1.0" encoding="utf-8"?>
<p:tagLst xmlns:a="http://schemas.openxmlformats.org/drawingml/2006/main" xmlns:r="http://schemas.openxmlformats.org/officeDocument/2006/relationships" xmlns:p="http://schemas.openxmlformats.org/presentationml/2006/main">
  <p:tag name="IIW_TYPE_IMAGE" val="Text Box 3"/>
</p:tagLst>
</file>

<file path=ppt/tags/tag3.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5385</TotalTime>
  <Words>1745</Words>
  <Application>Microsoft Office PowerPoint</Application>
  <PresentationFormat>On-screen Show (4:3)</PresentationFormat>
  <Paragraphs>278</Paragraphs>
  <Slides>42</Slides>
  <Notes>11</Notes>
  <HiddenSlides>5</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Arial</vt:lpstr>
      <vt:lpstr>Calibri</vt:lpstr>
      <vt:lpstr>TimesNewRomanPS</vt:lpstr>
      <vt:lpstr>TimesNewRomanPS-Italic</vt:lpstr>
      <vt:lpstr>Times-Roman</vt:lpstr>
      <vt:lpstr>Wingdings</vt:lpstr>
      <vt:lpstr>Office Theme</vt:lpstr>
      <vt:lpstr>Systems Analysis &amp; Design</vt:lpstr>
      <vt:lpstr>Analysis Phase</vt:lpstr>
      <vt:lpstr>Outline</vt:lpstr>
      <vt:lpstr>THE ANALYSIS PHASE</vt:lpstr>
      <vt:lpstr>(cont’d)</vt:lpstr>
      <vt:lpstr>(cont’d)</vt:lpstr>
      <vt:lpstr>REQUIREMENTS DETERMINATION</vt:lpstr>
      <vt:lpstr>What is a Requirement?</vt:lpstr>
      <vt:lpstr>(cont’d)</vt:lpstr>
      <vt:lpstr>(cont’d)</vt:lpstr>
      <vt:lpstr>Requirement Engineering Processes</vt:lpstr>
      <vt:lpstr>PowerPoint Presentation</vt:lpstr>
      <vt:lpstr>(cont’d)</vt:lpstr>
      <vt:lpstr>The Process of Determining Requirements</vt:lpstr>
      <vt:lpstr>The Requirements Definition Statement</vt:lpstr>
      <vt:lpstr>PowerPoint Presentation</vt:lpstr>
      <vt:lpstr>REQUIREMENTS ELICITATION AND ANALYSIS</vt:lpstr>
      <vt:lpstr>Interviews</vt:lpstr>
      <vt:lpstr>Selecting interviewees</vt:lpstr>
      <vt:lpstr>Designing interview questions</vt:lpstr>
      <vt:lpstr>(cont’d)</vt:lpstr>
      <vt:lpstr>(cont’d)</vt:lpstr>
      <vt:lpstr>Preparing for the interview</vt:lpstr>
      <vt:lpstr>Conducting the interview</vt:lpstr>
      <vt:lpstr>Post-interview follow-up</vt:lpstr>
      <vt:lpstr>Post-interview follow-up…</vt:lpstr>
      <vt:lpstr>Questionnaires</vt:lpstr>
      <vt:lpstr>(cont’d)</vt:lpstr>
      <vt:lpstr>Document Analysis</vt:lpstr>
      <vt:lpstr>Observation</vt:lpstr>
      <vt:lpstr>Joint Application Development (JAD)</vt:lpstr>
      <vt:lpstr>Selecting the Appropriate Techniques</vt:lpstr>
      <vt:lpstr>(cont’d)</vt:lpstr>
      <vt:lpstr>REQUIREMENTS ANALYSIS STRATEGIES</vt:lpstr>
      <vt:lpstr>Root Cause Analysis</vt:lpstr>
      <vt:lpstr>Duration Analysis</vt:lpstr>
      <vt:lpstr>Activity-Based Costing</vt:lpstr>
      <vt:lpstr>Informal Benchmarking</vt:lpstr>
      <vt:lpstr>Outcome Analysis</vt:lpstr>
      <vt:lpstr>Technology Analysis</vt:lpstr>
      <vt:lpstr>Comparing Analysis Strategies</vt:lpstr>
      <vt:lpstr>SUMMARY</vt:lpstr>
    </vt:vector>
  </TitlesOfParts>
  <Company>University of Massachusetts Dartmouth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and Design 5th Edition</dc:title>
  <dc:creator>Windows User</dc:creator>
  <cp:lastModifiedBy>Ms. K Anuradha</cp:lastModifiedBy>
  <cp:revision>88</cp:revision>
  <dcterms:created xsi:type="dcterms:W3CDTF">2011-06-16T14:45:20Z</dcterms:created>
  <dcterms:modified xsi:type="dcterms:W3CDTF">2026-07-15T04:48:49Z</dcterms:modified>
</cp:coreProperties>
</file>