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8"/>
  </p:notesMasterIdLst>
  <p:sldIdLst>
    <p:sldId id="316" r:id="rId2"/>
    <p:sldId id="317" r:id="rId3"/>
    <p:sldId id="318" r:id="rId4"/>
    <p:sldId id="279" r:id="rId5"/>
    <p:sldId id="281" r:id="rId6"/>
    <p:sldId id="284" r:id="rId7"/>
    <p:sldId id="321" r:id="rId8"/>
    <p:sldId id="320" r:id="rId9"/>
    <p:sldId id="288" r:id="rId10"/>
    <p:sldId id="289" r:id="rId11"/>
    <p:sldId id="291" r:id="rId12"/>
    <p:sldId id="292" r:id="rId13"/>
    <p:sldId id="293" r:id="rId14"/>
    <p:sldId id="298" r:id="rId15"/>
    <p:sldId id="313" r:id="rId16"/>
    <p:sldId id="294" r:id="rId17"/>
    <p:sldId id="295" r:id="rId18"/>
    <p:sldId id="285" r:id="rId19"/>
    <p:sldId id="309" r:id="rId20"/>
    <p:sldId id="286" r:id="rId21"/>
    <p:sldId id="287" r:id="rId22"/>
    <p:sldId id="315" r:id="rId23"/>
    <p:sldId id="280" r:id="rId24"/>
    <p:sldId id="282" r:id="rId25"/>
    <p:sldId id="283" r:id="rId26"/>
    <p:sldId id="290" r:id="rId2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2FD1"/>
    <a:srgbClr val="0000FF"/>
    <a:srgbClr val="000099"/>
    <a:srgbClr val="004D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716" autoAdjust="0"/>
    <p:restoredTop sz="63625" autoAdjust="0"/>
  </p:normalViewPr>
  <p:slideViewPr>
    <p:cSldViewPr>
      <p:cViewPr varScale="1">
        <p:scale>
          <a:sx n="47" d="100"/>
          <a:sy n="47" d="100"/>
        </p:scale>
        <p:origin x="1260" y="4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8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CB2FCD-D1A1-4218-9C58-1430D797A0B0}"/>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32745BD9-6315-4B60-9C63-43D51F48E6C6}"/>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cs typeface="Arial" charset="0"/>
              </a:defRPr>
            </a:lvl1pPr>
          </a:lstStyle>
          <a:p>
            <a:pPr>
              <a:defRPr/>
            </a:pPr>
            <a:fld id="{2D03535B-536C-4739-9BCF-B7805A9329E7}" type="datetimeFigureOut">
              <a:rPr lang="en-US"/>
              <a:pPr>
                <a:defRPr/>
              </a:pPr>
              <a:t>7/8/2025</a:t>
            </a:fld>
            <a:endParaRPr lang="en-US"/>
          </a:p>
        </p:txBody>
      </p:sp>
      <p:sp>
        <p:nvSpPr>
          <p:cNvPr id="4" name="Slide Image Placeholder 3">
            <a:extLst>
              <a:ext uri="{FF2B5EF4-FFF2-40B4-BE49-F238E27FC236}">
                <a16:creationId xmlns:a16="http://schemas.microsoft.com/office/drawing/2014/main" id="{8A1047D7-C16D-4FCA-8B52-3EF3356ADE5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CB7C38E-85B9-437E-BCDF-FC5D5D38202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7ED4FAC7-D681-469C-87EC-188120B3BA19}"/>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7C31C429-1AB0-4B56-A082-3C43D29DCA06}"/>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C3E36BE3-0588-4009-90D5-A23548AA6B4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theknowledgeacademy.com/courses/business-analysis-training/bcs-foundation-certificate-in-agile/" TargetMode="External"/><Relationship Id="rId7" Type="http://schemas.openxmlformats.org/officeDocument/2006/relationships/hyperlink" Target="https://www.theknowledgeacademy.com/blog/what-is-reverse-engineering/"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theknowledgeacademy.com/blog/what-is-an-employee/" TargetMode="External"/><Relationship Id="rId5" Type="http://schemas.openxmlformats.org/officeDocument/2006/relationships/hyperlink" Target="https://www.theknowledgeacademy.com/courses/business-analysis-training/" TargetMode="External"/><Relationship Id="rId4" Type="http://schemas.openxmlformats.org/officeDocument/2006/relationships/hyperlink" Target="https://www.theknowledgeacademy.com/blog/what-is-a-stakeholder/"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theknowledgeacademy.com/courses/business-analysis-training/bcs-foundation-certificate-in-agile/" TargetMode="External"/><Relationship Id="rId7" Type="http://schemas.openxmlformats.org/officeDocument/2006/relationships/hyperlink" Target="https://www.theknowledgeacademy.com/blog/what-is-reverse-engineering/"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www.theknowledgeacademy.com/blog/what-is-an-employee/" TargetMode="External"/><Relationship Id="rId5" Type="http://schemas.openxmlformats.org/officeDocument/2006/relationships/hyperlink" Target="https://www.theknowledgeacademy.com/courses/business-analysis-training/" TargetMode="External"/><Relationship Id="rId4" Type="http://schemas.openxmlformats.org/officeDocument/2006/relationships/hyperlink" Target="https://www.theknowledgeacademy.com/blog/what-is-a-stakeholder/"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eeksforgeeks.org/software-engineering-introduction-to-software-engineering/"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geeksforgeeks.org/what-is-software-development/"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6D0196C7-B98C-40E1-91C5-8491A3DFE29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CFDC1F0B-C074-4FE4-BBBA-F3583B67ED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Self Introduction of my self –</a:t>
            </a:r>
          </a:p>
          <a:p>
            <a:endParaRPr lang="en-US" altLang="en-US"/>
          </a:p>
          <a:p>
            <a:r>
              <a:rPr lang="en-US" altLang="en-US"/>
              <a:t>Give students some general guidelines – about KDU, their choice</a:t>
            </a:r>
          </a:p>
        </p:txBody>
      </p:sp>
      <p:sp>
        <p:nvSpPr>
          <p:cNvPr id="9220" name="Slide Number Placeholder 3">
            <a:extLst>
              <a:ext uri="{FF2B5EF4-FFF2-40B4-BE49-F238E27FC236}">
                <a16:creationId xmlns:a16="http://schemas.microsoft.com/office/drawing/2014/main" id="{39DEF502-AEFC-4EB8-9CD0-38E74A943F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A76EE5-D66A-489A-9770-6310D33E2C51}" type="slidenum">
              <a:rPr lang="en-US" altLang="en-US" smtClean="0">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6D0196C7-B98C-40E1-91C5-8491A3DFE29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CFDC1F0B-C074-4FE4-BBBA-F3583B67ED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Self Introduction of my self –</a:t>
            </a:r>
          </a:p>
          <a:p>
            <a:endParaRPr lang="en-US" altLang="en-US"/>
          </a:p>
          <a:p>
            <a:r>
              <a:rPr lang="en-US" altLang="en-US"/>
              <a:t>Give students some general guidelines – about KDU, their choice</a:t>
            </a:r>
          </a:p>
        </p:txBody>
      </p:sp>
      <p:sp>
        <p:nvSpPr>
          <p:cNvPr id="9220" name="Slide Number Placeholder 3">
            <a:extLst>
              <a:ext uri="{FF2B5EF4-FFF2-40B4-BE49-F238E27FC236}">
                <a16:creationId xmlns:a16="http://schemas.microsoft.com/office/drawing/2014/main" id="{39DEF502-AEFC-4EB8-9CD0-38E74A943F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A76EE5-D66A-489A-9770-6310D33E2C51}" type="slidenum">
              <a:rPr lang="en-US" altLang="en-US" smtClean="0">
                <a:latin typeface="Calibri" panose="020F0502020204030204" pitchFamily="34" charset="0"/>
              </a:rPr>
              <a:pPr/>
              <a:t>2</a:t>
            </a:fld>
            <a:endParaRPr lang="en-US" altLang="en-US">
              <a:latin typeface="Calibri" panose="020F0502020204030204" pitchFamily="34" charset="0"/>
            </a:endParaRPr>
          </a:p>
        </p:txBody>
      </p:sp>
    </p:spTree>
    <p:extLst>
      <p:ext uri="{BB962C8B-B14F-4D97-AF65-F5344CB8AC3E}">
        <p14:creationId xmlns:p14="http://schemas.microsoft.com/office/powerpoint/2010/main" val="2277019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algn="l" fontAlgn="ctr"/>
            <a:r>
              <a:rPr lang="en-US" b="0" i="0" dirty="0">
                <a:solidFill>
                  <a:srgbClr val="EEF0FF"/>
                </a:solidFill>
                <a:effectLst/>
                <a:latin typeface="Google Sans"/>
              </a:rPr>
              <a:t>Project identification and initiation is the first phase in the project management life cycle, where the need for a project is established, and the project is formally defined and authorized. This phase involves identifying the problem or opportunity, determining project feasibility, and securing stakeholder buy-in. Key activities include defining the project's purpose, scope, objectives, and high-level requirements, as well as identifying potential risks and stakeholders. </a:t>
            </a:r>
            <a:endParaRPr lang="en-US" b="0" i="0" dirty="0">
              <a:solidFill>
                <a:srgbClr val="A8C7FA"/>
              </a:solidFill>
              <a:effectLst/>
              <a:latin typeface="Google Sans"/>
            </a:endParaRPr>
          </a:p>
          <a:p>
            <a:pPr algn="l"/>
            <a:r>
              <a:rPr lang="en-US" b="0" i="0" dirty="0">
                <a:solidFill>
                  <a:srgbClr val="EEF0FF"/>
                </a:solidFill>
                <a:effectLst/>
                <a:latin typeface="Google Sans"/>
              </a:rPr>
              <a:t>Here's a more detailed breakdown:</a:t>
            </a:r>
          </a:p>
          <a:p>
            <a:pPr algn="l"/>
            <a:r>
              <a:rPr lang="en-US" b="0" i="0" dirty="0">
                <a:solidFill>
                  <a:srgbClr val="EEF0FF"/>
                </a:solidFill>
                <a:effectLst/>
                <a:latin typeface="Google Sans"/>
              </a:rPr>
              <a:t>1. Project Identification:</a:t>
            </a:r>
          </a:p>
          <a:p>
            <a:pPr algn="l">
              <a:buFont typeface="Arial" panose="020B0604020202020204" pitchFamily="34" charset="0"/>
              <a:buChar char="•"/>
            </a:pPr>
            <a:r>
              <a:rPr lang="en-US" b="1" i="0" dirty="0">
                <a:solidFill>
                  <a:srgbClr val="EEF0FF"/>
                </a:solidFill>
                <a:effectLst/>
                <a:latin typeface="Google Sans"/>
              </a:rPr>
              <a:t>Need Assessment:</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This step involves identifying a problem or opportunity that a project could address. This could be a business need, a customer requirement, or a market opportunity.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Feasibility Study:</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A feasibility study is conducted to determine if the project is viable and worthwhile. This includes assessing the technical, economic, and organizational feasibility.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Stakeholder Identification:</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Identifying all individuals or groups who will be impacted by the project, both positively and negatively.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Initial Risk Assessment:</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Identifying potential risks and challenges associated with the project. </a:t>
            </a:r>
            <a:endParaRPr lang="en-US" b="0" i="0" dirty="0">
              <a:solidFill>
                <a:srgbClr val="A8C7FA"/>
              </a:solidFill>
              <a:effectLst/>
              <a:latin typeface="Google Sans"/>
            </a:endParaRPr>
          </a:p>
          <a:p>
            <a:pPr algn="l"/>
            <a:r>
              <a:rPr lang="en-US" b="0" i="0" dirty="0">
                <a:solidFill>
                  <a:srgbClr val="EEF0FF"/>
                </a:solidFill>
                <a:effectLst/>
                <a:latin typeface="Google Sans"/>
              </a:rPr>
              <a:t>2. Project Initiation:</a:t>
            </a:r>
          </a:p>
          <a:p>
            <a:pPr algn="l">
              <a:buFont typeface="Arial" panose="020B0604020202020204" pitchFamily="34" charset="0"/>
              <a:buChar char="•"/>
            </a:pPr>
            <a:r>
              <a:rPr lang="en-US" b="1" i="0" dirty="0">
                <a:solidFill>
                  <a:srgbClr val="EEF0FF"/>
                </a:solidFill>
                <a:effectLst/>
                <a:latin typeface="Google Sans"/>
              </a:rPr>
              <a:t>Project Charter:</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A formal document that authorizes the project and outlines its objectives, scope, and key deliverables.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Defining Objectives:</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Setting clear, measurable, achievable, relevant, and time-bound (SMART) objectives for the project.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Defining Scope:</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Clearly outlining the boundaries of the project, specifying what is included and excluded.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Developing a Business Case:</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Justifying the project by outlining its benefits, costs, and risks.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Resource Planning:</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Identifying the resources needed to complete the project, including personnel, budget, and equipment. </a:t>
            </a:r>
            <a:endParaRPr lang="en-US" b="0" i="0" dirty="0">
              <a:solidFill>
                <a:srgbClr val="A8C7FA"/>
              </a:solidFill>
              <a:effectLst/>
              <a:latin typeface="Google Sans"/>
            </a:endParaRPr>
          </a:p>
          <a:p>
            <a:pPr algn="l"/>
            <a:r>
              <a:rPr lang="en-US" b="0" i="0" dirty="0">
                <a:solidFill>
                  <a:srgbClr val="EEF0FF"/>
                </a:solidFill>
                <a:effectLst/>
                <a:latin typeface="Google Sans"/>
              </a:rPr>
              <a:t>Importance of Project Initiation:</a:t>
            </a:r>
          </a:p>
          <a:p>
            <a:pPr algn="l">
              <a:buFont typeface="Arial" panose="020B0604020202020204" pitchFamily="34" charset="0"/>
              <a:buChar char="•"/>
            </a:pPr>
            <a:r>
              <a:rPr lang="en-US" b="1" i="0" dirty="0">
                <a:solidFill>
                  <a:srgbClr val="EEF0FF"/>
                </a:solidFill>
                <a:effectLst/>
                <a:latin typeface="Google Sans"/>
              </a:rPr>
              <a:t>Establishes a solid foundation:</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A well-defined initiation phase provides a clear roadmap for the rest of the project.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Reduces risk:</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By identifying potential problems and risks early on, the initiation phase helps mitigate potential issues.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Ensures alignment:</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The initiation phase ensures that all stakeholders are on the same page regarding the project's purpose, objectives, and scope.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Secures buy-in:</a:t>
            </a:r>
            <a:endParaRPr lang="en-US" b="0" i="0" dirty="0">
              <a:solidFill>
                <a:srgbClr val="EEF0FF"/>
              </a:solidFill>
              <a:effectLst/>
              <a:latin typeface="Google Sans"/>
            </a:endParaRPr>
          </a:p>
          <a:p>
            <a:pPr algn="l">
              <a:buFont typeface="Arial" panose="020B0604020202020204" pitchFamily="34" charset="0"/>
              <a:buChar char="•"/>
            </a:pPr>
            <a:r>
              <a:rPr lang="en-US" b="0" i="0" dirty="0">
                <a:solidFill>
                  <a:srgbClr val="C3C6D6"/>
                </a:solidFill>
                <a:effectLst/>
                <a:latin typeface="Google Sans"/>
              </a:rPr>
              <a:t>By involving stakeholders in the initiation phase, it fosters a sense of ownership and commitment to the project. </a:t>
            </a:r>
          </a:p>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3</a:t>
            </a:fld>
            <a:endParaRPr lang="en-US" altLang="en-US"/>
          </a:p>
        </p:txBody>
      </p:sp>
    </p:spTree>
    <p:extLst>
      <p:ext uri="{BB962C8B-B14F-4D97-AF65-F5344CB8AC3E}">
        <p14:creationId xmlns:p14="http://schemas.microsoft.com/office/powerpoint/2010/main" val="1469745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EF0FF"/>
                </a:solidFill>
                <a:effectLst/>
                <a:latin typeface="Google Sans"/>
              </a:rPr>
              <a:t>A project sponsor is a senior-level individual or group who provides resources, support, and guidance to a project, ensuring its success and alignment with organizational goals. They are essentially the "owner" of the project, advocating for it and holding ultimate accountability for its outcomes. </a:t>
            </a:r>
          </a:p>
          <a:p>
            <a:endParaRPr lang="en-US" b="0" i="0" dirty="0">
              <a:solidFill>
                <a:srgbClr val="EEF0FF"/>
              </a:solidFill>
              <a:effectLst/>
              <a:latin typeface="Google Sans"/>
            </a:endParaRPr>
          </a:p>
          <a:p>
            <a:r>
              <a:rPr lang="en-US" dirty="0"/>
              <a:t>When a strong business need for an information system is recognized, as a result of BPM</a:t>
            </a:r>
          </a:p>
          <a:p>
            <a:endParaRPr lang="en-US" dirty="0"/>
          </a:p>
          <a:p>
            <a:r>
              <a:rPr lang="en-US" dirty="0"/>
              <a:t>Small departmental system – might be sponsored by a single manager</a:t>
            </a:r>
          </a:p>
          <a:p>
            <a:r>
              <a:rPr lang="en-US" dirty="0"/>
              <a:t>Large organizational initiative – entire senior management team, even the CEO</a:t>
            </a:r>
          </a:p>
          <a:p>
            <a:r>
              <a:rPr lang="en-US" dirty="0"/>
              <a:t>Project to develop the </a:t>
            </a:r>
            <a:r>
              <a:rPr lang="en-US" dirty="0" err="1"/>
              <a:t>iT</a:t>
            </a:r>
            <a:r>
              <a:rPr lang="en-US" dirty="0"/>
              <a:t> infrastructure, Sponsorship from the IT </a:t>
            </a:r>
            <a:r>
              <a:rPr lang="en-US" dirty="0" err="1"/>
              <a:t>depat</a:t>
            </a:r>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4</a:t>
            </a:fld>
            <a:endParaRPr lang="en-US" altLang="en-US"/>
          </a:p>
        </p:txBody>
      </p:sp>
    </p:spTree>
    <p:extLst>
      <p:ext uri="{BB962C8B-B14F-4D97-AF65-F5344CB8AC3E}">
        <p14:creationId xmlns:p14="http://schemas.microsoft.com/office/powerpoint/2010/main" val="998077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5</a:t>
            </a:fld>
            <a:endParaRPr lang="en-US" altLang="en-US"/>
          </a:p>
        </p:txBody>
      </p:sp>
    </p:spTree>
    <p:extLst>
      <p:ext uri="{BB962C8B-B14F-4D97-AF65-F5344CB8AC3E}">
        <p14:creationId xmlns:p14="http://schemas.microsoft.com/office/powerpoint/2010/main" val="1692730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just"/>
            <a:r>
              <a:rPr lang="en-US" b="0" i="0" dirty="0">
                <a:solidFill>
                  <a:srgbClr val="000000"/>
                </a:solidFill>
                <a:effectLst/>
                <a:latin typeface="Poppins" panose="00000500000000000000" pitchFamily="2" charset="0"/>
              </a:rPr>
              <a:t>The Business Analysis team should consider customer profiles, </a:t>
            </a:r>
            <a:r>
              <a:rPr lang="en-US" b="0" i="0" dirty="0" err="1">
                <a:solidFill>
                  <a:srgbClr val="000000"/>
                </a:solidFill>
                <a:effectLst/>
                <a:latin typeface="Poppins" panose="00000500000000000000" pitchFamily="2" charset="0"/>
              </a:rPr>
              <a:t>organisational</a:t>
            </a:r>
            <a:r>
              <a:rPr lang="en-US" b="0" i="0" dirty="0">
                <a:solidFill>
                  <a:srgbClr val="000000"/>
                </a:solidFill>
                <a:effectLst/>
                <a:latin typeface="Poppins" panose="00000500000000000000" pitchFamily="2" charset="0"/>
              </a:rPr>
              <a:t> structure, and project type when choosing elicitation techniques. Below are the most popular methods for gathering information from stakeholders and Subject Matter Experts.</a:t>
            </a:r>
          </a:p>
          <a:p>
            <a:pPr algn="l"/>
            <a:r>
              <a:rPr lang="en-US" b="0" i="0" dirty="0">
                <a:solidFill>
                  <a:srgbClr val="000000"/>
                </a:solidFill>
                <a:effectLst/>
                <a:latin typeface="Poppins" panose="00000500000000000000" pitchFamily="2" charset="0"/>
              </a:rPr>
              <a:t>1) Focus Group</a:t>
            </a:r>
          </a:p>
          <a:p>
            <a:pPr algn="just"/>
            <a:r>
              <a:rPr lang="en-US" b="0" i="0" dirty="0">
                <a:solidFill>
                  <a:srgbClr val="000000"/>
                </a:solidFill>
                <a:effectLst/>
                <a:latin typeface="Poppins" panose="00000500000000000000" pitchFamily="2" charset="0"/>
              </a:rPr>
              <a:t>Focus groups are similar to brainstorming sessions, where Analysts gather participants to define requirements when customers can't provide detailed feedback. Analysts use this method when existing documentation lacks important details.</a:t>
            </a:r>
          </a:p>
          <a:p>
            <a:pPr algn="just"/>
            <a:r>
              <a:rPr lang="en-US" b="0" i="0" dirty="0">
                <a:solidFill>
                  <a:srgbClr val="000000"/>
                </a:solidFill>
                <a:effectLst/>
                <a:latin typeface="Poppins" panose="00000500000000000000" pitchFamily="2" charset="0"/>
              </a:rPr>
              <a:t>Business Analysts also conduct focus groups with subject matter experts to uncover overlooked industry-specific insights. In these sessions, experts may reveal information about regulated industries that the Analyst has not previously considered.</a:t>
            </a:r>
          </a:p>
          <a:p>
            <a:pPr algn="l"/>
            <a:r>
              <a:rPr lang="en-US" b="0" i="0" dirty="0">
                <a:solidFill>
                  <a:srgbClr val="000000"/>
                </a:solidFill>
                <a:effectLst/>
                <a:latin typeface="Poppins" panose="00000500000000000000" pitchFamily="2" charset="0"/>
              </a:rPr>
              <a:t>2) Interviews</a:t>
            </a:r>
          </a:p>
          <a:p>
            <a:pPr algn="just"/>
            <a:r>
              <a:rPr lang="en-US" b="0" i="0" dirty="0">
                <a:solidFill>
                  <a:srgbClr val="000000"/>
                </a:solidFill>
                <a:effectLst/>
                <a:latin typeface="Poppins" panose="00000500000000000000" pitchFamily="2" charset="0"/>
              </a:rPr>
              <a:t>Interviews allow Analysts to ask key questions needed to create System Requirements Documents (SRD). Whether through one-on-one, structured interviews or virtual group meetings, Analysts gather important notes to complete the documentation.</a:t>
            </a:r>
          </a:p>
          <a:p>
            <a:pPr algn="just"/>
            <a:r>
              <a:rPr lang="en-US" b="0" i="0" dirty="0">
                <a:solidFill>
                  <a:srgbClr val="000000"/>
                </a:solidFill>
                <a:effectLst/>
                <a:latin typeface="Poppins" panose="00000500000000000000" pitchFamily="2" charset="0"/>
              </a:rPr>
              <a:t>Analysts typically begin with an initial interview with the product owner before speaking to other stakeholders. Effective interview questions help Analysts ask follow-up questions and gather enough details for the product teams.</a:t>
            </a:r>
          </a:p>
          <a:p>
            <a:pPr algn="l"/>
            <a:r>
              <a:rPr lang="en-US" b="0" i="0" dirty="0">
                <a:solidFill>
                  <a:srgbClr val="000000"/>
                </a:solidFill>
                <a:effectLst/>
                <a:latin typeface="Poppins" panose="00000500000000000000" pitchFamily="2" charset="0"/>
              </a:rPr>
              <a:t>3) Interface Analysis</a:t>
            </a:r>
          </a:p>
          <a:p>
            <a:pPr algn="just"/>
            <a:r>
              <a:rPr lang="en-US" b="0" i="0" dirty="0">
                <a:solidFill>
                  <a:srgbClr val="000000"/>
                </a:solidFill>
                <a:effectLst/>
                <a:latin typeface="Poppins" panose="00000500000000000000" pitchFamily="2" charset="0"/>
              </a:rPr>
              <a:t>A Business Analyst performs an interface analysis to compare requirements from existing systems with the new software being developed. This process helps product teams create better customer experiences.</a:t>
            </a:r>
          </a:p>
          <a:p>
            <a:pPr algn="just"/>
            <a:r>
              <a:rPr lang="en-US" b="0" i="0" dirty="0">
                <a:solidFill>
                  <a:srgbClr val="000000"/>
                </a:solidFill>
                <a:effectLst/>
                <a:latin typeface="Poppins" panose="00000500000000000000" pitchFamily="2" charset="0"/>
              </a:rPr>
              <a:t>By examining past interfaces, Analysts can develop a clear blueprint for User Interface (UI) and User Experience (UX) design. It's a widely used method to define user expectations and provide detailed, cross-referenced feedback for development.</a:t>
            </a:r>
          </a:p>
          <a:p>
            <a:endParaRPr lang="en-US" dirty="0"/>
          </a:p>
          <a:p>
            <a:pPr algn="just"/>
            <a:r>
              <a:rPr lang="en-US" b="0" i="0" dirty="0">
                <a:solidFill>
                  <a:srgbClr val="000000"/>
                </a:solidFill>
                <a:effectLst/>
                <a:latin typeface="Poppins" panose="00000500000000000000" pitchFamily="2" charset="0"/>
              </a:rPr>
              <a:t>Prototyping - enables efficient testing and collaboration with clients and customers. It allows Analysts to test software ideas and refine the requirements list based on responses. Prototyping is crucial in advancing software development.</a:t>
            </a:r>
          </a:p>
          <a:p>
            <a:pPr algn="just"/>
            <a:r>
              <a:rPr lang="en-US" b="0" i="0" dirty="0">
                <a:solidFill>
                  <a:srgbClr val="000000"/>
                </a:solidFill>
                <a:effectLst/>
                <a:latin typeface="Poppins" panose="00000500000000000000" pitchFamily="2" charset="0"/>
              </a:rPr>
              <a:t>Using prototypes and wireframes helps clients understand the project by providing visual examples. Prototypes offer a clear picture and can reveal overlooked user feedback during the Requirements Elicitation process.</a:t>
            </a:r>
          </a:p>
          <a:p>
            <a:pPr algn="l"/>
            <a:r>
              <a:rPr lang="en-US" b="0" i="0" dirty="0">
                <a:solidFill>
                  <a:srgbClr val="000000"/>
                </a:solidFill>
                <a:effectLst/>
                <a:latin typeface="Poppins" panose="00000500000000000000" pitchFamily="2" charset="0"/>
              </a:rPr>
              <a:t>5) Document Analysis</a:t>
            </a:r>
          </a:p>
          <a:p>
            <a:pPr algn="just"/>
            <a:r>
              <a:rPr lang="en-US" b="0" i="0" dirty="0">
                <a:solidFill>
                  <a:srgbClr val="000000"/>
                </a:solidFill>
                <a:effectLst/>
                <a:latin typeface="Poppins" panose="00000500000000000000" pitchFamily="2" charset="0"/>
              </a:rPr>
              <a:t>Document analysis of similar software can uncover specifications that may have been missed during other elicitation methods. Analysts review existing documentation to find relevant requirements for the new software being developed.</a:t>
            </a:r>
          </a:p>
          <a:p>
            <a:pPr algn="just"/>
            <a:r>
              <a:rPr lang="en-US" b="0" i="0" dirty="0">
                <a:solidFill>
                  <a:srgbClr val="000000"/>
                </a:solidFill>
                <a:effectLst/>
                <a:latin typeface="Poppins" panose="00000500000000000000" pitchFamily="2" charset="0"/>
              </a:rPr>
              <a:t>Studying existing software and documents helps identify missed features and tools during the software development process. This method ensures more complete and accurate requirements, working behind the scenes to avoid gaps.</a:t>
            </a:r>
          </a:p>
          <a:p>
            <a:pPr algn="just"/>
            <a:r>
              <a:rPr lang="en-US" b="0" i="0" dirty="0">
                <a:solidFill>
                  <a:srgbClr val="000000"/>
                </a:solidFill>
                <a:effectLst/>
                <a:latin typeface="Poppins" panose="00000500000000000000" pitchFamily="2" charset="0"/>
              </a:rPr>
              <a:t>Become an Agile expert with the </a:t>
            </a:r>
            <a:r>
              <a:rPr lang="en-US" b="0" i="0" u="none" strike="noStrike" dirty="0">
                <a:solidFill>
                  <a:srgbClr val="44318D"/>
                </a:solidFill>
                <a:effectLst/>
                <a:latin typeface="Poppins" panose="00000500000000000000" pitchFamily="2" charset="0"/>
                <a:hlinkClick r:id="rId3" tooltip="BCS Foundation Certificate in Agile"/>
              </a:rPr>
              <a:t>BCS Foundation Certificate in </a:t>
            </a:r>
            <a:r>
              <a:rPr lang="en-US" b="0" i="0" u="none" strike="noStrike" dirty="0" err="1">
                <a:solidFill>
                  <a:srgbClr val="44318D"/>
                </a:solidFill>
                <a:effectLst/>
                <a:latin typeface="Poppins" panose="00000500000000000000" pitchFamily="2" charset="0"/>
                <a:hlinkClick r:id="rId3" tooltip="BCS Foundation Certificate in Agile"/>
              </a:rPr>
              <a:t>Agile</a:t>
            </a:r>
            <a:r>
              <a:rPr lang="en-US" b="0" i="0" dirty="0" err="1">
                <a:solidFill>
                  <a:srgbClr val="000000"/>
                </a:solidFill>
                <a:effectLst/>
                <a:latin typeface="Poppins" panose="00000500000000000000" pitchFamily="2" charset="0"/>
              </a:rPr>
              <a:t>and</a:t>
            </a:r>
            <a:r>
              <a:rPr lang="en-US" b="0" i="0" dirty="0">
                <a:solidFill>
                  <a:srgbClr val="000000"/>
                </a:solidFill>
                <a:effectLst/>
                <a:latin typeface="Poppins" panose="00000500000000000000" pitchFamily="2" charset="0"/>
              </a:rPr>
              <a:t> empower your teams to achieve outstanding results!</a:t>
            </a:r>
          </a:p>
          <a:p>
            <a:pPr algn="l"/>
            <a:r>
              <a:rPr lang="en-US" b="0" i="0" dirty="0">
                <a:solidFill>
                  <a:srgbClr val="000000"/>
                </a:solidFill>
                <a:effectLst/>
                <a:latin typeface="Poppins" panose="00000500000000000000" pitchFamily="2" charset="0"/>
              </a:rPr>
              <a:t>6) Requirements Workshops</a:t>
            </a:r>
          </a:p>
          <a:p>
            <a:pPr algn="just"/>
            <a:r>
              <a:rPr lang="en-US" b="0" i="0" dirty="0">
                <a:solidFill>
                  <a:srgbClr val="000000"/>
                </a:solidFill>
                <a:effectLst/>
                <a:latin typeface="Poppins" panose="00000500000000000000" pitchFamily="2" charset="0"/>
              </a:rPr>
              <a:t>A requirements workshop allows Analysts to interview both users and </a:t>
            </a:r>
            <a:r>
              <a:rPr lang="en-US" b="0" i="0" u="none" strike="noStrike" dirty="0">
                <a:solidFill>
                  <a:srgbClr val="44318D"/>
                </a:solidFill>
                <a:effectLst/>
                <a:latin typeface="Poppins" panose="00000500000000000000" pitchFamily="2" charset="0"/>
                <a:hlinkClick r:id="rId4" tooltip="What is stakeholders"/>
              </a:rPr>
              <a:t>stakeholders</a:t>
            </a:r>
            <a:r>
              <a:rPr lang="en-US" b="0" i="0" dirty="0">
                <a:solidFill>
                  <a:srgbClr val="000000"/>
                </a:solidFill>
                <a:effectLst/>
                <a:latin typeface="Poppins" panose="00000500000000000000" pitchFamily="2" charset="0"/>
              </a:rPr>
              <a:t>, promoting collaboration and clear communication. This approach helps gather more answers and engages all participants in the process.</a:t>
            </a:r>
          </a:p>
          <a:p>
            <a:pPr algn="just"/>
            <a:r>
              <a:rPr lang="en-US" b="0" i="0" dirty="0">
                <a:solidFill>
                  <a:srgbClr val="000000"/>
                </a:solidFill>
                <a:effectLst/>
                <a:latin typeface="Poppins" panose="00000500000000000000" pitchFamily="2" charset="0"/>
              </a:rPr>
              <a:t>The workshop enables Analysts to gather input from multiple participants, providing a clearer, more detailed picture of the project. It is a structured session designed to involve key stakeholders in the Requirements Elicitation process.</a:t>
            </a:r>
          </a:p>
          <a:p>
            <a:pPr algn="l"/>
            <a:r>
              <a:rPr lang="en-US" b="0" i="0" dirty="0">
                <a:solidFill>
                  <a:srgbClr val="000000"/>
                </a:solidFill>
                <a:effectLst/>
                <a:latin typeface="Poppins" panose="00000500000000000000" pitchFamily="2" charset="0"/>
              </a:rPr>
              <a:t>7) User Personas</a:t>
            </a:r>
          </a:p>
          <a:p>
            <a:pPr algn="just"/>
            <a:r>
              <a:rPr lang="en-US" b="0" i="0" dirty="0">
                <a:solidFill>
                  <a:srgbClr val="000000"/>
                </a:solidFill>
                <a:effectLst/>
                <a:latin typeface="Poppins" panose="00000500000000000000" pitchFamily="2" charset="0"/>
              </a:rPr>
              <a:t>An Analyst can use user personas to represent the customer’s perspective, helping to </a:t>
            </a:r>
            <a:r>
              <a:rPr lang="en-US" b="0" i="0" dirty="0" err="1">
                <a:solidFill>
                  <a:srgbClr val="000000"/>
                </a:solidFill>
                <a:effectLst/>
                <a:latin typeface="Poppins" panose="00000500000000000000" pitchFamily="2" charset="0"/>
              </a:rPr>
              <a:t>visualise</a:t>
            </a:r>
            <a:r>
              <a:rPr lang="en-US" b="0" i="0" dirty="0">
                <a:solidFill>
                  <a:srgbClr val="000000"/>
                </a:solidFill>
                <a:effectLst/>
                <a:latin typeface="Poppins" panose="00000500000000000000" pitchFamily="2" charset="0"/>
              </a:rPr>
              <a:t> the requirements for a successful project. Creating user personas also helps identify tasks needed to deliver, communicate insights, and influence development.</a:t>
            </a:r>
          </a:p>
          <a:p>
            <a:pPr algn="just"/>
            <a:r>
              <a:rPr lang="en-US" b="0" i="0" dirty="0">
                <a:solidFill>
                  <a:srgbClr val="000000"/>
                </a:solidFill>
                <a:effectLst/>
                <a:latin typeface="Poppins" panose="00000500000000000000" pitchFamily="2" charset="0"/>
              </a:rPr>
              <a:t>By planning and presenting customer perspectives, Analysts can turn ideas into clear requirements. They can clarify the system with visual tools and guide teams, acting as facilitators in the development process.</a:t>
            </a:r>
          </a:p>
          <a:p>
            <a:pPr algn="l"/>
            <a:r>
              <a:rPr lang="en-US" b="0" i="0" dirty="0">
                <a:solidFill>
                  <a:srgbClr val="000000"/>
                </a:solidFill>
                <a:effectLst/>
                <a:latin typeface="Poppins" panose="00000500000000000000" pitchFamily="2" charset="0"/>
              </a:rPr>
              <a:t>8) Stakeholder Analysis</a:t>
            </a:r>
          </a:p>
          <a:p>
            <a:pPr algn="just"/>
            <a:r>
              <a:rPr lang="en-US" b="0" i="0" dirty="0">
                <a:solidFill>
                  <a:srgbClr val="000000"/>
                </a:solidFill>
                <a:effectLst/>
                <a:latin typeface="Poppins" panose="00000500000000000000" pitchFamily="2" charset="0"/>
              </a:rPr>
              <a:t>Information is often gathered from stakeholder groups, where Analysts build relationships with end users to collect accurate data. Stakeholders can range from small groups to larger audiences, with many being end users.</a:t>
            </a:r>
          </a:p>
          <a:p>
            <a:pPr algn="just"/>
            <a:r>
              <a:rPr lang="en-US" b="0" i="0" dirty="0">
                <a:solidFill>
                  <a:srgbClr val="000000"/>
                </a:solidFill>
                <a:effectLst/>
                <a:latin typeface="Poppins" panose="00000500000000000000" pitchFamily="2" charset="0"/>
              </a:rPr>
              <a:t>Good Analysts meet with key stakeholder groups to gather a complete set of requirements. While end users provide valuable input, involving too many participants at once can lead to confusion. It's best to focus on smaller groups during stakeholder analysis for clearer results.</a:t>
            </a:r>
          </a:p>
          <a:p>
            <a:pPr algn="l"/>
            <a:r>
              <a:rPr lang="en-US" b="0" i="0" dirty="0">
                <a:solidFill>
                  <a:srgbClr val="000000"/>
                </a:solidFill>
                <a:effectLst/>
                <a:latin typeface="Poppins" panose="00000500000000000000" pitchFamily="2" charset="0"/>
              </a:rPr>
              <a:t>9) User Story Mapping</a:t>
            </a:r>
          </a:p>
          <a:p>
            <a:pPr algn="just"/>
            <a:r>
              <a:rPr lang="en-US" b="0" i="0" dirty="0">
                <a:solidFill>
                  <a:srgbClr val="000000"/>
                </a:solidFill>
                <a:effectLst/>
                <a:latin typeface="Poppins" panose="00000500000000000000" pitchFamily="2" charset="0"/>
              </a:rPr>
              <a:t>User stories are a method Analysts use to visually present information during meetings. By mapping user stories, Analysts connect relationships and act as facilitators, showing how requirements will meet identified needs.</a:t>
            </a:r>
          </a:p>
          <a:p>
            <a:pPr algn="just"/>
            <a:r>
              <a:rPr lang="en-US" b="0" i="0" dirty="0">
                <a:solidFill>
                  <a:srgbClr val="000000"/>
                </a:solidFill>
                <a:effectLst/>
                <a:latin typeface="Poppins" panose="00000500000000000000" pitchFamily="2" charset="0"/>
              </a:rPr>
              <a:t>Verification and approvals come after stakeholders understand the product. Analysts first grasp the requirements before modelling them. Insights from user stories can guide future interviews and discussions.</a:t>
            </a:r>
          </a:p>
          <a:p>
            <a:pPr algn="l"/>
            <a:r>
              <a:rPr lang="en-US" b="0" i="0" dirty="0">
                <a:solidFill>
                  <a:srgbClr val="000000"/>
                </a:solidFill>
                <a:effectLst/>
                <a:latin typeface="Poppins" panose="00000500000000000000" pitchFamily="2" charset="0"/>
              </a:rPr>
              <a:t>10) Observation</a:t>
            </a:r>
          </a:p>
          <a:p>
            <a:pPr algn="just"/>
            <a:r>
              <a:rPr lang="en-US" b="0" i="0" dirty="0">
                <a:solidFill>
                  <a:srgbClr val="000000"/>
                </a:solidFill>
                <a:effectLst/>
                <a:latin typeface="Poppins" panose="00000500000000000000" pitchFamily="2" charset="0"/>
              </a:rPr>
              <a:t>Observation, or job shadowing, allows Analysts to see objectives and ideas first-hand. Analysts use this method to gather examples of business processes, regulations, and key clients by shadowing staff to identify new requirements and preferences.</a:t>
            </a:r>
          </a:p>
          <a:p>
            <a:pPr algn="just"/>
            <a:r>
              <a:rPr lang="en-US" b="0" i="0" dirty="0">
                <a:solidFill>
                  <a:srgbClr val="000000"/>
                </a:solidFill>
                <a:effectLst/>
                <a:latin typeface="Poppins" panose="00000500000000000000" pitchFamily="2" charset="0"/>
              </a:rPr>
              <a:t>Observation is especially useful at the start of a project. It helps Analysts prepare resources, structure tasks, and gather focused input. The main benefits include first-hand understanding and early identification of potential risks.</a:t>
            </a:r>
          </a:p>
          <a:p>
            <a:pPr algn="just"/>
            <a:r>
              <a:rPr lang="en-US" b="0" i="0" dirty="0">
                <a:solidFill>
                  <a:srgbClr val="000000"/>
                </a:solidFill>
                <a:effectLst/>
                <a:latin typeface="Poppins" panose="00000500000000000000" pitchFamily="2" charset="0"/>
              </a:rPr>
              <a:t>Explore our </a:t>
            </a:r>
            <a:r>
              <a:rPr lang="en-US" b="0" i="0" u="none" strike="noStrike" dirty="0">
                <a:solidFill>
                  <a:srgbClr val="44318D"/>
                </a:solidFill>
                <a:effectLst/>
                <a:latin typeface="Poppins" panose="00000500000000000000" pitchFamily="2" charset="0"/>
                <a:hlinkClick r:id="rId5" tooltip="Business Analysis Courses"/>
              </a:rPr>
              <a:t>Business Analysis Courses</a:t>
            </a:r>
            <a:r>
              <a:rPr lang="en-US" b="0" i="0" dirty="0">
                <a:solidFill>
                  <a:srgbClr val="000000"/>
                </a:solidFill>
                <a:effectLst/>
                <a:latin typeface="Poppins" panose="00000500000000000000" pitchFamily="2" charset="0"/>
              </a:rPr>
              <a:t> and learn how to turn insights into action for successful business outcomes.</a:t>
            </a:r>
          </a:p>
          <a:p>
            <a:pPr algn="l"/>
            <a:r>
              <a:rPr lang="en-US" b="0" i="0" dirty="0">
                <a:solidFill>
                  <a:srgbClr val="000000"/>
                </a:solidFill>
                <a:effectLst/>
                <a:latin typeface="Poppins" panose="00000500000000000000" pitchFamily="2" charset="0"/>
              </a:rPr>
              <a:t>11) Brainstorming</a:t>
            </a:r>
          </a:p>
          <a:p>
            <a:pPr algn="just"/>
            <a:r>
              <a:rPr lang="en-US" b="0" i="0" dirty="0">
                <a:solidFill>
                  <a:srgbClr val="000000"/>
                </a:solidFill>
                <a:effectLst/>
                <a:latin typeface="Poppins" panose="00000500000000000000" pitchFamily="2" charset="0"/>
              </a:rPr>
              <a:t>Brainstorming Sessions are a common technique in Business Analysis that gathers information from users, business owners, and </a:t>
            </a:r>
            <a:r>
              <a:rPr lang="en-US" b="0" i="0" u="none" strike="noStrike" dirty="0">
                <a:solidFill>
                  <a:srgbClr val="44318D"/>
                </a:solidFill>
                <a:effectLst/>
                <a:latin typeface="Poppins" panose="00000500000000000000" pitchFamily="2" charset="0"/>
                <a:hlinkClick r:id="rId6" tooltip="What is an employees"/>
              </a:rPr>
              <a:t>employees</a:t>
            </a:r>
            <a:r>
              <a:rPr lang="en-US" b="0" i="0" dirty="0">
                <a:solidFill>
                  <a:srgbClr val="000000"/>
                </a:solidFill>
                <a:effectLst/>
                <a:latin typeface="Poppins" panose="00000500000000000000" pitchFamily="2" charset="0"/>
              </a:rPr>
              <a:t>. These sessions can take place in either informal or formal settings.</a:t>
            </a:r>
          </a:p>
          <a:p>
            <a:pPr algn="just"/>
            <a:r>
              <a:rPr lang="en-US" b="0" i="0" dirty="0">
                <a:solidFill>
                  <a:srgbClr val="000000"/>
                </a:solidFill>
                <a:effectLst/>
                <a:latin typeface="Poppins" panose="00000500000000000000" pitchFamily="2" charset="0"/>
              </a:rPr>
              <a:t>Analysts use brainstorming to understand business processes, needs, and objectives before focusing on user requirements. They bring together participants to discuss ideas and define the project scope during the initial session.</a:t>
            </a:r>
          </a:p>
          <a:p>
            <a:pPr algn="l"/>
            <a:r>
              <a:rPr lang="en-US" b="0" i="0" dirty="0">
                <a:solidFill>
                  <a:srgbClr val="000000"/>
                </a:solidFill>
                <a:effectLst/>
                <a:latin typeface="Poppins" panose="00000500000000000000" pitchFamily="2" charset="0"/>
              </a:rPr>
              <a:t>12) Survey/Questionnaire</a:t>
            </a:r>
          </a:p>
          <a:p>
            <a:pPr algn="just"/>
            <a:r>
              <a:rPr lang="en-US" b="0" i="0" dirty="0">
                <a:solidFill>
                  <a:srgbClr val="000000"/>
                </a:solidFill>
                <a:effectLst/>
                <a:latin typeface="Poppins" panose="00000500000000000000" pitchFamily="2" charset="0"/>
              </a:rPr>
              <a:t>Surveys and Questionnaires help Analysts gather data about common challenges faced by end users, such as issues with similar products or prototypes. These tools are used to explore complex or frequent problems customers experience.</a:t>
            </a:r>
          </a:p>
          <a:p>
            <a:pPr algn="just"/>
            <a:r>
              <a:rPr lang="en-US" b="0" i="0" dirty="0">
                <a:solidFill>
                  <a:srgbClr val="000000"/>
                </a:solidFill>
                <a:effectLst/>
                <a:latin typeface="Poppins" panose="00000500000000000000" pitchFamily="2" charset="0"/>
              </a:rPr>
              <a:t>Software Development relies on feedback from all involved parties. Expert Analysts create Surveys and Questionnaires for online data collection during the elicitation process. Validation of the software often comes through user acceptance, which surveys help define.</a:t>
            </a:r>
          </a:p>
          <a:p>
            <a:pPr algn="l"/>
            <a:r>
              <a:rPr lang="en-US" b="0" i="0" dirty="0">
                <a:solidFill>
                  <a:srgbClr val="000000"/>
                </a:solidFill>
                <a:effectLst/>
                <a:latin typeface="Poppins" panose="00000500000000000000" pitchFamily="2" charset="0"/>
              </a:rPr>
              <a:t>13) Reverse Engineering</a:t>
            </a:r>
          </a:p>
          <a:p>
            <a:pPr algn="just"/>
            <a:r>
              <a:rPr lang="en-US" b="0" i="0" dirty="0">
                <a:solidFill>
                  <a:srgbClr val="000000"/>
                </a:solidFill>
                <a:effectLst/>
                <a:latin typeface="Poppins" panose="00000500000000000000" pitchFamily="2" charset="0"/>
              </a:rPr>
              <a:t>A Business Analysis expert uses </a:t>
            </a:r>
            <a:r>
              <a:rPr lang="en-US" b="0" i="0" u="none" strike="noStrike" dirty="0">
                <a:solidFill>
                  <a:srgbClr val="44318D"/>
                </a:solidFill>
                <a:effectLst/>
                <a:latin typeface="Poppins" panose="00000500000000000000" pitchFamily="2" charset="0"/>
                <a:hlinkClick r:id="rId7" tooltip="reverse engineering"/>
              </a:rPr>
              <a:t>reverse engineering</a:t>
            </a:r>
            <a:r>
              <a:rPr lang="en-US" b="0" i="0" dirty="0">
                <a:solidFill>
                  <a:srgbClr val="000000"/>
                </a:solidFill>
                <a:effectLst/>
                <a:latin typeface="Poppins" panose="00000500000000000000" pitchFamily="2" charset="0"/>
              </a:rPr>
              <a:t> to uncover hidden requirements in projects, providing more context to the customer. Analysts identify existing processes, document them, and search for overlooked specifications in current software.</a:t>
            </a:r>
          </a:p>
          <a:p>
            <a:pPr algn="just"/>
            <a:r>
              <a:rPr lang="en-US" b="0" i="0" dirty="0">
                <a:solidFill>
                  <a:srgbClr val="000000"/>
                </a:solidFill>
                <a:effectLst/>
                <a:latin typeface="Poppins" panose="00000500000000000000" pitchFamily="2" charset="0"/>
              </a:rPr>
              <a:t>With expertise in elicitation techniques, Analysts can find potential requirements and address error-prone stakeholder needs. Reverse engineering requires advanced skills and more time, but it can result in a product that meets the needs of a wider audience.</a:t>
            </a:r>
          </a:p>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6</a:t>
            </a:fld>
            <a:endParaRPr lang="en-US" altLang="en-US"/>
          </a:p>
        </p:txBody>
      </p:sp>
    </p:spTree>
    <p:extLst>
      <p:ext uri="{BB962C8B-B14F-4D97-AF65-F5344CB8AC3E}">
        <p14:creationId xmlns:p14="http://schemas.microsoft.com/office/powerpoint/2010/main" val="3621720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6D0196C7-B98C-40E1-91C5-8491A3DFE29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CFDC1F0B-C074-4FE4-BBBA-F3583B67ED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9220" name="Slide Number Placeholder 3">
            <a:extLst>
              <a:ext uri="{FF2B5EF4-FFF2-40B4-BE49-F238E27FC236}">
                <a16:creationId xmlns:a16="http://schemas.microsoft.com/office/drawing/2014/main" id="{39DEF502-AEFC-4EB8-9CD0-38E74A943F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A76EE5-D66A-489A-9770-6310D33E2C51}" type="slidenum">
              <a:rPr lang="en-US" altLang="en-US" smtClean="0">
                <a:latin typeface="Calibri" panose="020F0502020204030204" pitchFamily="34" charset="0"/>
              </a:rPr>
              <a:pPr/>
              <a:t>7</a:t>
            </a:fld>
            <a:endParaRPr lang="en-US" altLang="en-US">
              <a:latin typeface="Calibri" panose="020F0502020204030204" pitchFamily="34" charset="0"/>
            </a:endParaRPr>
          </a:p>
        </p:txBody>
      </p:sp>
    </p:spTree>
    <p:extLst>
      <p:ext uri="{BB962C8B-B14F-4D97-AF65-F5344CB8AC3E}">
        <p14:creationId xmlns:p14="http://schemas.microsoft.com/office/powerpoint/2010/main" val="2831675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9</a:t>
            </a:fld>
            <a:endParaRPr lang="en-US" altLang="en-US"/>
          </a:p>
        </p:txBody>
      </p:sp>
    </p:spTree>
    <p:extLst>
      <p:ext uri="{BB962C8B-B14F-4D97-AF65-F5344CB8AC3E}">
        <p14:creationId xmlns:p14="http://schemas.microsoft.com/office/powerpoint/2010/main" val="3549179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14</a:t>
            </a:fld>
            <a:endParaRPr lang="en-US" altLang="en-US"/>
          </a:p>
        </p:txBody>
      </p:sp>
    </p:spTree>
    <p:extLst>
      <p:ext uri="{BB962C8B-B14F-4D97-AF65-F5344CB8AC3E}">
        <p14:creationId xmlns:p14="http://schemas.microsoft.com/office/powerpoint/2010/main" val="434987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just"/>
            <a:r>
              <a:rPr lang="en-US" b="0" i="0" dirty="0">
                <a:solidFill>
                  <a:srgbClr val="000000"/>
                </a:solidFill>
                <a:effectLst/>
                <a:latin typeface="Poppins" panose="00000500000000000000" pitchFamily="2" charset="0"/>
              </a:rPr>
              <a:t>The Business Analysis team should consider customer profiles, </a:t>
            </a:r>
            <a:r>
              <a:rPr lang="en-US" b="0" i="0" dirty="0" err="1">
                <a:solidFill>
                  <a:srgbClr val="000000"/>
                </a:solidFill>
                <a:effectLst/>
                <a:latin typeface="Poppins" panose="00000500000000000000" pitchFamily="2" charset="0"/>
              </a:rPr>
              <a:t>organisational</a:t>
            </a:r>
            <a:r>
              <a:rPr lang="en-US" b="0" i="0" dirty="0">
                <a:solidFill>
                  <a:srgbClr val="000000"/>
                </a:solidFill>
                <a:effectLst/>
                <a:latin typeface="Poppins" panose="00000500000000000000" pitchFamily="2" charset="0"/>
              </a:rPr>
              <a:t> structure, and project type when choosing elicitation techniques. Below are the most popular methods for gathering information from stakeholders and Subject Matter Experts.</a:t>
            </a:r>
          </a:p>
          <a:p>
            <a:pPr algn="l"/>
            <a:r>
              <a:rPr lang="en-US" b="0" i="0" dirty="0">
                <a:solidFill>
                  <a:srgbClr val="000000"/>
                </a:solidFill>
                <a:effectLst/>
                <a:latin typeface="Poppins" panose="00000500000000000000" pitchFamily="2" charset="0"/>
              </a:rPr>
              <a:t>1) Focus Group</a:t>
            </a:r>
          </a:p>
          <a:p>
            <a:pPr algn="just"/>
            <a:r>
              <a:rPr lang="en-US" b="0" i="0" dirty="0">
                <a:solidFill>
                  <a:srgbClr val="000000"/>
                </a:solidFill>
                <a:effectLst/>
                <a:latin typeface="Poppins" panose="00000500000000000000" pitchFamily="2" charset="0"/>
              </a:rPr>
              <a:t>Focus groups are similar to brainstorming sessions, where Analysts gather participants to define requirements when customers can't provide detailed feedback. Analysts use this method when existing documentation lacks important details.</a:t>
            </a:r>
          </a:p>
          <a:p>
            <a:pPr algn="just"/>
            <a:r>
              <a:rPr lang="en-US" b="0" i="0" dirty="0">
                <a:solidFill>
                  <a:srgbClr val="000000"/>
                </a:solidFill>
                <a:effectLst/>
                <a:latin typeface="Poppins" panose="00000500000000000000" pitchFamily="2" charset="0"/>
              </a:rPr>
              <a:t>Business Analysts also conduct focus groups with subject matter experts to uncover overlooked industry-specific insights. In these sessions, experts may reveal information about regulated industries that the Analyst has not previously considered.</a:t>
            </a:r>
          </a:p>
          <a:p>
            <a:pPr algn="l"/>
            <a:r>
              <a:rPr lang="en-US" b="0" i="0" dirty="0">
                <a:solidFill>
                  <a:srgbClr val="000000"/>
                </a:solidFill>
                <a:effectLst/>
                <a:latin typeface="Poppins" panose="00000500000000000000" pitchFamily="2" charset="0"/>
              </a:rPr>
              <a:t>2) Interviews</a:t>
            </a:r>
          </a:p>
          <a:p>
            <a:pPr algn="just"/>
            <a:r>
              <a:rPr lang="en-US" b="0" i="0" dirty="0">
                <a:solidFill>
                  <a:srgbClr val="000000"/>
                </a:solidFill>
                <a:effectLst/>
                <a:latin typeface="Poppins" panose="00000500000000000000" pitchFamily="2" charset="0"/>
              </a:rPr>
              <a:t>Interviews allow Analysts to ask key questions needed to create System Requirements Documents (SRD). Whether through one-on-one, structured interviews or virtual group meetings, Analysts gather important notes to complete the documentation.</a:t>
            </a:r>
          </a:p>
          <a:p>
            <a:pPr algn="just"/>
            <a:r>
              <a:rPr lang="en-US" b="0" i="0" dirty="0">
                <a:solidFill>
                  <a:srgbClr val="000000"/>
                </a:solidFill>
                <a:effectLst/>
                <a:latin typeface="Poppins" panose="00000500000000000000" pitchFamily="2" charset="0"/>
              </a:rPr>
              <a:t>Analysts typically begin with an initial interview with the product owner before speaking to other stakeholders. Effective interview questions help Analysts ask follow-up questions and gather enough details for the product teams.</a:t>
            </a:r>
          </a:p>
          <a:p>
            <a:pPr algn="l"/>
            <a:r>
              <a:rPr lang="en-US" b="0" i="0" dirty="0">
                <a:solidFill>
                  <a:srgbClr val="000000"/>
                </a:solidFill>
                <a:effectLst/>
                <a:latin typeface="Poppins" panose="00000500000000000000" pitchFamily="2" charset="0"/>
              </a:rPr>
              <a:t>3) Interface Analysis</a:t>
            </a:r>
          </a:p>
          <a:p>
            <a:pPr algn="just"/>
            <a:r>
              <a:rPr lang="en-US" b="0" i="0" dirty="0">
                <a:solidFill>
                  <a:srgbClr val="000000"/>
                </a:solidFill>
                <a:effectLst/>
                <a:latin typeface="Poppins" panose="00000500000000000000" pitchFamily="2" charset="0"/>
              </a:rPr>
              <a:t>A Business Analyst performs an interface analysis to compare requirements from existing systems with the new software being developed. This process helps product teams create better customer experiences.</a:t>
            </a:r>
          </a:p>
          <a:p>
            <a:pPr algn="just"/>
            <a:r>
              <a:rPr lang="en-US" b="0" i="0" dirty="0">
                <a:solidFill>
                  <a:srgbClr val="000000"/>
                </a:solidFill>
                <a:effectLst/>
                <a:latin typeface="Poppins" panose="00000500000000000000" pitchFamily="2" charset="0"/>
              </a:rPr>
              <a:t>By examining past interfaces, Analysts can develop a clear blueprint for User Interface (UI) and User Experience (UX) design. It's a widely used method to define user expectations and provide detailed, cross-referenced feedback for development.</a:t>
            </a:r>
          </a:p>
          <a:p>
            <a:pPr algn="l"/>
            <a:r>
              <a:rPr lang="en-US" b="0" i="0" dirty="0">
                <a:solidFill>
                  <a:srgbClr val="000000"/>
                </a:solidFill>
                <a:effectLst/>
                <a:latin typeface="Poppins" panose="00000500000000000000" pitchFamily="2" charset="0"/>
              </a:rPr>
              <a:t>4) Prototyping</a:t>
            </a:r>
          </a:p>
          <a:p>
            <a:pPr algn="just"/>
            <a:r>
              <a:rPr lang="en-US" b="0" i="0" dirty="0">
                <a:solidFill>
                  <a:srgbClr val="000000"/>
                </a:solidFill>
                <a:effectLst/>
                <a:latin typeface="Poppins" panose="00000500000000000000" pitchFamily="2" charset="0"/>
              </a:rPr>
              <a:t>Prototyping enables efficient testing and collaboration with clients and customers. It allows Analysts to test software ideas and refine the requirements list based on responses. Prototyping is crucial in advancing software development.</a:t>
            </a:r>
          </a:p>
          <a:p>
            <a:pPr algn="just"/>
            <a:r>
              <a:rPr lang="en-US" b="0" i="0" dirty="0">
                <a:solidFill>
                  <a:srgbClr val="000000"/>
                </a:solidFill>
                <a:effectLst/>
                <a:latin typeface="Poppins" panose="00000500000000000000" pitchFamily="2" charset="0"/>
              </a:rPr>
              <a:t>Using prototypes and wireframes helps clients understand the project by providing visual examples. Prototypes offer a clear picture and can reveal overlooked user feedback during the Requirements Elicitation process.</a:t>
            </a:r>
          </a:p>
          <a:p>
            <a:pPr algn="l"/>
            <a:r>
              <a:rPr lang="en-US" b="0" i="0" dirty="0">
                <a:solidFill>
                  <a:srgbClr val="000000"/>
                </a:solidFill>
                <a:effectLst/>
                <a:latin typeface="Poppins" panose="00000500000000000000" pitchFamily="2" charset="0"/>
              </a:rPr>
              <a:t>5) Document Analysis</a:t>
            </a:r>
          </a:p>
          <a:p>
            <a:pPr algn="just"/>
            <a:r>
              <a:rPr lang="en-US" b="0" i="0" dirty="0">
                <a:solidFill>
                  <a:srgbClr val="000000"/>
                </a:solidFill>
                <a:effectLst/>
                <a:latin typeface="Poppins" panose="00000500000000000000" pitchFamily="2" charset="0"/>
              </a:rPr>
              <a:t>Document analysis of similar software can uncover specifications that may have been missed during other elicitation methods. Analysts review existing documentation to find relevant requirements for the new software being developed.</a:t>
            </a:r>
          </a:p>
          <a:p>
            <a:pPr algn="just"/>
            <a:r>
              <a:rPr lang="en-US" b="0" i="0" dirty="0">
                <a:solidFill>
                  <a:srgbClr val="000000"/>
                </a:solidFill>
                <a:effectLst/>
                <a:latin typeface="Poppins" panose="00000500000000000000" pitchFamily="2" charset="0"/>
              </a:rPr>
              <a:t>Studying existing software and documents helps identify missed features and tools during the software development process. This method ensures more complete and accurate requirements, working behind the scenes to avoid gaps.</a:t>
            </a:r>
          </a:p>
          <a:p>
            <a:pPr algn="just"/>
            <a:r>
              <a:rPr lang="en-US" b="0" i="0" dirty="0">
                <a:solidFill>
                  <a:srgbClr val="000000"/>
                </a:solidFill>
                <a:effectLst/>
                <a:latin typeface="Poppins" panose="00000500000000000000" pitchFamily="2" charset="0"/>
              </a:rPr>
              <a:t>Become an Agile expert with the </a:t>
            </a:r>
            <a:r>
              <a:rPr lang="en-US" b="0" i="0" u="none" strike="noStrike" dirty="0">
                <a:solidFill>
                  <a:srgbClr val="44318D"/>
                </a:solidFill>
                <a:effectLst/>
                <a:latin typeface="Poppins" panose="00000500000000000000" pitchFamily="2" charset="0"/>
                <a:hlinkClick r:id="rId3" tooltip="BCS Foundation Certificate in Agile"/>
              </a:rPr>
              <a:t>BCS Foundation Certificate in </a:t>
            </a:r>
            <a:r>
              <a:rPr lang="en-US" b="0" i="0" u="none" strike="noStrike" dirty="0" err="1">
                <a:solidFill>
                  <a:srgbClr val="44318D"/>
                </a:solidFill>
                <a:effectLst/>
                <a:latin typeface="Poppins" panose="00000500000000000000" pitchFamily="2" charset="0"/>
                <a:hlinkClick r:id="rId3" tooltip="BCS Foundation Certificate in Agile"/>
              </a:rPr>
              <a:t>Agile</a:t>
            </a:r>
            <a:r>
              <a:rPr lang="en-US" b="0" i="0" dirty="0" err="1">
                <a:solidFill>
                  <a:srgbClr val="000000"/>
                </a:solidFill>
                <a:effectLst/>
                <a:latin typeface="Poppins" panose="00000500000000000000" pitchFamily="2" charset="0"/>
              </a:rPr>
              <a:t>and</a:t>
            </a:r>
            <a:r>
              <a:rPr lang="en-US" b="0" i="0" dirty="0">
                <a:solidFill>
                  <a:srgbClr val="000000"/>
                </a:solidFill>
                <a:effectLst/>
                <a:latin typeface="Poppins" panose="00000500000000000000" pitchFamily="2" charset="0"/>
              </a:rPr>
              <a:t> empower your teams to achieve outstanding results!</a:t>
            </a:r>
          </a:p>
          <a:p>
            <a:pPr algn="l"/>
            <a:r>
              <a:rPr lang="en-US" b="0" i="0" dirty="0">
                <a:solidFill>
                  <a:srgbClr val="000000"/>
                </a:solidFill>
                <a:effectLst/>
                <a:latin typeface="Poppins" panose="00000500000000000000" pitchFamily="2" charset="0"/>
              </a:rPr>
              <a:t>6) Requirements Workshops</a:t>
            </a:r>
          </a:p>
          <a:p>
            <a:pPr algn="just"/>
            <a:r>
              <a:rPr lang="en-US" b="0" i="0" dirty="0">
                <a:solidFill>
                  <a:srgbClr val="000000"/>
                </a:solidFill>
                <a:effectLst/>
                <a:latin typeface="Poppins" panose="00000500000000000000" pitchFamily="2" charset="0"/>
              </a:rPr>
              <a:t>A requirements workshop allows Analysts to interview both users and </a:t>
            </a:r>
            <a:r>
              <a:rPr lang="en-US" b="0" i="0" u="none" strike="noStrike" dirty="0">
                <a:solidFill>
                  <a:srgbClr val="44318D"/>
                </a:solidFill>
                <a:effectLst/>
                <a:latin typeface="Poppins" panose="00000500000000000000" pitchFamily="2" charset="0"/>
                <a:hlinkClick r:id="rId4" tooltip="What is stakeholders"/>
              </a:rPr>
              <a:t>stakeholders</a:t>
            </a:r>
            <a:r>
              <a:rPr lang="en-US" b="0" i="0" dirty="0">
                <a:solidFill>
                  <a:srgbClr val="000000"/>
                </a:solidFill>
                <a:effectLst/>
                <a:latin typeface="Poppins" panose="00000500000000000000" pitchFamily="2" charset="0"/>
              </a:rPr>
              <a:t>, promoting collaboration and clear communication. This approach helps gather more answers and engages all participants in the process.</a:t>
            </a:r>
          </a:p>
          <a:p>
            <a:pPr algn="just"/>
            <a:r>
              <a:rPr lang="en-US" b="0" i="0" dirty="0">
                <a:solidFill>
                  <a:srgbClr val="000000"/>
                </a:solidFill>
                <a:effectLst/>
                <a:latin typeface="Poppins" panose="00000500000000000000" pitchFamily="2" charset="0"/>
              </a:rPr>
              <a:t>The workshop enables Analysts to gather input from multiple participants, providing a clearer, more detailed picture of the project. It is a structured session designed to involve key stakeholders in the Requirements Elicitation process.</a:t>
            </a:r>
          </a:p>
          <a:p>
            <a:pPr algn="l"/>
            <a:r>
              <a:rPr lang="en-US" b="0" i="0" dirty="0">
                <a:solidFill>
                  <a:srgbClr val="000000"/>
                </a:solidFill>
                <a:effectLst/>
                <a:latin typeface="Poppins" panose="00000500000000000000" pitchFamily="2" charset="0"/>
              </a:rPr>
              <a:t>7) User Personas</a:t>
            </a:r>
          </a:p>
          <a:p>
            <a:pPr algn="just"/>
            <a:r>
              <a:rPr lang="en-US" b="0" i="0" dirty="0">
                <a:solidFill>
                  <a:srgbClr val="000000"/>
                </a:solidFill>
                <a:effectLst/>
                <a:latin typeface="Poppins" panose="00000500000000000000" pitchFamily="2" charset="0"/>
              </a:rPr>
              <a:t>An Analyst can use user personas to represent the customer’s perspective, helping to </a:t>
            </a:r>
            <a:r>
              <a:rPr lang="en-US" b="0" i="0" dirty="0" err="1">
                <a:solidFill>
                  <a:srgbClr val="000000"/>
                </a:solidFill>
                <a:effectLst/>
                <a:latin typeface="Poppins" panose="00000500000000000000" pitchFamily="2" charset="0"/>
              </a:rPr>
              <a:t>visualise</a:t>
            </a:r>
            <a:r>
              <a:rPr lang="en-US" b="0" i="0" dirty="0">
                <a:solidFill>
                  <a:srgbClr val="000000"/>
                </a:solidFill>
                <a:effectLst/>
                <a:latin typeface="Poppins" panose="00000500000000000000" pitchFamily="2" charset="0"/>
              </a:rPr>
              <a:t> the requirements for a successful project. Creating user personas also helps identify tasks needed to deliver, communicate insights, and influence development.</a:t>
            </a:r>
          </a:p>
          <a:p>
            <a:pPr algn="just"/>
            <a:r>
              <a:rPr lang="en-US" b="0" i="0" dirty="0">
                <a:solidFill>
                  <a:srgbClr val="000000"/>
                </a:solidFill>
                <a:effectLst/>
                <a:latin typeface="Poppins" panose="00000500000000000000" pitchFamily="2" charset="0"/>
              </a:rPr>
              <a:t>By planning and presenting customer perspectives, Analysts can turn ideas into clear requirements. They can clarify the system with visual tools and guide teams, acting as facilitators in the development process.</a:t>
            </a:r>
          </a:p>
          <a:p>
            <a:pPr algn="l"/>
            <a:r>
              <a:rPr lang="en-US" b="0" i="0" dirty="0">
                <a:solidFill>
                  <a:srgbClr val="000000"/>
                </a:solidFill>
                <a:effectLst/>
                <a:latin typeface="Poppins" panose="00000500000000000000" pitchFamily="2" charset="0"/>
              </a:rPr>
              <a:t>8) Stakeholder Analysis</a:t>
            </a:r>
          </a:p>
          <a:p>
            <a:pPr algn="just"/>
            <a:r>
              <a:rPr lang="en-US" b="0" i="0" dirty="0">
                <a:solidFill>
                  <a:srgbClr val="000000"/>
                </a:solidFill>
                <a:effectLst/>
                <a:latin typeface="Poppins" panose="00000500000000000000" pitchFamily="2" charset="0"/>
              </a:rPr>
              <a:t>Information is often gathered from stakeholder groups, where Analysts build relationships with end users to collect accurate data. Stakeholders can range from small groups to larger audiences, with many being end users.</a:t>
            </a:r>
          </a:p>
          <a:p>
            <a:pPr algn="just"/>
            <a:r>
              <a:rPr lang="en-US" b="0" i="0" dirty="0">
                <a:solidFill>
                  <a:srgbClr val="000000"/>
                </a:solidFill>
                <a:effectLst/>
                <a:latin typeface="Poppins" panose="00000500000000000000" pitchFamily="2" charset="0"/>
              </a:rPr>
              <a:t>Good Analysts meet with key stakeholder groups to gather a complete set of requirements. While end users provide valuable input, involving too many participants at once can lead to confusion. It's best to focus on smaller groups during stakeholder analysis for clearer results.</a:t>
            </a:r>
          </a:p>
          <a:p>
            <a:pPr algn="l"/>
            <a:r>
              <a:rPr lang="en-US" b="0" i="0" dirty="0">
                <a:solidFill>
                  <a:srgbClr val="000000"/>
                </a:solidFill>
                <a:effectLst/>
                <a:latin typeface="Poppins" panose="00000500000000000000" pitchFamily="2" charset="0"/>
              </a:rPr>
              <a:t>9) User Story Mapping</a:t>
            </a:r>
          </a:p>
          <a:p>
            <a:pPr algn="just"/>
            <a:r>
              <a:rPr lang="en-US" b="0" i="0" dirty="0">
                <a:solidFill>
                  <a:srgbClr val="000000"/>
                </a:solidFill>
                <a:effectLst/>
                <a:latin typeface="Poppins" panose="00000500000000000000" pitchFamily="2" charset="0"/>
              </a:rPr>
              <a:t>User stories are a method Analysts use to visually present information during meetings. By mapping user stories, Analysts connect relationships and act as facilitators, showing how requirements will meet identified needs.</a:t>
            </a:r>
          </a:p>
          <a:p>
            <a:pPr algn="just"/>
            <a:r>
              <a:rPr lang="en-US" b="0" i="0" dirty="0">
                <a:solidFill>
                  <a:srgbClr val="000000"/>
                </a:solidFill>
                <a:effectLst/>
                <a:latin typeface="Poppins" panose="00000500000000000000" pitchFamily="2" charset="0"/>
              </a:rPr>
              <a:t>Verification and approvals come after stakeholders understand the product. Analysts first grasp the requirements before modelling them. Insights from user stories can guide future interviews and discussions.</a:t>
            </a:r>
          </a:p>
          <a:p>
            <a:pPr algn="l"/>
            <a:r>
              <a:rPr lang="en-US" b="0" i="0" dirty="0">
                <a:solidFill>
                  <a:srgbClr val="000000"/>
                </a:solidFill>
                <a:effectLst/>
                <a:latin typeface="Poppins" panose="00000500000000000000" pitchFamily="2" charset="0"/>
              </a:rPr>
              <a:t>10) Observation</a:t>
            </a:r>
          </a:p>
          <a:p>
            <a:pPr algn="just"/>
            <a:r>
              <a:rPr lang="en-US" b="0" i="0" dirty="0">
                <a:solidFill>
                  <a:srgbClr val="000000"/>
                </a:solidFill>
                <a:effectLst/>
                <a:latin typeface="Poppins" panose="00000500000000000000" pitchFamily="2" charset="0"/>
              </a:rPr>
              <a:t>Observation, or job shadowing, allows Analysts to see objectives and ideas first-hand. Analysts use this method to gather examples of business processes, regulations, and key clients by shadowing staff to identify new requirements and preferences.</a:t>
            </a:r>
          </a:p>
          <a:p>
            <a:pPr algn="just"/>
            <a:r>
              <a:rPr lang="en-US" b="0" i="0" dirty="0">
                <a:solidFill>
                  <a:srgbClr val="000000"/>
                </a:solidFill>
                <a:effectLst/>
                <a:latin typeface="Poppins" panose="00000500000000000000" pitchFamily="2" charset="0"/>
              </a:rPr>
              <a:t>Observation is especially useful at the start of a project. It helps Analysts prepare resources, structure tasks, and gather focused input. The main benefits include first-hand understanding and early identification of potential risks.</a:t>
            </a:r>
          </a:p>
          <a:p>
            <a:pPr algn="just"/>
            <a:r>
              <a:rPr lang="en-US" b="0" i="0" dirty="0">
                <a:solidFill>
                  <a:srgbClr val="000000"/>
                </a:solidFill>
                <a:effectLst/>
                <a:latin typeface="Poppins" panose="00000500000000000000" pitchFamily="2" charset="0"/>
              </a:rPr>
              <a:t>Explore our </a:t>
            </a:r>
            <a:r>
              <a:rPr lang="en-US" b="0" i="0" u="none" strike="noStrike" dirty="0">
                <a:solidFill>
                  <a:srgbClr val="44318D"/>
                </a:solidFill>
                <a:effectLst/>
                <a:latin typeface="Poppins" panose="00000500000000000000" pitchFamily="2" charset="0"/>
                <a:hlinkClick r:id="rId5" tooltip="Business Analysis Courses"/>
              </a:rPr>
              <a:t>Business Analysis Courses</a:t>
            </a:r>
            <a:r>
              <a:rPr lang="en-US" b="0" i="0" dirty="0">
                <a:solidFill>
                  <a:srgbClr val="000000"/>
                </a:solidFill>
                <a:effectLst/>
                <a:latin typeface="Poppins" panose="00000500000000000000" pitchFamily="2" charset="0"/>
              </a:rPr>
              <a:t> and learn how to turn insights into action for successful business outcomes.</a:t>
            </a:r>
          </a:p>
          <a:p>
            <a:pPr algn="l"/>
            <a:r>
              <a:rPr lang="en-US" b="0" i="0" dirty="0">
                <a:solidFill>
                  <a:srgbClr val="000000"/>
                </a:solidFill>
                <a:effectLst/>
                <a:latin typeface="Poppins" panose="00000500000000000000" pitchFamily="2" charset="0"/>
              </a:rPr>
              <a:t>11) Brainstorming</a:t>
            </a:r>
          </a:p>
          <a:p>
            <a:pPr algn="just"/>
            <a:r>
              <a:rPr lang="en-US" b="0" i="0" dirty="0">
                <a:solidFill>
                  <a:srgbClr val="000000"/>
                </a:solidFill>
                <a:effectLst/>
                <a:latin typeface="Poppins" panose="00000500000000000000" pitchFamily="2" charset="0"/>
              </a:rPr>
              <a:t>Brainstorming Sessions are a common technique in Business Analysis that gathers information from users, business owners, and </a:t>
            </a:r>
            <a:r>
              <a:rPr lang="en-US" b="0" i="0" u="none" strike="noStrike" dirty="0">
                <a:solidFill>
                  <a:srgbClr val="44318D"/>
                </a:solidFill>
                <a:effectLst/>
                <a:latin typeface="Poppins" panose="00000500000000000000" pitchFamily="2" charset="0"/>
                <a:hlinkClick r:id="rId6" tooltip="What is an employees"/>
              </a:rPr>
              <a:t>employees</a:t>
            </a:r>
            <a:r>
              <a:rPr lang="en-US" b="0" i="0" dirty="0">
                <a:solidFill>
                  <a:srgbClr val="000000"/>
                </a:solidFill>
                <a:effectLst/>
                <a:latin typeface="Poppins" panose="00000500000000000000" pitchFamily="2" charset="0"/>
              </a:rPr>
              <a:t>. These sessions can take place in either informal or formal settings.</a:t>
            </a:r>
          </a:p>
          <a:p>
            <a:pPr algn="just"/>
            <a:r>
              <a:rPr lang="en-US" b="0" i="0" dirty="0">
                <a:solidFill>
                  <a:srgbClr val="000000"/>
                </a:solidFill>
                <a:effectLst/>
                <a:latin typeface="Poppins" panose="00000500000000000000" pitchFamily="2" charset="0"/>
              </a:rPr>
              <a:t>Analysts use brainstorming to understand business processes, needs, and objectives before focusing on user requirements. They bring together participants to discuss ideas and define the project scope during the initial session.</a:t>
            </a:r>
          </a:p>
          <a:p>
            <a:pPr algn="l"/>
            <a:r>
              <a:rPr lang="en-US" b="0" i="0" dirty="0">
                <a:solidFill>
                  <a:srgbClr val="000000"/>
                </a:solidFill>
                <a:effectLst/>
                <a:latin typeface="Poppins" panose="00000500000000000000" pitchFamily="2" charset="0"/>
              </a:rPr>
              <a:t>12) Survey/Questionnaire</a:t>
            </a:r>
          </a:p>
          <a:p>
            <a:pPr algn="just"/>
            <a:r>
              <a:rPr lang="en-US" b="0" i="0" dirty="0">
                <a:solidFill>
                  <a:srgbClr val="000000"/>
                </a:solidFill>
                <a:effectLst/>
                <a:latin typeface="Poppins" panose="00000500000000000000" pitchFamily="2" charset="0"/>
              </a:rPr>
              <a:t>Surveys and Questionnaires help Analysts gather data about common challenges faced by end users, such as issues with similar products or prototypes. These tools are used to explore complex or frequent problems customers experience.</a:t>
            </a:r>
          </a:p>
          <a:p>
            <a:pPr algn="just"/>
            <a:r>
              <a:rPr lang="en-US" b="0" i="0" dirty="0">
                <a:solidFill>
                  <a:srgbClr val="000000"/>
                </a:solidFill>
                <a:effectLst/>
                <a:latin typeface="Poppins" panose="00000500000000000000" pitchFamily="2" charset="0"/>
              </a:rPr>
              <a:t>Software Development relies on feedback from all involved parties. Expert Analysts create Surveys and Questionnaires for online data collection during the elicitation process. Validation of the software often comes through user acceptance, which surveys help define.</a:t>
            </a:r>
          </a:p>
          <a:p>
            <a:pPr algn="l"/>
            <a:r>
              <a:rPr lang="en-US" b="0" i="0" dirty="0">
                <a:solidFill>
                  <a:srgbClr val="000000"/>
                </a:solidFill>
                <a:effectLst/>
                <a:latin typeface="Poppins" panose="00000500000000000000" pitchFamily="2" charset="0"/>
              </a:rPr>
              <a:t>13) Reverse Engineering</a:t>
            </a:r>
          </a:p>
          <a:p>
            <a:pPr algn="just"/>
            <a:r>
              <a:rPr lang="en-US" b="0" i="0" dirty="0">
                <a:solidFill>
                  <a:srgbClr val="000000"/>
                </a:solidFill>
                <a:effectLst/>
                <a:latin typeface="Poppins" panose="00000500000000000000" pitchFamily="2" charset="0"/>
              </a:rPr>
              <a:t>A Business Analysis expert uses </a:t>
            </a:r>
            <a:r>
              <a:rPr lang="en-US" b="0" i="0" u="none" strike="noStrike" dirty="0">
                <a:solidFill>
                  <a:srgbClr val="44318D"/>
                </a:solidFill>
                <a:effectLst/>
                <a:latin typeface="Poppins" panose="00000500000000000000" pitchFamily="2" charset="0"/>
                <a:hlinkClick r:id="rId7" tooltip="reverse engineering"/>
              </a:rPr>
              <a:t>reverse engineering</a:t>
            </a:r>
            <a:r>
              <a:rPr lang="en-US" b="0" i="0" dirty="0">
                <a:solidFill>
                  <a:srgbClr val="000000"/>
                </a:solidFill>
                <a:effectLst/>
                <a:latin typeface="Poppins" panose="00000500000000000000" pitchFamily="2" charset="0"/>
              </a:rPr>
              <a:t> to uncover hidden requirements in projects, providing more context to the customer. Analysts identify existing processes, document them, and search for overlooked specifications in current software.</a:t>
            </a:r>
          </a:p>
          <a:p>
            <a:pPr algn="just"/>
            <a:r>
              <a:rPr lang="en-US" b="0" i="0" dirty="0">
                <a:solidFill>
                  <a:srgbClr val="000000"/>
                </a:solidFill>
                <a:effectLst/>
                <a:latin typeface="Poppins" panose="00000500000000000000" pitchFamily="2" charset="0"/>
              </a:rPr>
              <a:t>With expertise in elicitation techniques, Analysts can find potential requirements and address error-prone stakeholder needs. Reverse engineering requires advanced skills and more time, but it can result in a product that meets the needs of a wider audience.</a:t>
            </a:r>
          </a:p>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17</a:t>
            </a:fld>
            <a:endParaRPr lang="en-US" altLang="en-US"/>
          </a:p>
        </p:txBody>
      </p:sp>
    </p:spTree>
    <p:extLst>
      <p:ext uri="{BB962C8B-B14F-4D97-AF65-F5344CB8AC3E}">
        <p14:creationId xmlns:p14="http://schemas.microsoft.com/office/powerpoint/2010/main" val="3606365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Nunito" pitchFamily="2" charset="0"/>
              </a:rPr>
              <a:t>The process of investigating and learning about a system's requirements from users, clients, and other stakeholders is known as requirements elicitation. Requirements elicitation in </a:t>
            </a:r>
            <a:r>
              <a:rPr lang="en-US" b="0" i="0" u="sng" dirty="0">
                <a:solidFill>
                  <a:srgbClr val="22A779"/>
                </a:solidFill>
                <a:effectLst/>
                <a:latin typeface="Nunito" pitchFamily="2" charset="0"/>
                <a:hlinkClick r:id="rId3"/>
              </a:rPr>
              <a:t>software engineering </a:t>
            </a:r>
            <a:r>
              <a:rPr lang="en-US" b="0" i="0" dirty="0">
                <a:solidFill>
                  <a:srgbClr val="FFFFFF"/>
                </a:solidFill>
                <a:effectLst/>
                <a:latin typeface="Nunito" pitchFamily="2" charset="0"/>
              </a:rPr>
              <a:t>is perhaps the most difficult, most error-prone, and most communication-intensive </a:t>
            </a:r>
            <a:r>
              <a:rPr lang="en-US" b="0" i="0" u="sng" dirty="0">
                <a:solidFill>
                  <a:srgbClr val="22A779"/>
                </a:solidFill>
                <a:effectLst/>
                <a:latin typeface="Nunito" pitchFamily="2" charset="0"/>
                <a:hlinkClick r:id="rId4"/>
              </a:rPr>
              <a:t>software development</a:t>
            </a:r>
            <a:r>
              <a:rPr lang="en-US" b="0" i="0" dirty="0">
                <a:solidFill>
                  <a:srgbClr val="FFFFFF"/>
                </a:solidFill>
                <a:effectLst/>
                <a:latin typeface="Nunito" pitchFamily="2" charset="0"/>
              </a:rPr>
              <a:t>.</a:t>
            </a:r>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22</a:t>
            </a:fld>
            <a:endParaRPr lang="en-US" altLang="en-US"/>
          </a:p>
        </p:txBody>
      </p:sp>
    </p:spTree>
    <p:extLst>
      <p:ext uri="{BB962C8B-B14F-4D97-AF65-F5344CB8AC3E}">
        <p14:creationId xmlns:p14="http://schemas.microsoft.com/office/powerpoint/2010/main" val="3864411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BPA - Give examples – Ledgering, stock control (last step from previous slide)</a:t>
            </a:r>
          </a:p>
          <a:p>
            <a:r>
              <a:rPr lang="en-US" dirty="0"/>
              <a:t>BPI – (2,3,4 from below slide) – easy shopping – Virtual groceries</a:t>
            </a:r>
          </a:p>
          <a:p>
            <a:r>
              <a:rPr lang="en-US" dirty="0"/>
              <a:t>     Improve efficiency – doing things right</a:t>
            </a:r>
          </a:p>
          <a:p>
            <a:r>
              <a:rPr lang="en-US" dirty="0"/>
              <a:t>     Improve effectiveness – doing the right things</a:t>
            </a:r>
          </a:p>
          <a:p>
            <a:r>
              <a:rPr lang="en-US" dirty="0"/>
              <a:t>BPR – Need of the complete revamping of the </a:t>
            </a:r>
            <a:r>
              <a:rPr lang="en-US" dirty="0" err="1"/>
              <a:t>org,s</a:t>
            </a:r>
            <a:r>
              <a:rPr lang="en-US" dirty="0"/>
              <a:t> business processes. </a:t>
            </a:r>
          </a:p>
          <a:p>
            <a:endParaRPr lang="en-US" dirty="0"/>
          </a:p>
        </p:txBody>
      </p:sp>
      <p:sp>
        <p:nvSpPr>
          <p:cNvPr id="4" name="Slide Number Placeholder 3"/>
          <p:cNvSpPr>
            <a:spLocks noGrp="1"/>
          </p:cNvSpPr>
          <p:nvPr>
            <p:ph type="sldNum" sz="quarter" idx="5"/>
          </p:nvPr>
        </p:nvSpPr>
        <p:spPr/>
        <p:txBody>
          <a:bodyPr/>
          <a:lstStyle/>
          <a:p>
            <a:pPr>
              <a:defRPr/>
            </a:pPr>
            <a:fld id="{C3E36BE3-0588-4009-90D5-A23548AA6B4B}" type="slidenum">
              <a:rPr lang="en-US" altLang="en-US" smtClean="0"/>
              <a:pPr>
                <a:defRPr/>
              </a:pPr>
              <a:t>24</a:t>
            </a:fld>
            <a:endParaRPr lang="en-US" altLang="en-US"/>
          </a:p>
        </p:txBody>
      </p:sp>
    </p:spTree>
    <p:extLst>
      <p:ext uri="{BB962C8B-B14F-4D97-AF65-F5344CB8AC3E}">
        <p14:creationId xmlns:p14="http://schemas.microsoft.com/office/powerpoint/2010/main" val="1586573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3429000"/>
          </a:xfrm>
        </p:spPr>
        <p:txBody>
          <a:bodyPr/>
          <a:lstStyle>
            <a:lvl1pPr>
              <a:defRPr sz="3200" b="1"/>
            </a:lvl1pPr>
          </a:lstStyle>
          <a:p>
            <a:r>
              <a:rPr lang="en-US"/>
              <a:t>Click to edit Master title style</a:t>
            </a:r>
            <a:endParaRPr lang="en-US" dirty="0"/>
          </a:p>
        </p:txBody>
      </p:sp>
      <p:sp>
        <p:nvSpPr>
          <p:cNvPr id="3" name="Subtitle 2"/>
          <p:cNvSpPr>
            <a:spLocks noGrp="1"/>
          </p:cNvSpPr>
          <p:nvPr>
            <p:ph type="subTitle" idx="1"/>
          </p:nvPr>
        </p:nvSpPr>
        <p:spPr>
          <a:xfrm>
            <a:off x="304800" y="4953000"/>
            <a:ext cx="8534400" cy="685800"/>
          </a:xfrm>
        </p:spPr>
        <p:txBody>
          <a:bodyPr/>
          <a:lstStyle>
            <a:lvl1pPr marL="0" indent="0" algn="ctr">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5D77951-2283-49C5-84EC-CD856D8BA342}"/>
              </a:ext>
            </a:extLst>
          </p:cNvPr>
          <p:cNvSpPr>
            <a:spLocks noGrp="1"/>
          </p:cNvSpPr>
          <p:nvPr>
            <p:ph type="dt" sz="half" idx="10"/>
          </p:nvPr>
        </p:nvSpPr>
        <p:spPr>
          <a:xfrm>
            <a:off x="457200" y="6356350"/>
            <a:ext cx="152400" cy="365125"/>
          </a:xfrm>
        </p:spPr>
        <p:txBody>
          <a:bodyPr/>
          <a:lstStyle>
            <a:lvl1pPr>
              <a:defRPr/>
            </a:lvl1pPr>
          </a:lstStyle>
          <a:p>
            <a:pPr>
              <a:defRPr/>
            </a:pPr>
            <a:r>
              <a:rPr lang="en-US"/>
              <a:t> </a:t>
            </a:r>
          </a:p>
        </p:txBody>
      </p:sp>
      <p:sp>
        <p:nvSpPr>
          <p:cNvPr id="5" name="Footer Placeholder 4">
            <a:extLst>
              <a:ext uri="{FF2B5EF4-FFF2-40B4-BE49-F238E27FC236}">
                <a16:creationId xmlns:a16="http://schemas.microsoft.com/office/drawing/2014/main" id="{978042F3-BF87-49E7-AB16-126441E2722C}"/>
              </a:ext>
            </a:extLst>
          </p:cNvPr>
          <p:cNvSpPr>
            <a:spLocks noGrp="1"/>
          </p:cNvSpPr>
          <p:nvPr>
            <p:ph type="ftr" sz="quarter" idx="11"/>
          </p:nvPr>
        </p:nvSpPr>
        <p:spPr/>
        <p:txBody>
          <a:bodyPr/>
          <a:lstStyle>
            <a:lvl1pPr>
              <a:defRPr/>
            </a:lvl1pPr>
          </a:lstStyle>
          <a:p>
            <a:pPr>
              <a:defRPr/>
            </a:pPr>
            <a:r>
              <a:rPr lang="en-US"/>
              <a:t>© Copyright John Wiley &amp; Sons, Inc.</a:t>
            </a:r>
          </a:p>
        </p:txBody>
      </p:sp>
      <p:sp>
        <p:nvSpPr>
          <p:cNvPr id="6" name="Slide Number Placeholder 5">
            <a:extLst>
              <a:ext uri="{FF2B5EF4-FFF2-40B4-BE49-F238E27FC236}">
                <a16:creationId xmlns:a16="http://schemas.microsoft.com/office/drawing/2014/main" id="{89F8A850-CB57-48D6-A84F-768139CB506C}"/>
              </a:ext>
            </a:extLst>
          </p:cNvPr>
          <p:cNvSpPr>
            <a:spLocks noGrp="1"/>
          </p:cNvSpPr>
          <p:nvPr>
            <p:ph type="sldNum" sz="quarter" idx="12"/>
          </p:nvPr>
        </p:nvSpPr>
        <p:spPr/>
        <p:txBody>
          <a:bodyPr/>
          <a:lstStyle>
            <a:lvl1pPr>
              <a:defRPr/>
            </a:lvl1pPr>
          </a:lstStyle>
          <a:p>
            <a:pPr>
              <a:defRPr/>
            </a:pPr>
            <a:r>
              <a:rPr lang="en-US" altLang="en-US"/>
              <a:t>1-</a:t>
            </a:r>
            <a:fld id="{70A83559-4147-413A-8192-4A95F5962AD4}" type="slidenum">
              <a:rPr lang="en-US" altLang="en-US" smtClean="0"/>
              <a:pPr>
                <a:defRPr/>
              </a:pPr>
              <a:t>‹#›</a:t>
            </a:fld>
            <a:endParaRPr lang="en-US" altLang="en-US"/>
          </a:p>
        </p:txBody>
      </p:sp>
    </p:spTree>
    <p:extLst>
      <p:ext uri="{BB962C8B-B14F-4D97-AF65-F5344CB8AC3E}">
        <p14:creationId xmlns:p14="http://schemas.microsoft.com/office/powerpoint/2010/main" val="124182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26F80F1-FFE1-4464-9C15-646F35E0ACCD}"/>
              </a:ext>
            </a:extLst>
          </p:cNvPr>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spcBef>
                <a:spcPts val="0"/>
              </a:spcBef>
              <a:buClr>
                <a:srgbClr val="0070C0"/>
              </a:buClr>
              <a:buSzPct val="150000"/>
              <a:buFont typeface="Wingdings" pitchFamily="2" charset="2"/>
              <a:buChar cha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23D92E3F-C2D7-4E3A-AE37-449D706D8543}"/>
              </a:ext>
            </a:extLst>
          </p:cNvPr>
          <p:cNvSpPr>
            <a:spLocks noGrp="1"/>
          </p:cNvSpPr>
          <p:nvPr>
            <p:ph type="dt" sz="half" idx="10"/>
          </p:nvPr>
        </p:nvSpPr>
        <p:spPr/>
        <p:txBody>
          <a:bodyPr/>
          <a:lstStyle>
            <a:lvl1pPr>
              <a:defRPr/>
            </a:lvl1pPr>
          </a:lstStyle>
          <a:p>
            <a:pPr>
              <a:defRPr/>
            </a:pPr>
            <a:r>
              <a:rPr lang="en-US"/>
              <a:t> </a:t>
            </a:r>
          </a:p>
        </p:txBody>
      </p:sp>
      <p:sp>
        <p:nvSpPr>
          <p:cNvPr id="6" name="Footer Placeholder 4">
            <a:extLst>
              <a:ext uri="{FF2B5EF4-FFF2-40B4-BE49-F238E27FC236}">
                <a16:creationId xmlns:a16="http://schemas.microsoft.com/office/drawing/2014/main" id="{ED65A07C-824C-4004-AA5B-3958382695B7}"/>
              </a:ext>
            </a:extLst>
          </p:cNvPr>
          <p:cNvSpPr>
            <a:spLocks noGrp="1"/>
          </p:cNvSpPr>
          <p:nvPr>
            <p:ph type="ftr" sz="quarter" idx="11"/>
          </p:nvPr>
        </p:nvSpPr>
        <p:spPr/>
        <p:txBody>
          <a:bodyPr/>
          <a:lstStyle>
            <a:lvl1pPr>
              <a:defRPr/>
            </a:lvl1pPr>
          </a:lstStyle>
          <a:p>
            <a:pPr>
              <a:defRPr/>
            </a:pPr>
            <a:r>
              <a:rPr lang="en-US"/>
              <a:t>© Copyright John Wiley &amp; Sons, Inc.</a:t>
            </a:r>
          </a:p>
        </p:txBody>
      </p:sp>
      <p:sp>
        <p:nvSpPr>
          <p:cNvPr id="7" name="Slide Number Placeholder 5">
            <a:extLst>
              <a:ext uri="{FF2B5EF4-FFF2-40B4-BE49-F238E27FC236}">
                <a16:creationId xmlns:a16="http://schemas.microsoft.com/office/drawing/2014/main" id="{80067592-B91E-4720-8908-382AA1822D81}"/>
              </a:ext>
            </a:extLst>
          </p:cNvPr>
          <p:cNvSpPr>
            <a:spLocks noGrp="1"/>
          </p:cNvSpPr>
          <p:nvPr>
            <p:ph type="sldNum" sz="quarter" idx="12"/>
          </p:nvPr>
        </p:nvSpPr>
        <p:spPr/>
        <p:txBody>
          <a:bodyPr/>
          <a:lstStyle>
            <a:lvl1pPr>
              <a:defRPr/>
            </a:lvl1pPr>
          </a:lstStyle>
          <a:p>
            <a:pPr>
              <a:defRPr/>
            </a:pPr>
            <a:r>
              <a:rPr lang="en-US" altLang="en-US"/>
              <a:t>1-</a:t>
            </a:r>
            <a:fld id="{5A67888F-9D2A-4F33-ABE8-F518ECE1D225}" type="slidenum">
              <a:rPr lang="en-US" altLang="en-US" smtClean="0"/>
              <a:pPr>
                <a:defRPr/>
              </a:pPr>
              <a:t>‹#›</a:t>
            </a:fld>
            <a:endParaRPr lang="en-US" altLang="en-US"/>
          </a:p>
        </p:txBody>
      </p:sp>
    </p:spTree>
    <p:extLst>
      <p:ext uri="{BB962C8B-B14F-4D97-AF65-F5344CB8AC3E}">
        <p14:creationId xmlns:p14="http://schemas.microsoft.com/office/powerpoint/2010/main" val="1851992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6CF56C-C0D7-4493-8DF5-017569E88122}"/>
              </a:ext>
            </a:extLst>
          </p:cNvPr>
          <p:cNvSpPr>
            <a:spLocks noGrp="1"/>
          </p:cNvSpPr>
          <p:nvPr>
            <p:ph type="dt" sz="half" idx="10"/>
          </p:nvPr>
        </p:nvSpPr>
        <p:spPr/>
        <p:txBody>
          <a:bodyPr/>
          <a:lstStyle>
            <a:lvl1pPr>
              <a:defRPr/>
            </a:lvl1pPr>
          </a:lstStyle>
          <a:p>
            <a:pPr>
              <a:defRPr/>
            </a:pPr>
            <a:r>
              <a:rPr lang="en-US"/>
              <a:t> </a:t>
            </a:r>
          </a:p>
        </p:txBody>
      </p:sp>
      <p:sp>
        <p:nvSpPr>
          <p:cNvPr id="6" name="Footer Placeholder 5">
            <a:extLst>
              <a:ext uri="{FF2B5EF4-FFF2-40B4-BE49-F238E27FC236}">
                <a16:creationId xmlns:a16="http://schemas.microsoft.com/office/drawing/2014/main" id="{7EA39701-3BE6-4860-BE4D-CB441FCE97E3}"/>
              </a:ext>
            </a:extLst>
          </p:cNvPr>
          <p:cNvSpPr>
            <a:spLocks noGrp="1"/>
          </p:cNvSpPr>
          <p:nvPr>
            <p:ph type="ftr" sz="quarter" idx="11"/>
          </p:nvPr>
        </p:nvSpPr>
        <p:spPr/>
        <p:txBody>
          <a:bodyPr/>
          <a:lstStyle>
            <a:lvl1pPr>
              <a:defRPr/>
            </a:lvl1pPr>
          </a:lstStyle>
          <a:p>
            <a:pPr>
              <a:defRPr/>
            </a:pPr>
            <a:r>
              <a:rPr lang="en-US"/>
              <a:t>© Copyright John Wiley &amp; Sons, Inc.</a:t>
            </a:r>
          </a:p>
        </p:txBody>
      </p:sp>
      <p:sp>
        <p:nvSpPr>
          <p:cNvPr id="7" name="Slide Number Placeholder 6">
            <a:extLst>
              <a:ext uri="{FF2B5EF4-FFF2-40B4-BE49-F238E27FC236}">
                <a16:creationId xmlns:a16="http://schemas.microsoft.com/office/drawing/2014/main" id="{E61BC09E-EAD2-49EB-9FAB-490CF5C14556}"/>
              </a:ext>
            </a:extLst>
          </p:cNvPr>
          <p:cNvSpPr>
            <a:spLocks noGrp="1"/>
          </p:cNvSpPr>
          <p:nvPr>
            <p:ph type="sldNum" sz="quarter" idx="12"/>
          </p:nvPr>
        </p:nvSpPr>
        <p:spPr/>
        <p:txBody>
          <a:bodyPr/>
          <a:lstStyle>
            <a:lvl1pPr>
              <a:defRPr/>
            </a:lvl1pPr>
          </a:lstStyle>
          <a:p>
            <a:pPr>
              <a:defRPr/>
            </a:pPr>
            <a:fld id="{FEE2EFE2-FFF6-47F1-A639-778D21320AA5}" type="slidenum">
              <a:rPr lang="en-US" altLang="en-US"/>
              <a:pPr>
                <a:defRPr/>
              </a:pPr>
              <a:t>‹#›</a:t>
            </a:fld>
            <a:endParaRPr lang="en-US" altLang="en-US"/>
          </a:p>
        </p:txBody>
      </p:sp>
    </p:spTree>
    <p:extLst>
      <p:ext uri="{BB962C8B-B14F-4D97-AF65-F5344CB8AC3E}">
        <p14:creationId xmlns:p14="http://schemas.microsoft.com/office/powerpoint/2010/main" val="24999830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FF7EB11-E48C-4018-A945-C77A42C53DF5}"/>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FFCA9E32-412C-4544-AF21-F628F845DE9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4B89312-6259-4D0D-B6CD-3663C7120243}"/>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cs typeface="Arial" charset="0"/>
              </a:defRPr>
            </a:lvl1pPr>
          </a:lstStyle>
          <a:p>
            <a:pPr>
              <a:defRPr/>
            </a:pPr>
            <a:r>
              <a:rPr lang="en-US"/>
              <a:t> </a:t>
            </a:r>
          </a:p>
        </p:txBody>
      </p:sp>
      <p:sp>
        <p:nvSpPr>
          <p:cNvPr id="5" name="Footer Placeholder 4">
            <a:extLst>
              <a:ext uri="{FF2B5EF4-FFF2-40B4-BE49-F238E27FC236}">
                <a16:creationId xmlns:a16="http://schemas.microsoft.com/office/drawing/2014/main" id="{54255B0E-6353-4A6D-B84B-17D17E24F65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 Copyright John Wiley &amp; Sons, Inc.</a:t>
            </a:r>
          </a:p>
        </p:txBody>
      </p:sp>
      <p:sp>
        <p:nvSpPr>
          <p:cNvPr id="6" name="Slide Number Placeholder 5">
            <a:extLst>
              <a:ext uri="{FF2B5EF4-FFF2-40B4-BE49-F238E27FC236}">
                <a16:creationId xmlns:a16="http://schemas.microsoft.com/office/drawing/2014/main" id="{60A196BF-7FBF-40FF-8635-6C560E3F806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a:t>x-</a:t>
            </a:r>
            <a:fld id="{39D69DEB-8AE4-4610-BACF-5DBD3B517276}"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theknowledgeacademy.com/blog/what-is-a-business-analys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text, electronics&#10;&#10;Description automatically generated">
            <a:extLst>
              <a:ext uri="{FF2B5EF4-FFF2-40B4-BE49-F238E27FC236}">
                <a16:creationId xmlns:a16="http://schemas.microsoft.com/office/drawing/2014/main" id="{1FD9B7A5-1611-436E-A6F9-DAA25643F8F8}"/>
              </a:ext>
            </a:extLst>
          </p:cNvPr>
          <p:cNvPicPr>
            <a:picLocks noChangeAspect="1"/>
          </p:cNvPicPr>
          <p:nvPr/>
        </p:nvPicPr>
        <p:blipFill rotWithShape="1">
          <a:blip r:embed="rId2">
            <a:alphaModFix amt="50000"/>
          </a:blip>
          <a:srcRect l="16345" r="16988"/>
          <a:stretch/>
        </p:blipFill>
        <p:spPr>
          <a:xfrm>
            <a:off x="20" y="1"/>
            <a:ext cx="9143980" cy="6857999"/>
          </a:xfrm>
          <a:prstGeom prst="rect">
            <a:avLst/>
          </a:prstGeom>
        </p:spPr>
      </p:pic>
      <p:sp>
        <p:nvSpPr>
          <p:cNvPr id="2" name="Title 1">
            <a:extLst>
              <a:ext uri="{FF2B5EF4-FFF2-40B4-BE49-F238E27FC236}">
                <a16:creationId xmlns:a16="http://schemas.microsoft.com/office/drawing/2014/main" id="{DAE48B8D-7A59-42A4-A61B-B66E6063DD0D}"/>
              </a:ext>
            </a:extLst>
          </p:cNvPr>
          <p:cNvSpPr>
            <a:spLocks noGrp="1"/>
          </p:cNvSpPr>
          <p:nvPr>
            <p:ph type="ctrTitle"/>
          </p:nvPr>
        </p:nvSpPr>
        <p:spPr>
          <a:xfrm>
            <a:off x="1143000" y="2819400"/>
            <a:ext cx="6858000" cy="1203480"/>
          </a:xfrm>
        </p:spPr>
        <p:txBody>
          <a:bodyPr>
            <a:normAutofit/>
          </a:bodyPr>
          <a:lstStyle/>
          <a:p>
            <a:r>
              <a:rPr lang="en-US" sz="4400" dirty="0">
                <a:solidFill>
                  <a:srgbClr val="FFFFFF"/>
                </a:solidFill>
              </a:rPr>
              <a:t>Systems Analysis &amp; Design</a:t>
            </a:r>
          </a:p>
        </p:txBody>
      </p:sp>
      <p:sp>
        <p:nvSpPr>
          <p:cNvPr id="3" name="TextBox 2">
            <a:extLst>
              <a:ext uri="{FF2B5EF4-FFF2-40B4-BE49-F238E27FC236}">
                <a16:creationId xmlns:a16="http://schemas.microsoft.com/office/drawing/2014/main" id="{8DBBB17E-2724-E44B-2B55-486AABB04370}"/>
              </a:ext>
            </a:extLst>
          </p:cNvPr>
          <p:cNvSpPr txBox="1"/>
          <p:nvPr/>
        </p:nvSpPr>
        <p:spPr>
          <a:xfrm>
            <a:off x="3882684" y="4987636"/>
            <a:ext cx="5106572" cy="830997"/>
          </a:xfrm>
          <a:prstGeom prst="rect">
            <a:avLst/>
          </a:prstGeom>
          <a:noFill/>
        </p:spPr>
        <p:txBody>
          <a:bodyPr wrap="square" rtlCol="0">
            <a:spAutoFit/>
          </a:bodyPr>
          <a:lstStyle/>
          <a:p>
            <a:r>
              <a:rPr lang="en-US" sz="1600" dirty="0"/>
              <a:t>K Anuradha</a:t>
            </a:r>
          </a:p>
          <a:p>
            <a:r>
              <a:rPr lang="en-US" sz="1600" dirty="0"/>
              <a:t>BSc (Hons) in Information Technology (KDU)</a:t>
            </a:r>
          </a:p>
          <a:p>
            <a:r>
              <a:rPr lang="en-US" sz="1600" dirty="0"/>
              <a:t>Masters in Information Systems Management (UOC)</a:t>
            </a:r>
          </a:p>
        </p:txBody>
      </p:sp>
    </p:spTree>
    <p:extLst>
      <p:ext uri="{BB962C8B-B14F-4D97-AF65-F5344CB8AC3E}">
        <p14:creationId xmlns:p14="http://schemas.microsoft.com/office/powerpoint/2010/main" val="32266440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B057-B2F6-47CD-9566-1DFD29D32975}"/>
              </a:ext>
            </a:extLst>
          </p:cNvPr>
          <p:cNvSpPr>
            <a:spLocks noGrp="1"/>
          </p:cNvSpPr>
          <p:nvPr>
            <p:ph type="ctrTitle"/>
          </p:nvPr>
        </p:nvSpPr>
        <p:spPr>
          <a:xfrm>
            <a:off x="685800" y="1066800"/>
            <a:ext cx="7772400" cy="3048000"/>
          </a:xfrm>
        </p:spPr>
        <p:txBody>
          <a:bodyPr>
            <a:normAutofit/>
          </a:bodyPr>
          <a:lstStyle/>
          <a:p>
            <a:pPr eaLnBrk="1" hangingPunct="1">
              <a:defRPr/>
            </a:pPr>
            <a:r>
              <a:rPr lang="en-US" sz="4400" dirty="0">
                <a:solidFill>
                  <a:srgbClr val="17375E"/>
                </a:solidFill>
              </a:rPr>
              <a:t>Planning Phase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B057-B2F6-47CD-9566-1DFD29D32975}"/>
              </a:ext>
            </a:extLst>
          </p:cNvPr>
          <p:cNvSpPr>
            <a:spLocks noGrp="1"/>
          </p:cNvSpPr>
          <p:nvPr>
            <p:ph type="ctrTitle"/>
          </p:nvPr>
        </p:nvSpPr>
        <p:spPr>
          <a:xfrm>
            <a:off x="685800" y="1066800"/>
            <a:ext cx="7772400" cy="3048000"/>
          </a:xfrm>
        </p:spPr>
        <p:txBody>
          <a:bodyPr>
            <a:normAutofit/>
          </a:bodyPr>
          <a:lstStyle/>
          <a:p>
            <a:pPr eaLnBrk="1" hangingPunct="1">
              <a:defRPr/>
            </a:pPr>
            <a:r>
              <a:rPr lang="en-US" sz="4400" dirty="0">
                <a:solidFill>
                  <a:srgbClr val="17375E"/>
                </a:solidFill>
              </a:rPr>
              <a:t>Project Identification &amp; Initiation</a:t>
            </a:r>
          </a:p>
        </p:txBody>
      </p:sp>
    </p:spTree>
    <p:extLst>
      <p:ext uri="{BB962C8B-B14F-4D97-AF65-F5344CB8AC3E}">
        <p14:creationId xmlns:p14="http://schemas.microsoft.com/office/powerpoint/2010/main" val="4032236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106CD-E6E7-4719-9355-D977CA8C8E11}"/>
              </a:ext>
            </a:extLst>
          </p:cNvPr>
          <p:cNvSpPr>
            <a:spLocks noGrp="1"/>
          </p:cNvSpPr>
          <p:nvPr>
            <p:ph type="title"/>
          </p:nvPr>
        </p:nvSpPr>
        <p:spPr/>
        <p:txBody>
          <a:bodyPr rtlCol="0">
            <a:normAutofit fontScale="90000"/>
          </a:bodyPr>
          <a:lstStyle/>
          <a:p>
            <a:pPr eaLnBrk="1" fontAlgn="auto" hangingPunct="1">
              <a:spcAft>
                <a:spcPts val="0"/>
              </a:spcAft>
              <a:defRPr/>
            </a:pPr>
            <a:r>
              <a:rPr lang="en-US" dirty="0"/>
              <a:t>PROJECT IDENTIFICATION AND INITIATION</a:t>
            </a:r>
          </a:p>
        </p:txBody>
      </p:sp>
      <p:sp>
        <p:nvSpPr>
          <p:cNvPr id="34819" name="Content Placeholder 2">
            <a:extLst>
              <a:ext uri="{FF2B5EF4-FFF2-40B4-BE49-F238E27FC236}">
                <a16:creationId xmlns:a16="http://schemas.microsoft.com/office/drawing/2014/main" id="{9DC1FD3E-7DD0-4660-8B75-0DD7115D36B5}"/>
              </a:ext>
            </a:extLst>
          </p:cNvPr>
          <p:cNvSpPr>
            <a:spLocks noGrp="1"/>
          </p:cNvSpPr>
          <p:nvPr>
            <p:ph idx="1"/>
          </p:nvPr>
        </p:nvSpPr>
        <p:spPr/>
        <p:txBody>
          <a:bodyPr/>
          <a:lstStyle/>
          <a:p>
            <a:pPr eaLnBrk="1" hangingPunct="1">
              <a:spcBef>
                <a:spcPct val="0"/>
              </a:spcBef>
            </a:pPr>
            <a:r>
              <a:rPr lang="en-US" altLang="en-US" sz="3100"/>
              <a:t>A project is identified when someone in the organization identifies a </a:t>
            </a:r>
            <a:r>
              <a:rPr lang="en-US" altLang="en-US" sz="3100" b="1" i="1">
                <a:solidFill>
                  <a:schemeClr val="hlink"/>
                </a:solidFill>
              </a:rPr>
              <a:t>business need</a:t>
            </a:r>
            <a:r>
              <a:rPr lang="en-US" altLang="en-US" sz="3100" b="1" i="1"/>
              <a:t> </a:t>
            </a:r>
            <a:r>
              <a:rPr lang="en-US" altLang="en-US" sz="3100"/>
              <a:t>to build a system.</a:t>
            </a:r>
          </a:p>
          <a:p>
            <a:pPr eaLnBrk="1" hangingPunct="1">
              <a:spcBef>
                <a:spcPct val="0"/>
              </a:spcBef>
            </a:pPr>
            <a:r>
              <a:rPr lang="en-US" altLang="en-US" sz="3100"/>
              <a:t>A need may surface when an organization identifies unique and competitive ways of using IT.</a:t>
            </a:r>
          </a:p>
          <a:p>
            <a:pPr eaLnBrk="1" hangingPunct="1">
              <a:spcBef>
                <a:spcPct val="0"/>
              </a:spcBef>
            </a:pPr>
            <a:r>
              <a:rPr lang="en-US" altLang="en-US" sz="3100" b="1" i="1">
                <a:solidFill>
                  <a:schemeClr val="hlink"/>
                </a:solidFill>
              </a:rPr>
              <a:t> </a:t>
            </a:r>
            <a:r>
              <a:rPr lang="en-US" altLang="en-US" sz="3100"/>
              <a:t>To leverage the capabilities of</a:t>
            </a:r>
            <a:r>
              <a:rPr lang="en-US" altLang="en-US" sz="3100" b="1" i="1">
                <a:solidFill>
                  <a:schemeClr val="hlink"/>
                </a:solidFill>
              </a:rPr>
              <a:t> emerging technologies</a:t>
            </a:r>
            <a:r>
              <a:rPr lang="en-US" altLang="en-US" sz="3100" b="1" i="1"/>
              <a:t> </a:t>
            </a:r>
            <a:r>
              <a:rPr lang="en-US" altLang="en-US" sz="3100"/>
              <a:t>such as cloud computing, Web 2.0</a:t>
            </a:r>
          </a:p>
          <a:p>
            <a:pPr eaLnBrk="1" hangingPunct="1">
              <a:lnSpc>
                <a:spcPct val="80000"/>
              </a:lnSpc>
              <a:spcBef>
                <a:spcPct val="0"/>
              </a:spcBef>
            </a:pPr>
            <a:endParaRPr lang="en-US" altLang="en-US" sz="310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B1ACF1DF-25A1-4959-8DFF-41DFC6DA8724}"/>
              </a:ext>
            </a:extLst>
          </p:cNvPr>
          <p:cNvSpPr>
            <a:spLocks noGrp="1"/>
          </p:cNvSpPr>
          <p:nvPr>
            <p:ph type="title"/>
          </p:nvPr>
        </p:nvSpPr>
        <p:spPr/>
        <p:txBody>
          <a:bodyPr/>
          <a:lstStyle/>
          <a:p>
            <a:pPr eaLnBrk="1" hangingPunct="1"/>
            <a:r>
              <a:rPr lang="en-US" altLang="en-US" dirty="0"/>
              <a:t>Project sponsor</a:t>
            </a:r>
          </a:p>
        </p:txBody>
      </p:sp>
      <p:sp>
        <p:nvSpPr>
          <p:cNvPr id="30723" name="Content Placeholder 2">
            <a:extLst>
              <a:ext uri="{FF2B5EF4-FFF2-40B4-BE49-F238E27FC236}">
                <a16:creationId xmlns:a16="http://schemas.microsoft.com/office/drawing/2014/main" id="{DA163AA7-4CD2-45EE-9D94-D7771ACFC51D}"/>
              </a:ext>
            </a:extLst>
          </p:cNvPr>
          <p:cNvSpPr>
            <a:spLocks noGrp="1"/>
          </p:cNvSpPr>
          <p:nvPr>
            <p:ph idx="1"/>
          </p:nvPr>
        </p:nvSpPr>
        <p:spPr/>
        <p:txBody>
          <a:bodyPr/>
          <a:lstStyle/>
          <a:p>
            <a:pPr eaLnBrk="1" hangingPunct="1">
              <a:spcBef>
                <a:spcPct val="0"/>
              </a:spcBef>
            </a:pPr>
            <a:r>
              <a:rPr lang="en-US" altLang="en-US" sz="2900"/>
              <a:t>The </a:t>
            </a:r>
            <a:r>
              <a:rPr lang="en-US" altLang="en-US" sz="2900">
                <a:solidFill>
                  <a:schemeClr val="hlink"/>
                </a:solidFill>
              </a:rPr>
              <a:t>project sponsor </a:t>
            </a:r>
            <a:r>
              <a:rPr lang="en-US" altLang="en-US" sz="2900"/>
              <a:t>is a person (or group) who has an interest in the system’s success </a:t>
            </a:r>
          </a:p>
          <a:p>
            <a:pPr eaLnBrk="1" hangingPunct="1">
              <a:spcBef>
                <a:spcPct val="0"/>
              </a:spcBef>
            </a:pPr>
            <a:r>
              <a:rPr lang="en-US" altLang="en-US" sz="2900"/>
              <a:t>The project sponsor will work throughout the SDLC to make sure that the project is moving in the right direction from the perspective of the business.</a:t>
            </a:r>
          </a:p>
          <a:p>
            <a:pPr eaLnBrk="1" hangingPunct="1">
              <a:spcBef>
                <a:spcPct val="0"/>
              </a:spcBef>
            </a:pPr>
            <a:r>
              <a:rPr lang="en-US" altLang="en-US" sz="2900"/>
              <a:t>The project sponsor serves as the primary point of contact for the project team.</a:t>
            </a:r>
          </a:p>
          <a:p>
            <a:pPr eaLnBrk="1" hangingPunct="1">
              <a:spcBef>
                <a:spcPct val="0"/>
              </a:spcBef>
            </a:pPr>
            <a:r>
              <a:rPr lang="en-US" altLang="en-US" sz="2900"/>
              <a:t>The size or scope of the project determines by the kind of sponsor that is involved.</a:t>
            </a:r>
          </a:p>
          <a:p>
            <a:pPr eaLnBrk="1" hangingPunct="1">
              <a:lnSpc>
                <a:spcPct val="80000"/>
              </a:lnSpc>
              <a:spcBef>
                <a:spcPct val="0"/>
              </a:spcBef>
            </a:pPr>
            <a:endParaRPr lang="en-US" altLang="en-US" sz="2500"/>
          </a:p>
          <a:p>
            <a:pPr eaLnBrk="1" hangingPunct="1">
              <a:lnSpc>
                <a:spcPct val="80000"/>
              </a:lnSpc>
              <a:spcBef>
                <a:spcPct val="0"/>
              </a:spcBef>
            </a:pPr>
            <a:endParaRPr lang="en-US" altLang="en-US" sz="25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215A75FB-9C99-49E5-89BC-7FB323E66293}"/>
              </a:ext>
            </a:extLst>
          </p:cNvPr>
          <p:cNvSpPr>
            <a:spLocks noGrp="1"/>
          </p:cNvSpPr>
          <p:nvPr>
            <p:ph type="title"/>
          </p:nvPr>
        </p:nvSpPr>
        <p:spPr/>
        <p:txBody>
          <a:bodyPr/>
          <a:lstStyle/>
          <a:p>
            <a:pPr algn="l" eaLnBrk="1" hangingPunct="1"/>
            <a:r>
              <a:rPr lang="en-US" altLang="en-US"/>
              <a:t>(cont’d)</a:t>
            </a:r>
          </a:p>
        </p:txBody>
      </p:sp>
      <p:sp>
        <p:nvSpPr>
          <p:cNvPr id="3" name="Content Placeholder 2">
            <a:extLst>
              <a:ext uri="{FF2B5EF4-FFF2-40B4-BE49-F238E27FC236}">
                <a16:creationId xmlns:a16="http://schemas.microsoft.com/office/drawing/2014/main" id="{5607D008-E253-40B6-A4FA-5AD6D9A214A9}"/>
              </a:ext>
            </a:extLst>
          </p:cNvPr>
          <p:cNvSpPr>
            <a:spLocks noGrp="1"/>
          </p:cNvSpPr>
          <p:nvPr>
            <p:ph idx="1"/>
          </p:nvPr>
        </p:nvSpPr>
        <p:spPr>
          <a:xfrm>
            <a:off x="457200" y="1600200"/>
            <a:ext cx="8229600" cy="5257800"/>
          </a:xfrm>
        </p:spPr>
        <p:txBody>
          <a:bodyPr rtlCol="0">
            <a:normAutofit fontScale="70000" lnSpcReduction="20000"/>
          </a:bodyPr>
          <a:lstStyle/>
          <a:p>
            <a:pPr eaLnBrk="1" fontAlgn="auto" hangingPunct="1">
              <a:lnSpc>
                <a:spcPct val="120000"/>
              </a:lnSpc>
              <a:spcAft>
                <a:spcPts val="0"/>
              </a:spcAft>
              <a:defRPr/>
            </a:pPr>
            <a:r>
              <a:rPr lang="en-US" dirty="0"/>
              <a:t>The </a:t>
            </a:r>
            <a:r>
              <a:rPr lang="en-US" dirty="0">
                <a:solidFill>
                  <a:srgbClr val="0000FF"/>
                </a:solidFill>
              </a:rPr>
              <a:t>business need </a:t>
            </a:r>
            <a:r>
              <a:rPr lang="en-US" dirty="0"/>
              <a:t>drives the high-level </a:t>
            </a:r>
            <a:r>
              <a:rPr lang="en-US" dirty="0">
                <a:solidFill>
                  <a:srgbClr val="0000FF"/>
                </a:solidFill>
              </a:rPr>
              <a:t>business requirements</a:t>
            </a:r>
            <a:r>
              <a:rPr lang="en-US" dirty="0"/>
              <a:t> for the system. Business requirements describe the reasons for developing the system and outline the benefits it will provide the organization</a:t>
            </a:r>
          </a:p>
          <a:p>
            <a:pPr eaLnBrk="1" fontAlgn="auto" hangingPunct="1">
              <a:lnSpc>
                <a:spcPct val="120000"/>
              </a:lnSpc>
              <a:spcAft>
                <a:spcPts val="0"/>
              </a:spcAft>
              <a:defRPr/>
            </a:pPr>
            <a:r>
              <a:rPr lang="en-US" dirty="0"/>
              <a:t>The project sponsor has the insights needed to determine the </a:t>
            </a:r>
            <a:r>
              <a:rPr lang="en-US" dirty="0">
                <a:solidFill>
                  <a:srgbClr val="0000FF"/>
                </a:solidFill>
              </a:rPr>
              <a:t>business value </a:t>
            </a:r>
            <a:r>
              <a:rPr lang="en-US" dirty="0"/>
              <a:t>that will be gained from the system.</a:t>
            </a:r>
          </a:p>
          <a:p>
            <a:pPr eaLnBrk="1" fontAlgn="auto" hangingPunct="1">
              <a:lnSpc>
                <a:spcPct val="120000"/>
              </a:lnSpc>
              <a:spcAft>
                <a:spcPts val="0"/>
              </a:spcAft>
              <a:defRPr/>
            </a:pPr>
            <a:r>
              <a:rPr lang="en-US" dirty="0">
                <a:solidFill>
                  <a:schemeClr val="hlink"/>
                </a:solidFill>
              </a:rPr>
              <a:t>Tangible</a:t>
            </a:r>
            <a:r>
              <a:rPr lang="en-US" dirty="0"/>
              <a:t> value can be quantified and measured easily (reduction in operating costs).</a:t>
            </a:r>
          </a:p>
          <a:p>
            <a:pPr eaLnBrk="1" fontAlgn="auto" hangingPunct="1">
              <a:lnSpc>
                <a:spcPct val="120000"/>
              </a:lnSpc>
              <a:spcAft>
                <a:spcPts val="0"/>
              </a:spcAft>
              <a:defRPr/>
            </a:pPr>
            <a:r>
              <a:rPr lang="en-US" dirty="0"/>
              <a:t>An </a:t>
            </a:r>
            <a:r>
              <a:rPr lang="en-US" dirty="0">
                <a:solidFill>
                  <a:schemeClr val="hlink"/>
                </a:solidFill>
              </a:rPr>
              <a:t>intangible </a:t>
            </a:r>
            <a:r>
              <a:rPr lang="en-US" dirty="0"/>
              <a:t>value results from an intuitive belief that the system provides important, but hard-to-measure benefits to the organization.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CC93-F1D3-646B-F8CB-DE3F04BCB024}"/>
              </a:ext>
            </a:extLst>
          </p:cNvPr>
          <p:cNvSpPr>
            <a:spLocks noGrp="1"/>
          </p:cNvSpPr>
          <p:nvPr>
            <p:ph type="title"/>
          </p:nvPr>
        </p:nvSpPr>
        <p:spPr/>
        <p:txBody>
          <a:bodyPr/>
          <a:lstStyle/>
          <a:p>
            <a:r>
              <a:rPr lang="en-US" dirty="0"/>
              <a:t>Requirement Elicitation</a:t>
            </a:r>
          </a:p>
        </p:txBody>
      </p:sp>
      <p:sp>
        <p:nvSpPr>
          <p:cNvPr id="3" name="Content Placeholder 2">
            <a:extLst>
              <a:ext uri="{FF2B5EF4-FFF2-40B4-BE49-F238E27FC236}">
                <a16:creationId xmlns:a16="http://schemas.microsoft.com/office/drawing/2014/main" id="{EE38D7C9-99B8-AB6F-86BD-83FBB7C188BD}"/>
              </a:ext>
            </a:extLst>
          </p:cNvPr>
          <p:cNvSpPr>
            <a:spLocks noGrp="1"/>
          </p:cNvSpPr>
          <p:nvPr>
            <p:ph idx="1"/>
          </p:nvPr>
        </p:nvSpPr>
        <p:spPr/>
        <p:txBody>
          <a:bodyPr/>
          <a:lstStyle/>
          <a:p>
            <a:pPr algn="just"/>
            <a:r>
              <a:rPr lang="en-US" sz="2000" b="0" i="0" dirty="0">
                <a:effectLst/>
                <a:latin typeface="Poppins" panose="00000500000000000000" pitchFamily="2" charset="0"/>
              </a:rPr>
              <a:t>Requirements Elicitation is about gathering information from stakeholders to understand project needs.</a:t>
            </a:r>
            <a:r>
              <a:rPr lang="en-US" sz="2000" b="0" i="0" u="none" strike="noStrike" dirty="0">
                <a:effectLst/>
                <a:latin typeface="Poppins" panose="00000500000000000000" pitchFamily="2" charset="0"/>
                <a:hlinkClick r:id="rId3" tooltip=" Business Analysts">
                  <a:extLst>
                    <a:ext uri="{A12FA001-AC4F-418D-AE19-62706E023703}">
                      <ahyp:hlinkClr xmlns:ahyp="http://schemas.microsoft.com/office/drawing/2018/hyperlinkcolor" val="tx"/>
                    </a:ext>
                  </a:extLst>
                </a:hlinkClick>
              </a:rPr>
              <a:t> Business Analysts</a:t>
            </a:r>
            <a:r>
              <a:rPr lang="en-US" sz="2000" b="0" i="0" dirty="0">
                <a:effectLst/>
                <a:latin typeface="Poppins" panose="00000500000000000000" pitchFamily="2" charset="0"/>
              </a:rPr>
              <a:t> talk to stakeholders to learn about these requirements. This process is called Elicitation or Requirement Gathering. It can be done through direct communication or research and experiments.</a:t>
            </a:r>
          </a:p>
          <a:p>
            <a:pPr algn="just"/>
            <a:r>
              <a:rPr lang="en-US" sz="1800" b="1" i="0" dirty="0">
                <a:effectLst/>
                <a:latin typeface="Poppins" panose="00000500000000000000" pitchFamily="2" charset="0"/>
              </a:rPr>
              <a:t>a) Planned Activities:</a:t>
            </a:r>
            <a:r>
              <a:rPr lang="en-US" sz="1800" b="0" i="0" dirty="0">
                <a:effectLst/>
                <a:latin typeface="Poppins" panose="00000500000000000000" pitchFamily="2" charset="0"/>
              </a:rPr>
              <a:t> These are structured, like workshops or experiments.</a:t>
            </a:r>
          </a:p>
          <a:p>
            <a:pPr algn="just"/>
            <a:r>
              <a:rPr lang="en-US" sz="1800" b="1" i="0" dirty="0">
                <a:effectLst/>
                <a:latin typeface="Poppins" panose="00000500000000000000" pitchFamily="2" charset="0"/>
              </a:rPr>
              <a:t>b) Unplanned Activities:</a:t>
            </a:r>
            <a:r>
              <a:rPr lang="en-US" sz="1800" b="0" i="0" dirty="0">
                <a:effectLst/>
                <a:latin typeface="Poppins" panose="00000500000000000000" pitchFamily="2" charset="0"/>
              </a:rPr>
              <a:t> These happen spontaneously, like informal talks with clients.</a:t>
            </a:r>
          </a:p>
          <a:p>
            <a:pPr algn="just"/>
            <a:r>
              <a:rPr lang="en-US" sz="1800" b="0" i="0" dirty="0">
                <a:effectLst/>
                <a:latin typeface="Poppins" panose="00000500000000000000" pitchFamily="2" charset="0"/>
              </a:rPr>
              <a:t>The following tasks are part of the Requirements Elicitation process:</a:t>
            </a:r>
          </a:p>
          <a:p>
            <a:pPr algn="just"/>
            <a:r>
              <a:rPr lang="en-US" sz="1800" b="1" i="0" dirty="0">
                <a:effectLst/>
                <a:latin typeface="Poppins" panose="00000500000000000000" pitchFamily="2" charset="0"/>
              </a:rPr>
              <a:t>c) Prepare for Elicitation:</a:t>
            </a:r>
            <a:r>
              <a:rPr lang="en-US" sz="1800" b="0" i="0" dirty="0">
                <a:effectLst/>
                <a:latin typeface="Poppins" panose="00000500000000000000" pitchFamily="2" charset="0"/>
              </a:rPr>
              <a:t> Understand the scope, choose techniques, and plan resources.</a:t>
            </a:r>
          </a:p>
          <a:p>
            <a:pPr algn="just"/>
            <a:r>
              <a:rPr lang="en-US" sz="1800" b="1" i="0" dirty="0">
                <a:effectLst/>
                <a:latin typeface="Poppins" panose="00000500000000000000" pitchFamily="2" charset="0"/>
              </a:rPr>
              <a:t>d) Conduct Elicitation:</a:t>
            </a:r>
            <a:r>
              <a:rPr lang="en-US" sz="1800" b="0" i="0" dirty="0">
                <a:effectLst/>
                <a:latin typeface="Poppins" panose="00000500000000000000" pitchFamily="2" charset="0"/>
              </a:rPr>
              <a:t> Gather information relevant to changes.</a:t>
            </a:r>
          </a:p>
          <a:p>
            <a:pPr algn="just"/>
            <a:r>
              <a:rPr lang="en-US" sz="1800" b="1" i="0" dirty="0">
                <a:effectLst/>
                <a:latin typeface="Poppins" panose="00000500000000000000" pitchFamily="2" charset="0"/>
              </a:rPr>
              <a:t>e) Confirm Elicitation Results:</a:t>
            </a:r>
            <a:r>
              <a:rPr lang="en-US" sz="1800" b="0" i="0" dirty="0">
                <a:effectLst/>
                <a:latin typeface="Poppins" panose="00000500000000000000" pitchFamily="2" charset="0"/>
              </a:rPr>
              <a:t> Check the accuracy of collected </a:t>
            </a:r>
            <a:r>
              <a:rPr lang="en-US" sz="2000" b="0" i="0" dirty="0">
                <a:effectLst/>
                <a:latin typeface="Poppins" panose="00000500000000000000" pitchFamily="2" charset="0"/>
              </a:rPr>
              <a:t>information.</a:t>
            </a:r>
          </a:p>
          <a:p>
            <a:endParaRPr lang="en-US" sz="2000" dirty="0"/>
          </a:p>
        </p:txBody>
      </p:sp>
    </p:spTree>
    <p:extLst>
      <p:ext uri="{BB962C8B-B14F-4D97-AF65-F5344CB8AC3E}">
        <p14:creationId xmlns:p14="http://schemas.microsoft.com/office/powerpoint/2010/main" val="39674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B057-B2F6-47CD-9566-1DFD29D32975}"/>
              </a:ext>
            </a:extLst>
          </p:cNvPr>
          <p:cNvSpPr>
            <a:spLocks noGrp="1"/>
          </p:cNvSpPr>
          <p:nvPr>
            <p:ph type="ctrTitle"/>
          </p:nvPr>
        </p:nvSpPr>
        <p:spPr>
          <a:xfrm>
            <a:off x="685800" y="1066800"/>
            <a:ext cx="7772400" cy="3048000"/>
          </a:xfrm>
        </p:spPr>
        <p:txBody>
          <a:bodyPr>
            <a:normAutofit/>
          </a:bodyPr>
          <a:lstStyle/>
          <a:p>
            <a:pPr eaLnBrk="1" hangingPunct="1">
              <a:defRPr/>
            </a:pPr>
            <a:r>
              <a:rPr lang="en-US" sz="4400" dirty="0">
                <a:solidFill>
                  <a:srgbClr val="17375E"/>
                </a:solidFill>
              </a:rPr>
              <a:t>Feasibility Analysis</a:t>
            </a:r>
          </a:p>
        </p:txBody>
      </p:sp>
    </p:spTree>
    <p:extLst>
      <p:ext uri="{BB962C8B-B14F-4D97-AF65-F5344CB8AC3E}">
        <p14:creationId xmlns:p14="http://schemas.microsoft.com/office/powerpoint/2010/main" val="2840839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011A994E-BF50-4B6B-8E60-DA89CEFA3006}"/>
              </a:ext>
            </a:extLst>
          </p:cNvPr>
          <p:cNvSpPr>
            <a:spLocks noGrp="1"/>
          </p:cNvSpPr>
          <p:nvPr>
            <p:ph type="title"/>
          </p:nvPr>
        </p:nvSpPr>
        <p:spPr/>
        <p:txBody>
          <a:bodyPr/>
          <a:lstStyle/>
          <a:p>
            <a:pPr eaLnBrk="1" hangingPunct="1"/>
            <a:r>
              <a:rPr lang="en-US" altLang="en-US"/>
              <a:t>FEASIBILITY ANALYSIS</a:t>
            </a:r>
          </a:p>
        </p:txBody>
      </p:sp>
      <p:sp>
        <p:nvSpPr>
          <p:cNvPr id="37891" name="Content Placeholder 2">
            <a:extLst>
              <a:ext uri="{FF2B5EF4-FFF2-40B4-BE49-F238E27FC236}">
                <a16:creationId xmlns:a16="http://schemas.microsoft.com/office/drawing/2014/main" id="{9A59014E-F649-4EB0-8A98-8AB0983312C5}"/>
              </a:ext>
            </a:extLst>
          </p:cNvPr>
          <p:cNvSpPr>
            <a:spLocks noGrp="1"/>
          </p:cNvSpPr>
          <p:nvPr>
            <p:ph idx="1"/>
          </p:nvPr>
        </p:nvSpPr>
        <p:spPr/>
        <p:txBody>
          <a:bodyPr/>
          <a:lstStyle/>
          <a:p>
            <a:pPr eaLnBrk="1" hangingPunct="1">
              <a:spcBef>
                <a:spcPct val="0"/>
              </a:spcBef>
            </a:pPr>
            <a:r>
              <a:rPr lang="en-US" altLang="en-US">
                <a:solidFill>
                  <a:schemeClr val="hlink"/>
                </a:solidFill>
              </a:rPr>
              <a:t>Feasibility analysis</a:t>
            </a:r>
            <a:r>
              <a:rPr lang="en-US" altLang="en-US"/>
              <a:t> guides the organization in determining whether to proceed with a project.</a:t>
            </a:r>
          </a:p>
          <a:p>
            <a:pPr eaLnBrk="1" hangingPunct="1">
              <a:spcBef>
                <a:spcPct val="0"/>
              </a:spcBef>
            </a:pPr>
            <a:r>
              <a:rPr lang="en-US" altLang="en-US"/>
              <a:t>Feasibility analysis also identifies the important </a:t>
            </a:r>
            <a:r>
              <a:rPr lang="en-US" altLang="en-US">
                <a:solidFill>
                  <a:schemeClr val="hlink"/>
                </a:solidFill>
              </a:rPr>
              <a:t>risks</a:t>
            </a:r>
            <a:r>
              <a:rPr lang="en-US" altLang="en-US"/>
              <a:t> associated with the project that must be managed if the project is approved.</a:t>
            </a:r>
          </a:p>
          <a:p>
            <a:pPr eaLnBrk="1" hangingPunct="1">
              <a:spcBef>
                <a:spcPct val="0"/>
              </a:spcBef>
            </a:pPr>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8C3B38C9-0218-4B56-BF2F-3D01603B37D2}"/>
              </a:ext>
            </a:extLst>
          </p:cNvPr>
          <p:cNvSpPr>
            <a:spLocks noGrp="1"/>
          </p:cNvSpPr>
          <p:nvPr>
            <p:ph type="title"/>
          </p:nvPr>
        </p:nvSpPr>
        <p:spPr/>
        <p:txBody>
          <a:bodyPr/>
          <a:lstStyle/>
          <a:p>
            <a:pPr algn="l" eaLnBrk="1" hangingPunct="1"/>
            <a:r>
              <a:rPr lang="en-US" altLang="en-US"/>
              <a:t>(cont’d)</a:t>
            </a:r>
          </a:p>
        </p:txBody>
      </p:sp>
      <p:sp>
        <p:nvSpPr>
          <p:cNvPr id="38915" name="Content Placeholder 2">
            <a:extLst>
              <a:ext uri="{FF2B5EF4-FFF2-40B4-BE49-F238E27FC236}">
                <a16:creationId xmlns:a16="http://schemas.microsoft.com/office/drawing/2014/main" id="{FA265FA2-257D-4656-BADD-66EC64459BE1}"/>
              </a:ext>
            </a:extLst>
          </p:cNvPr>
          <p:cNvSpPr>
            <a:spLocks noGrp="1"/>
          </p:cNvSpPr>
          <p:nvPr>
            <p:ph idx="1"/>
          </p:nvPr>
        </p:nvSpPr>
        <p:spPr>
          <a:xfrm>
            <a:off x="457200" y="1600200"/>
            <a:ext cx="8229600" cy="4724400"/>
          </a:xfrm>
        </p:spPr>
        <p:txBody>
          <a:bodyPr/>
          <a:lstStyle/>
          <a:p>
            <a:pPr eaLnBrk="1" hangingPunct="1">
              <a:lnSpc>
                <a:spcPct val="80000"/>
              </a:lnSpc>
              <a:spcBef>
                <a:spcPct val="0"/>
              </a:spcBef>
            </a:pPr>
            <a:r>
              <a:rPr lang="en-US" altLang="en-US" sz="3000" dirty="0"/>
              <a:t>As with the system request, each organization has its own process and format for the feasibility analysis, but most include techniques to assess three areas:</a:t>
            </a:r>
          </a:p>
          <a:p>
            <a:pPr lvl="1" eaLnBrk="1" hangingPunct="1">
              <a:lnSpc>
                <a:spcPct val="80000"/>
              </a:lnSpc>
            </a:pPr>
            <a:r>
              <a:rPr lang="en-US" altLang="en-US" sz="3200" dirty="0">
                <a:solidFill>
                  <a:srgbClr val="0000FF"/>
                </a:solidFill>
              </a:rPr>
              <a:t>Technical feasibility</a:t>
            </a:r>
          </a:p>
          <a:p>
            <a:pPr lvl="1" eaLnBrk="1" hangingPunct="1">
              <a:lnSpc>
                <a:spcPct val="80000"/>
              </a:lnSpc>
            </a:pPr>
            <a:r>
              <a:rPr lang="en-US" altLang="en-US" sz="3200" dirty="0">
                <a:solidFill>
                  <a:srgbClr val="0000FF"/>
                </a:solidFill>
              </a:rPr>
              <a:t>Economic feasibility</a:t>
            </a:r>
          </a:p>
          <a:p>
            <a:pPr lvl="1" eaLnBrk="1" hangingPunct="1">
              <a:lnSpc>
                <a:spcPct val="80000"/>
              </a:lnSpc>
            </a:pPr>
            <a:r>
              <a:rPr lang="en-US" altLang="en-US" sz="3200" dirty="0">
                <a:solidFill>
                  <a:srgbClr val="0000FF"/>
                </a:solidFill>
              </a:rPr>
              <a:t>Organizational feasibility</a:t>
            </a:r>
          </a:p>
          <a:p>
            <a:pPr marL="457200" lvl="1" indent="0" eaLnBrk="1" hangingPunct="1">
              <a:lnSpc>
                <a:spcPct val="80000"/>
              </a:lnSpc>
              <a:buNone/>
            </a:pPr>
            <a:endParaRPr lang="en-US" altLang="en-US" sz="3200" dirty="0">
              <a:solidFill>
                <a:srgbClr val="0000FF"/>
              </a:solidFill>
            </a:endParaRPr>
          </a:p>
          <a:p>
            <a:pPr eaLnBrk="1" hangingPunct="1">
              <a:lnSpc>
                <a:spcPct val="80000"/>
              </a:lnSpc>
              <a:spcBef>
                <a:spcPct val="0"/>
              </a:spcBef>
            </a:pPr>
            <a:r>
              <a:rPr lang="en-US" altLang="en-US" sz="3000" dirty="0"/>
              <a:t>The results of evaluating these three feasibility factors are combined into a feasibility study deliverable that is submitted to the approval committee at the end of project initiation.</a:t>
            </a:r>
          </a:p>
          <a:p>
            <a:pPr eaLnBrk="1" hangingPunct="1">
              <a:spcBef>
                <a:spcPct val="0"/>
              </a:spcBef>
            </a:pPr>
            <a:endParaRPr lang="en-US"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EEF1B2EB-CA3C-4A95-921A-4D5B90D0CB5C}"/>
              </a:ext>
            </a:extLst>
          </p:cNvPr>
          <p:cNvSpPr>
            <a:spLocks noGrp="1"/>
          </p:cNvSpPr>
          <p:nvPr>
            <p:ph type="title"/>
          </p:nvPr>
        </p:nvSpPr>
        <p:spPr/>
        <p:txBody>
          <a:bodyPr/>
          <a:lstStyle/>
          <a:p>
            <a:pPr eaLnBrk="1" hangingPunct="1"/>
            <a:r>
              <a:rPr lang="en-US" altLang="en-US"/>
              <a:t>Technical Feasibility</a:t>
            </a:r>
          </a:p>
        </p:txBody>
      </p:sp>
      <p:sp>
        <p:nvSpPr>
          <p:cNvPr id="39939" name="Content Placeholder 2">
            <a:extLst>
              <a:ext uri="{FF2B5EF4-FFF2-40B4-BE49-F238E27FC236}">
                <a16:creationId xmlns:a16="http://schemas.microsoft.com/office/drawing/2014/main" id="{82C53ECC-041F-444D-ABDE-530475E72D10}"/>
              </a:ext>
            </a:extLst>
          </p:cNvPr>
          <p:cNvSpPr>
            <a:spLocks noGrp="1"/>
          </p:cNvSpPr>
          <p:nvPr>
            <p:ph idx="1"/>
          </p:nvPr>
        </p:nvSpPr>
        <p:spPr/>
        <p:txBody>
          <a:bodyPr/>
          <a:lstStyle/>
          <a:p>
            <a:pPr eaLnBrk="1" hangingPunct="1">
              <a:spcBef>
                <a:spcPct val="0"/>
              </a:spcBef>
            </a:pPr>
            <a:r>
              <a:rPr lang="en-US" altLang="en-US"/>
              <a:t>Technical feasibility is the extent to which the system can be successfully designed, developed, and installed by the IT group.</a:t>
            </a:r>
          </a:p>
          <a:p>
            <a:pPr eaLnBrk="1" hangingPunct="1">
              <a:spcBef>
                <a:spcPct val="0"/>
              </a:spcBef>
            </a:pPr>
            <a:r>
              <a:rPr lang="en-US" altLang="en-US"/>
              <a:t>It is, in essence, a </a:t>
            </a:r>
            <a:r>
              <a:rPr lang="en-US" altLang="en-US">
                <a:solidFill>
                  <a:schemeClr val="hlink"/>
                </a:solidFill>
              </a:rPr>
              <a:t>technical risk analysis</a:t>
            </a:r>
            <a:r>
              <a:rPr lang="en-US" altLang="en-US"/>
              <a:t> that strives to answer the question: “Can we build it?”</a:t>
            </a:r>
          </a:p>
          <a:p>
            <a:pPr eaLnBrk="1" hangingPunct="1">
              <a:spcBef>
                <a:spcPct val="0"/>
              </a:spcBef>
            </a:pPr>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B263F048-6A9E-40AA-86B4-E2C61AF4CD89}"/>
              </a:ext>
            </a:extLst>
          </p:cNvPr>
          <p:cNvSpPr>
            <a:spLocks noGrp="1"/>
          </p:cNvSpPr>
          <p:nvPr>
            <p:ph type="title"/>
          </p:nvPr>
        </p:nvSpPr>
        <p:spPr/>
        <p:txBody>
          <a:bodyPr/>
          <a:lstStyle/>
          <a:p>
            <a:pPr algn="l" eaLnBrk="1" hangingPunct="1"/>
            <a:r>
              <a:rPr lang="en-US" altLang="en-US"/>
              <a:t>(cont’d)</a:t>
            </a:r>
          </a:p>
        </p:txBody>
      </p:sp>
      <p:sp>
        <p:nvSpPr>
          <p:cNvPr id="40963" name="Content Placeholder 2">
            <a:extLst>
              <a:ext uri="{FF2B5EF4-FFF2-40B4-BE49-F238E27FC236}">
                <a16:creationId xmlns:a16="http://schemas.microsoft.com/office/drawing/2014/main" id="{1CDCF893-8FC4-4C89-B614-E7DCDA3F35BF}"/>
              </a:ext>
            </a:extLst>
          </p:cNvPr>
          <p:cNvSpPr>
            <a:spLocks noGrp="1"/>
          </p:cNvSpPr>
          <p:nvPr>
            <p:ph idx="1"/>
          </p:nvPr>
        </p:nvSpPr>
        <p:spPr/>
        <p:txBody>
          <a:bodyPr/>
          <a:lstStyle/>
          <a:p>
            <a:pPr eaLnBrk="1" hangingPunct="1">
              <a:spcBef>
                <a:spcPct val="0"/>
              </a:spcBef>
            </a:pPr>
            <a:r>
              <a:rPr lang="en-US" altLang="en-US" sz="3200"/>
              <a:t>Risks can endanger the successful completion of a project. The following aspects should be considered:</a:t>
            </a:r>
          </a:p>
          <a:p>
            <a:pPr lvl="1" eaLnBrk="1" hangingPunct="1"/>
            <a:r>
              <a:rPr lang="en-US" altLang="en-US"/>
              <a:t>Users’ and analysts’ should be familiar with the application.</a:t>
            </a:r>
          </a:p>
          <a:p>
            <a:pPr lvl="1" eaLnBrk="1" hangingPunct="1"/>
            <a:r>
              <a:rPr lang="en-US" altLang="en-US"/>
              <a:t>Familiarity with the technology</a:t>
            </a:r>
          </a:p>
          <a:p>
            <a:pPr lvl="1" eaLnBrk="1" hangingPunct="1"/>
            <a:r>
              <a:rPr lang="en-US" altLang="en-US"/>
              <a:t>Project size</a:t>
            </a:r>
          </a:p>
          <a:p>
            <a:pPr lvl="1" eaLnBrk="1" hangingPunct="1"/>
            <a:r>
              <a:rPr lang="en-US" altLang="en-US"/>
              <a:t>Compatibility of the new system with the technology that already exists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2F9EACA6-E007-40F1-8C6F-34BEC1EBCCD3}"/>
              </a:ext>
            </a:extLst>
          </p:cNvPr>
          <p:cNvSpPr>
            <a:spLocks noGrp="1"/>
          </p:cNvSpPr>
          <p:nvPr>
            <p:ph type="title"/>
          </p:nvPr>
        </p:nvSpPr>
        <p:spPr/>
        <p:txBody>
          <a:bodyPr/>
          <a:lstStyle/>
          <a:p>
            <a:pPr eaLnBrk="1" hangingPunct="1"/>
            <a:r>
              <a:rPr lang="en-US" altLang="en-US"/>
              <a:t>Economic Feasibility</a:t>
            </a:r>
          </a:p>
        </p:txBody>
      </p:sp>
      <p:sp>
        <p:nvSpPr>
          <p:cNvPr id="41987" name="Content Placeholder 2">
            <a:extLst>
              <a:ext uri="{FF2B5EF4-FFF2-40B4-BE49-F238E27FC236}">
                <a16:creationId xmlns:a16="http://schemas.microsoft.com/office/drawing/2014/main" id="{B1969DD9-BB7D-48DD-87C0-32D85557D03F}"/>
              </a:ext>
            </a:extLst>
          </p:cNvPr>
          <p:cNvSpPr>
            <a:spLocks noGrp="1"/>
          </p:cNvSpPr>
          <p:nvPr>
            <p:ph idx="1"/>
          </p:nvPr>
        </p:nvSpPr>
        <p:spPr/>
        <p:txBody>
          <a:bodyPr/>
          <a:lstStyle/>
          <a:p>
            <a:pPr eaLnBrk="1" hangingPunct="1">
              <a:spcBef>
                <a:spcPct val="0"/>
              </a:spcBef>
            </a:pPr>
            <a:r>
              <a:rPr lang="en-US" altLang="en-US"/>
              <a:t>Economic feasibility analysis is also called a cost-benefit analysis, that identifies the costs and benefits associated with the system.</a:t>
            </a:r>
          </a:p>
          <a:p>
            <a:pPr eaLnBrk="1" hangingPunct="1">
              <a:spcBef>
                <a:spcPct val="0"/>
              </a:spcBef>
            </a:pPr>
            <a:r>
              <a:rPr lang="en-US" altLang="en-US"/>
              <a:t>This attempts to answer the question: “Should we build the system?”</a:t>
            </a:r>
          </a:p>
          <a:p>
            <a:pPr eaLnBrk="1" hangingPunct="1">
              <a:spcBef>
                <a:spcPct val="0"/>
              </a:spcBef>
            </a:pPr>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61784E11-CEE3-40F9-9A39-A4A216BB095E}"/>
              </a:ext>
            </a:extLst>
          </p:cNvPr>
          <p:cNvSpPr>
            <a:spLocks noGrp="1"/>
          </p:cNvSpPr>
          <p:nvPr>
            <p:ph type="title"/>
          </p:nvPr>
        </p:nvSpPr>
        <p:spPr/>
        <p:txBody>
          <a:bodyPr/>
          <a:lstStyle/>
          <a:p>
            <a:pPr eaLnBrk="1" hangingPunct="1"/>
            <a:r>
              <a:rPr lang="en-US" altLang="en-US"/>
              <a:t>Cash Flow Analysis and Measures</a:t>
            </a:r>
          </a:p>
        </p:txBody>
      </p:sp>
      <p:sp>
        <p:nvSpPr>
          <p:cNvPr id="43011" name="Content Placeholder 2">
            <a:extLst>
              <a:ext uri="{FF2B5EF4-FFF2-40B4-BE49-F238E27FC236}">
                <a16:creationId xmlns:a16="http://schemas.microsoft.com/office/drawing/2014/main" id="{7121BBAA-5A8E-4543-AB62-F38D462468B8}"/>
              </a:ext>
            </a:extLst>
          </p:cNvPr>
          <p:cNvSpPr>
            <a:spLocks noGrp="1"/>
          </p:cNvSpPr>
          <p:nvPr>
            <p:ph idx="1"/>
          </p:nvPr>
        </p:nvSpPr>
        <p:spPr/>
        <p:txBody>
          <a:bodyPr/>
          <a:lstStyle/>
          <a:p>
            <a:pPr eaLnBrk="1" hangingPunct="1">
              <a:spcBef>
                <a:spcPct val="0"/>
              </a:spcBef>
            </a:pPr>
            <a:r>
              <a:rPr lang="en-US" altLang="en-US"/>
              <a:t>IT projects involve an initial investment that produces a steam of benefits over time, along with some on-going support costs.</a:t>
            </a:r>
          </a:p>
          <a:p>
            <a:pPr eaLnBrk="1" hangingPunct="1">
              <a:spcBef>
                <a:spcPct val="0"/>
              </a:spcBef>
            </a:pPr>
            <a:r>
              <a:rPr lang="en-US" altLang="en-US"/>
              <a:t> Cash flows, both inflows and outflows, are estimated over some future period.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D9B416A6-EE3D-4B53-99CD-7075A868E732}"/>
              </a:ext>
            </a:extLst>
          </p:cNvPr>
          <p:cNvGraphicFramePr>
            <a:graphicFrameLocks noGrp="1"/>
          </p:cNvGraphicFramePr>
          <p:nvPr/>
        </p:nvGraphicFramePr>
        <p:xfrm>
          <a:off x="152400" y="685800"/>
          <a:ext cx="8970963" cy="4286250"/>
        </p:xfrm>
        <a:graphic>
          <a:graphicData uri="http://schemas.openxmlformats.org/drawingml/2006/table">
            <a:tbl>
              <a:tblPr firstRow="1" bandRow="1">
                <a:tableStyleId>{5C22544A-7EE6-4342-B048-85BDC9FD1C3A}</a:tableStyleId>
              </a:tblPr>
              <a:tblGrid>
                <a:gridCol w="2963715">
                  <a:extLst>
                    <a:ext uri="{9D8B030D-6E8A-4147-A177-3AD203B41FA5}">
                      <a16:colId xmlns:a16="http://schemas.microsoft.com/office/drawing/2014/main" val="20000"/>
                    </a:ext>
                  </a:extLst>
                </a:gridCol>
                <a:gridCol w="1501812">
                  <a:extLst>
                    <a:ext uri="{9D8B030D-6E8A-4147-A177-3AD203B41FA5}">
                      <a16:colId xmlns:a16="http://schemas.microsoft.com/office/drawing/2014/main" val="20001"/>
                    </a:ext>
                  </a:extLst>
                </a:gridCol>
                <a:gridCol w="1501812">
                  <a:extLst>
                    <a:ext uri="{9D8B030D-6E8A-4147-A177-3AD203B41FA5}">
                      <a16:colId xmlns:a16="http://schemas.microsoft.com/office/drawing/2014/main" val="20002"/>
                    </a:ext>
                  </a:extLst>
                </a:gridCol>
                <a:gridCol w="1501812">
                  <a:extLst>
                    <a:ext uri="{9D8B030D-6E8A-4147-A177-3AD203B41FA5}">
                      <a16:colId xmlns:a16="http://schemas.microsoft.com/office/drawing/2014/main" val="20003"/>
                    </a:ext>
                  </a:extLst>
                </a:gridCol>
                <a:gridCol w="1501812">
                  <a:extLst>
                    <a:ext uri="{9D8B030D-6E8A-4147-A177-3AD203B41FA5}">
                      <a16:colId xmlns:a16="http://schemas.microsoft.com/office/drawing/2014/main" val="20004"/>
                    </a:ext>
                  </a:extLst>
                </a:gridCol>
              </a:tblGrid>
              <a:tr h="714375">
                <a:tc>
                  <a:txBody>
                    <a:bodyPr/>
                    <a:lstStyle/>
                    <a:p>
                      <a:endParaRPr lang="en-US" sz="2800" dirty="0"/>
                    </a:p>
                  </a:txBody>
                  <a:tcPr marL="91439" marR="91439"/>
                </a:tc>
                <a:tc>
                  <a:txBody>
                    <a:bodyPr/>
                    <a:lstStyle/>
                    <a:p>
                      <a:r>
                        <a:rPr lang="en-US" sz="2800" dirty="0"/>
                        <a:t>W0</a:t>
                      </a:r>
                    </a:p>
                  </a:txBody>
                  <a:tcPr marL="91439" marR="91439"/>
                </a:tc>
                <a:tc>
                  <a:txBody>
                    <a:bodyPr/>
                    <a:lstStyle/>
                    <a:p>
                      <a:r>
                        <a:rPr lang="en-US" sz="2800" dirty="0"/>
                        <a:t>W1</a:t>
                      </a:r>
                    </a:p>
                  </a:txBody>
                  <a:tcPr marL="91439" marR="91439"/>
                </a:tc>
                <a:tc>
                  <a:txBody>
                    <a:bodyPr/>
                    <a:lstStyle/>
                    <a:p>
                      <a:r>
                        <a:rPr lang="en-US" sz="2800" dirty="0"/>
                        <a:t>W2</a:t>
                      </a:r>
                    </a:p>
                  </a:txBody>
                  <a:tcPr marL="91439" marR="91439"/>
                </a:tc>
                <a:tc>
                  <a:txBody>
                    <a:bodyPr/>
                    <a:lstStyle/>
                    <a:p>
                      <a:r>
                        <a:rPr lang="en-US" sz="2800" dirty="0"/>
                        <a:t>W3</a:t>
                      </a:r>
                    </a:p>
                  </a:txBody>
                  <a:tcPr marL="91439" marR="91439"/>
                </a:tc>
                <a:extLst>
                  <a:ext uri="{0D108BD9-81ED-4DB2-BD59-A6C34878D82A}">
                    <a16:rowId xmlns:a16="http://schemas.microsoft.com/office/drawing/2014/main" val="10000"/>
                  </a:ext>
                </a:extLst>
              </a:tr>
              <a:tr h="714375">
                <a:tc>
                  <a:txBody>
                    <a:bodyPr/>
                    <a:lstStyle/>
                    <a:p>
                      <a:r>
                        <a:rPr lang="en-US" sz="2800" dirty="0"/>
                        <a:t>Buying</a:t>
                      </a:r>
                    </a:p>
                  </a:txBody>
                  <a:tcPr marL="91439" marR="91439"/>
                </a:tc>
                <a:tc>
                  <a:txBody>
                    <a:bodyPr/>
                    <a:lstStyle/>
                    <a:p>
                      <a:endParaRPr lang="en-US" sz="2800"/>
                    </a:p>
                  </a:txBody>
                  <a:tcPr marL="91439" marR="91439"/>
                </a:tc>
                <a:tc>
                  <a:txBody>
                    <a:bodyPr/>
                    <a:lstStyle/>
                    <a:p>
                      <a:r>
                        <a:rPr lang="en-US" sz="2800" dirty="0"/>
                        <a:t>500/=</a:t>
                      </a:r>
                    </a:p>
                  </a:txBody>
                  <a:tcPr marL="91439" marR="91439"/>
                </a:tc>
                <a:tc>
                  <a:txBody>
                    <a:bodyPr/>
                    <a:lstStyle/>
                    <a:p>
                      <a:r>
                        <a:rPr lang="en-US" sz="2800" dirty="0"/>
                        <a:t>2500/=</a:t>
                      </a:r>
                    </a:p>
                  </a:txBody>
                  <a:tcPr marL="91439" marR="91439"/>
                </a:tc>
                <a:tc>
                  <a:txBody>
                    <a:bodyPr/>
                    <a:lstStyle/>
                    <a:p>
                      <a:r>
                        <a:rPr lang="en-US" sz="2800" dirty="0"/>
                        <a:t>5000/=</a:t>
                      </a:r>
                    </a:p>
                  </a:txBody>
                  <a:tcPr marL="91439" marR="91439"/>
                </a:tc>
                <a:extLst>
                  <a:ext uri="{0D108BD9-81ED-4DB2-BD59-A6C34878D82A}">
                    <a16:rowId xmlns:a16="http://schemas.microsoft.com/office/drawing/2014/main" val="10001"/>
                  </a:ext>
                </a:extLst>
              </a:tr>
              <a:tr h="714375">
                <a:tc>
                  <a:txBody>
                    <a:bodyPr/>
                    <a:lstStyle/>
                    <a:p>
                      <a:r>
                        <a:rPr lang="en-US" sz="2800" dirty="0"/>
                        <a:t>Sales</a:t>
                      </a:r>
                    </a:p>
                  </a:txBody>
                  <a:tcPr marL="91439" marR="91439"/>
                </a:tc>
                <a:tc>
                  <a:txBody>
                    <a:bodyPr/>
                    <a:lstStyle/>
                    <a:p>
                      <a:endParaRPr lang="en-US" sz="2800"/>
                    </a:p>
                  </a:txBody>
                  <a:tcPr marL="91439" marR="91439"/>
                </a:tc>
                <a:tc>
                  <a:txBody>
                    <a:bodyPr/>
                    <a:lstStyle/>
                    <a:p>
                      <a:r>
                        <a:rPr lang="en-US" sz="2800" dirty="0"/>
                        <a:t>1000/=</a:t>
                      </a:r>
                    </a:p>
                  </a:txBody>
                  <a:tcPr marL="91439" marR="91439"/>
                </a:tc>
                <a:tc>
                  <a:txBody>
                    <a:bodyPr/>
                    <a:lstStyle/>
                    <a:p>
                      <a:r>
                        <a:rPr lang="en-US" sz="2800" dirty="0"/>
                        <a:t>5000/=</a:t>
                      </a:r>
                    </a:p>
                  </a:txBody>
                  <a:tcPr marL="91439" marR="91439"/>
                </a:tc>
                <a:tc>
                  <a:txBody>
                    <a:bodyPr/>
                    <a:lstStyle/>
                    <a:p>
                      <a:r>
                        <a:rPr lang="en-US" sz="2800" dirty="0"/>
                        <a:t>12000/=</a:t>
                      </a:r>
                    </a:p>
                  </a:txBody>
                  <a:tcPr marL="91439" marR="91439"/>
                </a:tc>
                <a:extLst>
                  <a:ext uri="{0D108BD9-81ED-4DB2-BD59-A6C34878D82A}">
                    <a16:rowId xmlns:a16="http://schemas.microsoft.com/office/drawing/2014/main" val="10002"/>
                  </a:ext>
                </a:extLst>
              </a:tr>
              <a:tr h="714375">
                <a:tc>
                  <a:txBody>
                    <a:bodyPr/>
                    <a:lstStyle/>
                    <a:p>
                      <a:r>
                        <a:rPr lang="en-US" sz="2800" dirty="0"/>
                        <a:t>Setup</a:t>
                      </a:r>
                    </a:p>
                  </a:txBody>
                  <a:tcPr marL="91439" marR="91439"/>
                </a:tc>
                <a:tc>
                  <a:txBody>
                    <a:bodyPr/>
                    <a:lstStyle/>
                    <a:p>
                      <a:r>
                        <a:rPr lang="en-US" sz="2800" dirty="0"/>
                        <a:t>5000/=</a:t>
                      </a:r>
                    </a:p>
                  </a:txBody>
                  <a:tcPr marL="91439" marR="91439"/>
                </a:tc>
                <a:tc>
                  <a:txBody>
                    <a:bodyPr/>
                    <a:lstStyle/>
                    <a:p>
                      <a:endParaRPr lang="en-US" sz="2800" dirty="0"/>
                    </a:p>
                  </a:txBody>
                  <a:tcPr marL="91439" marR="91439"/>
                </a:tc>
                <a:tc>
                  <a:txBody>
                    <a:bodyPr/>
                    <a:lstStyle/>
                    <a:p>
                      <a:endParaRPr lang="en-US" sz="2800" dirty="0"/>
                    </a:p>
                  </a:txBody>
                  <a:tcPr marL="91439" marR="91439"/>
                </a:tc>
                <a:tc>
                  <a:txBody>
                    <a:bodyPr/>
                    <a:lstStyle/>
                    <a:p>
                      <a:endParaRPr lang="en-US" sz="2800" dirty="0"/>
                    </a:p>
                  </a:txBody>
                  <a:tcPr marL="91439" marR="91439"/>
                </a:tc>
                <a:extLst>
                  <a:ext uri="{0D108BD9-81ED-4DB2-BD59-A6C34878D82A}">
                    <a16:rowId xmlns:a16="http://schemas.microsoft.com/office/drawing/2014/main" val="10003"/>
                  </a:ext>
                </a:extLst>
              </a:tr>
              <a:tr h="714375">
                <a:tc>
                  <a:txBody>
                    <a:bodyPr/>
                    <a:lstStyle/>
                    <a:p>
                      <a:r>
                        <a:rPr lang="en-US" sz="2800" dirty="0"/>
                        <a:t>Profit for the week</a:t>
                      </a:r>
                    </a:p>
                  </a:txBody>
                  <a:tcPr marL="91439" marR="91439"/>
                </a:tc>
                <a:tc>
                  <a:txBody>
                    <a:bodyPr/>
                    <a:lstStyle/>
                    <a:p>
                      <a:endParaRPr lang="en-US" sz="2800" dirty="0"/>
                    </a:p>
                  </a:txBody>
                  <a:tcPr marL="91439" marR="91439"/>
                </a:tc>
                <a:tc>
                  <a:txBody>
                    <a:bodyPr/>
                    <a:lstStyle/>
                    <a:p>
                      <a:r>
                        <a:rPr lang="en-US" sz="2800" dirty="0"/>
                        <a:t>500/=</a:t>
                      </a:r>
                    </a:p>
                  </a:txBody>
                  <a:tcPr marL="91439" marR="91439"/>
                </a:tc>
                <a:tc>
                  <a:txBody>
                    <a:bodyPr/>
                    <a:lstStyle/>
                    <a:p>
                      <a:r>
                        <a:rPr lang="en-US" sz="2800" dirty="0"/>
                        <a:t>2500/=</a:t>
                      </a:r>
                    </a:p>
                  </a:txBody>
                  <a:tcPr marL="91439" marR="91439"/>
                </a:tc>
                <a:tc>
                  <a:txBody>
                    <a:bodyPr/>
                    <a:lstStyle/>
                    <a:p>
                      <a:r>
                        <a:rPr lang="en-US" sz="2800" dirty="0"/>
                        <a:t>7000/=</a:t>
                      </a:r>
                    </a:p>
                  </a:txBody>
                  <a:tcPr marL="91439" marR="91439"/>
                </a:tc>
                <a:extLst>
                  <a:ext uri="{0D108BD9-81ED-4DB2-BD59-A6C34878D82A}">
                    <a16:rowId xmlns:a16="http://schemas.microsoft.com/office/drawing/2014/main" val="10004"/>
                  </a:ext>
                </a:extLst>
              </a:tr>
              <a:tr h="714375">
                <a:tc>
                  <a:txBody>
                    <a:bodyPr/>
                    <a:lstStyle/>
                    <a:p>
                      <a:r>
                        <a:rPr lang="en-US" sz="2800" dirty="0"/>
                        <a:t>Actual Profit</a:t>
                      </a:r>
                    </a:p>
                  </a:txBody>
                  <a:tcPr marL="91439" marR="91439"/>
                </a:tc>
                <a:tc>
                  <a:txBody>
                    <a:bodyPr/>
                    <a:lstStyle/>
                    <a:p>
                      <a:r>
                        <a:rPr lang="en-US" sz="2800" dirty="0"/>
                        <a:t>(5000/=)</a:t>
                      </a:r>
                    </a:p>
                  </a:txBody>
                  <a:tcPr marL="91439" marR="91439"/>
                </a:tc>
                <a:tc>
                  <a:txBody>
                    <a:bodyPr/>
                    <a:lstStyle/>
                    <a:p>
                      <a:r>
                        <a:rPr lang="en-US" sz="2800" dirty="0"/>
                        <a:t>(4500/=)</a:t>
                      </a:r>
                    </a:p>
                  </a:txBody>
                  <a:tcPr marL="91439" marR="91439"/>
                </a:tc>
                <a:tc>
                  <a:txBody>
                    <a:bodyPr/>
                    <a:lstStyle/>
                    <a:p>
                      <a:r>
                        <a:rPr lang="en-US" sz="2800" dirty="0"/>
                        <a:t>(2000/=)</a:t>
                      </a:r>
                    </a:p>
                  </a:txBody>
                  <a:tcPr marL="91439" marR="91439"/>
                </a:tc>
                <a:tc>
                  <a:txBody>
                    <a:bodyPr/>
                    <a:lstStyle/>
                    <a:p>
                      <a:r>
                        <a:rPr lang="en-US" sz="2800" dirty="0"/>
                        <a:t>5000/=</a:t>
                      </a:r>
                    </a:p>
                  </a:txBody>
                  <a:tcPr marL="91439" marR="91439"/>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13D9E33D-1B80-4D82-B62D-D81C16EC05D6}"/>
              </a:ext>
            </a:extLst>
          </p:cNvPr>
          <p:cNvSpPr/>
          <p:nvPr/>
        </p:nvSpPr>
        <p:spPr>
          <a:xfrm>
            <a:off x="3200400" y="28956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ABC5C5A9-53EC-4295-8DD2-E8456AE1E763}"/>
              </a:ext>
            </a:extLst>
          </p:cNvPr>
          <p:cNvSpPr/>
          <p:nvPr/>
        </p:nvSpPr>
        <p:spPr>
          <a:xfrm>
            <a:off x="3230563" y="4344988"/>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5BE773FB-4849-443B-9FEA-7F58811B0C3E}"/>
              </a:ext>
            </a:extLst>
          </p:cNvPr>
          <p:cNvSpPr/>
          <p:nvPr/>
        </p:nvSpPr>
        <p:spPr>
          <a:xfrm>
            <a:off x="4675188" y="14478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65725DA2-9E6F-48F3-B09D-F6EBB350862E}"/>
              </a:ext>
            </a:extLst>
          </p:cNvPr>
          <p:cNvSpPr/>
          <p:nvPr/>
        </p:nvSpPr>
        <p:spPr>
          <a:xfrm>
            <a:off x="4675188" y="213995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C2D0EB76-7A6E-4C80-A975-5A1FAA675B7B}"/>
              </a:ext>
            </a:extLst>
          </p:cNvPr>
          <p:cNvSpPr/>
          <p:nvPr/>
        </p:nvSpPr>
        <p:spPr>
          <a:xfrm>
            <a:off x="4687888" y="35560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00A06349-BC14-4B15-BE41-3A7BA2D5926E}"/>
              </a:ext>
            </a:extLst>
          </p:cNvPr>
          <p:cNvSpPr/>
          <p:nvPr/>
        </p:nvSpPr>
        <p:spPr>
          <a:xfrm>
            <a:off x="4687888" y="4321175"/>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a:extLst>
              <a:ext uri="{FF2B5EF4-FFF2-40B4-BE49-F238E27FC236}">
                <a16:creationId xmlns:a16="http://schemas.microsoft.com/office/drawing/2014/main" id="{6E6C9D33-EB5B-4859-A888-A13364665994}"/>
              </a:ext>
            </a:extLst>
          </p:cNvPr>
          <p:cNvSpPr/>
          <p:nvPr/>
        </p:nvSpPr>
        <p:spPr>
          <a:xfrm>
            <a:off x="6248400" y="1455738"/>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a:extLst>
              <a:ext uri="{FF2B5EF4-FFF2-40B4-BE49-F238E27FC236}">
                <a16:creationId xmlns:a16="http://schemas.microsoft.com/office/drawing/2014/main" id="{EAC277B1-6DE2-4A88-808D-090ED11EF394}"/>
              </a:ext>
            </a:extLst>
          </p:cNvPr>
          <p:cNvSpPr/>
          <p:nvPr/>
        </p:nvSpPr>
        <p:spPr>
          <a:xfrm>
            <a:off x="6248400" y="212725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36EF9A51-E798-4A99-917A-AF1C1F314AEC}"/>
              </a:ext>
            </a:extLst>
          </p:cNvPr>
          <p:cNvSpPr/>
          <p:nvPr/>
        </p:nvSpPr>
        <p:spPr>
          <a:xfrm>
            <a:off x="6248400" y="36576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9A2C6918-8199-4E81-A259-18AB2AE3BDB5}"/>
              </a:ext>
            </a:extLst>
          </p:cNvPr>
          <p:cNvSpPr/>
          <p:nvPr/>
        </p:nvSpPr>
        <p:spPr>
          <a:xfrm>
            <a:off x="6276975" y="4314825"/>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Rectangle 16">
            <a:extLst>
              <a:ext uri="{FF2B5EF4-FFF2-40B4-BE49-F238E27FC236}">
                <a16:creationId xmlns:a16="http://schemas.microsoft.com/office/drawing/2014/main" id="{75800A5E-6A58-4716-9CA6-5DAB6A4198F3}"/>
              </a:ext>
            </a:extLst>
          </p:cNvPr>
          <p:cNvSpPr/>
          <p:nvPr/>
        </p:nvSpPr>
        <p:spPr>
          <a:xfrm>
            <a:off x="7686675" y="147320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a:extLst>
              <a:ext uri="{FF2B5EF4-FFF2-40B4-BE49-F238E27FC236}">
                <a16:creationId xmlns:a16="http://schemas.microsoft.com/office/drawing/2014/main" id="{C77B5A2B-1068-4BC5-A86D-728861BD407C}"/>
              </a:ext>
            </a:extLst>
          </p:cNvPr>
          <p:cNvSpPr/>
          <p:nvPr/>
        </p:nvSpPr>
        <p:spPr>
          <a:xfrm>
            <a:off x="7686675" y="2127250"/>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Rectangle 18">
            <a:extLst>
              <a:ext uri="{FF2B5EF4-FFF2-40B4-BE49-F238E27FC236}">
                <a16:creationId xmlns:a16="http://schemas.microsoft.com/office/drawing/2014/main" id="{B1264067-5B88-402B-B810-2EF319C9CEEA}"/>
              </a:ext>
            </a:extLst>
          </p:cNvPr>
          <p:cNvSpPr/>
          <p:nvPr/>
        </p:nvSpPr>
        <p:spPr>
          <a:xfrm>
            <a:off x="7686675" y="3624263"/>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a:extLst>
              <a:ext uri="{FF2B5EF4-FFF2-40B4-BE49-F238E27FC236}">
                <a16:creationId xmlns:a16="http://schemas.microsoft.com/office/drawing/2014/main" id="{984C61FF-5329-4526-989B-442962CE3E0D}"/>
              </a:ext>
            </a:extLst>
          </p:cNvPr>
          <p:cNvSpPr/>
          <p:nvPr/>
        </p:nvSpPr>
        <p:spPr>
          <a:xfrm>
            <a:off x="7700963" y="4359275"/>
            <a:ext cx="1219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grpId="0"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0" nodeType="clickEffect">
                                  <p:stCondLst>
                                    <p:cond delay="0"/>
                                  </p:stCondLst>
                                  <p:childTnLst>
                                    <p:animEffect transition="out" filter="fade">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grpId="0"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grpId="0" nodeType="clickEffect">
                                  <p:stCondLst>
                                    <p:cond delay="0"/>
                                  </p:stCondLst>
                                  <p:childTnLst>
                                    <p:animEffect transition="out" filter="fade">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xit" presetSubtype="0" fill="hold" grpId="0" nodeType="clickEffect">
                                  <p:stCondLst>
                                    <p:cond delay="0"/>
                                  </p:stCondLst>
                                  <p:childTnLst>
                                    <p:animEffect transition="out" filter="fade">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xit" presetSubtype="0" fill="hold" grpId="0" nodeType="clickEffect">
                                  <p:stCondLst>
                                    <p:cond delay="0"/>
                                  </p:stCondLst>
                                  <p:childTnLst>
                                    <p:animEffect transition="out" filter="fade">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xit" presetSubtype="0" fill="hold" grpId="0" nodeType="clickEffect">
                                  <p:stCondLst>
                                    <p:cond delay="0"/>
                                  </p:stCondLst>
                                  <p:childTnLst>
                                    <p:animEffect transition="out" filter="fade">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xit" presetSubtype="0" fill="hold" grpId="0" nodeType="clickEffect">
                                  <p:stCondLst>
                                    <p:cond delay="0"/>
                                  </p:stCondLst>
                                  <p:childTnLst>
                                    <p:animEffect transition="out" filter="fade">
                                      <p:cBhvr>
                                        <p:cTn id="46" dur="500"/>
                                        <p:tgtEl>
                                          <p:spTgt spid="15"/>
                                        </p:tgtEl>
                                      </p:cBhvr>
                                    </p:animEffect>
                                    <p:set>
                                      <p:cBhvr>
                                        <p:cTn id="47" dur="1" fill="hold">
                                          <p:stCondLst>
                                            <p:cond delay="499"/>
                                          </p:stCondLst>
                                        </p:cTn>
                                        <p:tgtEl>
                                          <p:spTgt spid="15"/>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xit" presetSubtype="0" fill="hold" grpId="0" nodeType="click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xit" presetSubtype="0" fill="hold" grpId="0" nodeType="clickEffect">
                                  <p:stCondLst>
                                    <p:cond delay="0"/>
                                  </p:stCondLst>
                                  <p:childTnLst>
                                    <p:animEffect transition="out" filter="fade">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xit" presetSubtype="0" fill="hold" grpId="0" nodeType="clickEffect">
                                  <p:stCondLst>
                                    <p:cond delay="0"/>
                                  </p:stCondLst>
                                  <p:childTnLst>
                                    <p:animEffect transition="out" filter="fade">
                                      <p:cBhvr>
                                        <p:cTn id="61" dur="500"/>
                                        <p:tgtEl>
                                          <p:spTgt spid="18"/>
                                        </p:tgtEl>
                                      </p:cBhvr>
                                    </p:animEffect>
                                    <p:set>
                                      <p:cBhvr>
                                        <p:cTn id="62" dur="1" fill="hold">
                                          <p:stCondLst>
                                            <p:cond delay="499"/>
                                          </p:stCondLst>
                                        </p:cTn>
                                        <p:tgtEl>
                                          <p:spTgt spid="18"/>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xit" presetSubtype="0" fill="hold" grpId="0" nodeType="clickEffect">
                                  <p:stCondLst>
                                    <p:cond delay="0"/>
                                  </p:stCondLst>
                                  <p:childTnLst>
                                    <p:animEffect transition="out" filter="fade">
                                      <p:cBhvr>
                                        <p:cTn id="66" dur="500"/>
                                        <p:tgtEl>
                                          <p:spTgt spid="19"/>
                                        </p:tgtEl>
                                      </p:cBhvr>
                                    </p:animEffect>
                                    <p:set>
                                      <p:cBhvr>
                                        <p:cTn id="67" dur="1" fill="hold">
                                          <p:stCondLst>
                                            <p:cond delay="499"/>
                                          </p:stCondLst>
                                        </p:cTn>
                                        <p:tgtEl>
                                          <p:spTgt spid="19"/>
                                        </p:tgtEl>
                                        <p:attrNameLst>
                                          <p:attrName>style.visibility</p:attrName>
                                        </p:attrNameLst>
                                      </p:cBhvr>
                                      <p:to>
                                        <p:strVal val="hidden"/>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xit" presetSubtype="0" fill="hold" grpId="0" nodeType="clickEffect">
                                  <p:stCondLst>
                                    <p:cond delay="0"/>
                                  </p:stCondLst>
                                  <p:childTnLst>
                                    <p:animEffect transition="out" filter="fade">
                                      <p:cBhvr>
                                        <p:cTn id="71" dur="500"/>
                                        <p:tgtEl>
                                          <p:spTgt spid="20"/>
                                        </p:tgtEl>
                                      </p:cBhvr>
                                    </p:animEffect>
                                    <p:set>
                                      <p:cBhvr>
                                        <p:cTn id="72"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871524B5-DFFA-4867-B702-640EF3241A94}"/>
              </a:ext>
            </a:extLst>
          </p:cNvPr>
          <p:cNvSpPr>
            <a:spLocks noGrp="1"/>
          </p:cNvSpPr>
          <p:nvPr>
            <p:ph type="title"/>
          </p:nvPr>
        </p:nvSpPr>
        <p:spPr>
          <a:xfrm>
            <a:off x="457200" y="304800"/>
            <a:ext cx="8229600" cy="1143000"/>
          </a:xfrm>
        </p:spPr>
        <p:txBody>
          <a:bodyPr/>
          <a:lstStyle/>
          <a:p>
            <a:pPr eaLnBrk="1" hangingPunct="1"/>
            <a:r>
              <a:rPr lang="en-US" altLang="en-US"/>
              <a:t>Organizational Feasibility</a:t>
            </a:r>
          </a:p>
        </p:txBody>
      </p:sp>
      <p:sp>
        <p:nvSpPr>
          <p:cNvPr id="53251" name="Content Placeholder 2">
            <a:extLst>
              <a:ext uri="{FF2B5EF4-FFF2-40B4-BE49-F238E27FC236}">
                <a16:creationId xmlns:a16="http://schemas.microsoft.com/office/drawing/2014/main" id="{1256BFC3-7F51-4E7E-8B07-3A48004C403E}"/>
              </a:ext>
            </a:extLst>
          </p:cNvPr>
          <p:cNvSpPr>
            <a:spLocks noGrp="1"/>
          </p:cNvSpPr>
          <p:nvPr>
            <p:ph idx="1"/>
          </p:nvPr>
        </p:nvSpPr>
        <p:spPr/>
        <p:txBody>
          <a:bodyPr/>
          <a:lstStyle/>
          <a:p>
            <a:pPr eaLnBrk="1" hangingPunct="1">
              <a:spcBef>
                <a:spcPct val="0"/>
              </a:spcBef>
            </a:pPr>
            <a:r>
              <a:rPr lang="en-US" altLang="en-US" sz="2800"/>
              <a:t>Organizational feasibility of the system is how well the system ultimately will be accepted by its users and incorporated into the ongoing operations of the organization.</a:t>
            </a:r>
          </a:p>
          <a:p>
            <a:pPr eaLnBrk="1" hangingPunct="1">
              <a:spcBef>
                <a:spcPct val="0"/>
              </a:spcBef>
            </a:pPr>
            <a:r>
              <a:rPr lang="en-US" altLang="en-US" sz="2800"/>
              <a:t>There are many organizational factors that can have an impact on the project, and seasoned developers know that organizational feasibility can be the most difficult feasibility dimension to assess.</a:t>
            </a:r>
          </a:p>
          <a:p>
            <a:pPr eaLnBrk="1" hangingPunct="1">
              <a:spcBef>
                <a:spcPct val="0"/>
              </a:spcBef>
            </a:pPr>
            <a:r>
              <a:rPr lang="en-US" altLang="en-US" sz="2800"/>
              <a:t>In essence, an organizational feasibility analysis is to answer the question “If we build it, will they come?”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16469E91-F8F1-4F2C-B63E-E766FEDE431B}"/>
              </a:ext>
            </a:extLst>
          </p:cNvPr>
          <p:cNvSpPr>
            <a:spLocks noGrp="1"/>
          </p:cNvSpPr>
          <p:nvPr>
            <p:ph type="title"/>
          </p:nvPr>
        </p:nvSpPr>
        <p:spPr/>
        <p:txBody>
          <a:bodyPr/>
          <a:lstStyle/>
          <a:p>
            <a:pPr algn="l" eaLnBrk="1" hangingPunct="1"/>
            <a:r>
              <a:rPr lang="en-US" altLang="en-US"/>
              <a:t>(cont’d)</a:t>
            </a:r>
          </a:p>
        </p:txBody>
      </p:sp>
      <p:sp>
        <p:nvSpPr>
          <p:cNvPr id="54275" name="Content Placeholder 2">
            <a:extLst>
              <a:ext uri="{FF2B5EF4-FFF2-40B4-BE49-F238E27FC236}">
                <a16:creationId xmlns:a16="http://schemas.microsoft.com/office/drawing/2014/main" id="{698A85E3-4E37-42CD-8E3F-2F87764080DD}"/>
              </a:ext>
            </a:extLst>
          </p:cNvPr>
          <p:cNvSpPr>
            <a:spLocks noGrp="1"/>
          </p:cNvSpPr>
          <p:nvPr>
            <p:ph idx="1"/>
          </p:nvPr>
        </p:nvSpPr>
        <p:spPr>
          <a:xfrm>
            <a:off x="457200" y="1600200"/>
            <a:ext cx="8229600" cy="4724400"/>
          </a:xfrm>
        </p:spPr>
        <p:txBody>
          <a:bodyPr/>
          <a:lstStyle/>
          <a:p>
            <a:pPr eaLnBrk="1" hangingPunct="1">
              <a:spcBef>
                <a:spcPct val="0"/>
              </a:spcBef>
            </a:pPr>
            <a:r>
              <a:rPr lang="en-US" altLang="en-US" sz="2800"/>
              <a:t>One way to assess the organizational feasibility is to understand how well the goals of the project align with the business objectives and organizational strategies.</a:t>
            </a:r>
          </a:p>
          <a:p>
            <a:pPr eaLnBrk="1" hangingPunct="1">
              <a:spcBef>
                <a:spcPct val="0"/>
              </a:spcBef>
            </a:pPr>
            <a:r>
              <a:rPr lang="en-US" altLang="en-US" sz="2800"/>
              <a:t>A second way to assess the organizational feasibility is to conduct </a:t>
            </a:r>
            <a:r>
              <a:rPr lang="en-US" altLang="en-US" sz="2800" b="1">
                <a:solidFill>
                  <a:srgbClr val="0000FF"/>
                </a:solidFill>
              </a:rPr>
              <a:t>stakeholder analysis.</a:t>
            </a:r>
          </a:p>
          <a:p>
            <a:pPr eaLnBrk="1" hangingPunct="1">
              <a:spcBef>
                <a:spcPct val="0"/>
              </a:spcBef>
            </a:pPr>
            <a:r>
              <a:rPr lang="en-US" altLang="en-US" sz="2800"/>
              <a:t>A stakeholder is a person, group, or organization that can affect a new system</a:t>
            </a:r>
            <a:endParaRPr lang="en-US" altLang="en-US" sz="1500"/>
          </a:p>
          <a:p>
            <a:pPr eaLnBrk="1" hangingPunct="1">
              <a:spcBef>
                <a:spcPct val="0"/>
              </a:spcBef>
              <a:buFont typeface="Wingdings" pitchFamily="2" charset="2"/>
              <a:buNone/>
            </a:pPr>
            <a:r>
              <a:rPr lang="en-US" altLang="en-US" sz="2000"/>
              <a:t>       - Project champion</a:t>
            </a:r>
          </a:p>
          <a:p>
            <a:pPr eaLnBrk="1" hangingPunct="1">
              <a:spcBef>
                <a:spcPct val="0"/>
              </a:spcBef>
              <a:buFont typeface="Wingdings" pitchFamily="2" charset="2"/>
              <a:buNone/>
            </a:pPr>
            <a:r>
              <a:rPr lang="en-US" altLang="en-US" sz="2000"/>
              <a:t>       - System users</a:t>
            </a:r>
          </a:p>
          <a:p>
            <a:pPr eaLnBrk="1" hangingPunct="1">
              <a:spcBef>
                <a:spcPct val="0"/>
              </a:spcBef>
              <a:buFont typeface="Wingdings" pitchFamily="2" charset="2"/>
              <a:buNone/>
            </a:pPr>
            <a:r>
              <a:rPr lang="en-US" altLang="en-US" sz="2000"/>
              <a:t>       - Organizational management</a:t>
            </a:r>
          </a:p>
          <a:p>
            <a:pPr eaLnBrk="1" hangingPunct="1">
              <a:spcBef>
                <a:spcPct val="0"/>
              </a:spcBef>
              <a:buFont typeface="Wingdings" pitchFamily="2" charset="2"/>
              <a:buNone/>
            </a:pPr>
            <a:r>
              <a:rPr lang="en-US" altLang="en-US" sz="2000"/>
              <a:t>       - Other stakeholders</a:t>
            </a:r>
          </a:p>
          <a:p>
            <a:pPr eaLnBrk="1" hangingPunct="1">
              <a:lnSpc>
                <a:spcPct val="80000"/>
              </a:lnSpc>
              <a:spcBef>
                <a:spcPct val="0"/>
              </a:spcBef>
            </a:pPr>
            <a:endParaRPr lang="en-US" altLang="en-US" sz="1000"/>
          </a:p>
          <a:p>
            <a:pPr eaLnBrk="1" hangingPunct="1">
              <a:lnSpc>
                <a:spcPct val="80000"/>
              </a:lnSpc>
              <a:spcBef>
                <a:spcPct val="0"/>
              </a:spcBef>
            </a:pPr>
            <a:endParaRPr lang="en-US" altLang="en-US" sz="10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54275">
                                            <p:txEl>
                                              <p:pRg st="3" end="3"/>
                                            </p:txEl>
                                          </p:spTgt>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54275">
                                            <p:txEl>
                                              <p:pRg st="4" end="4"/>
                                            </p:txEl>
                                          </p:spTgt>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54275">
                                            <p:txEl>
                                              <p:pRg st="5" end="5"/>
                                            </p:txEl>
                                          </p:spTgt>
                                        </p:tgtEl>
                                        <p:attrNameLst>
                                          <p:attrName>style.visibility</p:attrName>
                                        </p:attrNameLst>
                                      </p:cBhvr>
                                      <p:to>
                                        <p:strVal val="visible"/>
                                      </p:to>
                                    </p:set>
                                  </p:childTnLst>
                                </p:cTn>
                              </p:par>
                            </p:childTnLst>
                          </p:cTn>
                        </p:par>
                        <p:par>
                          <p:cTn id="24" fill="hold" nodeType="afterGroup">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542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DCF49062-223F-4FDA-A607-612005909595}"/>
              </a:ext>
            </a:extLst>
          </p:cNvPr>
          <p:cNvSpPr>
            <a:spLocks noGrp="1"/>
          </p:cNvSpPr>
          <p:nvPr>
            <p:ph type="title"/>
          </p:nvPr>
        </p:nvSpPr>
        <p:spPr/>
        <p:txBody>
          <a:bodyPr/>
          <a:lstStyle/>
          <a:p>
            <a:pPr eaLnBrk="1" hangingPunct="1"/>
            <a:r>
              <a:rPr lang="en-US" altLang="en-US"/>
              <a:t>System Request</a:t>
            </a:r>
          </a:p>
        </p:txBody>
      </p:sp>
      <p:sp>
        <p:nvSpPr>
          <p:cNvPr id="32771" name="Content Placeholder 2">
            <a:extLst>
              <a:ext uri="{FF2B5EF4-FFF2-40B4-BE49-F238E27FC236}">
                <a16:creationId xmlns:a16="http://schemas.microsoft.com/office/drawing/2014/main" id="{FE41FE3E-68CA-4553-A8A2-C041DEC5BAD4}"/>
              </a:ext>
            </a:extLst>
          </p:cNvPr>
          <p:cNvSpPr>
            <a:spLocks noGrp="1"/>
          </p:cNvSpPr>
          <p:nvPr>
            <p:ph idx="1"/>
          </p:nvPr>
        </p:nvSpPr>
        <p:spPr/>
        <p:txBody>
          <a:bodyPr/>
          <a:lstStyle/>
          <a:p>
            <a:pPr eaLnBrk="1" hangingPunct="1">
              <a:lnSpc>
                <a:spcPct val="90000"/>
              </a:lnSpc>
              <a:spcBef>
                <a:spcPct val="0"/>
              </a:spcBef>
            </a:pPr>
            <a:r>
              <a:rPr lang="en-US" altLang="en-US" sz="3800"/>
              <a:t>The document that describes the business reasons for building a system and the value that system is expected to provide.</a:t>
            </a:r>
          </a:p>
          <a:p>
            <a:pPr eaLnBrk="1" hangingPunct="1">
              <a:lnSpc>
                <a:spcPct val="90000"/>
              </a:lnSpc>
              <a:spcBef>
                <a:spcPct val="0"/>
              </a:spcBef>
            </a:pPr>
            <a:r>
              <a:rPr lang="en-US" altLang="en-US" sz="3800"/>
              <a:t>The project sponsor usually completes this form as part of a formal system selection process within the organization.</a:t>
            </a:r>
          </a:p>
          <a:p>
            <a:pPr eaLnBrk="1" hangingPunct="1">
              <a:lnSpc>
                <a:spcPct val="90000"/>
              </a:lnSpc>
              <a:spcBef>
                <a:spcPct val="0"/>
              </a:spcBef>
            </a:pPr>
            <a:endParaRPr lang="en-US" altLang="en-US" sz="3700"/>
          </a:p>
          <a:p>
            <a:pPr eaLnBrk="1" hangingPunct="1">
              <a:lnSpc>
                <a:spcPct val="90000"/>
              </a:lnSpc>
              <a:spcBef>
                <a:spcPct val="0"/>
              </a:spcBef>
            </a:pPr>
            <a:endParaRPr lang="en-US" altLang="en-US" sz="3700"/>
          </a:p>
        </p:txBody>
      </p:sp>
    </p:spTree>
    <p:extLst>
      <p:ext uri="{BB962C8B-B14F-4D97-AF65-F5344CB8AC3E}">
        <p14:creationId xmlns:p14="http://schemas.microsoft.com/office/powerpoint/2010/main" val="227609545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B4172F6A-9BF2-4101-80C4-BDEE7B26C72B}"/>
              </a:ext>
            </a:extLst>
          </p:cNvPr>
          <p:cNvSpPr>
            <a:spLocks noGrp="1"/>
          </p:cNvSpPr>
          <p:nvPr>
            <p:ph type="title"/>
          </p:nvPr>
        </p:nvSpPr>
        <p:spPr/>
        <p:txBody>
          <a:bodyPr/>
          <a:lstStyle/>
          <a:p>
            <a:pPr eaLnBrk="1" hangingPunct="1"/>
            <a:r>
              <a:rPr lang="en-US" altLang="en-US"/>
              <a:t>Elements of System Request Form</a:t>
            </a:r>
          </a:p>
        </p:txBody>
      </p:sp>
      <p:sp>
        <p:nvSpPr>
          <p:cNvPr id="33795" name="Content Placeholder 2">
            <a:extLst>
              <a:ext uri="{FF2B5EF4-FFF2-40B4-BE49-F238E27FC236}">
                <a16:creationId xmlns:a16="http://schemas.microsoft.com/office/drawing/2014/main" id="{C9F245AA-C9C2-429B-B851-379D5A34D91F}"/>
              </a:ext>
            </a:extLst>
          </p:cNvPr>
          <p:cNvSpPr>
            <a:spLocks noGrp="1"/>
          </p:cNvSpPr>
          <p:nvPr>
            <p:ph idx="1"/>
          </p:nvPr>
        </p:nvSpPr>
        <p:spPr/>
        <p:txBody>
          <a:bodyPr/>
          <a:lstStyle/>
          <a:p>
            <a:pPr eaLnBrk="1" hangingPunct="1">
              <a:lnSpc>
                <a:spcPct val="90000"/>
              </a:lnSpc>
              <a:spcBef>
                <a:spcPts val="1800"/>
              </a:spcBef>
            </a:pPr>
            <a:r>
              <a:rPr lang="en-US" altLang="en-US" sz="3200"/>
              <a:t>The </a:t>
            </a:r>
            <a:r>
              <a:rPr lang="en-US" altLang="en-US" sz="3200">
                <a:solidFill>
                  <a:schemeClr val="hlink"/>
                </a:solidFill>
              </a:rPr>
              <a:t>sponsor</a:t>
            </a:r>
            <a:r>
              <a:rPr lang="en-US" altLang="en-US" sz="3200"/>
              <a:t> describes the person who will serve as the primary contact for the project</a:t>
            </a:r>
          </a:p>
          <a:p>
            <a:pPr eaLnBrk="1" hangingPunct="1">
              <a:lnSpc>
                <a:spcPct val="90000"/>
              </a:lnSpc>
              <a:spcBef>
                <a:spcPts val="1800"/>
              </a:spcBef>
            </a:pPr>
            <a:r>
              <a:rPr lang="en-US" altLang="en-US" sz="3200"/>
              <a:t>the </a:t>
            </a:r>
            <a:r>
              <a:rPr lang="en-US" altLang="en-US" sz="3200">
                <a:solidFill>
                  <a:schemeClr val="hlink"/>
                </a:solidFill>
              </a:rPr>
              <a:t>business need </a:t>
            </a:r>
            <a:r>
              <a:rPr lang="en-US" altLang="en-US" sz="3200"/>
              <a:t>presents the reasons prompting the project.</a:t>
            </a:r>
          </a:p>
          <a:p>
            <a:pPr eaLnBrk="1" hangingPunct="1">
              <a:lnSpc>
                <a:spcPct val="90000"/>
              </a:lnSpc>
              <a:spcBef>
                <a:spcPts val="1800"/>
              </a:spcBef>
            </a:pPr>
            <a:r>
              <a:rPr lang="en-US" altLang="en-US" sz="3200"/>
              <a:t>The </a:t>
            </a:r>
            <a:r>
              <a:rPr lang="en-US" altLang="en-US" sz="3200">
                <a:solidFill>
                  <a:schemeClr val="hlink"/>
                </a:solidFill>
              </a:rPr>
              <a:t>business requirements</a:t>
            </a:r>
            <a:r>
              <a:rPr lang="en-US" altLang="en-US" sz="3200"/>
              <a:t> of the project refer to the business capabilities that the system will need to have.</a:t>
            </a:r>
          </a:p>
          <a:p>
            <a:pPr eaLnBrk="1" hangingPunct="1">
              <a:lnSpc>
                <a:spcPct val="90000"/>
              </a:lnSpc>
              <a:spcBef>
                <a:spcPts val="1800"/>
              </a:spcBef>
            </a:pPr>
            <a:endParaRPr lang="en-US" altLang="en-US" sz="3200"/>
          </a:p>
          <a:p>
            <a:pPr eaLnBrk="1" hangingPunct="1">
              <a:lnSpc>
                <a:spcPct val="80000"/>
              </a:lnSpc>
              <a:spcBef>
                <a:spcPts val="1800"/>
              </a:spcBef>
            </a:pPr>
            <a:endParaRPr lang="en-US" altLang="en-US" sz="3100"/>
          </a:p>
        </p:txBody>
      </p:sp>
    </p:spTree>
    <p:extLst>
      <p:ext uri="{BB962C8B-B14F-4D97-AF65-F5344CB8AC3E}">
        <p14:creationId xmlns:p14="http://schemas.microsoft.com/office/powerpoint/2010/main" val="366048258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E6436EB6-89DA-4250-B62A-8C88B1D433B7}"/>
              </a:ext>
            </a:extLst>
          </p:cNvPr>
          <p:cNvSpPr>
            <a:spLocks noGrp="1"/>
          </p:cNvSpPr>
          <p:nvPr>
            <p:ph type="title"/>
          </p:nvPr>
        </p:nvSpPr>
        <p:spPr/>
        <p:txBody>
          <a:bodyPr/>
          <a:lstStyle/>
          <a:p>
            <a:pPr algn="l" eaLnBrk="1" hangingPunct="1"/>
            <a:r>
              <a:rPr lang="en-US" altLang="en-US"/>
              <a:t>(cont’d)</a:t>
            </a:r>
          </a:p>
        </p:txBody>
      </p:sp>
      <p:sp>
        <p:nvSpPr>
          <p:cNvPr id="33795" name="Content Placeholder 2">
            <a:extLst>
              <a:ext uri="{FF2B5EF4-FFF2-40B4-BE49-F238E27FC236}">
                <a16:creationId xmlns:a16="http://schemas.microsoft.com/office/drawing/2014/main" id="{1EDA8649-3257-46EC-9C15-B6050A0F3CC8}"/>
              </a:ext>
            </a:extLst>
          </p:cNvPr>
          <p:cNvSpPr>
            <a:spLocks noGrp="1"/>
          </p:cNvSpPr>
          <p:nvPr>
            <p:ph idx="1"/>
          </p:nvPr>
        </p:nvSpPr>
        <p:spPr/>
        <p:txBody>
          <a:bodyPr/>
          <a:lstStyle/>
          <a:p>
            <a:pPr eaLnBrk="1" hangingPunct="1">
              <a:lnSpc>
                <a:spcPct val="90000"/>
              </a:lnSpc>
              <a:spcBef>
                <a:spcPct val="0"/>
              </a:spcBef>
            </a:pPr>
            <a:r>
              <a:rPr lang="en-US" altLang="en-US" sz="3200"/>
              <a:t>The </a:t>
            </a:r>
            <a:r>
              <a:rPr lang="en-US" altLang="en-US" sz="3200">
                <a:solidFill>
                  <a:schemeClr val="hlink"/>
                </a:solidFill>
              </a:rPr>
              <a:t>business value</a:t>
            </a:r>
            <a:r>
              <a:rPr lang="en-US" altLang="en-US" sz="3200"/>
              <a:t> describes the benefits that the organization should expect from the system. </a:t>
            </a:r>
          </a:p>
          <a:p>
            <a:pPr eaLnBrk="1" hangingPunct="1">
              <a:lnSpc>
                <a:spcPct val="90000"/>
              </a:lnSpc>
              <a:spcBef>
                <a:spcPct val="0"/>
              </a:spcBef>
            </a:pPr>
            <a:r>
              <a:rPr lang="en-US" altLang="en-US" sz="3200">
                <a:solidFill>
                  <a:schemeClr val="hlink"/>
                </a:solidFill>
              </a:rPr>
              <a:t>Special issues</a:t>
            </a:r>
            <a:r>
              <a:rPr lang="en-US" altLang="en-US" sz="3200"/>
              <a:t> are included on the document as a catchall category for other information that should be considered in assessing the project.</a:t>
            </a:r>
          </a:p>
          <a:p>
            <a:pPr eaLnBrk="1" hangingPunct="1">
              <a:lnSpc>
                <a:spcPct val="80000"/>
              </a:lnSpc>
              <a:spcBef>
                <a:spcPct val="0"/>
              </a:spcBef>
            </a:pPr>
            <a:endParaRPr lang="en-US" altLang="en-US" sz="3100"/>
          </a:p>
        </p:txBody>
      </p:sp>
    </p:spTree>
    <p:extLst>
      <p:ext uri="{BB962C8B-B14F-4D97-AF65-F5344CB8AC3E}">
        <p14:creationId xmlns:p14="http://schemas.microsoft.com/office/powerpoint/2010/main" val="322635148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3414F79A-0F23-4AD5-9179-5DD283D269BF}"/>
              </a:ext>
            </a:extLst>
          </p:cNvPr>
          <p:cNvSpPr>
            <a:spLocks noGrp="1"/>
          </p:cNvSpPr>
          <p:nvPr>
            <p:ph type="title"/>
          </p:nvPr>
        </p:nvSpPr>
        <p:spPr/>
        <p:txBody>
          <a:bodyPr/>
          <a:lstStyle/>
          <a:p>
            <a:pPr algn="l" eaLnBrk="1" hangingPunct="1"/>
            <a:r>
              <a:rPr lang="en-US" altLang="en-US"/>
              <a:t>(cont’d)</a:t>
            </a:r>
          </a:p>
        </p:txBody>
      </p:sp>
      <p:sp>
        <p:nvSpPr>
          <p:cNvPr id="34819" name="Content Placeholder 2">
            <a:extLst>
              <a:ext uri="{FF2B5EF4-FFF2-40B4-BE49-F238E27FC236}">
                <a16:creationId xmlns:a16="http://schemas.microsoft.com/office/drawing/2014/main" id="{48A46FB6-0361-43E7-B384-48C5FB9FCEFE}"/>
              </a:ext>
            </a:extLst>
          </p:cNvPr>
          <p:cNvSpPr>
            <a:spLocks noGrp="1"/>
          </p:cNvSpPr>
          <p:nvPr>
            <p:ph idx="1"/>
          </p:nvPr>
        </p:nvSpPr>
        <p:spPr/>
        <p:txBody>
          <a:bodyPr/>
          <a:lstStyle/>
          <a:p>
            <a:pPr eaLnBrk="1" hangingPunct="1">
              <a:lnSpc>
                <a:spcPct val="90000"/>
              </a:lnSpc>
              <a:spcBef>
                <a:spcPct val="0"/>
              </a:spcBef>
            </a:pPr>
            <a:r>
              <a:rPr lang="en-US" altLang="en-US" sz="3400"/>
              <a:t>The completed system request is submitted to the </a:t>
            </a:r>
            <a:r>
              <a:rPr lang="en-US" altLang="en-US" sz="3400">
                <a:solidFill>
                  <a:schemeClr val="hlink"/>
                </a:solidFill>
              </a:rPr>
              <a:t>approval committee</a:t>
            </a:r>
            <a:r>
              <a:rPr lang="en-US" altLang="en-US" sz="3400"/>
              <a:t> for consideration.</a:t>
            </a:r>
          </a:p>
          <a:p>
            <a:pPr eaLnBrk="1" hangingPunct="1">
              <a:lnSpc>
                <a:spcPct val="90000"/>
              </a:lnSpc>
              <a:spcBef>
                <a:spcPct val="0"/>
              </a:spcBef>
            </a:pPr>
            <a:r>
              <a:rPr lang="en-US" altLang="en-US" sz="3400"/>
              <a:t>The committee reviews the system request and makes an initial determination of whether to investigate the proposed project or not.</a:t>
            </a:r>
          </a:p>
          <a:p>
            <a:pPr eaLnBrk="1" hangingPunct="1">
              <a:lnSpc>
                <a:spcPct val="90000"/>
              </a:lnSpc>
              <a:spcBef>
                <a:spcPct val="0"/>
              </a:spcBef>
            </a:pPr>
            <a:r>
              <a:rPr lang="en-US" altLang="en-US" sz="3400"/>
              <a:t>If so, the next step is to conduct a feasibility analysis.</a:t>
            </a:r>
          </a:p>
          <a:p>
            <a:pPr eaLnBrk="1" hangingPunct="1">
              <a:lnSpc>
                <a:spcPct val="80000"/>
              </a:lnSpc>
              <a:spcBef>
                <a:spcPct val="0"/>
              </a:spcBef>
            </a:pPr>
            <a:endParaRPr lang="en-US" altLang="en-US" sz="3400"/>
          </a:p>
        </p:txBody>
      </p:sp>
    </p:spTree>
    <p:extLst>
      <p:ext uri="{BB962C8B-B14F-4D97-AF65-F5344CB8AC3E}">
        <p14:creationId xmlns:p14="http://schemas.microsoft.com/office/powerpoint/2010/main" val="294936067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E06A68DC-4562-4622-A5D7-62EC773E9783}"/>
              </a:ext>
            </a:extLst>
          </p:cNvPr>
          <p:cNvGraphicFramePr>
            <a:graphicFrameLocks noGrp="1"/>
          </p:cNvGraphicFramePr>
          <p:nvPr/>
        </p:nvGraphicFramePr>
        <p:xfrm>
          <a:off x="76200" y="0"/>
          <a:ext cx="8991600" cy="6557963"/>
        </p:xfrm>
        <a:graphic>
          <a:graphicData uri="http://schemas.openxmlformats.org/drawingml/2006/table">
            <a:tbl>
              <a:tblPr firstRow="1" bandRow="1">
                <a:tableStyleId>{5C22544A-7EE6-4342-B048-85BDC9FD1C3A}</a:tableStyleId>
              </a:tblPr>
              <a:tblGrid>
                <a:gridCol w="1133395">
                  <a:extLst>
                    <a:ext uri="{9D8B030D-6E8A-4147-A177-3AD203B41FA5}">
                      <a16:colId xmlns:a16="http://schemas.microsoft.com/office/drawing/2014/main" val="20000"/>
                    </a:ext>
                  </a:extLst>
                </a:gridCol>
                <a:gridCol w="3022387">
                  <a:extLst>
                    <a:ext uri="{9D8B030D-6E8A-4147-A177-3AD203B41FA5}">
                      <a16:colId xmlns:a16="http://schemas.microsoft.com/office/drawing/2014/main" val="20001"/>
                    </a:ext>
                  </a:extLst>
                </a:gridCol>
                <a:gridCol w="4835818">
                  <a:extLst>
                    <a:ext uri="{9D8B030D-6E8A-4147-A177-3AD203B41FA5}">
                      <a16:colId xmlns:a16="http://schemas.microsoft.com/office/drawing/2014/main" val="20002"/>
                    </a:ext>
                  </a:extLst>
                </a:gridCol>
              </a:tblGrid>
              <a:tr h="365790">
                <a:tc>
                  <a:txBody>
                    <a:bodyPr/>
                    <a:lstStyle/>
                    <a:p>
                      <a:pPr algn="l"/>
                      <a:r>
                        <a:rPr lang="en-US" sz="1800" b="1" i="0" u="none" strike="noStrike" baseline="0" dirty="0">
                          <a:solidFill>
                            <a:srgbClr val="FFFFFF"/>
                          </a:solidFill>
                          <a:latin typeface="Futura-Bold"/>
                        </a:rPr>
                        <a:t>Element</a:t>
                      </a:r>
                      <a:endParaRPr lang="en-US" sz="1800" b="0" i="0" u="none" strike="noStrike" baseline="0" dirty="0">
                        <a:solidFill>
                          <a:srgbClr val="000000"/>
                        </a:solidFill>
                        <a:latin typeface="Futura-Bold"/>
                      </a:endParaRPr>
                    </a:p>
                  </a:txBody>
                  <a:tcPr marT="45724" marB="45724"/>
                </a:tc>
                <a:tc>
                  <a:txBody>
                    <a:bodyPr/>
                    <a:lstStyle/>
                    <a:p>
                      <a:pPr algn="l"/>
                      <a:r>
                        <a:rPr lang="en-US" sz="1800" b="1" i="0" u="none" strike="noStrike" baseline="0" dirty="0">
                          <a:solidFill>
                            <a:srgbClr val="FFFFFF"/>
                          </a:solidFill>
                          <a:latin typeface="Futura-Bold"/>
                        </a:rPr>
                        <a:t>Description</a:t>
                      </a:r>
                      <a:endParaRPr lang="en-US" sz="1800" b="0" i="0" u="none" strike="noStrike" baseline="0" dirty="0">
                        <a:solidFill>
                          <a:srgbClr val="000000"/>
                        </a:solidFill>
                        <a:latin typeface="Futura-Bold"/>
                      </a:endParaRPr>
                    </a:p>
                  </a:txBody>
                  <a:tcPr marT="45724" marB="45724"/>
                </a:tc>
                <a:tc>
                  <a:txBody>
                    <a:bodyPr/>
                    <a:lstStyle/>
                    <a:p>
                      <a:pPr algn="l"/>
                      <a:r>
                        <a:rPr lang="en-US" sz="1800" b="1" i="0" u="none" strike="noStrike" baseline="0" dirty="0">
                          <a:solidFill>
                            <a:srgbClr val="FFFFFF"/>
                          </a:solidFill>
                          <a:latin typeface="Futura-Bold"/>
                        </a:rPr>
                        <a:t>Examples</a:t>
                      </a:r>
                      <a:endParaRPr lang="en-US" sz="1800" b="0" i="0" u="none" strike="noStrike" baseline="0" dirty="0">
                        <a:solidFill>
                          <a:srgbClr val="000000"/>
                        </a:solidFill>
                        <a:latin typeface="Futura-Bold"/>
                      </a:endParaRPr>
                    </a:p>
                  </a:txBody>
                  <a:tcPr marT="45724" marB="45724"/>
                </a:tc>
                <a:extLst>
                  <a:ext uri="{0D108BD9-81ED-4DB2-BD59-A6C34878D82A}">
                    <a16:rowId xmlns:a16="http://schemas.microsoft.com/office/drawing/2014/main" val="10000"/>
                  </a:ext>
                </a:extLst>
              </a:tr>
              <a:tr h="11888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Project Sponsor</a:t>
                      </a:r>
                    </a:p>
                  </a:txBody>
                  <a:tcPr marT="45724" marB="45724"/>
                </a:tc>
                <a:tc>
                  <a:txBody>
                    <a:bodyPr/>
                    <a:lstStyle/>
                    <a:p>
                      <a:r>
                        <a:rPr lang="en-US" sz="1800" b="0" i="0" u="none" strike="noStrike" kern="1200" baseline="0" dirty="0">
                          <a:solidFill>
                            <a:schemeClr val="dk1"/>
                          </a:solidFill>
                          <a:latin typeface="+mn-lt"/>
                          <a:ea typeface="+mn-ea"/>
                          <a:cs typeface="+mn-cs"/>
                        </a:rPr>
                        <a:t>The person who initiates the project and who serves as the primary point of contact for the project on the business </a:t>
                      </a:r>
                    </a:p>
                  </a:txBody>
                  <a:tcPr marT="45724" marB="45724"/>
                </a:tc>
                <a:tc>
                  <a:txBody>
                    <a:bodyPr/>
                    <a:lstStyle/>
                    <a:p>
                      <a:r>
                        <a:rPr lang="en-US" sz="1800" b="0" i="0" u="none" strike="noStrike" kern="1200" baseline="0" dirty="0">
                          <a:solidFill>
                            <a:schemeClr val="dk1"/>
                          </a:solidFill>
                          <a:latin typeface="+mn-lt"/>
                          <a:ea typeface="+mn-ea"/>
                          <a:cs typeface="+mn-cs"/>
                        </a:rPr>
                        <a:t>Several members of the finance department , Vice president of marketing, IT manager , Steering committee , CIO, CEO 	</a:t>
                      </a:r>
                    </a:p>
                  </a:txBody>
                  <a:tcPr marT="45724" marB="45724"/>
                </a:tc>
                <a:extLst>
                  <a:ext uri="{0D108BD9-81ED-4DB2-BD59-A6C34878D82A}">
                    <a16:rowId xmlns:a16="http://schemas.microsoft.com/office/drawing/2014/main" val="10001"/>
                  </a:ext>
                </a:extLst>
              </a:tr>
              <a:tr h="1188816">
                <a:tc>
                  <a:txBody>
                    <a:bodyPr/>
                    <a:lstStyle/>
                    <a:p>
                      <a:r>
                        <a:rPr lang="en-US" sz="1800" b="0" i="0" u="none" strike="noStrike" kern="1200" baseline="0" dirty="0">
                          <a:solidFill>
                            <a:schemeClr val="dk1"/>
                          </a:solidFill>
                          <a:latin typeface="+mn-lt"/>
                          <a:ea typeface="+mn-ea"/>
                          <a:cs typeface="+mn-cs"/>
                        </a:rPr>
                        <a:t>Business Need 	</a:t>
                      </a:r>
                    </a:p>
                  </a:txBody>
                  <a:tcPr marT="45724" marB="45724"/>
                </a:tc>
                <a:tc>
                  <a:txBody>
                    <a:bodyPr/>
                    <a:lstStyle/>
                    <a:p>
                      <a:r>
                        <a:rPr lang="en-US" sz="1800" b="0" i="0" u="none" strike="noStrike" kern="1200" baseline="0" dirty="0">
                          <a:solidFill>
                            <a:schemeClr val="dk1"/>
                          </a:solidFill>
                          <a:latin typeface="+mn-lt"/>
                          <a:ea typeface="+mn-ea"/>
                          <a:cs typeface="+mn-cs"/>
                        </a:rPr>
                        <a:t>The business-related reason for initiating the system </a:t>
                      </a:r>
                    </a:p>
                  </a:txBody>
                  <a:tcPr marT="45724" marB="45724"/>
                </a:tc>
                <a:tc>
                  <a:txBody>
                    <a:bodyPr/>
                    <a:lstStyle/>
                    <a:p>
                      <a:r>
                        <a:rPr lang="en-US" sz="1800" b="0" i="0" u="none" strike="noStrike" kern="1200" baseline="0" dirty="0">
                          <a:solidFill>
                            <a:schemeClr val="dk1"/>
                          </a:solidFill>
                          <a:latin typeface="+mn-lt"/>
                          <a:ea typeface="+mn-ea"/>
                          <a:cs typeface="+mn-cs"/>
                        </a:rPr>
                        <a:t>Increase sales , Improve market share , Improve access to information , Improve customer service , Decrease product defects , Streamline supply acquisition processes 	</a:t>
                      </a:r>
                    </a:p>
                  </a:txBody>
                  <a:tcPr marT="45724" marB="45724"/>
                </a:tc>
                <a:extLst>
                  <a:ext uri="{0D108BD9-81ED-4DB2-BD59-A6C34878D82A}">
                    <a16:rowId xmlns:a16="http://schemas.microsoft.com/office/drawing/2014/main" val="10002"/>
                  </a:ext>
                </a:extLst>
              </a:tr>
              <a:tr h="1249607">
                <a:tc>
                  <a:txBody>
                    <a:bodyPr/>
                    <a:lstStyle/>
                    <a:p>
                      <a:r>
                        <a:rPr lang="en-US" sz="1800" b="0" i="0" u="none" strike="noStrike" kern="1200" baseline="0" dirty="0">
                          <a:solidFill>
                            <a:schemeClr val="dk1"/>
                          </a:solidFill>
                          <a:latin typeface="+mn-lt"/>
                          <a:ea typeface="+mn-ea"/>
                          <a:cs typeface="+mn-cs"/>
                        </a:rPr>
                        <a:t>Business Requirements</a:t>
                      </a:r>
                    </a:p>
                  </a:txBody>
                  <a:tcPr marT="45724" marB="45724"/>
                </a:tc>
                <a:tc>
                  <a:txBody>
                    <a:bodyPr/>
                    <a:lstStyle/>
                    <a:p>
                      <a:r>
                        <a:rPr lang="en-US" sz="1800" b="0" i="0" u="none" strike="noStrike" kern="1200" baseline="0" dirty="0">
                          <a:solidFill>
                            <a:schemeClr val="dk1"/>
                          </a:solidFill>
                          <a:latin typeface="+mn-lt"/>
                          <a:ea typeface="+mn-ea"/>
                          <a:cs typeface="+mn-cs"/>
                        </a:rPr>
                        <a:t>system will provide </a:t>
                      </a:r>
                    </a:p>
                  </a:txBody>
                  <a:tcPr marT="45724" marB="45724"/>
                </a:tc>
                <a:tc>
                  <a:txBody>
                    <a:bodyPr/>
                    <a:lstStyle/>
                    <a:p>
                      <a:r>
                        <a:rPr lang="en-US" sz="1800" b="0" i="0" u="none" strike="noStrike" kern="1200" baseline="0" dirty="0">
                          <a:solidFill>
                            <a:schemeClr val="dk1"/>
                          </a:solidFill>
                          <a:latin typeface="+mn-lt"/>
                          <a:ea typeface="+mn-ea"/>
                          <a:cs typeface="+mn-cs"/>
                        </a:rPr>
                        <a:t>Provide </a:t>
                      </a:r>
                      <a:r>
                        <a:rPr lang="en-US" sz="1800" b="0" i="0" u="none" strike="noStrike" kern="1200" baseline="0" dirty="0" err="1">
                          <a:solidFill>
                            <a:schemeClr val="dk1"/>
                          </a:solidFill>
                          <a:latin typeface="+mn-lt"/>
                          <a:ea typeface="+mn-ea"/>
                          <a:cs typeface="+mn-cs"/>
                        </a:rPr>
                        <a:t>onIine</a:t>
                      </a:r>
                      <a:r>
                        <a:rPr lang="en-US" sz="1800" b="0" i="0" u="none" strike="noStrike" kern="1200" baseline="0" dirty="0">
                          <a:solidFill>
                            <a:schemeClr val="dk1"/>
                          </a:solidFill>
                          <a:latin typeface="+mn-lt"/>
                          <a:ea typeface="+mn-ea"/>
                          <a:cs typeface="+mn-cs"/>
                        </a:rPr>
                        <a:t> access to information , Capture customer demographic information, Include product search capabilities, Produce management reports Include online user support 	</a:t>
                      </a:r>
                    </a:p>
                  </a:txBody>
                  <a:tcPr marT="45724" marB="45724"/>
                </a:tc>
                <a:extLst>
                  <a:ext uri="{0D108BD9-81ED-4DB2-BD59-A6C34878D82A}">
                    <a16:rowId xmlns:a16="http://schemas.microsoft.com/office/drawing/2014/main" val="10003"/>
                  </a:ext>
                </a:extLst>
              </a:tr>
              <a:tr h="1188816">
                <a:tc>
                  <a:txBody>
                    <a:bodyPr/>
                    <a:lstStyle/>
                    <a:p>
                      <a:r>
                        <a:rPr lang="en-US" sz="1800" b="0" i="0" u="none" strike="noStrike" kern="1200" baseline="0" dirty="0">
                          <a:solidFill>
                            <a:schemeClr val="dk1"/>
                          </a:solidFill>
                          <a:latin typeface="+mn-lt"/>
                          <a:ea typeface="+mn-ea"/>
                          <a:cs typeface="+mn-cs"/>
                        </a:rPr>
                        <a:t>Business Value</a:t>
                      </a:r>
                    </a:p>
                  </a:txBody>
                  <a:tcPr marT="45724" marB="45724"/>
                </a:tc>
                <a:tc>
                  <a:txBody>
                    <a:bodyPr/>
                    <a:lstStyle/>
                    <a:p>
                      <a:r>
                        <a:rPr lang="en-US" sz="1800" b="0" i="0" u="none" strike="noStrike" kern="1200" baseline="0" dirty="0">
                          <a:solidFill>
                            <a:schemeClr val="dk1"/>
                          </a:solidFill>
                          <a:latin typeface="+mn-lt"/>
                          <a:ea typeface="+mn-ea"/>
                          <a:cs typeface="+mn-cs"/>
                        </a:rPr>
                        <a:t>The benefits that the system will create for the organization </a:t>
                      </a:r>
                    </a:p>
                  </a:txBody>
                  <a:tcPr marT="45724" marB="45724"/>
                </a:tc>
                <a:tc>
                  <a:txBody>
                    <a:bodyPr/>
                    <a:lstStyle/>
                    <a:p>
                      <a:r>
                        <a:rPr lang="en-US" sz="1800" b="0" i="0" u="none" strike="noStrike" kern="1200" baseline="0" dirty="0">
                          <a:solidFill>
                            <a:schemeClr val="dk1"/>
                          </a:solidFill>
                          <a:latin typeface="+mn-lt"/>
                          <a:ea typeface="+mn-ea"/>
                          <a:cs typeface="+mn-cs"/>
                        </a:rPr>
                        <a:t>3% increase in sales , 1% increase in market share , Reduction in headcount by 5*FTEs , $200,000 cost savings from decreased supply costs, $150,000 savings from removal of existing system</a:t>
                      </a:r>
                    </a:p>
                  </a:txBody>
                  <a:tcPr marT="45724" marB="45724"/>
                </a:tc>
                <a:extLst>
                  <a:ext uri="{0D108BD9-81ED-4DB2-BD59-A6C34878D82A}">
                    <a16:rowId xmlns:a16="http://schemas.microsoft.com/office/drawing/2014/main" val="10004"/>
                  </a:ext>
                </a:extLst>
              </a:tr>
              <a:tr h="1376118">
                <a:tc>
                  <a:txBody>
                    <a:bodyPr/>
                    <a:lstStyle/>
                    <a:p>
                      <a:r>
                        <a:rPr lang="en-US" sz="1800" b="0" i="0" u="none" strike="noStrike" kern="1200" baseline="0" dirty="0">
                          <a:solidFill>
                            <a:schemeClr val="dk1"/>
                          </a:solidFill>
                          <a:latin typeface="+mn-lt"/>
                          <a:ea typeface="+mn-ea"/>
                          <a:cs typeface="+mn-cs"/>
                        </a:rPr>
                        <a:t>Special Issues or Constraints </a:t>
                      </a:r>
                    </a:p>
                  </a:txBody>
                  <a:tcPr marT="45724" marB="45724"/>
                </a:tc>
                <a:tc>
                  <a:txBody>
                    <a:bodyPr/>
                    <a:lstStyle/>
                    <a:p>
                      <a:r>
                        <a:rPr lang="en-US" sz="1800" b="0" i="0" u="none" strike="noStrike" kern="1200" baseline="0" dirty="0">
                          <a:solidFill>
                            <a:schemeClr val="dk1"/>
                          </a:solidFill>
                          <a:latin typeface="+mn-lt"/>
                          <a:ea typeface="+mn-ea"/>
                          <a:cs typeface="+mn-cs"/>
                        </a:rPr>
                        <a:t>Issues that are relevant to the implementation of the system that need to be known by the approval committee </a:t>
                      </a:r>
                    </a:p>
                  </a:txBody>
                  <a:tcPr marT="45724" marB="45724"/>
                </a:tc>
                <a:tc>
                  <a:txBody>
                    <a:bodyPr/>
                    <a:lstStyle/>
                    <a:p>
                      <a:r>
                        <a:rPr lang="en-US" sz="1800" b="0" i="0" u="none" strike="noStrike" kern="1200" baseline="0" dirty="0">
                          <a:solidFill>
                            <a:schemeClr val="dk1"/>
                          </a:solidFill>
                          <a:latin typeface="+mn-lt"/>
                          <a:ea typeface="+mn-ea"/>
                          <a:cs typeface="+mn-cs"/>
                        </a:rPr>
                        <a:t>Government Deadline for May 30 , System needed in time for the  Christmas holiday season , Top-level security clearance needed by project team to work with data </a:t>
                      </a:r>
                    </a:p>
                  </a:txBody>
                  <a:tcPr marT="45724" marB="45724"/>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73438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54D6-3309-43B5-A264-ED5A98BF17E9}"/>
              </a:ext>
            </a:extLst>
          </p:cNvPr>
          <p:cNvSpPr>
            <a:spLocks noGrp="1"/>
          </p:cNvSpPr>
          <p:nvPr>
            <p:ph type="title"/>
          </p:nvPr>
        </p:nvSpPr>
        <p:spPr/>
        <p:txBody>
          <a:bodyPr rtlCol="0">
            <a:normAutofit fontScale="90000"/>
          </a:bodyPr>
          <a:lstStyle/>
          <a:p>
            <a:pPr eaLnBrk="1" fontAlgn="auto" hangingPunct="1">
              <a:spcAft>
                <a:spcPts val="0"/>
              </a:spcAft>
              <a:defRPr/>
            </a:pPr>
            <a:r>
              <a:rPr lang="en-US" dirty="0"/>
              <a:t>Business Process Management (BPM)</a:t>
            </a:r>
          </a:p>
        </p:txBody>
      </p:sp>
      <p:sp>
        <p:nvSpPr>
          <p:cNvPr id="35843" name="Content Placeholder 2">
            <a:extLst>
              <a:ext uri="{FF2B5EF4-FFF2-40B4-BE49-F238E27FC236}">
                <a16:creationId xmlns:a16="http://schemas.microsoft.com/office/drawing/2014/main" id="{E27CE080-6A88-475D-B161-DFDE2070526B}"/>
              </a:ext>
            </a:extLst>
          </p:cNvPr>
          <p:cNvSpPr>
            <a:spLocks noGrp="1"/>
          </p:cNvSpPr>
          <p:nvPr>
            <p:ph idx="1"/>
          </p:nvPr>
        </p:nvSpPr>
        <p:spPr/>
        <p:txBody>
          <a:bodyPr/>
          <a:lstStyle/>
          <a:p>
            <a:pPr eaLnBrk="1" hangingPunct="1">
              <a:spcBef>
                <a:spcPct val="0"/>
              </a:spcBef>
            </a:pPr>
            <a:r>
              <a:rPr lang="en-US" altLang="en-US"/>
              <a:t> Nowadays many new IS projects grow out of BPM.</a:t>
            </a:r>
          </a:p>
          <a:p>
            <a:pPr eaLnBrk="1" hangingPunct="1">
              <a:spcBef>
                <a:spcPct val="0"/>
              </a:spcBef>
            </a:pPr>
            <a:r>
              <a:rPr lang="en-US" altLang="en-US"/>
              <a:t> BPM is a methodology used by organizations to continuously improve end-to-end business processes.</a:t>
            </a:r>
          </a:p>
          <a:p>
            <a:pPr eaLnBrk="1" hangingPunct="1">
              <a:spcBef>
                <a:spcPct val="0"/>
              </a:spcBef>
            </a:pPr>
            <a:endParaRPr lang="en-US" altLang="en-US"/>
          </a:p>
          <a:p>
            <a:pPr eaLnBrk="1" hangingPunct="1">
              <a:spcBef>
                <a:spcPct val="0"/>
              </a:spcBef>
            </a:pPr>
            <a:endParaRPr lang="en-US" altLang="en-US"/>
          </a:p>
        </p:txBody>
      </p:sp>
    </p:spTree>
    <p:extLst>
      <p:ext uri="{BB962C8B-B14F-4D97-AF65-F5344CB8AC3E}">
        <p14:creationId xmlns:p14="http://schemas.microsoft.com/office/powerpoint/2010/main" val="1310488331"/>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6418E6DF-DE79-4A3D-8A29-AEA5326BD620}"/>
              </a:ext>
            </a:extLst>
          </p:cNvPr>
          <p:cNvSpPr>
            <a:spLocks noGrp="1"/>
          </p:cNvSpPr>
          <p:nvPr>
            <p:ph type="title"/>
          </p:nvPr>
        </p:nvSpPr>
        <p:spPr/>
        <p:txBody>
          <a:bodyPr/>
          <a:lstStyle/>
          <a:p>
            <a:pPr eaLnBrk="1" hangingPunct="1"/>
            <a:r>
              <a:rPr lang="en-US" altLang="en-US"/>
              <a:t>BPM  Process</a:t>
            </a:r>
          </a:p>
        </p:txBody>
      </p:sp>
      <p:sp>
        <p:nvSpPr>
          <p:cNvPr id="3" name="Content Placeholder 2">
            <a:extLst>
              <a:ext uri="{FF2B5EF4-FFF2-40B4-BE49-F238E27FC236}">
                <a16:creationId xmlns:a16="http://schemas.microsoft.com/office/drawing/2014/main" id="{35BF88FE-1C3A-4077-B214-46E1E5ACAFCB}"/>
              </a:ext>
            </a:extLst>
          </p:cNvPr>
          <p:cNvSpPr>
            <a:spLocks noGrp="1"/>
          </p:cNvSpPr>
          <p:nvPr>
            <p:ph idx="1"/>
          </p:nvPr>
        </p:nvSpPr>
        <p:spPr/>
        <p:txBody>
          <a:bodyPr rtlCol="0">
            <a:normAutofit fontScale="85000" lnSpcReduction="10000"/>
          </a:bodyPr>
          <a:lstStyle/>
          <a:p>
            <a:pPr eaLnBrk="1" fontAlgn="auto" hangingPunct="1">
              <a:spcAft>
                <a:spcPts val="0"/>
              </a:spcAft>
              <a:defRPr/>
            </a:pPr>
            <a:r>
              <a:rPr lang="en-US" dirty="0"/>
              <a:t> Defining and mapping the steps in a  business process.</a:t>
            </a:r>
          </a:p>
          <a:p>
            <a:pPr eaLnBrk="1" fontAlgn="auto" hangingPunct="1">
              <a:spcAft>
                <a:spcPts val="0"/>
              </a:spcAft>
              <a:defRPr/>
            </a:pPr>
            <a:r>
              <a:rPr lang="en-US" dirty="0"/>
              <a:t>Creating ways to improve on the steps in the process that add value</a:t>
            </a:r>
          </a:p>
          <a:p>
            <a:pPr eaLnBrk="1" fontAlgn="auto" hangingPunct="1">
              <a:spcAft>
                <a:spcPts val="0"/>
              </a:spcAft>
              <a:defRPr/>
            </a:pPr>
            <a:r>
              <a:rPr lang="en-US" dirty="0"/>
              <a:t>Finding ways to eliminate or consolidate steps in the process that do not add value</a:t>
            </a:r>
          </a:p>
          <a:p>
            <a:pPr eaLnBrk="1" fontAlgn="auto" hangingPunct="1">
              <a:spcAft>
                <a:spcPts val="0"/>
              </a:spcAft>
              <a:defRPr/>
            </a:pPr>
            <a:r>
              <a:rPr lang="en-US" dirty="0"/>
              <a:t> Creating and adjusting electronic workflows to match the improved process maps.</a:t>
            </a:r>
          </a:p>
        </p:txBody>
      </p:sp>
    </p:spTree>
    <p:extLst>
      <p:ext uri="{BB962C8B-B14F-4D97-AF65-F5344CB8AC3E}">
        <p14:creationId xmlns:p14="http://schemas.microsoft.com/office/powerpoint/2010/main" val="384538471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75CD3F64-DA0D-40E9-87C5-FFE7E569F344}"/>
              </a:ext>
            </a:extLst>
          </p:cNvPr>
          <p:cNvSpPr>
            <a:spLocks noGrp="1"/>
          </p:cNvSpPr>
          <p:nvPr>
            <p:ph type="title"/>
          </p:nvPr>
        </p:nvSpPr>
        <p:spPr/>
        <p:txBody>
          <a:bodyPr/>
          <a:lstStyle/>
          <a:p>
            <a:pPr algn="l" eaLnBrk="1" hangingPunct="1"/>
            <a:r>
              <a:rPr lang="en-US" altLang="en-US"/>
              <a:t>(cont’d)</a:t>
            </a:r>
          </a:p>
        </p:txBody>
      </p:sp>
      <p:sp>
        <p:nvSpPr>
          <p:cNvPr id="29699" name="Content Placeholder 2">
            <a:extLst>
              <a:ext uri="{FF2B5EF4-FFF2-40B4-BE49-F238E27FC236}">
                <a16:creationId xmlns:a16="http://schemas.microsoft.com/office/drawing/2014/main" id="{6A2C627C-35F4-4E45-9B63-85054CF74961}"/>
              </a:ext>
            </a:extLst>
          </p:cNvPr>
          <p:cNvSpPr>
            <a:spLocks noGrp="1"/>
          </p:cNvSpPr>
          <p:nvPr>
            <p:ph idx="1"/>
          </p:nvPr>
        </p:nvSpPr>
        <p:spPr>
          <a:xfrm>
            <a:off x="457200" y="1600200"/>
            <a:ext cx="8229600" cy="4724400"/>
          </a:xfrm>
        </p:spPr>
        <p:txBody>
          <a:bodyPr/>
          <a:lstStyle/>
          <a:p>
            <a:pPr eaLnBrk="1" hangingPunct="1">
              <a:lnSpc>
                <a:spcPct val="90000"/>
              </a:lnSpc>
              <a:spcBef>
                <a:spcPct val="0"/>
              </a:spcBef>
            </a:pPr>
            <a:r>
              <a:rPr lang="en-US" altLang="en-US" sz="3700"/>
              <a:t> </a:t>
            </a:r>
            <a:r>
              <a:rPr lang="en-US" altLang="en-US" sz="3700" b="1">
                <a:solidFill>
                  <a:srgbClr val="0000FF"/>
                </a:solidFill>
              </a:rPr>
              <a:t>Business process automation (BPA) </a:t>
            </a:r>
            <a:r>
              <a:rPr lang="en-US" altLang="en-US" sz="3700"/>
              <a:t>– </a:t>
            </a:r>
            <a:r>
              <a:rPr lang="en-US" altLang="en-US" sz="2800"/>
              <a:t>technology components are used to complement or substitute manual process.</a:t>
            </a:r>
          </a:p>
          <a:p>
            <a:pPr eaLnBrk="1" hangingPunct="1">
              <a:lnSpc>
                <a:spcPct val="90000"/>
              </a:lnSpc>
              <a:spcBef>
                <a:spcPct val="0"/>
              </a:spcBef>
            </a:pPr>
            <a:r>
              <a:rPr lang="en-US" altLang="en-US" sz="3700"/>
              <a:t> </a:t>
            </a:r>
            <a:r>
              <a:rPr lang="en-US" altLang="en-US" sz="3700" b="1">
                <a:solidFill>
                  <a:srgbClr val="0000FF"/>
                </a:solidFill>
              </a:rPr>
              <a:t>Business process improvement (BPI) </a:t>
            </a:r>
            <a:r>
              <a:rPr lang="en-US" altLang="en-US" sz="3700">
                <a:solidFill>
                  <a:srgbClr val="000000"/>
                </a:solidFill>
              </a:rPr>
              <a:t>– </a:t>
            </a:r>
            <a:r>
              <a:rPr lang="en-US" altLang="en-US" sz="2600">
                <a:solidFill>
                  <a:srgbClr val="000000"/>
                </a:solidFill>
              </a:rPr>
              <a:t> </a:t>
            </a:r>
            <a:r>
              <a:rPr lang="en-US" altLang="en-US" sz="2800">
                <a:solidFill>
                  <a:srgbClr val="000000"/>
                </a:solidFill>
              </a:rPr>
              <a:t>creating new, re-designed processes to improve the workflows, and/or utilizing new technologies enabling new process structures.</a:t>
            </a:r>
            <a:endParaRPr lang="en-US" altLang="en-US" sz="2800">
              <a:solidFill>
                <a:srgbClr val="0070C0"/>
              </a:solidFill>
            </a:endParaRPr>
          </a:p>
          <a:p>
            <a:pPr eaLnBrk="1" hangingPunct="1">
              <a:lnSpc>
                <a:spcPct val="90000"/>
              </a:lnSpc>
              <a:spcBef>
                <a:spcPct val="0"/>
              </a:spcBef>
            </a:pPr>
            <a:r>
              <a:rPr lang="en-US" altLang="en-US" sz="3700" b="1">
                <a:solidFill>
                  <a:srgbClr val="0000FF"/>
                </a:solidFill>
              </a:rPr>
              <a:t>Business process reengineering (BPR) </a:t>
            </a:r>
            <a:r>
              <a:rPr lang="en-US" altLang="en-US" sz="3700">
                <a:solidFill>
                  <a:srgbClr val="000000"/>
                </a:solidFill>
              </a:rPr>
              <a:t>– </a:t>
            </a:r>
            <a:r>
              <a:rPr lang="en-US" altLang="en-US" sz="2800">
                <a:solidFill>
                  <a:srgbClr val="000000"/>
                </a:solidFill>
              </a:rPr>
              <a:t>changing the fundamental way in which the organization operate.</a:t>
            </a:r>
            <a:endParaRPr lang="en-US" altLang="en-US" sz="2800">
              <a:solidFill>
                <a:srgbClr val="0070C0"/>
              </a:solidFill>
            </a:endParaRPr>
          </a:p>
        </p:txBody>
      </p:sp>
    </p:spTree>
    <p:extLst>
      <p:ext uri="{BB962C8B-B14F-4D97-AF65-F5344CB8AC3E}">
        <p14:creationId xmlns:p14="http://schemas.microsoft.com/office/powerpoint/2010/main" val="244230269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E696515F-A08E-41AA-8560-C212AFAF76FE}"/>
              </a:ext>
            </a:extLst>
          </p:cNvPr>
          <p:cNvSpPr>
            <a:spLocks noGrp="1"/>
          </p:cNvSpPr>
          <p:nvPr>
            <p:ph type="title"/>
          </p:nvPr>
        </p:nvSpPr>
        <p:spPr/>
        <p:txBody>
          <a:bodyPr/>
          <a:lstStyle/>
          <a:p>
            <a:pPr eaLnBrk="1" hangingPunct="1"/>
            <a:r>
              <a:rPr lang="en-US" altLang="en-US"/>
              <a:t>SUMMARY</a:t>
            </a:r>
          </a:p>
        </p:txBody>
      </p:sp>
      <p:sp>
        <p:nvSpPr>
          <p:cNvPr id="67587" name="Content Placeholder 2">
            <a:extLst>
              <a:ext uri="{FF2B5EF4-FFF2-40B4-BE49-F238E27FC236}">
                <a16:creationId xmlns:a16="http://schemas.microsoft.com/office/drawing/2014/main" id="{74FF7A0F-F347-4E0C-8C3E-A3CB863C4B0D}"/>
              </a:ext>
            </a:extLst>
          </p:cNvPr>
          <p:cNvSpPr>
            <a:spLocks noGrp="1"/>
          </p:cNvSpPr>
          <p:nvPr>
            <p:ph idx="1"/>
          </p:nvPr>
        </p:nvSpPr>
        <p:spPr>
          <a:xfrm>
            <a:off x="457200" y="1600200"/>
            <a:ext cx="8458200" cy="4525963"/>
          </a:xfrm>
        </p:spPr>
        <p:txBody>
          <a:bodyPr/>
          <a:lstStyle/>
          <a:p>
            <a:pPr eaLnBrk="1" hangingPunct="1">
              <a:spcBef>
                <a:spcPct val="0"/>
              </a:spcBef>
            </a:pPr>
            <a:r>
              <a:rPr lang="en-US" altLang="en-US" sz="2600" b="1" dirty="0">
                <a:solidFill>
                  <a:srgbClr val="FF0000"/>
                </a:solidFill>
              </a:rPr>
              <a:t>Project Identification and Initiation </a:t>
            </a:r>
            <a:r>
              <a:rPr lang="en-US" altLang="en-US" sz="2600" dirty="0"/>
              <a:t>recognize a business need that can be satisfied through the use of information technology.</a:t>
            </a:r>
          </a:p>
          <a:p>
            <a:pPr eaLnBrk="1" hangingPunct="1">
              <a:spcBef>
                <a:spcPct val="0"/>
              </a:spcBef>
            </a:pPr>
            <a:r>
              <a:rPr lang="en-US" altLang="en-US" sz="2600" b="1" dirty="0">
                <a:solidFill>
                  <a:srgbClr val="FF0000"/>
                </a:solidFill>
              </a:rPr>
              <a:t>System Request </a:t>
            </a:r>
            <a:r>
              <a:rPr lang="en-US" altLang="en-US" sz="2600" dirty="0"/>
              <a:t>describes the business value for an information system.</a:t>
            </a:r>
          </a:p>
          <a:p>
            <a:pPr eaLnBrk="1" hangingPunct="1">
              <a:spcBef>
                <a:spcPct val="0"/>
              </a:spcBef>
            </a:pPr>
            <a:r>
              <a:rPr lang="en-US" altLang="en-US" sz="2600" dirty="0"/>
              <a:t>A </a:t>
            </a:r>
            <a:r>
              <a:rPr lang="en-US" altLang="en-US" sz="2600" b="1" dirty="0">
                <a:solidFill>
                  <a:srgbClr val="FF0000"/>
                </a:solidFill>
              </a:rPr>
              <a:t>Feasibility Analysis </a:t>
            </a:r>
            <a:r>
              <a:rPr lang="en-US" altLang="en-US" sz="2600" dirty="0"/>
              <a:t>is used to provide more detail about the risks associated with the proposed system.</a:t>
            </a:r>
          </a:p>
          <a:p>
            <a:pPr eaLnBrk="1" hangingPunct="1">
              <a:spcBef>
                <a:spcPct val="0"/>
              </a:spcBef>
              <a:buFont typeface="Wingdings" pitchFamily="2" charset="2"/>
              <a:buNone/>
            </a:pPr>
            <a:endParaRPr lang="en-US" altLang="en-US" sz="2700" dirty="0"/>
          </a:p>
        </p:txBody>
      </p:sp>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2482</TotalTime>
  <Words>4220</Words>
  <Application>Microsoft Office PowerPoint</Application>
  <PresentationFormat>On-screen Show (4:3)</PresentationFormat>
  <Paragraphs>283</Paragraphs>
  <Slides>26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Futura-Bold</vt:lpstr>
      <vt:lpstr>Google Sans</vt:lpstr>
      <vt:lpstr>Nunito</vt:lpstr>
      <vt:lpstr>Poppins</vt:lpstr>
      <vt:lpstr>Wingdings</vt:lpstr>
      <vt:lpstr>Office Theme</vt:lpstr>
      <vt:lpstr>Systems Analysis &amp; Design</vt:lpstr>
      <vt:lpstr>Planning Phase</vt:lpstr>
      <vt:lpstr>Project Identification &amp; Initiation</vt:lpstr>
      <vt:lpstr>PROJECT IDENTIFICATION AND INITIATION</vt:lpstr>
      <vt:lpstr>Project sponsor</vt:lpstr>
      <vt:lpstr>(cont’d)</vt:lpstr>
      <vt:lpstr>Requirement Elicitation</vt:lpstr>
      <vt:lpstr>Feasibility Analysis</vt:lpstr>
      <vt:lpstr>FEASIBILITY ANALYSIS</vt:lpstr>
      <vt:lpstr>(cont’d)</vt:lpstr>
      <vt:lpstr>Technical Feasibility</vt:lpstr>
      <vt:lpstr>(cont’d)</vt:lpstr>
      <vt:lpstr>Economic Feasibility</vt:lpstr>
      <vt:lpstr>Cash Flow Analysis and Measures</vt:lpstr>
      <vt:lpstr>PowerPoint Presentation</vt:lpstr>
      <vt:lpstr>Organizational Feasibility</vt:lpstr>
      <vt:lpstr>(cont’d)</vt:lpstr>
      <vt:lpstr>System Request</vt:lpstr>
      <vt:lpstr>Elements of System Request Form</vt:lpstr>
      <vt:lpstr>(cont’d)</vt:lpstr>
      <vt:lpstr>(cont’d)</vt:lpstr>
      <vt:lpstr>PowerPoint Presentation</vt:lpstr>
      <vt:lpstr>Business Process Management (BPM)</vt:lpstr>
      <vt:lpstr>BPM  Process</vt:lpstr>
      <vt:lpstr>(cont’d)</vt:lpstr>
      <vt:lpstr>SUMMARY</vt:lpstr>
    </vt:vector>
  </TitlesOfParts>
  <Company>University of Massachusetts Dartmouth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 5th Edition</dc:title>
  <dc:creator>Windows User</dc:creator>
  <cp:lastModifiedBy>Ms. K Anuradha</cp:lastModifiedBy>
  <cp:revision>147</cp:revision>
  <dcterms:created xsi:type="dcterms:W3CDTF">2011-06-16T14:45:20Z</dcterms:created>
  <dcterms:modified xsi:type="dcterms:W3CDTF">2025-07-08T03:20:37Z</dcterms:modified>
</cp:coreProperties>
</file>